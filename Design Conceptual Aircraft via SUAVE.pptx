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0"/>
  </p:notesMasterIdLst>
  <p:handoutMasterIdLst>
    <p:handoutMasterId r:id="rId41"/>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995" r:id="rId39"/>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54567" autoAdjust="0"/>
  </p:normalViewPr>
  <p:slideViewPr>
    <p:cSldViewPr snapToGrid="0">
      <p:cViewPr varScale="1">
        <p:scale>
          <a:sx n="49" d="100"/>
          <a:sy n="49" d="100"/>
        </p:scale>
        <p:origin x="1734" y="33"/>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0" d="100"/>
          <a:sy n="80" d="100"/>
        </p:scale>
        <p:origin x="2946" y="102"/>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25/04/2026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25.04.2026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 one</a:t>
            </a:r>
            <a:r>
              <a:rPr lang="zh-CN" altLang="en-US" dirty="0"/>
              <a:t>，</a:t>
            </a:r>
            <a:r>
              <a:rPr lang="en-US" altLang="zh-CN" dirty="0"/>
              <a:t>I’m Lin Yi.</a:t>
            </a:r>
            <a:r>
              <a:rPr lang="zh-CN" altLang="en-US" dirty="0"/>
              <a:t> </a:t>
            </a:r>
            <a:r>
              <a:rPr lang="en-US" altLang="zh-CN" dirty="0"/>
              <a:t>Today</a:t>
            </a:r>
            <a:r>
              <a:rPr lang="zh-CN" altLang="en-US" dirty="0"/>
              <a:t> </a:t>
            </a:r>
            <a:r>
              <a:rPr lang="en-US" altLang="zh-CN" dirty="0"/>
              <a:t>we will talk about how to design conceptual aircraft using SUAVE.</a:t>
            </a:r>
          </a:p>
          <a:p>
            <a:r>
              <a:rPr lang="en-US" altLang="zh-CN" dirty="0"/>
              <a:t>Aircraft design and SUAVE are both really complex. I can’t make you a SUAVE expert or an aircraft design expert just with this one class. It’s just impossible. So like I said, today we are just having a discussion. If you have any questions, or if you think I’ve said something wrong during class, just interrupt me any time.</a:t>
            </a:r>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Maybe you can not use the git clone, just download the zip file.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Open the Tutorial folder, find the tut_mission_B737.py script, run it and just wait a minute — I think it’ll take about one minute. Then you’ll see lots of plots fill your whole screen! Like this, altitude, weight, lift, drag… all kinds of information will pop up right in front of you. don’t worry. We’ll go through these plots together later. this is just to check if you’ve installed SUAVE correctly. If you don’t see those plots, just let me know. Alright? Alright, we’ve got SUAVE installed.</a:t>
            </a:r>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Before we start working on our first SUAVE case, we first need to understand what conceptual aircraft design is, or more simply, what steps we need to go through. This is the overall conceptual design process; it’s not super formal, but it includes all the key steps. First, we need to figure out our aircraft requirements: whether we’re designing a fighter jet, helicopter or transport aircraft, how many missiles the fighter carries, if the helicopter is for rescue or combat missions, and what range the transport aircraft needs. These are all our basic requirements. Once we confirm the requirements, we define the whole flight mission, including takeoff, climb, cruise, descent, landing and other possible mission phases. After setting up the mission, we calculate initial aircraft parameters with standard formulas, such as maximum takeoff weight using the Breguet formula. Then we sketch out the aircraft layout. I mean sketch, not final design — at this point we don’t have any detailed aircraft data, the aircraft doesn’t even exist yet. We can model it in </a:t>
            </a:r>
            <a:r>
              <a:rPr lang="en-US" altLang="zh-CN" dirty="0" err="1"/>
              <a:t>OpenVSP</a:t>
            </a:r>
            <a:r>
              <a:rPr lang="en-US" altLang="zh-CN" dirty="0"/>
              <a:t>, or even just draw it on a napkin, and use our imagination to build our own aircraft. After that we do analyses like aerodynamics, weight updates and thrust analysis, and check if our aircraft can finish the mission. If not, we go back and adjust the design repeatedly until it meets the requirements. You’ve already learned all this aircraft design knowledge from Professor Zhang, so I won’t talk too much about it, and now let’s focus on how to use SUAVE in this whole design process.</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So we will firstly build the main function. And we can create several component functions to handle specific operation of the aircraft, like aerodynamic module, or vehicle setup function, maybe we</a:t>
            </a:r>
            <a:r>
              <a:rPr lang="zh-CN" altLang="en-US" dirty="0"/>
              <a:t> </a:t>
            </a:r>
            <a:r>
              <a:rPr lang="en-US" altLang="zh-CN" dirty="0"/>
              <a:t>will</a:t>
            </a:r>
            <a:r>
              <a:rPr lang="zh-CN" altLang="en-US" dirty="0"/>
              <a:t> </a:t>
            </a:r>
            <a:r>
              <a:rPr lang="en-US" altLang="zh-CN" dirty="0"/>
              <a:t>write some aircraft parameters in this function later. So in this stage we just create and type the “pass” in these component functions, just to make sure this script can be </a:t>
            </a:r>
            <a:r>
              <a:rPr lang="en-US" altLang="zh-CN" dirty="0" err="1"/>
              <a:t>runned</a:t>
            </a:r>
            <a:r>
              <a:rPr lang="en-US" altLang="zh-CN" dirty="0"/>
              <a:t> normally later.</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Once we have finished the main function, the basic framework for aircraft design, the first module will be developed is the </a:t>
            </a:r>
            <a:r>
              <a:rPr lang="en-US" altLang="zh-CN" dirty="0" err="1"/>
              <a:t>base_analysis</a:t>
            </a:r>
            <a:r>
              <a:rPr lang="en-US" altLang="zh-CN" dirty="0"/>
              <a:t> function. To start we need to define the output of this function, we want this function can return a analyses module so that we can use it to analysis the aerodynamic character of our aircraft in other steps. We create a </a:t>
            </a:r>
            <a:r>
              <a:rPr lang="en-US" altLang="zh-CN" dirty="0" err="1"/>
              <a:t>a</a:t>
            </a:r>
            <a:r>
              <a:rPr lang="en-US" altLang="zh-CN" dirty="0"/>
              <a:t> class in the first line of this function. Then we add all of the necessary components in turns. The weight module will update the total weight during the flight mission, the second part for </a:t>
            </a:r>
            <a:r>
              <a:rPr lang="en-US" altLang="zh-CN" dirty="0" err="1"/>
              <a:t>base_analyses</a:t>
            </a:r>
            <a:r>
              <a:rPr lang="en-US" altLang="zh-CN" dirty="0"/>
              <a:t> function is most important, we choose the aerodynamic method in this part, in this case we just choose the </a:t>
            </a:r>
            <a:r>
              <a:rPr lang="en-US" altLang="zh-CN" dirty="0" err="1"/>
              <a:t>Fidelity_Zero</a:t>
            </a:r>
            <a:r>
              <a:rPr lang="en-US" altLang="zh-CN" dirty="0"/>
              <a:t>() module, because this module calculate quickly, is suitable for our class, you can just get results in several seconds. Now we add the energy module, the planet module and the atmosphere module into this function so that it can run correctly.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Normally, we’ll add 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function into a analysis container. This way, we can throw in multiple analysis modules inside it for different needs. For instance, we often need special settings for control surfaces during the takeoff phase. In today’s simple case, we’re only using one single module—the </a:t>
            </a:r>
            <a:r>
              <a:rPr lang="en-US" altLang="zh-CN" sz="1200" b="0" i="0" kern="1200" dirty="0" err="1">
                <a:solidFill>
                  <a:schemeClr val="tx1"/>
                </a:solidFill>
                <a:effectLst/>
                <a:latin typeface="Arial" pitchFamily="34" charset="0"/>
                <a:ea typeface="+mn-ea"/>
                <a:cs typeface="+mn-cs"/>
              </a:rPr>
              <a:t>base_analysis</a:t>
            </a:r>
            <a:r>
              <a:rPr lang="en-US" altLang="zh-CN" sz="1200" b="0" i="0" kern="1200" dirty="0">
                <a:solidFill>
                  <a:schemeClr val="tx1"/>
                </a:solidFill>
                <a:effectLst/>
                <a:latin typeface="Arial" pitchFamily="34" charset="0"/>
                <a:ea typeface="+mn-ea"/>
                <a:cs typeface="+mn-cs"/>
              </a:rPr>
              <a:t> we just built. Still, just to keep our code clean and fully structured, we’ll go ahead and make a container to hold it anyway.</a:t>
            </a:r>
            <a:r>
              <a:rPr lang="en-US" altLang="zh-CN" dirty="0"/>
              <a:t> Correspondingly, we turn the vehicle settings into a config class. Then we pass this config to our analysis, so it’s fully set up and ready to use.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Alright, great—our analysis framework is done. Now we’ll define the flight mission. Before the actual flight profile, we’ve got to input airport data first. Uh, you might think this is unnecessary—this part is mainly for special takeoff scenarios, like high‑altitude departures. For example, Xizang in China is super high above sea level. If you want to analyze a mission taking off from an airport there, you’d set the airport altitude to… let me check—around </a:t>
            </a:r>
            <a:r>
              <a:rPr lang="en-US" altLang="zh-CN" sz="1200" b="1" kern="1200" dirty="0">
                <a:solidFill>
                  <a:schemeClr val="tx1"/>
                </a:solidFill>
                <a:effectLst/>
                <a:latin typeface="Arial" pitchFamily="34" charset="0"/>
                <a:ea typeface="+mn-ea"/>
                <a:cs typeface="+mn-cs"/>
              </a:rPr>
              <a:t>4.3 km</a:t>
            </a:r>
            <a:r>
              <a:rPr lang="en-US" altLang="zh-CN" dirty="0"/>
              <a:t> for </a:t>
            </a:r>
            <a:r>
              <a:rPr lang="en-US" altLang="zh-CN" dirty="0" err="1"/>
              <a:t>Changdu</a:t>
            </a:r>
            <a:r>
              <a:rPr lang="en-US" altLang="zh-CN" dirty="0"/>
              <a:t> Bangda Airport, or about </a:t>
            </a:r>
            <a:r>
              <a:rPr lang="en-US" altLang="zh-CN" sz="1200" b="1" kern="1200" dirty="0">
                <a:solidFill>
                  <a:schemeClr val="tx1"/>
                </a:solidFill>
                <a:effectLst/>
                <a:latin typeface="Arial" pitchFamily="34" charset="0"/>
                <a:ea typeface="+mn-ea"/>
                <a:cs typeface="+mn-cs"/>
              </a:rPr>
              <a:t>3.6 km</a:t>
            </a:r>
            <a:r>
              <a:rPr lang="en-US" altLang="zh-CN" dirty="0"/>
              <a:t> for Lhasa </a:t>
            </a:r>
            <a:r>
              <a:rPr lang="en-US" altLang="zh-CN" dirty="0" err="1"/>
              <a:t>Gonggar</a:t>
            </a:r>
            <a:r>
              <a:rPr lang="en-US" altLang="zh-CN" dirty="0"/>
              <a:t> Airport.</a:t>
            </a:r>
            <a:r>
              <a:rPr lang="en-GB" altLang="zh-CN" sz="1200" b="0" kern="1200" dirty="0">
                <a:solidFill>
                  <a:schemeClr val="tx1"/>
                </a:solidFill>
                <a:effectLst/>
                <a:latin typeface="Arial" pitchFamily="34" charset="0"/>
                <a:ea typeface="+mn-ea"/>
                <a:cs typeface="+mn-cs"/>
              </a:rPr>
              <a:t> Alright, back on track. For our simple case, we’ll just go with the generic airport settings. That means zero altitude, standard temperature, and standard atmosphere. Quick note here: </a:t>
            </a:r>
            <a:r>
              <a:rPr lang="en-GB" altLang="zh-CN" sz="1200" b="0" kern="1200" dirty="0" err="1">
                <a:solidFill>
                  <a:schemeClr val="tx1"/>
                </a:solidFill>
                <a:effectLst/>
                <a:latin typeface="Arial" pitchFamily="34" charset="0"/>
                <a:ea typeface="+mn-ea"/>
                <a:cs typeface="+mn-cs"/>
              </a:rPr>
              <a:t>delta_isa</a:t>
            </a:r>
            <a:r>
              <a:rPr lang="en-GB" altLang="zh-CN" sz="1200" b="0" kern="1200" dirty="0">
                <a:solidFill>
                  <a:schemeClr val="tx1"/>
                </a:solidFill>
                <a:effectLst/>
                <a:latin typeface="Arial" pitchFamily="34" charset="0"/>
                <a:ea typeface="+mn-ea"/>
                <a:cs typeface="+mn-cs"/>
              </a:rPr>
              <a:t> refers to the temperature difference between the actual temperature of airport and the standard temperature.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First, let’s define the takeoff segment. It’s really simple. We just need to set the </a:t>
            </a:r>
            <a:r>
              <a:rPr lang="en-US" altLang="zh-CN" dirty="0" err="1"/>
              <a:t>altitude_start</a:t>
            </a:r>
            <a:r>
              <a:rPr lang="en-US" altLang="zh-CN" dirty="0"/>
              <a:t>, </a:t>
            </a:r>
            <a:r>
              <a:rPr lang="en-US" altLang="zh-CN" dirty="0" err="1"/>
              <a:t>altitude_end</a:t>
            </a:r>
            <a:r>
              <a:rPr lang="en-US" altLang="zh-CN" dirty="0"/>
              <a:t>, climb </a:t>
            </a:r>
            <a:r>
              <a:rPr lang="en-US" altLang="zh-CN" dirty="0" err="1"/>
              <a:t>air_speed</a:t>
            </a:r>
            <a:r>
              <a:rPr lang="en-US" altLang="zh-CN" dirty="0"/>
              <a:t>, and </a:t>
            </a:r>
            <a:r>
              <a:rPr lang="en-US" altLang="zh-CN" dirty="0" err="1"/>
              <a:t>climb_rate</a:t>
            </a:r>
            <a:r>
              <a:rPr lang="en-US" altLang="zh-CN" dirty="0"/>
              <a:t>. Every flight segment we use is built based on a basic Segment class, we should create the base class in advance.</a:t>
            </a:r>
            <a:r>
              <a:rPr lang="zh-CN" altLang="en-US" dirty="0"/>
              <a:t> </a:t>
            </a:r>
            <a:r>
              <a:rPr lang="en-US" altLang="zh-CN" dirty="0"/>
              <a:t>By</a:t>
            </a:r>
            <a:r>
              <a:rPr lang="zh-CN" altLang="en-US" dirty="0"/>
              <a:t> </a:t>
            </a:r>
            <a:r>
              <a:rPr lang="en-US" altLang="zh-CN" dirty="0"/>
              <a:t>the</a:t>
            </a:r>
            <a:r>
              <a:rPr lang="zh-CN" altLang="en-US" dirty="0"/>
              <a:t> </a:t>
            </a:r>
            <a:r>
              <a:rPr lang="en-US" altLang="zh-CN" dirty="0"/>
              <a:t>way, most of the parameters in our simple case come from the Boeing 737 test case, and a few are set based on my own experience. You can adjust most of these values freely, as long as they stay reasonable and realistic. And after we define a mission segment, please remember to add this segment into the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move on to the cruise phase. 230 meters per second equals about Mach 0.8, a common setting for civil transport aircraft. But maybe in the near future, we’ll be flying on faster supersonic transport. Mach 1.3? Or 1.6, or Mach 2! Sorry let’s get back the point. The second parameter here is our cruise range. Attention, the units of range is not kilometer but </a:t>
            </a:r>
            <a:r>
              <a:rPr lang="en-US" altLang="zh-CN" dirty="0" err="1"/>
              <a:t>nautical_miles</a:t>
            </a:r>
            <a:r>
              <a:rPr lang="en-US" altLang="zh-CN" dirty="0"/>
              <a:t>. You know what? For me, the Units function is most impressive feature in SUAVE—like, in my own codes, I always use International System of units by default, and yeah, that’s convenient, saves time and keeps the code simple, but here’s the thing: once you start piling up tons of parameters, it’s super easy to lose track of what unit each one uses, because I can’t really be sure I’ve use SI units everywhere. But in the SUAVE, since the Units module, you can use any units you like, the only thing you need to do is just mark the units after value like this simple case. When the SUAVE </a:t>
            </a:r>
            <a:r>
              <a:rPr lang="en-US" altLang="zh-CN" dirty="0" err="1"/>
              <a:t>excute</a:t>
            </a:r>
            <a:r>
              <a:rPr lang="en-US" altLang="zh-CN" dirty="0"/>
              <a:t> it will transform all value into the same units system automatically. I think this is a really clever coding concept worth learning from. Alright back to our simple case, now we have define the cruise segment, don’t forget to add it in mission.</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is the descent segment. We just set the </a:t>
            </a:r>
            <a:r>
              <a:rPr lang="en-US" altLang="zh-CN" sz="1200" b="0" i="0" kern="1200" dirty="0" err="1">
                <a:solidFill>
                  <a:schemeClr val="tx1"/>
                </a:solidFill>
                <a:effectLst/>
                <a:latin typeface="Arial" pitchFamily="34" charset="0"/>
                <a:ea typeface="+mn-ea"/>
                <a:cs typeface="+mn-cs"/>
              </a:rPr>
              <a:t>altitude_end</a:t>
            </a:r>
            <a:r>
              <a:rPr lang="en-US" altLang="zh-CN" sz="1200" b="0" i="0" kern="1200" dirty="0">
                <a:solidFill>
                  <a:schemeClr val="tx1"/>
                </a:solidFill>
                <a:effectLst/>
                <a:latin typeface="Arial" pitchFamily="34" charset="0"/>
                <a:ea typeface="+mn-ea"/>
                <a:cs typeface="+mn-cs"/>
              </a:rPr>
              <a:t>, descent airspeed and </a:t>
            </a:r>
            <a:r>
              <a:rPr lang="en-US" altLang="zh-CN" sz="1200" b="0" i="0" kern="1200" dirty="0" err="1">
                <a:solidFill>
                  <a:schemeClr val="tx1"/>
                </a:solidFill>
                <a:effectLst/>
                <a:latin typeface="Arial" pitchFamily="34" charset="0"/>
                <a:ea typeface="+mn-ea"/>
                <a:cs typeface="+mn-cs"/>
              </a:rPr>
              <a:t>descent_rate</a:t>
            </a:r>
            <a:r>
              <a:rPr lang="en-US" altLang="zh-CN" sz="1200" b="0" i="0" kern="1200" dirty="0">
                <a:solidFill>
                  <a:schemeClr val="tx1"/>
                </a:solidFill>
                <a:effectLst/>
                <a:latin typeface="Arial" pitchFamily="34" charset="0"/>
                <a:ea typeface="+mn-ea"/>
                <a:cs typeface="+mn-cs"/>
              </a:rPr>
              <a:t> here, then add it to the mission. And don’t forget to return the mission class at the end. You might’ve noticed that, unlike the takeoff </a:t>
            </a:r>
            <a:r>
              <a:rPr lang="en-US" altLang="zh-CN" sz="1200" b="0" i="0" kern="1200" dirty="0" err="1">
                <a:solidFill>
                  <a:schemeClr val="tx1"/>
                </a:solidFill>
                <a:effectLst/>
                <a:latin typeface="Arial" pitchFamily="34" charset="0"/>
                <a:ea typeface="+mn-ea"/>
                <a:cs typeface="+mn-cs"/>
              </a:rPr>
              <a:t>segement</a:t>
            </a:r>
            <a:r>
              <a:rPr lang="en-US" altLang="zh-CN" sz="1200" b="0" i="0" kern="1200" dirty="0">
                <a:solidFill>
                  <a:schemeClr val="tx1"/>
                </a:solidFill>
                <a:effectLst/>
                <a:latin typeface="Arial" pitchFamily="34" charset="0"/>
                <a:ea typeface="+mn-ea"/>
                <a:cs typeface="+mn-cs"/>
              </a:rPr>
              <a:t>, we didn’t set a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here. Because the SUAVE will automatically take the ending altitude of the previous segment as the starting point for the next one, to keep the flight mission consistent. So we just need to set the </a:t>
            </a:r>
            <a:r>
              <a:rPr lang="en-US" altLang="zh-CN" sz="1200" b="0" i="0" kern="1200" dirty="0" err="1">
                <a:solidFill>
                  <a:schemeClr val="tx1"/>
                </a:solidFill>
                <a:effectLst/>
                <a:latin typeface="Arial" pitchFamily="34" charset="0"/>
                <a:ea typeface="+mn-ea"/>
                <a:cs typeface="+mn-cs"/>
              </a:rPr>
              <a:t>altitude_start</a:t>
            </a:r>
            <a:r>
              <a:rPr lang="en-US" altLang="zh-CN" sz="1200" b="0" i="0" kern="1200" dirty="0">
                <a:solidFill>
                  <a:schemeClr val="tx1"/>
                </a:solidFill>
                <a:effectLst/>
                <a:latin typeface="Arial" pitchFamily="34" charset="0"/>
                <a:ea typeface="+mn-ea"/>
                <a:cs typeface="+mn-cs"/>
              </a:rPr>
              <a:t> in the first segment.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Great, now we’re finally getting to the most important part — building our aircraft. First, we’ll lay out a few general parameters for the aircraft, then set up the geometry for every single component. Last class, Dr. Chen mentioned how the creator of </a:t>
            </a:r>
            <a:r>
              <a:rPr lang="en-US" altLang="zh-CN" sz="1200" b="0" i="0" kern="1200" dirty="0" err="1">
                <a:solidFill>
                  <a:schemeClr val="tx1"/>
                </a:solidFill>
                <a:effectLst/>
                <a:latin typeface="Arial" pitchFamily="34" charset="0"/>
                <a:ea typeface="+mn-ea"/>
                <a:cs typeface="+mn-cs"/>
              </a:rPr>
              <a:t>OpenVSP</a:t>
            </a:r>
            <a:r>
              <a:rPr lang="en-US" altLang="zh-CN" sz="1200" b="0" i="0" kern="1200" dirty="0">
                <a:solidFill>
                  <a:schemeClr val="tx1"/>
                </a:solidFill>
                <a:effectLst/>
                <a:latin typeface="Arial" pitchFamily="34" charset="0"/>
                <a:ea typeface="+mn-ea"/>
                <a:cs typeface="+mn-cs"/>
              </a:rPr>
              <a:t> first sketched an aircraft on a napkin. Today, we’re basically </a:t>
            </a:r>
            <a:r>
              <a:rPr lang="en-US" altLang="zh-CN" sz="1200" b="0" i="0" kern="1200" dirty="0" err="1">
                <a:solidFill>
                  <a:schemeClr val="tx1"/>
                </a:solidFill>
                <a:effectLst/>
                <a:latin typeface="Arial" pitchFamily="34" charset="0"/>
                <a:ea typeface="+mn-ea"/>
                <a:cs typeface="+mn-cs"/>
              </a:rPr>
              <a:t>gonna</a:t>
            </a:r>
            <a:r>
              <a:rPr lang="en-US" altLang="zh-CN" sz="1200" b="0" i="0" kern="1200" dirty="0">
                <a:solidFill>
                  <a:schemeClr val="tx1"/>
                </a:solidFill>
                <a:effectLst/>
                <a:latin typeface="Arial" pitchFamily="34" charset="0"/>
                <a:ea typeface="+mn-ea"/>
                <a:cs typeface="+mn-cs"/>
              </a:rPr>
              <a:t> draw our own aircraft, but with code instead. Like I said before, most of the parameters is from the Boeing 737 test case, in this part we define the </a:t>
            </a:r>
            <a:r>
              <a:rPr lang="en-US" altLang="zh-CN" sz="1200" b="0" i="0" kern="1200" dirty="0" err="1">
                <a:solidFill>
                  <a:schemeClr val="tx1"/>
                </a:solidFill>
                <a:effectLst/>
                <a:latin typeface="Arial" pitchFamily="34" charset="0"/>
                <a:ea typeface="+mn-ea"/>
                <a:cs typeface="+mn-cs"/>
              </a:rPr>
              <a:t>max_takeoff</a:t>
            </a:r>
            <a:r>
              <a:rPr lang="en-US" altLang="zh-CN" sz="1200" b="0" i="0" kern="1200" dirty="0">
                <a:solidFill>
                  <a:schemeClr val="tx1"/>
                </a:solidFill>
                <a:effectLst/>
                <a:latin typeface="Arial" pitchFamily="34" charset="0"/>
                <a:ea typeface="+mn-ea"/>
                <a:cs typeface="+mn-cs"/>
              </a:rPr>
              <a:t> weight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define the </a:t>
            </a:r>
            <a:r>
              <a:rPr lang="en-US" altLang="zh-CN" dirty="0" err="1"/>
              <a:t>main_wing</a:t>
            </a:r>
            <a:r>
              <a:rPr lang="en-US" altLang="zh-CN" dirty="0"/>
              <a:t>,</a:t>
            </a:r>
            <a:r>
              <a:rPr lang="zh-CN" altLang="en-US" dirty="0"/>
              <a:t> </a:t>
            </a:r>
            <a:r>
              <a:rPr lang="en-US" altLang="zh-CN" dirty="0"/>
              <a:t>I</a:t>
            </a:r>
            <a:r>
              <a:rPr lang="zh-CN" altLang="en-US" dirty="0"/>
              <a:t> </a:t>
            </a:r>
            <a:r>
              <a:rPr lang="en-US" altLang="zh-CN" dirty="0"/>
              <a:t>have</a:t>
            </a:r>
            <a:r>
              <a:rPr lang="zh-CN" altLang="en-US" dirty="0"/>
              <a:t> </a:t>
            </a:r>
            <a:r>
              <a:rPr lang="en-US" altLang="zh-CN" dirty="0"/>
              <a:t>emphasis the </a:t>
            </a:r>
            <a:r>
              <a:rPr lang="en-US" altLang="zh-CN" dirty="0" err="1"/>
              <a:t>main_wing</a:t>
            </a:r>
            <a:r>
              <a:rPr lang="en-US" altLang="zh-CN" dirty="0"/>
              <a:t> in the picture. And after define the </a:t>
            </a:r>
            <a:r>
              <a:rPr lang="en-US" altLang="zh-CN" dirty="0" err="1"/>
              <a:t>main_wing</a:t>
            </a:r>
            <a:r>
              <a:rPr lang="en-US" altLang="zh-CN" dirty="0"/>
              <a:t> just remember to add it in vehicle class.</a:t>
            </a:r>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Next up, the horizontal tail. It only generates a small amount of lift most of the time, and its real job is acting as a key control surface. Control the attack angle of aircraft.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the vertical tail. Just like the horizontal tail, it also works as a control surface, and it’s mainly in charge of the aircraft’s heading control.</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Arial" pitchFamily="34" charset="0"/>
                <a:ea typeface="+mn-ea"/>
                <a:cs typeface="+mn-cs"/>
              </a:rPr>
              <a:t>Now, moving on to the fuselage. Unlike the wings, its design isn’t super straightforward. It narrows down in some sections and widen out in others, and it’s pretty hard to picture all those shape details just in our heads. That’s why we need </a:t>
            </a:r>
            <a:r>
              <a:rPr lang="en-US" altLang="zh-CN" sz="1200" b="0" i="0" kern="1200">
                <a:solidFill>
                  <a:schemeClr val="tx1"/>
                </a:solidFill>
                <a:effectLst/>
                <a:latin typeface="Arial" pitchFamily="34" charset="0"/>
                <a:ea typeface="+mn-ea"/>
                <a:cs typeface="+mn-cs"/>
              </a:rPr>
              <a:t>extra methods </a:t>
            </a:r>
            <a:r>
              <a:rPr lang="en-US" altLang="zh-CN" sz="1200" b="0" i="0" kern="1200" dirty="0">
                <a:solidFill>
                  <a:schemeClr val="tx1"/>
                </a:solidFill>
                <a:effectLst/>
                <a:latin typeface="Arial" pitchFamily="34" charset="0"/>
                <a:ea typeface="+mn-ea"/>
                <a:cs typeface="+mn-cs"/>
              </a:rPr>
              <a:t>to visualize the aircraft and check what it actually looks like based on our code.</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817240631"/>
              </p:ext>
            </p:extLst>
          </p:nvPr>
        </p:nvGraphicFramePr>
        <p:xfrm>
          <a:off x="7427138" y="1684813"/>
          <a:ext cx="4552978" cy="32004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openvsp</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3.29.1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6976210"/>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0" name="文本框 9">
            <a:extLst>
              <a:ext uri="{FF2B5EF4-FFF2-40B4-BE49-F238E27FC236}">
                <a16:creationId xmlns:a16="http://schemas.microsoft.com/office/drawing/2014/main" id="{152359A8-A809-50F6-5A11-D460B9320C1C}"/>
              </a:ext>
            </a:extLst>
          </p:cNvPr>
          <p:cNvSpPr txBox="1"/>
          <p:nvPr/>
        </p:nvSpPr>
        <p:spPr>
          <a:xfrm>
            <a:off x="2973556" y="4059555"/>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1" name="文本框 10">
            <a:extLst>
              <a:ext uri="{FF2B5EF4-FFF2-40B4-BE49-F238E27FC236}">
                <a16:creationId xmlns:a16="http://schemas.microsoft.com/office/drawing/2014/main" id="{1CCE30A1-5730-D4FB-05B3-2E362135043E}"/>
              </a:ext>
            </a:extLst>
          </p:cNvPr>
          <p:cNvSpPr txBox="1"/>
          <p:nvPr/>
        </p:nvSpPr>
        <p:spPr>
          <a:xfrm>
            <a:off x="710648" y="4390992"/>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a:t>
            </a:r>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numpy</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==1.16.6</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555697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592630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2"/>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2"/>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2"/>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2"/>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2">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3721058468"/>
              </p:ext>
            </p:extLst>
          </p:nvPr>
        </p:nvGraphicFramePr>
        <p:xfrm>
          <a:off x="628072" y="986837"/>
          <a:ext cx="10935856" cy="5286124"/>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Supersonic_OpenVSP_Wave_Drag</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Call the </a:t>
                      </a:r>
                      <a:r>
                        <a:rPr lang="en-US" altLang="zh-CN" sz="1800" b="0" dirty="0" err="1">
                          <a:solidFill>
                            <a:srgbClr val="002060"/>
                          </a:solidFill>
                          <a:latin typeface="微软雅黑" panose="020B0503020204020204" pitchFamily="34" charset="-122"/>
                          <a:ea typeface="微软雅黑" panose="020B0503020204020204" pitchFamily="34" charset="-122"/>
                        </a:rPr>
                        <a:t>wave_drag</a:t>
                      </a:r>
                      <a:r>
                        <a:rPr lang="en-US" altLang="zh-CN" sz="1800" b="0" dirty="0">
                          <a:solidFill>
                            <a:srgbClr val="002060"/>
                          </a:solidFill>
                          <a:latin typeface="微软雅黑" panose="020B0503020204020204" pitchFamily="34" charset="-122"/>
                          <a:ea typeface="微软雅黑" panose="020B0503020204020204" pitchFamily="34" charset="-122"/>
                        </a:rPr>
                        <a:t> method in </a:t>
                      </a:r>
                      <a:r>
                        <a:rPr lang="en-US" altLang="zh-CN" sz="1800" b="0" dirty="0" err="1">
                          <a:solidFill>
                            <a:srgbClr val="002060"/>
                          </a:solidFill>
                          <a:latin typeface="微软雅黑" panose="020B0503020204020204" pitchFamily="34" charset="-122"/>
                          <a:ea typeface="微软雅黑" panose="020B0503020204020204" pitchFamily="34" charset="-122"/>
                        </a:rPr>
                        <a:t>openvsp</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169354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Lifting_Line</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Lift line theory</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1755221"/>
                  </a:ext>
                </a:extLst>
              </a:tr>
            </a:tbl>
          </a:graphicData>
        </a:graphic>
      </p:graphicFrame>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201674</TotalTime>
  <Words>6351</Words>
  <Application>Microsoft Office PowerPoint</Application>
  <PresentationFormat>宽屏</PresentationFormat>
  <Paragraphs>594</Paragraphs>
  <Slides>37</Slides>
  <Notes>21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37</vt:i4>
      </vt:variant>
    </vt:vector>
  </HeadingPairs>
  <TitlesOfParts>
    <vt:vector size="49" baseType="lpstr">
      <vt:lpstr>PingFang SC</vt:lpstr>
      <vt:lpstr>ui-sans-serif</vt:lpstr>
      <vt:lpstr>华文行楷</vt:lpstr>
      <vt:lpstr>宋体</vt:lpstr>
      <vt:lpstr>微软雅黑</vt:lpstr>
      <vt:lpstr>黑体</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毅 林</cp:lastModifiedBy>
  <cp:revision>6194</cp:revision>
  <cp:lastPrinted>2022-06-11T09:17:01Z</cp:lastPrinted>
  <dcterms:created xsi:type="dcterms:W3CDTF">2012-06-19T06:51:55Z</dcterms:created>
  <dcterms:modified xsi:type="dcterms:W3CDTF">2026-04-25T13:07:07Z</dcterms:modified>
</cp:coreProperties>
</file>