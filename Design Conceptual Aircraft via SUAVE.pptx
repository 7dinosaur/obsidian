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2"/>
  </p:sldMasterIdLst>
  <p:notesMasterIdLst>
    <p:notesMasterId r:id="rId41"/>
  </p:notesMasterIdLst>
  <p:handoutMasterIdLst>
    <p:handoutMasterId r:id="rId42"/>
  </p:handoutMasterIdLst>
  <p:sldIdLst>
    <p:sldId id="692" r:id="rId3"/>
    <p:sldId id="984" r:id="rId4"/>
    <p:sldId id="1051" r:id="rId5"/>
    <p:sldId id="1069" r:id="rId6"/>
    <p:sldId id="1085" r:id="rId7"/>
    <p:sldId id="1055" r:id="rId8"/>
    <p:sldId id="1052" r:id="rId9"/>
    <p:sldId id="1056" r:id="rId10"/>
    <p:sldId id="1060" r:id="rId11"/>
    <p:sldId id="1064" r:id="rId12"/>
    <p:sldId id="1062" r:id="rId13"/>
    <p:sldId id="1065" r:id="rId14"/>
    <p:sldId id="1066" r:id="rId15"/>
    <p:sldId id="1067" r:id="rId16"/>
    <p:sldId id="1063" r:id="rId17"/>
    <p:sldId id="1070" r:id="rId18"/>
    <p:sldId id="1071" r:id="rId19"/>
    <p:sldId id="1072" r:id="rId20"/>
    <p:sldId id="1076" r:id="rId21"/>
    <p:sldId id="1074" r:id="rId22"/>
    <p:sldId id="1075" r:id="rId23"/>
    <p:sldId id="1077" r:id="rId24"/>
    <p:sldId id="1078" r:id="rId25"/>
    <p:sldId id="1079" r:id="rId26"/>
    <p:sldId id="1080" r:id="rId27"/>
    <p:sldId id="1081" r:id="rId28"/>
    <p:sldId id="1082" r:id="rId29"/>
    <p:sldId id="1083" r:id="rId30"/>
    <p:sldId id="1084" r:id="rId31"/>
    <p:sldId id="1068" r:id="rId32"/>
    <p:sldId id="1053" r:id="rId33"/>
    <p:sldId id="1086" r:id="rId34"/>
    <p:sldId id="1087" r:id="rId35"/>
    <p:sldId id="1057" r:id="rId36"/>
    <p:sldId id="1058" r:id="rId37"/>
    <p:sldId id="1054" r:id="rId38"/>
    <p:sldId id="1088" r:id="rId39"/>
    <p:sldId id="995" r:id="rId40"/>
  </p:sldIdLst>
  <p:sldSz cx="12192000" cy="6858000"/>
  <p:notesSz cx="6797675" cy="9929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8929DD4-62DA-47C3-B018-F0CAF9199128}">
          <p14:sldIdLst>
            <p14:sldId id="692"/>
            <p14:sldId id="984"/>
            <p14:sldId id="1051"/>
            <p14:sldId id="1069"/>
            <p14:sldId id="1085"/>
            <p14:sldId id="1055"/>
            <p14:sldId id="1052"/>
            <p14:sldId id="1056"/>
            <p14:sldId id="1060"/>
            <p14:sldId id="1064"/>
            <p14:sldId id="1062"/>
            <p14:sldId id="1065"/>
            <p14:sldId id="1066"/>
            <p14:sldId id="1067"/>
            <p14:sldId id="1063"/>
            <p14:sldId id="1070"/>
            <p14:sldId id="1071"/>
            <p14:sldId id="1072"/>
            <p14:sldId id="1076"/>
            <p14:sldId id="1074"/>
            <p14:sldId id="1075"/>
            <p14:sldId id="1077"/>
            <p14:sldId id="1078"/>
            <p14:sldId id="1079"/>
            <p14:sldId id="1080"/>
            <p14:sldId id="1081"/>
            <p14:sldId id="1082"/>
            <p14:sldId id="1083"/>
            <p14:sldId id="1084"/>
            <p14:sldId id="1068"/>
            <p14:sldId id="1053"/>
            <p14:sldId id="1086"/>
            <p14:sldId id="1087"/>
            <p14:sldId id="1057"/>
            <p14:sldId id="1058"/>
            <p14:sldId id="1054"/>
            <p14:sldId id="1088"/>
            <p14:sldId id="995"/>
          </p14:sldIdLst>
        </p14:section>
      </p14:sectionLst>
    </p:ex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15:guide id="1" orient="horz" pos="3128" userDrawn="1">
          <p15:clr>
            <a:srgbClr val="A4A3A4"/>
          </p15:clr>
        </p15:guide>
        <p15:guide id="2" pos="2142"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用户" initials="W用" lastIdx="1" clrIdx="0"/>
  <p:cmAuthor id="2" name="chen qi ng" initials="cq" lastIdx="3" clrIdx="1">
    <p:extLst>
      <p:ext uri="{19B8F6BF-5375-455C-9EA6-DF929625EA0E}">
        <p15:presenceInfo xmlns:p15="http://schemas.microsoft.com/office/powerpoint/2012/main" userId="a19ae72deed1ee5d" providerId="Windows Live"/>
      </p:ext>
    </p:extLst>
  </p:cmAuthor>
  <p:cmAuthor id="3" name="Jeo breeze" initials="Jb" lastIdx="2" clrIdx="2">
    <p:extLst>
      <p:ext uri="{19B8F6BF-5375-455C-9EA6-DF929625EA0E}">
        <p15:presenceInfo xmlns:p15="http://schemas.microsoft.com/office/powerpoint/2012/main" userId="01b110389eb1f9e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2060"/>
    <a:srgbClr val="3838FF"/>
    <a:srgbClr val="E67000"/>
    <a:srgbClr val="003366"/>
    <a:srgbClr val="2D2D30"/>
    <a:srgbClr val="FFFFFF"/>
    <a:srgbClr val="EDEDED"/>
    <a:srgbClr val="0E5FAF"/>
    <a:srgbClr val="B9B9B9"/>
    <a:srgbClr val="699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B344D84-9AFB-497E-A393-DC336BA19D2E}" styleName="中度样式 3 - 强调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1FECB4D8-DB02-4DC6-A0A2-4F2EBAE1DC90}" styleName="中度样式 1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4" autoAdjust="0"/>
    <p:restoredTop sz="63928" autoAdjust="0"/>
  </p:normalViewPr>
  <p:slideViewPr>
    <p:cSldViewPr snapToGrid="0">
      <p:cViewPr varScale="1">
        <p:scale>
          <a:sx n="58" d="100"/>
          <a:sy n="58" d="100"/>
        </p:scale>
        <p:origin x="1392" y="21"/>
      </p:cViewPr>
      <p:guideLst>
        <p:guide pos="3840"/>
        <p:guide orient="horz" pos="216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63" d="100"/>
          <a:sy n="63" d="100"/>
        </p:scale>
        <p:origin x="2931" y="63"/>
      </p:cViewPr>
      <p:guideLst>
        <p:guide orient="horz" pos="3128"/>
        <p:guide pos="2142"/>
      </p:guideLst>
    </p:cSldViewPr>
  </p:notes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1.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commentAuthors" Target="commentAuthor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sz="quarter" idx="1"/>
          </p:nvPr>
        </p:nvSpPr>
        <p:spPr>
          <a:xfrm>
            <a:off x="3850443" y="0"/>
            <a:ext cx="2945659" cy="496491"/>
          </a:xfrm>
          <a:prstGeom prst="rect">
            <a:avLst/>
          </a:prstGeom>
        </p:spPr>
        <p:txBody>
          <a:bodyPr vert="horz" lIns="91440" tIns="45720" rIns="91440" bIns="45720" rtlCol="0"/>
          <a:lstStyle>
            <a:lvl1pPr algn="r">
              <a:defRPr sz="1200"/>
            </a:lvl1pPr>
          </a:lstStyle>
          <a:p>
            <a:fld id="{D7F4AE8B-A150-4820-BC27-EE42D733F4B8}" type="datetimeFigureOut">
              <a:rPr lang="en-GB" smtClean="0"/>
              <a:pPr/>
              <a:t>26/04/2026</a:t>
            </a:fld>
            <a:endParaRPr lang="en-GB"/>
          </a:p>
        </p:txBody>
      </p:sp>
      <p:sp>
        <p:nvSpPr>
          <p:cNvPr id="4" name="Fußzeilenplatzhalter 3"/>
          <p:cNvSpPr>
            <a:spLocks noGrp="1"/>
          </p:cNvSpPr>
          <p:nvPr>
            <p:ph type="ftr" sz="quarter" idx="2"/>
          </p:nvPr>
        </p:nvSpPr>
        <p:spPr>
          <a:xfrm>
            <a:off x="0" y="9431599"/>
            <a:ext cx="2945659" cy="496491"/>
          </a:xfrm>
          <a:prstGeom prst="rect">
            <a:avLst/>
          </a:prstGeom>
        </p:spPr>
        <p:txBody>
          <a:bodyPr vert="horz" lIns="91440" tIns="45720" rIns="91440" bIns="45720" rtlCol="0" anchor="b"/>
          <a:lstStyle>
            <a:lvl1pPr algn="l">
              <a:defRPr sz="1200"/>
            </a:lvl1pPr>
          </a:lstStyle>
          <a:p>
            <a:endParaRPr lang="en-GB"/>
          </a:p>
        </p:txBody>
      </p:sp>
      <p:sp>
        <p:nvSpPr>
          <p:cNvPr id="5" name="Foliennummernplatzhalter 4"/>
          <p:cNvSpPr>
            <a:spLocks noGrp="1"/>
          </p:cNvSpPr>
          <p:nvPr>
            <p:ph type="sldNum" sz="quarter" idx="3"/>
          </p:nvPr>
        </p:nvSpPr>
        <p:spPr>
          <a:xfrm>
            <a:off x="3850443" y="9431599"/>
            <a:ext cx="2945659" cy="496491"/>
          </a:xfrm>
          <a:prstGeom prst="rect">
            <a:avLst/>
          </a:prstGeom>
        </p:spPr>
        <p:txBody>
          <a:bodyPr vert="horz" lIns="91440" tIns="45720" rIns="91440" bIns="45720" rtlCol="0" anchor="b"/>
          <a:lstStyle>
            <a:lvl1pPr algn="r">
              <a:defRPr sz="1200"/>
            </a:lvl1pPr>
          </a:lstStyle>
          <a:p>
            <a:fld id="{43F05C2D-D39A-48CE-B0EB-51A11E4633C9}" type="slidenum">
              <a:rPr lang="en-GB" smtClean="0"/>
              <a:pPr/>
              <a:t>‹#›</a:t>
            </a:fld>
            <a:endParaRPr lang="en-GB"/>
          </a:p>
        </p:txBody>
      </p:sp>
    </p:spTree>
    <p:extLst>
      <p:ext uri="{BB962C8B-B14F-4D97-AF65-F5344CB8AC3E}">
        <p14:creationId xmlns:p14="http://schemas.microsoft.com/office/powerpoint/2010/main" val="12694910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atin typeface="Arial" pitchFamily="34" charset="0"/>
              </a:defRPr>
            </a:lvl1pPr>
          </a:lstStyle>
          <a:p>
            <a:endParaRPr lang="de-DE" dirty="0"/>
          </a:p>
        </p:txBody>
      </p:sp>
      <p:sp>
        <p:nvSpPr>
          <p:cNvPr id="3" name="Datumsplatzhalter 2"/>
          <p:cNvSpPr>
            <a:spLocks noGrp="1"/>
          </p:cNvSpPr>
          <p:nvPr>
            <p:ph type="dt" idx="1"/>
          </p:nvPr>
        </p:nvSpPr>
        <p:spPr>
          <a:xfrm>
            <a:off x="3850443" y="0"/>
            <a:ext cx="2945659" cy="496491"/>
          </a:xfrm>
          <a:prstGeom prst="rect">
            <a:avLst/>
          </a:prstGeom>
        </p:spPr>
        <p:txBody>
          <a:bodyPr vert="horz" lIns="91440" tIns="45720" rIns="91440" bIns="45720" rtlCol="0"/>
          <a:lstStyle>
            <a:lvl1pPr algn="r">
              <a:defRPr sz="1200">
                <a:latin typeface="Arial" pitchFamily="34" charset="0"/>
              </a:defRPr>
            </a:lvl1pPr>
          </a:lstStyle>
          <a:p>
            <a:fld id="{45B75E70-762A-4375-AA7C-DE9BB7CC9339}" type="datetimeFigureOut">
              <a:rPr lang="de-DE" smtClean="0"/>
              <a:pPr/>
              <a:t>26.04.2026</a:t>
            </a:fld>
            <a:endParaRPr lang="de-DE" dirty="0"/>
          </a:p>
        </p:txBody>
      </p:sp>
      <p:sp>
        <p:nvSpPr>
          <p:cNvPr id="4" name="Folienbildplatzhalter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79768" y="4716662"/>
            <a:ext cx="5438140" cy="4468416"/>
          </a:xfrm>
          <a:prstGeom prst="rect">
            <a:avLst/>
          </a:prstGeom>
        </p:spPr>
        <p:txBody>
          <a:bodyPr vert="horz" lIns="91440" tIns="45720" rIns="91440" bIns="4572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9431599"/>
            <a:ext cx="2945659" cy="496491"/>
          </a:xfrm>
          <a:prstGeom prst="rect">
            <a:avLst/>
          </a:prstGeom>
        </p:spPr>
        <p:txBody>
          <a:bodyPr vert="horz" lIns="91440" tIns="45720" rIns="91440" bIns="45720" rtlCol="0" anchor="b"/>
          <a:lstStyle>
            <a:lvl1pPr algn="l">
              <a:defRPr sz="1200">
                <a:latin typeface="Arial" pitchFamily="34" charset="0"/>
              </a:defRPr>
            </a:lvl1pPr>
          </a:lstStyle>
          <a:p>
            <a:endParaRPr lang="de-DE" dirty="0"/>
          </a:p>
        </p:txBody>
      </p:sp>
      <p:sp>
        <p:nvSpPr>
          <p:cNvPr id="7" name="Foliennummernplatzhalter 6"/>
          <p:cNvSpPr>
            <a:spLocks noGrp="1"/>
          </p:cNvSpPr>
          <p:nvPr>
            <p:ph type="sldNum" sz="quarter" idx="5"/>
          </p:nvPr>
        </p:nvSpPr>
        <p:spPr>
          <a:xfrm>
            <a:off x="3850443" y="9431599"/>
            <a:ext cx="2945659" cy="496491"/>
          </a:xfrm>
          <a:prstGeom prst="rect">
            <a:avLst/>
          </a:prstGeom>
        </p:spPr>
        <p:txBody>
          <a:bodyPr vert="horz" lIns="91440" tIns="45720" rIns="91440" bIns="45720" rtlCol="0" anchor="b"/>
          <a:lstStyle>
            <a:lvl1pPr algn="r">
              <a:defRPr sz="1200">
                <a:latin typeface="Arial" pitchFamily="34" charset="0"/>
              </a:defRPr>
            </a:lvl1pPr>
          </a:lstStyle>
          <a:p>
            <a:fld id="{DF1895BC-06EC-475A-97CA-BF53472F2E03}" type="slidenum">
              <a:rPr lang="de-DE" smtClean="0"/>
              <a:pPr/>
              <a:t>‹#›</a:t>
            </a:fld>
            <a:endParaRPr lang="de-DE" dirty="0"/>
          </a:p>
        </p:txBody>
      </p:sp>
    </p:spTree>
    <p:extLst>
      <p:ext uri="{BB962C8B-B14F-4D97-AF65-F5344CB8AC3E}">
        <p14:creationId xmlns:p14="http://schemas.microsoft.com/office/powerpoint/2010/main" val="163683755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p:cNvSpPr>
            <a:spLocks noGrp="1"/>
          </p:cNvSpPr>
          <p:nvPr>
            <p:ph type="body" idx="1"/>
          </p:nvPr>
        </p:nvSpPr>
        <p:spPr/>
        <p:txBody>
          <a:bodyPr/>
          <a:lstStyle/>
          <a:p>
            <a:r>
              <a:rPr lang="en-US" altLang="zh-CN" dirty="0"/>
              <a:t>Hello everyone, I’m Lin Yi. Today we’re </a:t>
            </a:r>
            <a:r>
              <a:rPr lang="en-US" altLang="zh-CN" dirty="0" err="1"/>
              <a:t>gonna</a:t>
            </a:r>
            <a:r>
              <a:rPr lang="en-US" altLang="zh-CN" dirty="0"/>
              <a:t> talk about how to do conceptual aircraft design with SUAVE. Now, both aircraft design and SUAVE are pretty complex topics. I’m not </a:t>
            </a:r>
            <a:r>
              <a:rPr lang="en-US" altLang="zh-CN" dirty="0" err="1"/>
              <a:t>gonna</a:t>
            </a:r>
            <a:r>
              <a:rPr lang="en-US" altLang="zh-CN" dirty="0"/>
              <a:t> turn you into a SUAVE specialist or an aircraft design expert in just one session – that’s just not </a:t>
            </a:r>
            <a:r>
              <a:rPr lang="en-US" altLang="zh-CN" dirty="0" err="1"/>
              <a:t>gonna</a:t>
            </a:r>
            <a:r>
              <a:rPr lang="en-US" altLang="zh-CN" dirty="0"/>
              <a:t> happen. So like I said, today is just a discussion. If you have any questions, or if you think I got something wrong along the way, feel free to put your hand up and stop me anytime.</a:t>
            </a:r>
          </a:p>
        </p:txBody>
      </p:sp>
      <p:sp>
        <p:nvSpPr>
          <p:cNvPr id="4" name="灯片编号占位符 3"/>
          <p:cNvSpPr>
            <a:spLocks noGrp="1"/>
          </p:cNvSpPr>
          <p:nvPr>
            <p:ph type="sldNum" sz="quarter" idx="10"/>
          </p:nvPr>
        </p:nvSpPr>
        <p:spPr/>
        <p:txBody>
          <a:bodyPr/>
          <a:lstStyle/>
          <a:p>
            <a:fld id="{DF1895BC-06EC-475A-97CA-BF53472F2E03}" type="slidenum">
              <a:rPr lang="de-DE" smtClean="0"/>
              <a:pPr/>
              <a:t>1</a:t>
            </a:fld>
            <a:endParaRPr lang="de-DE" dirty="0"/>
          </a:p>
        </p:txBody>
      </p:sp>
    </p:spTree>
    <p:extLst>
      <p:ext uri="{BB962C8B-B14F-4D97-AF65-F5344CB8AC3E}">
        <p14:creationId xmlns:p14="http://schemas.microsoft.com/office/powerpoint/2010/main" val="28337488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338D5-45E8-972D-9794-99403EEFD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C1D073-1A53-5885-D6E5-A0C47A8534BA}"/>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8A325CD0-053A-EC03-8698-36246CD3E744}"/>
              </a:ext>
            </a:extLst>
          </p:cNvPr>
          <p:cNvSpPr>
            <a:spLocks noGrp="1"/>
          </p:cNvSpPr>
          <p:nvPr>
            <p:ph type="body" idx="1"/>
          </p:nvPr>
        </p:nvSpPr>
        <p:spPr/>
        <p:txBody>
          <a:bodyPr/>
          <a:lstStyle/>
          <a:p>
            <a:r>
              <a:rPr lang="en-US" altLang="zh-CN" dirty="0"/>
              <a:t>Here is what we’ll do today. We’ll start with a background of SUAVE, then I will help you install the suave, run a test case, and build your first case yourself. After that, I will introduce some main modules of SUAVE so that you can have a deeper insight into this code. If we have extra time, I will show some examples of how to create custom modules.</a:t>
            </a:r>
          </a:p>
        </p:txBody>
      </p:sp>
      <p:sp>
        <p:nvSpPr>
          <p:cNvPr id="4" name="灯片编号占位符 3">
            <a:extLst>
              <a:ext uri="{FF2B5EF4-FFF2-40B4-BE49-F238E27FC236}">
                <a16:creationId xmlns:a16="http://schemas.microsoft.com/office/drawing/2014/main" id="{F571905E-2373-7F9D-98D4-BA5088072294}"/>
              </a:ext>
            </a:extLst>
          </p:cNvPr>
          <p:cNvSpPr>
            <a:spLocks noGrp="1"/>
          </p:cNvSpPr>
          <p:nvPr>
            <p:ph type="sldNum" sz="quarter" idx="5"/>
          </p:nvPr>
        </p:nvSpPr>
        <p:spPr/>
        <p:txBody>
          <a:bodyPr/>
          <a:lstStyle/>
          <a:p>
            <a:fld id="{DF1895BC-06EC-475A-97CA-BF53472F2E03}" type="slidenum">
              <a:rPr lang="de-DE" smtClean="0"/>
              <a:pPr/>
              <a:t>2</a:t>
            </a:fld>
            <a:endParaRPr lang="de-DE" dirty="0"/>
          </a:p>
        </p:txBody>
      </p:sp>
    </p:spTree>
    <p:extLst>
      <p:ext uri="{BB962C8B-B14F-4D97-AF65-F5344CB8AC3E}">
        <p14:creationId xmlns:p14="http://schemas.microsoft.com/office/powerpoint/2010/main" val="1973395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let’s start with SUAVE’s background first. SUAVE is a conceptual level aircraft design environment built with the ability to analyze and optimize both conventional and unconventional designs, Blah blah blah. You have probably noticed this is the official intro from its website, so I’m not </a:t>
            </a:r>
            <a:r>
              <a:rPr lang="en-US" altLang="zh-CN" dirty="0" err="1"/>
              <a:t>gonna</a:t>
            </a:r>
            <a:r>
              <a:rPr lang="en-US" altLang="zh-CN" dirty="0"/>
              <a:t> read it word by word, just focus on this line, “SUAVE provides a framework”. To me, I’d rather call it a code style, a style to make code highly encapsulated and modularized. You can assemble these modules however you want, </a:t>
            </a:r>
            <a:r>
              <a:rPr lang="en-US" altLang="zh-CN" dirty="0" err="1"/>
              <a:t>modify’em</a:t>
            </a:r>
            <a:r>
              <a:rPr lang="en-US" altLang="zh-CN" dirty="0"/>
              <a:t>, </a:t>
            </a:r>
            <a:r>
              <a:rPr lang="en-US" altLang="zh-CN" dirty="0" err="1"/>
              <a:t>rewrite’em</a:t>
            </a:r>
            <a:r>
              <a:rPr lang="en-US" altLang="zh-CN" dirty="0"/>
              <a:t> or even create your own with your idea. Alright, sorry I went off track a bit. Anyway it’s a super customizable program. Let’s dive in.</a:t>
            </a:r>
          </a:p>
        </p:txBody>
      </p:sp>
      <p:sp>
        <p:nvSpPr>
          <p:cNvPr id="4" name="灯片编号占位符 3"/>
          <p:cNvSpPr>
            <a:spLocks noGrp="1"/>
          </p:cNvSpPr>
          <p:nvPr>
            <p:ph type="sldNum" sz="quarter" idx="5"/>
          </p:nvPr>
        </p:nvSpPr>
        <p:spPr/>
        <p:txBody>
          <a:bodyPr/>
          <a:lstStyle/>
          <a:p>
            <a:fld id="{DF1895BC-06EC-475A-97CA-BF53472F2E03}" type="slidenum">
              <a:rPr lang="de-DE" smtClean="0"/>
              <a:pPr/>
              <a:t>3</a:t>
            </a:fld>
            <a:endParaRPr lang="de-DE" dirty="0"/>
          </a:p>
        </p:txBody>
      </p:sp>
    </p:spTree>
    <p:extLst>
      <p:ext uri="{BB962C8B-B14F-4D97-AF65-F5344CB8AC3E}">
        <p14:creationId xmlns:p14="http://schemas.microsoft.com/office/powerpoint/2010/main" val="31369643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the first thing we should do is to install the python environment for SUAVE. I believe you have downloaded the Anaconda before this class ok? That will make things more easy. </a:t>
            </a:r>
            <a:r>
              <a:rPr lang="en-US" altLang="zh-CN" sz="1200" b="0" i="0" kern="1200" dirty="0">
                <a:solidFill>
                  <a:schemeClr val="tx1"/>
                </a:solidFill>
                <a:effectLst/>
                <a:latin typeface="Arial" pitchFamily="34" charset="0"/>
                <a:ea typeface="+mn-ea"/>
                <a:cs typeface="+mn-cs"/>
              </a:rPr>
              <a:t>If you haven’t downloaded it yet, the materials I shared with you include the Anaconda installer for Windows 64‑bit version. Then we create a virtual environment with the python version 3.60, Because the SUAVE project has been discontinued for a long time, there are no new releases to be compatible with newer versions of Python. And by the way, although you can write Python code in any text editor, it’s definitely more convenient to use a dedicated IDE. The specific IDE won’t affect our class. Feel free to use whatever you’re familiar with. If you don’t have a preferred editor, I’ve also included the VS Code installer in the shared folder—it’s the code editor I use myself. Once installed, you just need to install the Python extension from the VS Code extension market, and you’ll be ready to run Python code. Ok back to our topic, then we should install some libraries suave need, I’ve listed all the required libraries with the correct versions in the **requirements file**. You just need to run this command, and it will automatically install everything you need.</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4</a:t>
            </a:fld>
            <a:endParaRPr lang="de-DE" dirty="0"/>
          </a:p>
        </p:txBody>
      </p:sp>
    </p:spTree>
    <p:extLst>
      <p:ext uri="{BB962C8B-B14F-4D97-AF65-F5344CB8AC3E}">
        <p14:creationId xmlns:p14="http://schemas.microsoft.com/office/powerpoint/2010/main" val="1790316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Once we set up a working environment for SUAVE, we can download the code from the </a:t>
            </a:r>
            <a:r>
              <a:rPr lang="en-US" altLang="zh-CN" dirty="0" err="1"/>
              <a:t>github</a:t>
            </a:r>
            <a:r>
              <a:rPr lang="en-US" altLang="zh-CN" dirty="0"/>
              <a:t>. </a:t>
            </a:r>
            <a:r>
              <a:rPr lang="en-US" altLang="zh-CN" sz="1200" b="0" i="0" kern="1200" dirty="0">
                <a:solidFill>
                  <a:schemeClr val="tx1"/>
                </a:solidFill>
                <a:effectLst/>
                <a:latin typeface="Arial" pitchFamily="34" charset="0"/>
                <a:ea typeface="+mn-ea"/>
                <a:cs typeface="+mn-cs"/>
              </a:rPr>
              <a:t>I originally wanted you to download everything from GitHub, but GitHub downloads can be pretty unstable due to network issues. So I’ve put the main SUAVE package and the Tutorial zip file in the shared folder for you. All you need to do is extract the files from the zips to wherever you like on your computer.</a:t>
            </a:r>
            <a:r>
              <a:rPr lang="en-US" altLang="zh-CN" dirty="0"/>
              <a:t> Then run a command</a:t>
            </a:r>
            <a:r>
              <a:rPr lang="zh-CN" altLang="en-US" dirty="0"/>
              <a:t> </a:t>
            </a:r>
            <a:r>
              <a:rPr lang="en-US" altLang="zh-CN" dirty="0"/>
              <a:t>to install it.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5</a:t>
            </a:fld>
            <a:endParaRPr lang="de-DE" dirty="0"/>
          </a:p>
        </p:txBody>
      </p:sp>
    </p:spTree>
    <p:extLst>
      <p:ext uri="{BB962C8B-B14F-4D97-AF65-F5344CB8AC3E}">
        <p14:creationId xmlns:p14="http://schemas.microsoft.com/office/powerpoint/2010/main" val="15993486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next step we should test if we have setup SUAVE successfully. Please open the Tutorial folder, find the tut_mission_B737.py script, run it and just wait a minute — I think it’ll take about one minute. Then you’ll see lots of plots fill your whole screen! Like this, altitude, weight, lift, drag… all kinds of information will pop up right in front of you. don’t worry. We’ll go through these plots together later. this is just to check if you’ve installed SUAVE correctly. If you don’t see those plots, just let me know. Alright? Alright, we’ve got SUAVE installed.</a:t>
            </a:r>
          </a:p>
        </p:txBody>
      </p:sp>
      <p:sp>
        <p:nvSpPr>
          <p:cNvPr id="4" name="灯片编号占位符 3"/>
          <p:cNvSpPr>
            <a:spLocks noGrp="1"/>
          </p:cNvSpPr>
          <p:nvPr>
            <p:ph type="sldNum" sz="quarter" idx="5"/>
          </p:nvPr>
        </p:nvSpPr>
        <p:spPr/>
        <p:txBody>
          <a:bodyPr/>
          <a:lstStyle/>
          <a:p>
            <a:fld id="{DF1895BC-06EC-475A-97CA-BF53472F2E03}" type="slidenum">
              <a:rPr lang="de-DE" smtClean="0"/>
              <a:pPr/>
              <a:t>6</a:t>
            </a:fld>
            <a:endParaRPr lang="de-DE" dirty="0"/>
          </a:p>
        </p:txBody>
      </p:sp>
    </p:spTree>
    <p:extLst>
      <p:ext uri="{BB962C8B-B14F-4D97-AF65-F5344CB8AC3E}">
        <p14:creationId xmlns:p14="http://schemas.microsoft.com/office/powerpoint/2010/main" val="1310572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Before we start working on our first SUAVE case, we first need to understand what conceptual aircraft design is, or more simply, what steps we need to go through. This is the overall conceptual design process; it’s not super formal, but it includes all the key steps. First, we need to figure out our aircraft requirements: whether we’re designing a fighter jet, helicopter or transport aircraft, how many missiles the fighter carries, if the helicopter is for rescue or combat missions, and what range the transport aircraft needs. These are all our basic requirements. Once we confirm the requirements, we define the whole flight mission, including takeoff, climb, cruise, descent, landing and other possible mission phases. After setting up the mission, we calculate initial aircraft parameters with standard formulas, such as maximum takeoff weight using the Breguet formula. Then we sketch out the aircraft layout. I mean sketch, not final design — at this point we don’t have any detailed aircraft data, the aircraft doesn’t even exist yet. We can model it in </a:t>
            </a:r>
            <a:r>
              <a:rPr lang="en-US" altLang="zh-CN" dirty="0" err="1"/>
              <a:t>OpenVSP</a:t>
            </a:r>
            <a:r>
              <a:rPr lang="en-US" altLang="zh-CN" dirty="0"/>
              <a:t>, or even just draw it on a napkin, and use our imagination to build our own aircraft. After that we do analyses like aerodynamics, weight updates and thrust analysis, and check if our aircraft can finish the mission. If not, we go back and adjust the design repeatedly until it meets the requirements. You’ve already learned all this aircraft design knowledge from Professor Zhang, so I won’t talk too much about it, and now let’s focus on how to use SUAVE in this whole design process.</a:t>
            </a:r>
          </a:p>
        </p:txBody>
      </p:sp>
      <p:sp>
        <p:nvSpPr>
          <p:cNvPr id="4" name="灯片编号占位符 3"/>
          <p:cNvSpPr>
            <a:spLocks noGrp="1"/>
          </p:cNvSpPr>
          <p:nvPr>
            <p:ph type="sldNum" sz="quarter" idx="5"/>
          </p:nvPr>
        </p:nvSpPr>
        <p:spPr/>
        <p:txBody>
          <a:bodyPr/>
          <a:lstStyle/>
          <a:p>
            <a:fld id="{DF1895BC-06EC-475A-97CA-BF53472F2E03}" type="slidenum">
              <a:rPr lang="de-DE" smtClean="0"/>
              <a:pPr/>
              <a:t>7</a:t>
            </a:fld>
            <a:endParaRPr lang="de-DE" dirty="0"/>
          </a:p>
        </p:txBody>
      </p:sp>
    </p:spTree>
    <p:extLst>
      <p:ext uri="{BB962C8B-B14F-4D97-AF65-F5344CB8AC3E}">
        <p14:creationId xmlns:p14="http://schemas.microsoft.com/office/powerpoint/2010/main" val="34772964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So we will firstly build the main function. And we can create several component functions to handle specific operation of the aircraft, like aerodynamic module, or vehicle setup function, maybe we</a:t>
            </a:r>
            <a:r>
              <a:rPr lang="zh-CN" altLang="en-US" dirty="0"/>
              <a:t> </a:t>
            </a:r>
            <a:r>
              <a:rPr lang="en-US" altLang="zh-CN" dirty="0"/>
              <a:t>will</a:t>
            </a:r>
            <a:r>
              <a:rPr lang="zh-CN" altLang="en-US" dirty="0"/>
              <a:t> </a:t>
            </a:r>
            <a:r>
              <a:rPr lang="en-US" altLang="zh-CN" dirty="0"/>
              <a:t>write some aircraft parameters in this function later. So in this stage we just create and type the “pass” in these component functions, just to make sure this script can be </a:t>
            </a:r>
            <a:r>
              <a:rPr lang="en-US" altLang="zh-CN" dirty="0" err="1"/>
              <a:t>runned</a:t>
            </a:r>
            <a:r>
              <a:rPr lang="en-US" altLang="zh-CN" dirty="0"/>
              <a:t> normally later.</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8</a:t>
            </a:fld>
            <a:endParaRPr lang="de-DE" dirty="0"/>
          </a:p>
        </p:txBody>
      </p:sp>
    </p:spTree>
    <p:extLst>
      <p:ext uri="{BB962C8B-B14F-4D97-AF65-F5344CB8AC3E}">
        <p14:creationId xmlns:p14="http://schemas.microsoft.com/office/powerpoint/2010/main" val="2874908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Once we have finished the main function, the basic framework for aircraft design, the first module will be developed is the </a:t>
            </a:r>
            <a:r>
              <a:rPr lang="en-US" altLang="zh-CN" dirty="0" err="1"/>
              <a:t>base_analysis</a:t>
            </a:r>
            <a:r>
              <a:rPr lang="en-US" altLang="zh-CN" dirty="0"/>
              <a:t> function. To start we need to define the output of this function, we want this function can return a analyses module so that we can use it to analysis the aerodynamic character of our aircraft in other steps. We create a </a:t>
            </a:r>
            <a:r>
              <a:rPr lang="en-US" altLang="zh-CN" dirty="0" err="1"/>
              <a:t>a</a:t>
            </a:r>
            <a:r>
              <a:rPr lang="en-US" altLang="zh-CN" dirty="0"/>
              <a:t> class in the first line of this function. Then we add all of the necessary components in turns. The weight module will update the total weight during the flight mission, the second part for </a:t>
            </a:r>
            <a:r>
              <a:rPr lang="en-US" altLang="zh-CN" dirty="0" err="1"/>
              <a:t>base_analyses</a:t>
            </a:r>
            <a:r>
              <a:rPr lang="en-US" altLang="zh-CN" dirty="0"/>
              <a:t> function is most important, we choose the aerodynamic method in this part, in this case we just choose the </a:t>
            </a:r>
            <a:r>
              <a:rPr lang="en-US" altLang="zh-CN" dirty="0" err="1"/>
              <a:t>Fidelity_Zero</a:t>
            </a:r>
            <a:r>
              <a:rPr lang="en-US" altLang="zh-CN" dirty="0"/>
              <a:t>() module, because this module calculate quickly, is suitable for our class, you can just get results in several seconds. Now we add the energy module, the planet module and the atmosphere module into this function so that it can run correctly.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9</a:t>
            </a:fld>
            <a:endParaRPr lang="de-DE" dirty="0"/>
          </a:p>
        </p:txBody>
      </p:sp>
    </p:spTree>
    <p:extLst>
      <p:ext uri="{BB962C8B-B14F-4D97-AF65-F5344CB8AC3E}">
        <p14:creationId xmlns:p14="http://schemas.microsoft.com/office/powerpoint/2010/main" val="28686019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Normally, we’ll add the </a:t>
            </a:r>
            <a:r>
              <a:rPr lang="en-US" altLang="zh-CN" sz="1200" b="0" i="0" kern="1200" dirty="0" err="1">
                <a:solidFill>
                  <a:schemeClr val="tx1"/>
                </a:solidFill>
                <a:effectLst/>
                <a:latin typeface="Arial" pitchFamily="34" charset="0"/>
                <a:ea typeface="+mn-ea"/>
                <a:cs typeface="+mn-cs"/>
              </a:rPr>
              <a:t>base_analysis</a:t>
            </a:r>
            <a:r>
              <a:rPr lang="en-US" altLang="zh-CN" sz="1200" b="0" i="0" kern="1200" dirty="0">
                <a:solidFill>
                  <a:schemeClr val="tx1"/>
                </a:solidFill>
                <a:effectLst/>
                <a:latin typeface="Arial" pitchFamily="34" charset="0"/>
                <a:ea typeface="+mn-ea"/>
                <a:cs typeface="+mn-cs"/>
              </a:rPr>
              <a:t> function into a analysis container. This way, we can throw in multiple analysis modules inside it for different needs. For instance, we often need special settings for control surfaces during the takeoff phase. In today’s simple case, we’re only using one single module—the </a:t>
            </a:r>
            <a:r>
              <a:rPr lang="en-US" altLang="zh-CN" sz="1200" b="0" i="0" kern="1200" dirty="0" err="1">
                <a:solidFill>
                  <a:schemeClr val="tx1"/>
                </a:solidFill>
                <a:effectLst/>
                <a:latin typeface="Arial" pitchFamily="34" charset="0"/>
                <a:ea typeface="+mn-ea"/>
                <a:cs typeface="+mn-cs"/>
              </a:rPr>
              <a:t>base_analysis</a:t>
            </a:r>
            <a:r>
              <a:rPr lang="en-US" altLang="zh-CN" sz="1200" b="0" i="0" kern="1200" dirty="0">
                <a:solidFill>
                  <a:schemeClr val="tx1"/>
                </a:solidFill>
                <a:effectLst/>
                <a:latin typeface="Arial" pitchFamily="34" charset="0"/>
                <a:ea typeface="+mn-ea"/>
                <a:cs typeface="+mn-cs"/>
              </a:rPr>
              <a:t> we just built. Still, just to keep our code clean and fully structured, we’ll go ahead and make a container to hold it anyway.</a:t>
            </a:r>
            <a:r>
              <a:rPr lang="en-US" altLang="zh-CN" dirty="0"/>
              <a:t> Correspondingly, we turn the vehicle settings into a config class. Then we pass this config to our analysis, so it’s fully set up and ready to use.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10</a:t>
            </a:fld>
            <a:endParaRPr lang="de-DE" dirty="0"/>
          </a:p>
        </p:txBody>
      </p:sp>
    </p:spTree>
    <p:extLst>
      <p:ext uri="{BB962C8B-B14F-4D97-AF65-F5344CB8AC3E}">
        <p14:creationId xmlns:p14="http://schemas.microsoft.com/office/powerpoint/2010/main" val="1522264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Alright, great—our analysis framework is done. Now we’ll define the flight mission. Before the actual flight profile, we’ve got to input airport data first. Uh, you might think this is unnecessary—this part is mainly for special takeoff scenarios, like high‑altitude departures. For example, Xizang in China is super high above sea level. If you want to analyze a mission taking off from an airport there, you’d set the airport altitude to… let me check—around </a:t>
            </a:r>
            <a:r>
              <a:rPr lang="en-US" altLang="zh-CN" sz="1200" b="1" kern="1200" dirty="0">
                <a:solidFill>
                  <a:schemeClr val="tx1"/>
                </a:solidFill>
                <a:effectLst/>
                <a:latin typeface="Arial" pitchFamily="34" charset="0"/>
                <a:ea typeface="+mn-ea"/>
                <a:cs typeface="+mn-cs"/>
              </a:rPr>
              <a:t>4.3 km</a:t>
            </a:r>
            <a:r>
              <a:rPr lang="en-US" altLang="zh-CN" dirty="0"/>
              <a:t> for </a:t>
            </a:r>
            <a:r>
              <a:rPr lang="en-US" altLang="zh-CN" dirty="0" err="1"/>
              <a:t>Changdu</a:t>
            </a:r>
            <a:r>
              <a:rPr lang="en-US" altLang="zh-CN" dirty="0"/>
              <a:t> Bangda Airport, or about </a:t>
            </a:r>
            <a:r>
              <a:rPr lang="en-US" altLang="zh-CN" sz="1200" b="1" kern="1200" dirty="0">
                <a:solidFill>
                  <a:schemeClr val="tx1"/>
                </a:solidFill>
                <a:effectLst/>
                <a:latin typeface="Arial" pitchFamily="34" charset="0"/>
                <a:ea typeface="+mn-ea"/>
                <a:cs typeface="+mn-cs"/>
              </a:rPr>
              <a:t>3.6 km</a:t>
            </a:r>
            <a:r>
              <a:rPr lang="en-US" altLang="zh-CN" dirty="0"/>
              <a:t> for Lhasa </a:t>
            </a:r>
            <a:r>
              <a:rPr lang="en-US" altLang="zh-CN" dirty="0" err="1"/>
              <a:t>Gonggar</a:t>
            </a:r>
            <a:r>
              <a:rPr lang="en-US" altLang="zh-CN" dirty="0"/>
              <a:t> Airport.</a:t>
            </a:r>
            <a:r>
              <a:rPr lang="en-GB" altLang="zh-CN" sz="1200" b="0" kern="1200" dirty="0">
                <a:solidFill>
                  <a:schemeClr val="tx1"/>
                </a:solidFill>
                <a:effectLst/>
                <a:latin typeface="Arial" pitchFamily="34" charset="0"/>
                <a:ea typeface="+mn-ea"/>
                <a:cs typeface="+mn-cs"/>
              </a:rPr>
              <a:t> Alright, back on track. For our simple case, we’ll just go with the generic airport settings. That means zero altitude, standard temperature, and standard atmosphere. Quick note here: </a:t>
            </a:r>
            <a:r>
              <a:rPr lang="en-GB" altLang="zh-CN" sz="1200" b="0" kern="1200" dirty="0" err="1">
                <a:solidFill>
                  <a:schemeClr val="tx1"/>
                </a:solidFill>
                <a:effectLst/>
                <a:latin typeface="Arial" pitchFamily="34" charset="0"/>
                <a:ea typeface="+mn-ea"/>
                <a:cs typeface="+mn-cs"/>
              </a:rPr>
              <a:t>delta_isa</a:t>
            </a:r>
            <a:r>
              <a:rPr lang="en-GB" altLang="zh-CN" sz="1200" b="0" kern="1200" dirty="0">
                <a:solidFill>
                  <a:schemeClr val="tx1"/>
                </a:solidFill>
                <a:effectLst/>
                <a:latin typeface="Arial" pitchFamily="34" charset="0"/>
                <a:ea typeface="+mn-ea"/>
                <a:cs typeface="+mn-cs"/>
              </a:rPr>
              <a:t> refers to the temperature difference between the actual temperature of airport and the standard temperature.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11</a:t>
            </a:fld>
            <a:endParaRPr lang="de-DE" dirty="0"/>
          </a:p>
        </p:txBody>
      </p:sp>
    </p:spTree>
    <p:extLst>
      <p:ext uri="{BB962C8B-B14F-4D97-AF65-F5344CB8AC3E}">
        <p14:creationId xmlns:p14="http://schemas.microsoft.com/office/powerpoint/2010/main" val="11926756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First, let’s define the takeoff segment. It’s really simple. We just need to set the </a:t>
            </a:r>
            <a:r>
              <a:rPr lang="en-US" altLang="zh-CN" dirty="0" err="1"/>
              <a:t>altitude_start</a:t>
            </a:r>
            <a:r>
              <a:rPr lang="en-US" altLang="zh-CN" dirty="0"/>
              <a:t>, </a:t>
            </a:r>
            <a:r>
              <a:rPr lang="en-US" altLang="zh-CN" dirty="0" err="1"/>
              <a:t>altitude_end</a:t>
            </a:r>
            <a:r>
              <a:rPr lang="en-US" altLang="zh-CN" dirty="0"/>
              <a:t>, climb </a:t>
            </a:r>
            <a:r>
              <a:rPr lang="en-US" altLang="zh-CN" dirty="0" err="1"/>
              <a:t>air_speed</a:t>
            </a:r>
            <a:r>
              <a:rPr lang="en-US" altLang="zh-CN" dirty="0"/>
              <a:t>, and </a:t>
            </a:r>
            <a:r>
              <a:rPr lang="en-US" altLang="zh-CN" dirty="0" err="1"/>
              <a:t>climb_rate</a:t>
            </a:r>
            <a:r>
              <a:rPr lang="en-US" altLang="zh-CN" dirty="0"/>
              <a:t>. Every flight segment we use is built based on a basic Segment class, we should create the base class in advance.</a:t>
            </a:r>
            <a:r>
              <a:rPr lang="zh-CN" altLang="en-US" dirty="0"/>
              <a:t> </a:t>
            </a:r>
            <a:r>
              <a:rPr lang="en-US" altLang="zh-CN" dirty="0"/>
              <a:t>By</a:t>
            </a:r>
            <a:r>
              <a:rPr lang="zh-CN" altLang="en-US" dirty="0"/>
              <a:t> </a:t>
            </a:r>
            <a:r>
              <a:rPr lang="en-US" altLang="zh-CN" dirty="0"/>
              <a:t>the</a:t>
            </a:r>
            <a:r>
              <a:rPr lang="zh-CN" altLang="en-US" dirty="0"/>
              <a:t> </a:t>
            </a:r>
            <a:r>
              <a:rPr lang="en-US" altLang="zh-CN" dirty="0"/>
              <a:t>way, most of the parameters in our simple case come from the Boeing 737 test case, and a few are set based on my own experience. You can adjust most of these values freely, as long as they stay reasonable and realistic. And after we define a mission segment, please remember to add this segment into the mission.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12</a:t>
            </a:fld>
            <a:endParaRPr lang="de-DE" dirty="0"/>
          </a:p>
        </p:txBody>
      </p:sp>
    </p:spTree>
    <p:extLst>
      <p:ext uri="{BB962C8B-B14F-4D97-AF65-F5344CB8AC3E}">
        <p14:creationId xmlns:p14="http://schemas.microsoft.com/office/powerpoint/2010/main" val="18150232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we move on to the cruise phase. 230 meters per second equals about Mach 0.8, a common setting for civil transport aircraft. But maybe in the near future, we’ll be flying on faster supersonic transport. Mach 1.3? Or 1.6, or Mach 2! Sorry let’s get back the point. The second parameter here is our cruise range. Attention, the units of range is not kilometer but </a:t>
            </a:r>
            <a:r>
              <a:rPr lang="en-US" altLang="zh-CN" dirty="0" err="1"/>
              <a:t>nautical_miles</a:t>
            </a:r>
            <a:r>
              <a:rPr lang="en-US" altLang="zh-CN" dirty="0"/>
              <a:t>. You know what? For me, the Units function is most impressive feature in SUAVE—like, in my own codes, I always use International System of units by default, and yeah, that’s convenient, saves time and keeps the code simple, but here’s the thing: once you start piling up tons of parameters, it’s super easy to lose track of what unit each one uses, because I can’t really be sure I’ve use SI units everywhere. But in the SUAVE, since the Units module, you can use any units you like, the only thing you need to do is just mark the units after value like this simple case. When the SUAVE </a:t>
            </a:r>
            <a:r>
              <a:rPr lang="en-US" altLang="zh-CN" dirty="0" err="1"/>
              <a:t>excute</a:t>
            </a:r>
            <a:r>
              <a:rPr lang="en-US" altLang="zh-CN" dirty="0"/>
              <a:t> it will transform all value into the same units system automatically. I think this is a really clever coding concept worth learning from. Alright back to our simple case, now we have define the cruise segment, don’t forget to add it in mission.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13</a:t>
            </a:fld>
            <a:endParaRPr lang="de-DE" dirty="0"/>
          </a:p>
        </p:txBody>
      </p:sp>
    </p:spTree>
    <p:extLst>
      <p:ext uri="{BB962C8B-B14F-4D97-AF65-F5344CB8AC3E}">
        <p14:creationId xmlns:p14="http://schemas.microsoft.com/office/powerpoint/2010/main" val="23362321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Next up is the descent segment. We just set the </a:t>
            </a:r>
            <a:r>
              <a:rPr lang="en-US" altLang="zh-CN" sz="1200" b="0" i="0" kern="1200" dirty="0" err="1">
                <a:solidFill>
                  <a:schemeClr val="tx1"/>
                </a:solidFill>
                <a:effectLst/>
                <a:latin typeface="Arial" pitchFamily="34" charset="0"/>
                <a:ea typeface="+mn-ea"/>
                <a:cs typeface="+mn-cs"/>
              </a:rPr>
              <a:t>altitude_end</a:t>
            </a:r>
            <a:r>
              <a:rPr lang="en-US" altLang="zh-CN" sz="1200" b="0" i="0" kern="1200" dirty="0">
                <a:solidFill>
                  <a:schemeClr val="tx1"/>
                </a:solidFill>
                <a:effectLst/>
                <a:latin typeface="Arial" pitchFamily="34" charset="0"/>
                <a:ea typeface="+mn-ea"/>
                <a:cs typeface="+mn-cs"/>
              </a:rPr>
              <a:t>, descent airspeed and </a:t>
            </a:r>
            <a:r>
              <a:rPr lang="en-US" altLang="zh-CN" sz="1200" b="0" i="0" kern="1200" dirty="0" err="1">
                <a:solidFill>
                  <a:schemeClr val="tx1"/>
                </a:solidFill>
                <a:effectLst/>
                <a:latin typeface="Arial" pitchFamily="34" charset="0"/>
                <a:ea typeface="+mn-ea"/>
                <a:cs typeface="+mn-cs"/>
              </a:rPr>
              <a:t>descent_rate</a:t>
            </a:r>
            <a:r>
              <a:rPr lang="en-US" altLang="zh-CN" sz="1200" b="0" i="0" kern="1200" dirty="0">
                <a:solidFill>
                  <a:schemeClr val="tx1"/>
                </a:solidFill>
                <a:effectLst/>
                <a:latin typeface="Arial" pitchFamily="34" charset="0"/>
                <a:ea typeface="+mn-ea"/>
                <a:cs typeface="+mn-cs"/>
              </a:rPr>
              <a:t> here, then add it to the mission. And don’t forget to return the mission class at the end. You might’ve noticed that, unlike the takeoff </a:t>
            </a:r>
            <a:r>
              <a:rPr lang="en-US" altLang="zh-CN" sz="1200" b="0" i="0" kern="1200" dirty="0" err="1">
                <a:solidFill>
                  <a:schemeClr val="tx1"/>
                </a:solidFill>
                <a:effectLst/>
                <a:latin typeface="Arial" pitchFamily="34" charset="0"/>
                <a:ea typeface="+mn-ea"/>
                <a:cs typeface="+mn-cs"/>
              </a:rPr>
              <a:t>segement</a:t>
            </a:r>
            <a:r>
              <a:rPr lang="en-US" altLang="zh-CN" sz="1200" b="0" i="0" kern="1200" dirty="0">
                <a:solidFill>
                  <a:schemeClr val="tx1"/>
                </a:solidFill>
                <a:effectLst/>
                <a:latin typeface="Arial" pitchFamily="34" charset="0"/>
                <a:ea typeface="+mn-ea"/>
                <a:cs typeface="+mn-cs"/>
              </a:rPr>
              <a:t>, we didn’t set a </a:t>
            </a:r>
            <a:r>
              <a:rPr lang="en-US" altLang="zh-CN" sz="1200" b="0" i="0" kern="1200" dirty="0" err="1">
                <a:solidFill>
                  <a:schemeClr val="tx1"/>
                </a:solidFill>
                <a:effectLst/>
                <a:latin typeface="Arial" pitchFamily="34" charset="0"/>
                <a:ea typeface="+mn-ea"/>
                <a:cs typeface="+mn-cs"/>
              </a:rPr>
              <a:t>altitude_start</a:t>
            </a:r>
            <a:r>
              <a:rPr lang="en-US" altLang="zh-CN" sz="1200" b="0" i="0" kern="1200" dirty="0">
                <a:solidFill>
                  <a:schemeClr val="tx1"/>
                </a:solidFill>
                <a:effectLst/>
                <a:latin typeface="Arial" pitchFamily="34" charset="0"/>
                <a:ea typeface="+mn-ea"/>
                <a:cs typeface="+mn-cs"/>
              </a:rPr>
              <a:t> here. Because the SUAVE will automatically take the ending altitude of the previous segment as the starting point for the next one, to keep the flight mission consistent. So we just need to set the </a:t>
            </a:r>
            <a:r>
              <a:rPr lang="en-US" altLang="zh-CN" sz="1200" b="0" i="0" kern="1200" dirty="0" err="1">
                <a:solidFill>
                  <a:schemeClr val="tx1"/>
                </a:solidFill>
                <a:effectLst/>
                <a:latin typeface="Arial" pitchFamily="34" charset="0"/>
                <a:ea typeface="+mn-ea"/>
                <a:cs typeface="+mn-cs"/>
              </a:rPr>
              <a:t>altitude_start</a:t>
            </a:r>
            <a:r>
              <a:rPr lang="en-US" altLang="zh-CN" sz="1200" b="0" i="0" kern="1200" dirty="0">
                <a:solidFill>
                  <a:schemeClr val="tx1"/>
                </a:solidFill>
                <a:effectLst/>
                <a:latin typeface="Arial" pitchFamily="34" charset="0"/>
                <a:ea typeface="+mn-ea"/>
                <a:cs typeface="+mn-cs"/>
              </a:rPr>
              <a:t> in the first segment.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14</a:t>
            </a:fld>
            <a:endParaRPr lang="de-DE" dirty="0"/>
          </a:p>
        </p:txBody>
      </p:sp>
    </p:spTree>
    <p:extLst>
      <p:ext uri="{BB962C8B-B14F-4D97-AF65-F5344CB8AC3E}">
        <p14:creationId xmlns:p14="http://schemas.microsoft.com/office/powerpoint/2010/main" val="32897660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Great, now we’re finally getting to the most important part — building our aircraft. First, we’ll lay out a few general parameters for the aircraft, then set up the geometry for every single component. Last class, Dr. Chen mentioned how the creator of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first sketched an aircraft on a napkin. Today, we’re basically </a:t>
            </a:r>
            <a:r>
              <a:rPr lang="en-US" altLang="zh-CN" sz="1200" b="0" i="0" kern="1200" dirty="0" err="1">
                <a:solidFill>
                  <a:schemeClr val="tx1"/>
                </a:solidFill>
                <a:effectLst/>
                <a:latin typeface="Arial" pitchFamily="34" charset="0"/>
                <a:ea typeface="+mn-ea"/>
                <a:cs typeface="+mn-cs"/>
              </a:rPr>
              <a:t>gonna</a:t>
            </a:r>
            <a:r>
              <a:rPr lang="en-US" altLang="zh-CN" sz="1200" b="0" i="0" kern="1200" dirty="0">
                <a:solidFill>
                  <a:schemeClr val="tx1"/>
                </a:solidFill>
                <a:effectLst/>
                <a:latin typeface="Arial" pitchFamily="34" charset="0"/>
                <a:ea typeface="+mn-ea"/>
                <a:cs typeface="+mn-cs"/>
              </a:rPr>
              <a:t> draw our own aircraft, but with code instead. Like I said before, most of the parameters is from the Boeing 737 test case, in this part we define the </a:t>
            </a:r>
            <a:r>
              <a:rPr lang="en-US" altLang="zh-CN" sz="1200" b="0" i="0" kern="1200" dirty="0" err="1">
                <a:solidFill>
                  <a:schemeClr val="tx1"/>
                </a:solidFill>
                <a:effectLst/>
                <a:latin typeface="Arial" pitchFamily="34" charset="0"/>
                <a:ea typeface="+mn-ea"/>
                <a:cs typeface="+mn-cs"/>
              </a:rPr>
              <a:t>max_takeoff</a:t>
            </a:r>
            <a:r>
              <a:rPr lang="en-US" altLang="zh-CN" sz="1200" b="0" i="0" kern="1200" dirty="0">
                <a:solidFill>
                  <a:schemeClr val="tx1"/>
                </a:solidFill>
                <a:effectLst/>
                <a:latin typeface="Arial" pitchFamily="34" charset="0"/>
                <a:ea typeface="+mn-ea"/>
                <a:cs typeface="+mn-cs"/>
              </a:rPr>
              <a:t> weight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15</a:t>
            </a:fld>
            <a:endParaRPr lang="de-DE" dirty="0"/>
          </a:p>
        </p:txBody>
      </p:sp>
    </p:spTree>
    <p:extLst>
      <p:ext uri="{BB962C8B-B14F-4D97-AF65-F5344CB8AC3E}">
        <p14:creationId xmlns:p14="http://schemas.microsoft.com/office/powerpoint/2010/main" val="4659179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we define the </a:t>
            </a:r>
            <a:r>
              <a:rPr lang="en-US" altLang="zh-CN" dirty="0" err="1"/>
              <a:t>main_wing</a:t>
            </a:r>
            <a:r>
              <a:rPr lang="en-US" altLang="zh-CN" dirty="0"/>
              <a:t>,</a:t>
            </a:r>
            <a:r>
              <a:rPr lang="zh-CN" altLang="en-US" dirty="0"/>
              <a:t> </a:t>
            </a:r>
            <a:r>
              <a:rPr lang="en-US" altLang="zh-CN" dirty="0"/>
              <a:t>I</a:t>
            </a:r>
            <a:r>
              <a:rPr lang="zh-CN" altLang="en-US" dirty="0"/>
              <a:t> </a:t>
            </a:r>
            <a:r>
              <a:rPr lang="en-US" altLang="zh-CN" dirty="0"/>
              <a:t>have</a:t>
            </a:r>
            <a:r>
              <a:rPr lang="zh-CN" altLang="en-US" dirty="0"/>
              <a:t> </a:t>
            </a:r>
            <a:r>
              <a:rPr lang="en-US" altLang="zh-CN" dirty="0"/>
              <a:t>emphasis the </a:t>
            </a:r>
            <a:r>
              <a:rPr lang="en-US" altLang="zh-CN" dirty="0" err="1"/>
              <a:t>main_wing</a:t>
            </a:r>
            <a:r>
              <a:rPr lang="en-US" altLang="zh-CN" dirty="0"/>
              <a:t> in the picture. And after define the </a:t>
            </a:r>
            <a:r>
              <a:rPr lang="en-US" altLang="zh-CN" dirty="0" err="1"/>
              <a:t>main_wing</a:t>
            </a:r>
            <a:r>
              <a:rPr lang="en-US" altLang="zh-CN" dirty="0"/>
              <a:t> just remember to add it in vehicle class.</a:t>
            </a:r>
          </a:p>
        </p:txBody>
      </p:sp>
      <p:sp>
        <p:nvSpPr>
          <p:cNvPr id="4" name="灯片编号占位符 3"/>
          <p:cNvSpPr>
            <a:spLocks noGrp="1"/>
          </p:cNvSpPr>
          <p:nvPr>
            <p:ph type="sldNum" sz="quarter" idx="5"/>
          </p:nvPr>
        </p:nvSpPr>
        <p:spPr/>
        <p:txBody>
          <a:bodyPr/>
          <a:lstStyle/>
          <a:p>
            <a:fld id="{DF1895BC-06EC-475A-97CA-BF53472F2E03}" type="slidenum">
              <a:rPr lang="de-DE" smtClean="0"/>
              <a:pPr/>
              <a:t>16</a:t>
            </a:fld>
            <a:endParaRPr lang="de-DE" dirty="0"/>
          </a:p>
        </p:txBody>
      </p:sp>
    </p:spTree>
    <p:extLst>
      <p:ext uri="{BB962C8B-B14F-4D97-AF65-F5344CB8AC3E}">
        <p14:creationId xmlns:p14="http://schemas.microsoft.com/office/powerpoint/2010/main" val="33979059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Next up, the horizontal tail. It only generates a small amount of lift most of the time, and its real job is acting as a key control surface. Control the attack angle of aircraft.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17</a:t>
            </a:fld>
            <a:endParaRPr lang="de-DE" dirty="0"/>
          </a:p>
        </p:txBody>
      </p:sp>
    </p:spTree>
    <p:extLst>
      <p:ext uri="{BB962C8B-B14F-4D97-AF65-F5344CB8AC3E}">
        <p14:creationId xmlns:p14="http://schemas.microsoft.com/office/powerpoint/2010/main" val="30767443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the vertical tail. Just like the horizontal tail, it also works as a control surface, and it’s mainly in charge of the aircraft’s heading control.</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18</a:t>
            </a:fld>
            <a:endParaRPr lang="de-DE" dirty="0"/>
          </a:p>
        </p:txBody>
      </p:sp>
    </p:spTree>
    <p:extLst>
      <p:ext uri="{BB962C8B-B14F-4D97-AF65-F5344CB8AC3E}">
        <p14:creationId xmlns:p14="http://schemas.microsoft.com/office/powerpoint/2010/main" val="3116331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Now, moving on to the fuselage. Unlike the wings, its design isn’t super straightforward. It narrows down in some sections and widen out in others, and it’s pretty hard to picture all those shape details just in our heads. That’s why we need extra methods to visualize the aircraft and check what it actually looks like based on our </a:t>
            </a:r>
            <a:r>
              <a:rPr lang="en-US" altLang="zh-CN" sz="1200" b="0" i="0" kern="1200" dirty="0" err="1">
                <a:solidFill>
                  <a:schemeClr val="tx1"/>
                </a:solidFill>
                <a:effectLst/>
                <a:latin typeface="Arial" pitchFamily="34" charset="0"/>
                <a:ea typeface="+mn-ea"/>
                <a:cs typeface="+mn-cs"/>
              </a:rPr>
              <a:t>code.but</a:t>
            </a:r>
            <a:r>
              <a:rPr lang="en-US" altLang="zh-CN" sz="1200" b="0" i="0" kern="1200" dirty="0">
                <a:solidFill>
                  <a:schemeClr val="tx1"/>
                </a:solidFill>
                <a:effectLst/>
                <a:latin typeface="Arial" pitchFamily="34" charset="0"/>
                <a:ea typeface="+mn-ea"/>
                <a:cs typeface="+mn-cs"/>
              </a:rPr>
              <a:t> we will save that for later, no hurry. Right now, let’s keep moving and finish setting up the vehicle.</a:t>
            </a:r>
          </a:p>
        </p:txBody>
      </p:sp>
      <p:sp>
        <p:nvSpPr>
          <p:cNvPr id="4" name="灯片编号占位符 3"/>
          <p:cNvSpPr>
            <a:spLocks noGrp="1"/>
          </p:cNvSpPr>
          <p:nvPr>
            <p:ph type="sldNum" sz="quarter" idx="5"/>
          </p:nvPr>
        </p:nvSpPr>
        <p:spPr/>
        <p:txBody>
          <a:bodyPr/>
          <a:lstStyle/>
          <a:p>
            <a:fld id="{DF1895BC-06EC-475A-97CA-BF53472F2E03}" type="slidenum">
              <a:rPr lang="de-DE" smtClean="0"/>
              <a:pPr/>
              <a:t>19</a:t>
            </a:fld>
            <a:endParaRPr lang="de-DE" dirty="0"/>
          </a:p>
        </p:txBody>
      </p:sp>
    </p:spTree>
    <p:extLst>
      <p:ext uri="{BB962C8B-B14F-4D97-AF65-F5344CB8AC3E}">
        <p14:creationId xmlns:p14="http://schemas.microsoft.com/office/powerpoint/2010/main" val="19837436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Alright, the last component we’ve got is the nacelle. Here we use the </a:t>
            </a:r>
            <a:r>
              <a:rPr lang="en-US" altLang="zh-CN" sz="1200" b="0" i="0" kern="1200" dirty="0" err="1">
                <a:solidFill>
                  <a:schemeClr val="tx1"/>
                </a:solidFill>
                <a:effectLst/>
                <a:latin typeface="Arial" pitchFamily="34" charset="0"/>
                <a:ea typeface="+mn-ea"/>
                <a:cs typeface="+mn-cs"/>
              </a:rPr>
              <a:t>deepcopy</a:t>
            </a:r>
            <a:r>
              <a:rPr lang="en-US" altLang="zh-CN" sz="1200" b="0" i="0" kern="1200" dirty="0">
                <a:solidFill>
                  <a:schemeClr val="tx1"/>
                </a:solidFill>
                <a:effectLst/>
                <a:latin typeface="Arial" pitchFamily="34" charset="0"/>
                <a:ea typeface="+mn-ea"/>
                <a:cs typeface="+mn-cs"/>
              </a:rPr>
              <a:t> function to make sure both nacelles share the exact same parameters, then we just place the second one symmetrically.</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20</a:t>
            </a:fld>
            <a:endParaRPr lang="de-DE" dirty="0"/>
          </a:p>
        </p:txBody>
      </p:sp>
    </p:spTree>
    <p:extLst>
      <p:ext uri="{BB962C8B-B14F-4D97-AF65-F5344CB8AC3E}">
        <p14:creationId xmlns:p14="http://schemas.microsoft.com/office/powerpoint/2010/main" val="30084668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Alright, next up is the turbofan network. Honestly, I really wanted to simplify this whole section, since engine design isn’t my main research focus, and I don’t know much about it. But sadly, I totally failed at that. I don’t know how to simplify this part. In conceptual design sometime we just need the Thrust and Fuel consumption. Maybe in other aircraft design research we just directly give the value of the two parameters. But SUAVE runs through a bunch of engineering formulas to calculate overall thrust and fuel consumption rate based on the engine cycle process. Anyway, since we can’t skip or simplify it, just copy the code as it is. I’ll keep explanations short and sweet as we go. And if anyone here knows a thing or two about engines, feel free to chime in and add extra info. So well the first part we define the location of engineer, </a:t>
            </a:r>
            <a:r>
              <a:rPr lang="en-US" altLang="zh-CN" sz="1200" b="0" i="0" kern="1200" dirty="0" err="1">
                <a:solidFill>
                  <a:schemeClr val="tx1"/>
                </a:solidFill>
                <a:effectLst/>
                <a:latin typeface="Arial" pitchFamily="34" charset="0"/>
                <a:ea typeface="+mn-ea"/>
                <a:cs typeface="+mn-cs"/>
              </a:rPr>
              <a:t>bypass_ratio</a:t>
            </a:r>
            <a:r>
              <a:rPr lang="en-US" altLang="zh-CN" sz="1200" b="0" i="0" kern="1200" dirty="0">
                <a:solidFill>
                  <a:schemeClr val="tx1"/>
                </a:solidFill>
                <a:effectLst/>
                <a:latin typeface="Arial" pitchFamily="34" charset="0"/>
                <a:ea typeface="+mn-ea"/>
                <a:cs typeface="+mn-cs"/>
              </a:rPr>
              <a:t>, number of engines, and work fluid is air of course. And the location and number of engines need to correspond to the nacelle setup.</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21</a:t>
            </a:fld>
            <a:endParaRPr lang="de-DE" dirty="0"/>
          </a:p>
        </p:txBody>
      </p:sp>
    </p:spTree>
    <p:extLst>
      <p:ext uri="{BB962C8B-B14F-4D97-AF65-F5344CB8AC3E}">
        <p14:creationId xmlns:p14="http://schemas.microsoft.com/office/powerpoint/2010/main" val="27917471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Alright, moving on to the ram and inlet nozzle. The ram doesn’t have any extra parameters, and we just set the polytropic efficiency and pressure ratio to 0.98. Basically, that means we use a pretty high-efficiency engine here.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22</a:t>
            </a:fld>
            <a:endParaRPr lang="de-DE" dirty="0"/>
          </a:p>
        </p:txBody>
      </p:sp>
    </p:spTree>
    <p:extLst>
      <p:ext uri="{BB962C8B-B14F-4D97-AF65-F5344CB8AC3E}">
        <p14:creationId xmlns:p14="http://schemas.microsoft.com/office/powerpoint/2010/main" val="29375950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23</a:t>
            </a:fld>
            <a:endParaRPr lang="de-DE" dirty="0"/>
          </a:p>
        </p:txBody>
      </p:sp>
    </p:spTree>
    <p:extLst>
      <p:ext uri="{BB962C8B-B14F-4D97-AF65-F5344CB8AC3E}">
        <p14:creationId xmlns:p14="http://schemas.microsoft.com/office/powerpoint/2010/main" val="1737733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DF1895BC-06EC-475A-97CA-BF53472F2E03}" type="slidenum">
              <a:rPr lang="de-DE" smtClean="0"/>
              <a:pPr/>
              <a:t>24</a:t>
            </a:fld>
            <a:endParaRPr lang="de-DE" dirty="0"/>
          </a:p>
        </p:txBody>
      </p:sp>
    </p:spTree>
    <p:extLst>
      <p:ext uri="{BB962C8B-B14F-4D97-AF65-F5344CB8AC3E}">
        <p14:creationId xmlns:p14="http://schemas.microsoft.com/office/powerpoint/2010/main" val="21211280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DF1895BC-06EC-475A-97CA-BF53472F2E03}" type="slidenum">
              <a:rPr lang="de-DE" smtClean="0"/>
              <a:pPr/>
              <a:t>25</a:t>
            </a:fld>
            <a:endParaRPr lang="de-DE" dirty="0"/>
          </a:p>
        </p:txBody>
      </p:sp>
    </p:spTree>
    <p:extLst>
      <p:ext uri="{BB962C8B-B14F-4D97-AF65-F5344CB8AC3E}">
        <p14:creationId xmlns:p14="http://schemas.microsoft.com/office/powerpoint/2010/main" val="12294433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DF1895BC-06EC-475A-97CA-BF53472F2E03}" type="slidenum">
              <a:rPr lang="de-DE" smtClean="0"/>
              <a:pPr/>
              <a:t>26</a:t>
            </a:fld>
            <a:endParaRPr lang="de-DE" dirty="0"/>
          </a:p>
        </p:txBody>
      </p:sp>
    </p:spTree>
    <p:extLst>
      <p:ext uri="{BB962C8B-B14F-4D97-AF65-F5344CB8AC3E}">
        <p14:creationId xmlns:p14="http://schemas.microsoft.com/office/powerpoint/2010/main" val="31122432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DF1895BC-06EC-475A-97CA-BF53472F2E03}" type="slidenum">
              <a:rPr lang="de-DE" smtClean="0"/>
              <a:pPr/>
              <a:t>27</a:t>
            </a:fld>
            <a:endParaRPr lang="de-DE" dirty="0"/>
          </a:p>
        </p:txBody>
      </p:sp>
    </p:spTree>
    <p:extLst>
      <p:ext uri="{BB962C8B-B14F-4D97-AF65-F5344CB8AC3E}">
        <p14:creationId xmlns:p14="http://schemas.microsoft.com/office/powerpoint/2010/main" val="399092541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28</a:t>
            </a:fld>
            <a:endParaRPr lang="de-DE" dirty="0"/>
          </a:p>
        </p:txBody>
      </p:sp>
    </p:spTree>
    <p:extLst>
      <p:ext uri="{BB962C8B-B14F-4D97-AF65-F5344CB8AC3E}">
        <p14:creationId xmlns:p14="http://schemas.microsoft.com/office/powerpoint/2010/main" val="691743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Alright, we’ve finally gotten through the turbofan network.</a:t>
            </a:r>
            <a:r>
              <a:rPr lang="en-US" altLang="zh-CN" sz="1200" b="0" i="0" kern="1200" dirty="0">
                <a:solidFill>
                  <a:schemeClr val="tx1"/>
                </a:solidFill>
                <a:effectLst/>
                <a:latin typeface="Arial" pitchFamily="34" charset="0"/>
                <a:ea typeface="+mn-ea"/>
                <a:cs typeface="+mn-cs"/>
              </a:rPr>
              <a:t> We’ve now finished building all the core parts of the aircraft. Still, we’ve got a few small loose ends to tie up. </a:t>
            </a:r>
            <a:r>
              <a:rPr lang="en-US" altLang="zh-CN" dirty="0"/>
              <a:t>We’ll use the </a:t>
            </a:r>
            <a:r>
              <a:rPr lang="en-US" altLang="zh-CN" dirty="0" err="1"/>
              <a:t>simple_sizing</a:t>
            </a:r>
            <a:r>
              <a:rPr lang="en-US" altLang="zh-CN" dirty="0"/>
              <a:t> function to add those aircraft parameters which are secondary but also critical for calculation.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29</a:t>
            </a:fld>
            <a:endParaRPr lang="de-DE" dirty="0"/>
          </a:p>
        </p:txBody>
      </p:sp>
    </p:spTree>
    <p:extLst>
      <p:ext uri="{BB962C8B-B14F-4D97-AF65-F5344CB8AC3E}">
        <p14:creationId xmlns:p14="http://schemas.microsoft.com/office/powerpoint/2010/main" val="41861767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Last up is plotting the results. SUAVE has some built-in plotting functions, and I **completely copied this part from the Boeing 737 test case**. You can also create your own plotting functions to make plot you need. And that’s it — we’ve finished writing our entire simple case! Now just run it!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30</a:t>
            </a:fld>
            <a:endParaRPr lang="de-DE" dirty="0"/>
          </a:p>
        </p:txBody>
      </p:sp>
    </p:spTree>
    <p:extLst>
      <p:ext uri="{BB962C8B-B14F-4D97-AF65-F5344CB8AC3E}">
        <p14:creationId xmlns:p14="http://schemas.microsoft.com/office/powerpoint/2010/main" val="21493414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Congratulations! By now, we’ve basically figure out how SUAVE works, and we’ve built a simple case of our very own. Do anyone remember earlier when we were setting up the fuselage? I mentioned those geometry parameters in the code are pretty hard to picture in our mind. Now, we’re </a:t>
            </a:r>
            <a:r>
              <a:rPr lang="en-US" altLang="zh-CN" sz="1200" b="0" i="0" kern="1200" dirty="0" err="1">
                <a:solidFill>
                  <a:schemeClr val="tx1"/>
                </a:solidFill>
                <a:effectLst/>
                <a:latin typeface="Arial" pitchFamily="34" charset="0"/>
                <a:ea typeface="+mn-ea"/>
                <a:cs typeface="+mn-cs"/>
              </a:rPr>
              <a:t>gonna</a:t>
            </a:r>
            <a:r>
              <a:rPr lang="en-US" altLang="zh-CN" sz="1200" b="0" i="0" kern="1200" dirty="0">
                <a:solidFill>
                  <a:schemeClr val="tx1"/>
                </a:solidFill>
                <a:effectLst/>
                <a:latin typeface="Arial" pitchFamily="34" charset="0"/>
                <a:ea typeface="+mn-ea"/>
                <a:cs typeface="+mn-cs"/>
              </a:rPr>
              <a:t> import the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interface, so we can actually take a look at our aircraft. There is a python folder under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path, open the </a:t>
            </a:r>
            <a:r>
              <a:rPr lang="en-US" altLang="zh-CN" sz="1200" b="0" i="0" kern="1200" dirty="0" err="1">
                <a:solidFill>
                  <a:schemeClr val="tx1"/>
                </a:solidFill>
                <a:effectLst/>
                <a:latin typeface="Arial" pitchFamily="34" charset="0"/>
                <a:ea typeface="+mn-ea"/>
                <a:cs typeface="+mn-cs"/>
              </a:rPr>
              <a:t>cmd</a:t>
            </a:r>
            <a:r>
              <a:rPr lang="en-US" altLang="zh-CN" sz="1200" b="0" i="0" kern="1200" dirty="0">
                <a:solidFill>
                  <a:schemeClr val="tx1"/>
                </a:solidFill>
                <a:effectLst/>
                <a:latin typeface="Arial" pitchFamily="34" charset="0"/>
                <a:ea typeface="+mn-ea"/>
                <a:cs typeface="+mn-cs"/>
              </a:rPr>
              <a:t> terminal under the folder, and remember to activate your python environment for SUAVE in the </a:t>
            </a:r>
            <a:r>
              <a:rPr lang="en-US" altLang="zh-CN" sz="1200" b="0" i="0" kern="1200" dirty="0" err="1">
                <a:solidFill>
                  <a:schemeClr val="tx1"/>
                </a:solidFill>
                <a:effectLst/>
                <a:latin typeface="Arial" pitchFamily="34" charset="0"/>
                <a:ea typeface="+mn-ea"/>
                <a:cs typeface="+mn-cs"/>
              </a:rPr>
              <a:t>cmd</a:t>
            </a:r>
            <a:r>
              <a:rPr lang="en-US" altLang="zh-CN" sz="1200" b="0" i="0" kern="1200" dirty="0">
                <a:solidFill>
                  <a:schemeClr val="tx1"/>
                </a:solidFill>
                <a:effectLst/>
                <a:latin typeface="Arial" pitchFamily="34" charset="0"/>
                <a:ea typeface="+mn-ea"/>
                <a:cs typeface="+mn-cs"/>
              </a:rPr>
              <a:t>, then type pip install like I write in </a:t>
            </a:r>
            <a:r>
              <a:rPr lang="en-US" altLang="zh-CN" sz="1200" b="0" i="0" kern="1200" dirty="0" err="1">
                <a:solidFill>
                  <a:schemeClr val="tx1"/>
                </a:solidFill>
                <a:effectLst/>
                <a:latin typeface="Arial" pitchFamily="34" charset="0"/>
                <a:ea typeface="+mn-ea"/>
                <a:cs typeface="+mn-cs"/>
              </a:rPr>
              <a:t>powerpoint</a:t>
            </a:r>
            <a:r>
              <a:rPr lang="en-US" altLang="zh-CN" sz="1200" b="0" i="0" kern="1200" dirty="0">
                <a:solidFill>
                  <a:schemeClr val="tx1"/>
                </a:solidFill>
                <a:effectLst/>
                <a:latin typeface="Arial" pitchFamily="34" charset="0"/>
                <a:ea typeface="+mn-ea"/>
                <a:cs typeface="+mn-cs"/>
              </a:rPr>
              <a:t>. And then back to our code, import the open </a:t>
            </a:r>
            <a:r>
              <a:rPr lang="en-US" altLang="zh-CN" sz="1200" b="0" i="0" kern="1200" dirty="0" err="1">
                <a:solidFill>
                  <a:schemeClr val="tx1"/>
                </a:solidFill>
                <a:effectLst/>
                <a:latin typeface="Arial" pitchFamily="34" charset="0"/>
                <a:ea typeface="+mn-ea"/>
                <a:cs typeface="+mn-cs"/>
              </a:rPr>
              <a:t>vsp</a:t>
            </a:r>
            <a:r>
              <a:rPr lang="en-US" altLang="zh-CN" sz="1200" b="0" i="0" kern="1200" dirty="0">
                <a:solidFill>
                  <a:schemeClr val="tx1"/>
                </a:solidFill>
                <a:effectLst/>
                <a:latin typeface="Arial" pitchFamily="34" charset="0"/>
                <a:ea typeface="+mn-ea"/>
                <a:cs typeface="+mn-cs"/>
              </a:rPr>
              <a:t> at the first of code, and add write(vehicle, ‘base’) in main function, now run the code again, a </a:t>
            </a:r>
            <a:r>
              <a:rPr lang="en-US" altLang="zh-CN" sz="1200" b="0" i="0" kern="1200" dirty="0" err="1">
                <a:solidFill>
                  <a:schemeClr val="tx1"/>
                </a:solidFill>
                <a:effectLst/>
                <a:latin typeface="Arial" pitchFamily="34" charset="0"/>
                <a:ea typeface="+mn-ea"/>
                <a:cs typeface="+mn-cs"/>
              </a:rPr>
              <a:t>vsp</a:t>
            </a:r>
            <a:r>
              <a:rPr lang="en-US" altLang="zh-CN" sz="1200" b="0" i="0" kern="1200" dirty="0">
                <a:solidFill>
                  <a:schemeClr val="tx1"/>
                </a:solidFill>
                <a:effectLst/>
                <a:latin typeface="Arial" pitchFamily="34" charset="0"/>
                <a:ea typeface="+mn-ea"/>
                <a:cs typeface="+mn-cs"/>
              </a:rPr>
              <a:t> file will be generated under your code directory. You can open the </a:t>
            </a:r>
            <a:r>
              <a:rPr lang="en-US" altLang="zh-CN" sz="1200" b="0" i="0" kern="1200" dirty="0" err="1">
                <a:solidFill>
                  <a:schemeClr val="tx1"/>
                </a:solidFill>
                <a:effectLst/>
                <a:latin typeface="Arial" pitchFamily="34" charset="0"/>
                <a:ea typeface="+mn-ea"/>
                <a:cs typeface="+mn-cs"/>
              </a:rPr>
              <a:t>vsp</a:t>
            </a:r>
            <a:r>
              <a:rPr lang="en-US" altLang="zh-CN" sz="1200" b="0" i="0" kern="1200" dirty="0">
                <a:solidFill>
                  <a:schemeClr val="tx1"/>
                </a:solidFill>
                <a:effectLst/>
                <a:latin typeface="Arial" pitchFamily="34" charset="0"/>
                <a:ea typeface="+mn-ea"/>
                <a:cs typeface="+mn-cs"/>
              </a:rPr>
              <a:t> file in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to check whether our model is correct and reasonable, and get a clear 3D view of our aircraft.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31</a:t>
            </a:fld>
            <a:endParaRPr lang="de-DE" dirty="0"/>
          </a:p>
        </p:txBody>
      </p:sp>
    </p:spTree>
    <p:extLst>
      <p:ext uri="{BB962C8B-B14F-4D97-AF65-F5344CB8AC3E}">
        <p14:creationId xmlns:p14="http://schemas.microsoft.com/office/powerpoint/2010/main" val="6985086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GB" altLang="zh-CN" sz="1200" b="0" i="0" kern="1200" dirty="0">
                <a:solidFill>
                  <a:schemeClr val="tx1"/>
                </a:solidFill>
                <a:effectLst/>
                <a:latin typeface="Arial" pitchFamily="34" charset="0"/>
                <a:ea typeface="+mn-ea"/>
                <a:cs typeface="+mn-cs"/>
              </a:rPr>
              <a:t>How our code turns into a real aircraft model?  On the slide, you can see part of the SUAVE source code. This section is for creating a wing component. It converts the parameters we set in our code into </a:t>
            </a:r>
            <a:r>
              <a:rPr lang="en-GB" altLang="zh-CN" sz="1200" b="0" i="0" kern="1200" dirty="0" err="1">
                <a:solidFill>
                  <a:schemeClr val="tx1"/>
                </a:solidFill>
                <a:effectLst/>
                <a:latin typeface="Arial" pitchFamily="34" charset="0"/>
                <a:ea typeface="+mn-ea"/>
                <a:cs typeface="+mn-cs"/>
              </a:rPr>
              <a:t>OpenVSP</a:t>
            </a:r>
            <a:r>
              <a:rPr lang="en-GB" altLang="zh-CN" sz="1200" b="0" i="0" kern="1200" dirty="0">
                <a:solidFill>
                  <a:schemeClr val="tx1"/>
                </a:solidFill>
                <a:effectLst/>
                <a:latin typeface="Arial" pitchFamily="34" charset="0"/>
                <a:ea typeface="+mn-ea"/>
                <a:cs typeface="+mn-cs"/>
              </a:rPr>
              <a:t> variables. Right here, it’s translating the XYZ coordinates, which means the location of each component.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32</a:t>
            </a:fld>
            <a:endParaRPr lang="de-DE" dirty="0"/>
          </a:p>
        </p:txBody>
      </p:sp>
    </p:spTree>
    <p:extLst>
      <p:ext uri="{BB962C8B-B14F-4D97-AF65-F5344CB8AC3E}">
        <p14:creationId xmlns:p14="http://schemas.microsoft.com/office/powerpoint/2010/main" val="25873743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If you’re curious, you can open the VSP file with any text editor. You’ll see it’s structured in XML format like this. It stores every single aircraft parameter. You can easily find the values we defined in our code, but most of the content are auto-filled settings. As you might know, building a full geometry model requires way more data than basic overall analysis, and SUAVE will automatically fill in those extra details for us.</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33</a:t>
            </a:fld>
            <a:endParaRPr lang="de-DE" dirty="0"/>
          </a:p>
        </p:txBody>
      </p:sp>
    </p:spTree>
    <p:extLst>
      <p:ext uri="{BB962C8B-B14F-4D97-AF65-F5344CB8AC3E}">
        <p14:creationId xmlns:p14="http://schemas.microsoft.com/office/powerpoint/2010/main" val="35316106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34</a:t>
            </a:fld>
            <a:endParaRPr lang="de-DE" dirty="0"/>
          </a:p>
        </p:txBody>
      </p:sp>
    </p:spTree>
    <p:extLst>
      <p:ext uri="{BB962C8B-B14F-4D97-AF65-F5344CB8AC3E}">
        <p14:creationId xmlns:p14="http://schemas.microsoft.com/office/powerpoint/2010/main" val="14629826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In our simple case, we’re using the most basic </a:t>
            </a:r>
            <a:r>
              <a:rPr lang="en-US" altLang="zh-CN" sz="1200" b="0" i="0" kern="1200" dirty="0" err="1">
                <a:solidFill>
                  <a:schemeClr val="tx1"/>
                </a:solidFill>
                <a:effectLst/>
                <a:latin typeface="Arial" pitchFamily="34" charset="0"/>
                <a:ea typeface="+mn-ea"/>
                <a:cs typeface="+mn-cs"/>
              </a:rPr>
              <a:t>Fidelity_Zero</a:t>
            </a:r>
            <a:r>
              <a:rPr lang="en-US" altLang="zh-CN" sz="1200" b="0" i="0" kern="1200" dirty="0">
                <a:solidFill>
                  <a:schemeClr val="tx1"/>
                </a:solidFill>
                <a:effectLst/>
                <a:latin typeface="Arial" pitchFamily="34" charset="0"/>
                <a:ea typeface="+mn-ea"/>
                <a:cs typeface="+mn-cs"/>
              </a:rPr>
              <a:t> module. This aerodynamic module is based on the vortex lattice method and is suitable for subsonic aircraft. If we need to analyze supersonic aircraft, we can use the </a:t>
            </a:r>
            <a:r>
              <a:rPr lang="en-US" altLang="zh-CN" sz="1200" b="0" i="0" kern="1200" dirty="0" err="1">
                <a:solidFill>
                  <a:schemeClr val="tx1"/>
                </a:solidFill>
                <a:effectLst/>
                <a:latin typeface="Arial" pitchFamily="34" charset="0"/>
                <a:ea typeface="+mn-ea"/>
                <a:cs typeface="+mn-cs"/>
              </a:rPr>
              <a:t>Supersonic_Zero</a:t>
            </a:r>
            <a:r>
              <a:rPr lang="en-US" altLang="zh-CN" sz="1200" b="0" i="0" kern="1200" dirty="0">
                <a:solidFill>
                  <a:schemeClr val="tx1"/>
                </a:solidFill>
                <a:effectLst/>
                <a:latin typeface="Arial" pitchFamily="34" charset="0"/>
                <a:ea typeface="+mn-ea"/>
                <a:cs typeface="+mn-cs"/>
              </a:rPr>
              <a:t> module, which is also based on the vortex lattice method. However, the basic vortex lattice method is not applicable to supersonic conditions, so this module uses some engineering formulas to correct the aerodynamic results for supersonic cases, and you can take a look at its source code if you’re interested. The AERODAS module is an engineering method developed by NASA for predicting lift and drag, and it’s also built into the code. In addition, SUAVE demonstrates how to use external solvers for aerodynamic analysis. In the SU2_Euler module, SUAVE first calls the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interface to generate the aircraft surface mesh, then uses </a:t>
            </a:r>
            <a:r>
              <a:rPr lang="en-US" altLang="zh-CN" sz="1200" b="0" i="0" kern="1200" dirty="0" err="1">
                <a:solidFill>
                  <a:schemeClr val="tx1"/>
                </a:solidFill>
                <a:effectLst/>
                <a:latin typeface="Arial" pitchFamily="34" charset="0"/>
                <a:ea typeface="+mn-ea"/>
                <a:cs typeface="+mn-cs"/>
              </a:rPr>
              <a:t>Gmsh</a:t>
            </a:r>
            <a:r>
              <a:rPr lang="en-US" altLang="zh-CN" sz="1200" b="0" i="0" kern="1200" dirty="0">
                <a:solidFill>
                  <a:schemeClr val="tx1"/>
                </a:solidFill>
                <a:effectLst/>
                <a:latin typeface="Arial" pitchFamily="34" charset="0"/>
                <a:ea typeface="+mn-ea"/>
                <a:cs typeface="+mn-cs"/>
              </a:rPr>
              <a:t> to create the volume mesh, and finally generates the SU2 config file and runs SU2 to perform the aerodynamic analysis.</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35</a:t>
            </a:fld>
            <a:endParaRPr lang="de-DE" dirty="0"/>
          </a:p>
        </p:txBody>
      </p:sp>
    </p:spTree>
    <p:extLst>
      <p:ext uri="{BB962C8B-B14F-4D97-AF65-F5344CB8AC3E}">
        <p14:creationId xmlns:p14="http://schemas.microsoft.com/office/powerpoint/2010/main" val="6961084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DF1895BC-06EC-475A-97CA-BF53472F2E03}" type="slidenum">
              <a:rPr lang="de-DE" smtClean="0"/>
              <a:pPr/>
              <a:t>36</a:t>
            </a:fld>
            <a:endParaRPr lang="de-DE" dirty="0"/>
          </a:p>
        </p:txBody>
      </p:sp>
    </p:spTree>
    <p:extLst>
      <p:ext uri="{BB962C8B-B14F-4D97-AF65-F5344CB8AC3E}">
        <p14:creationId xmlns:p14="http://schemas.microsoft.com/office/powerpoint/2010/main" val="295911870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7624D-74D9-AF98-4DE2-B38978E25C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7AAE7DF-7E62-D3A9-519B-58F9F5E3B3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FD9772C-81A8-546A-5652-DE8829A3DFA8}"/>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4C596F4-E94F-5111-7656-CD3B73C610B9}"/>
              </a:ext>
            </a:extLst>
          </p:cNvPr>
          <p:cNvSpPr>
            <a:spLocks noGrp="1"/>
          </p:cNvSpPr>
          <p:nvPr>
            <p:ph type="sldNum" sz="quarter" idx="5"/>
          </p:nvPr>
        </p:nvSpPr>
        <p:spPr/>
        <p:txBody>
          <a:bodyPr/>
          <a:lstStyle/>
          <a:p>
            <a:fld id="{DF1895BC-06EC-475A-97CA-BF53472F2E03}" type="slidenum">
              <a:rPr lang="de-DE" smtClean="0"/>
              <a:pPr/>
              <a:t>37</a:t>
            </a:fld>
            <a:endParaRPr lang="de-DE" dirty="0"/>
          </a:p>
        </p:txBody>
      </p:sp>
    </p:spTree>
    <p:extLst>
      <p:ext uri="{BB962C8B-B14F-4D97-AF65-F5344CB8AC3E}">
        <p14:creationId xmlns:p14="http://schemas.microsoft.com/office/powerpoint/2010/main" val="27500539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6FB09-97AA-7E29-A45A-775B0F9F90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080F85E-744A-3B8D-8811-4AD5135D7910}"/>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2494A4A5-24CF-5C2C-B6A3-5DE10E411098}"/>
              </a:ext>
            </a:extLst>
          </p:cNvPr>
          <p:cNvSpPr>
            <a:spLocks noGrp="1"/>
          </p:cNvSpPr>
          <p:nvPr>
            <p:ph type="body" idx="1"/>
          </p:nvPr>
        </p:nvSpPr>
        <p:spPr/>
        <p:txBody>
          <a:bodyPr/>
          <a:lstStyle/>
          <a:p>
            <a:r>
              <a:rPr lang="en-US" altLang="zh-CN" dirty="0"/>
              <a:t>Thank you for coming to my class </a:t>
            </a:r>
            <a:r>
              <a:rPr lang="en-US" altLang="zh-CN"/>
              <a:t>today. </a:t>
            </a:r>
            <a:r>
              <a:rPr lang="en-US" altLang="zh-CN" dirty="0"/>
              <a:t>The holiday starts this Friday, so I wish you all a happy Labor Day!</a:t>
            </a:r>
            <a:endParaRPr lang="zh-CN" altLang="en-US" dirty="0"/>
          </a:p>
        </p:txBody>
      </p:sp>
      <p:sp>
        <p:nvSpPr>
          <p:cNvPr id="4" name="灯片编号占位符 3">
            <a:extLst>
              <a:ext uri="{FF2B5EF4-FFF2-40B4-BE49-F238E27FC236}">
                <a16:creationId xmlns:a16="http://schemas.microsoft.com/office/drawing/2014/main" id="{8021127B-505F-3B1A-2AAA-65DF92B51E67}"/>
              </a:ext>
            </a:extLst>
          </p:cNvPr>
          <p:cNvSpPr>
            <a:spLocks noGrp="1"/>
          </p:cNvSpPr>
          <p:nvPr>
            <p:ph type="sldNum" sz="quarter" idx="10"/>
          </p:nvPr>
        </p:nvSpPr>
        <p:spPr/>
        <p:txBody>
          <a:bodyPr/>
          <a:lstStyle/>
          <a:p>
            <a:fld id="{DF1895BC-06EC-475A-97CA-BF53472F2E03}" type="slidenum">
              <a:rPr lang="de-DE" smtClean="0"/>
              <a:pPr/>
              <a:t>38</a:t>
            </a:fld>
            <a:endParaRPr lang="de-DE" dirty="0"/>
          </a:p>
        </p:txBody>
      </p:sp>
    </p:spTree>
    <p:extLst>
      <p:ext uri="{BB962C8B-B14F-4D97-AF65-F5344CB8AC3E}">
        <p14:creationId xmlns:p14="http://schemas.microsoft.com/office/powerpoint/2010/main" val="1157948595"/>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bg>
      <p:bgPr>
        <a:gradFill flip="none" rotWithShape="1">
          <a:gsLst>
            <a:gs pos="0">
              <a:schemeClr val="accent1">
                <a:lumMod val="5000"/>
                <a:lumOff val="95000"/>
                <a:alpha val="65000"/>
              </a:schemeClr>
            </a:gs>
            <a:gs pos="74000">
              <a:schemeClr val="bg1">
                <a:lumMod val="95000"/>
              </a:schemeClr>
            </a:gs>
            <a:gs pos="83000">
              <a:schemeClr val="bg1">
                <a:lumMod val="95000"/>
              </a:schemeClr>
            </a:gs>
            <a:gs pos="100000">
              <a:schemeClr val="bg1">
                <a:lumMod val="95000"/>
              </a:schemeClr>
            </a:gs>
          </a:gsLst>
          <a:lin ang="2700000" scaled="1"/>
          <a:tileRect/>
        </a:gradFill>
        <a:effectLst/>
      </p:bgPr>
    </p:bg>
    <p:spTree>
      <p:nvGrpSpPr>
        <p:cNvPr id="1" name=""/>
        <p:cNvGrpSpPr/>
        <p:nvPr/>
      </p:nvGrpSpPr>
      <p:grpSpPr>
        <a:xfrm>
          <a:off x="0" y="0"/>
          <a:ext cx="0" cy="0"/>
          <a:chOff x="0" y="0"/>
          <a:chExt cx="0" cy="0"/>
        </a:xfrm>
      </p:grpSpPr>
      <p:sp>
        <p:nvSpPr>
          <p:cNvPr id="2" name="任意多边形: 形状 1">
            <a:extLst>
              <a:ext uri="{FF2B5EF4-FFF2-40B4-BE49-F238E27FC236}">
                <a16:creationId xmlns:a16="http://schemas.microsoft.com/office/drawing/2014/main" id="{85414A06-3DA3-791F-C0E4-B960E8E5D74C}"/>
              </a:ext>
            </a:extLst>
          </p:cNvPr>
          <p:cNvSpPr/>
          <p:nvPr userDrawn="1"/>
        </p:nvSpPr>
        <p:spPr>
          <a:xfrm>
            <a:off x="0" y="0"/>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blipFill>
            <a:blip r:embed="rId2" cstate="print">
              <a:alphaModFix amt="80000"/>
              <a:extLst>
                <a:ext uri="{BEBA8EAE-BF5A-486C-A8C5-ECC9F3942E4B}">
                  <a14:imgProps xmlns:a14="http://schemas.microsoft.com/office/drawing/2010/main">
                    <a14:imgLayer r:embed="rId3">
                      <a14:imgEffect>
                        <a14:sharpenSoften amount="10000"/>
                      </a14:imgEffect>
                      <a14:imgEffect>
                        <a14:saturation sat="90000"/>
                      </a14:imgEffect>
                      <a14:imgEffect>
                        <a14:brightnessContrast contrast="-15000"/>
                      </a14:imgEffect>
                    </a14:imgLayer>
                  </a14:imgProps>
                </a:ext>
              </a:extLst>
            </a:blip>
            <a:stretch>
              <a:fillRect t="-1578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 name="任意多边形: 形状 2">
            <a:extLst>
              <a:ext uri="{FF2B5EF4-FFF2-40B4-BE49-F238E27FC236}">
                <a16:creationId xmlns:a16="http://schemas.microsoft.com/office/drawing/2014/main" id="{61D700EA-D704-0EF1-7FFD-68A29F5B2C4A}"/>
              </a:ext>
            </a:extLst>
          </p:cNvPr>
          <p:cNvSpPr/>
          <p:nvPr userDrawn="1"/>
        </p:nvSpPr>
        <p:spPr>
          <a:xfrm>
            <a:off x="0" y="-3338"/>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gradFill>
            <a:gsLst>
              <a:gs pos="10000">
                <a:srgbClr val="002060">
                  <a:alpha val="80000"/>
                  <a:lumMod val="80000"/>
                </a:srgbClr>
              </a:gs>
              <a:gs pos="50000">
                <a:schemeClr val="accent1">
                  <a:lumMod val="60000"/>
                  <a:lumOff val="40000"/>
                  <a:alpha val="40000"/>
                </a:schemeClr>
              </a:gs>
              <a:gs pos="90000">
                <a:srgbClr val="002060">
                  <a:alpha val="80000"/>
                  <a:lumMod val="80000"/>
                </a:srgbClr>
              </a:gs>
            </a:gsLst>
            <a:lin ang="0" scaled="0"/>
          </a:gradFill>
          <a:ln>
            <a:noFill/>
          </a:ln>
        </p:spPr>
        <p:style>
          <a:lnRef idx="0">
            <a:scrgbClr r="0" g="0" b="0"/>
          </a:lnRef>
          <a:fillRef idx="0">
            <a:scrgbClr r="0" g="0" b="0"/>
          </a:fillRef>
          <a:effectRef idx="0">
            <a:scrgbClr r="0" g="0" b="0"/>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6" name="TextBox 17">
            <a:extLst>
              <a:ext uri="{FF2B5EF4-FFF2-40B4-BE49-F238E27FC236}">
                <a16:creationId xmlns:a16="http://schemas.microsoft.com/office/drawing/2014/main" id="{E5B7A050-5462-6900-8FC7-CD0DC1ECF6AC}"/>
              </a:ext>
            </a:extLst>
          </p:cNvPr>
          <p:cNvSpPr txBox="1">
            <a:spLocks noChangeArrowheads="1"/>
          </p:cNvSpPr>
          <p:nvPr userDrawn="1"/>
        </p:nvSpPr>
        <p:spPr bwMode="auto">
          <a:xfrm>
            <a:off x="870384" y="413368"/>
            <a:ext cx="2393516"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 飞行器基础布局全国重点实验室</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7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1" name="Picture 4" descr="国防logo">
            <a:extLst>
              <a:ext uri="{FF2B5EF4-FFF2-40B4-BE49-F238E27FC236}">
                <a16:creationId xmlns:a16="http://schemas.microsoft.com/office/drawing/2014/main" id="{9C282BA7-033B-29B1-F033-2ED0DE306EB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261422" y="355997"/>
            <a:ext cx="668380" cy="598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Box 17">
            <a:extLst>
              <a:ext uri="{FF2B5EF4-FFF2-40B4-BE49-F238E27FC236}">
                <a16:creationId xmlns:a16="http://schemas.microsoft.com/office/drawing/2014/main" id="{F1E381E7-913D-1276-8D2D-75569471A164}"/>
              </a:ext>
            </a:extLst>
          </p:cNvPr>
          <p:cNvSpPr txBox="1">
            <a:spLocks noChangeArrowheads="1"/>
          </p:cNvSpPr>
          <p:nvPr userDrawn="1"/>
        </p:nvSpPr>
        <p:spPr bwMode="auto">
          <a:xfrm>
            <a:off x="9169266" y="413368"/>
            <a:ext cx="2781000"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气动与多学科优化设计研究所</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13ABC5EA-673A-55B3-EA42-507EA30A0024}"/>
              </a:ext>
            </a:extLst>
          </p:cNvPr>
          <p:cNvPicPr>
            <a:picLocks noChangeAspect="1"/>
          </p:cNvPicPr>
          <p:nvPr userDrawn="1"/>
        </p:nvPicPr>
        <p:blipFill rotWithShape="1">
          <a:blip r:embed="rId5" cstate="print">
            <a:duotone>
              <a:schemeClr val="bg2">
                <a:shade val="45000"/>
                <a:satMod val="135000"/>
              </a:schemeClr>
              <a:prstClr val="white"/>
            </a:duotone>
            <a:extLst>
              <a:ext uri="{BEBA8EAE-BF5A-486C-A8C5-ECC9F3942E4B}">
                <a14:imgProps xmlns:a14="http://schemas.microsoft.com/office/drawing/2010/main">
                  <a14:imgLayer r:embed="rId6">
                    <a14:imgEffect>
                      <a14:artisticPhotocopy/>
                    </a14:imgEffect>
                  </a14:imgLayer>
                </a14:imgProps>
              </a:ext>
            </a:extLst>
          </a:blip>
          <a:srcRect r="79416"/>
          <a:stretch/>
        </p:blipFill>
        <p:spPr>
          <a:xfrm>
            <a:off x="8432216" y="381397"/>
            <a:ext cx="648000" cy="521857"/>
          </a:xfrm>
          <a:prstGeom prst="rect">
            <a:avLst/>
          </a:prstGeom>
        </p:spPr>
      </p:pic>
      <p:sp>
        <p:nvSpPr>
          <p:cNvPr id="15" name="矩形 14">
            <a:extLst>
              <a:ext uri="{FF2B5EF4-FFF2-40B4-BE49-F238E27FC236}">
                <a16:creationId xmlns:a16="http://schemas.microsoft.com/office/drawing/2014/main" id="{F0476199-2BAB-3C73-86A5-3D7AF1E0C9D9}"/>
              </a:ext>
            </a:extLst>
          </p:cNvPr>
          <p:cNvSpPr/>
          <p:nvPr userDrawn="1"/>
        </p:nvSpPr>
        <p:spPr>
          <a:xfrm>
            <a:off x="419100" y="6604000"/>
            <a:ext cx="11772900" cy="254000"/>
          </a:xfrm>
          <a:prstGeom prst="rect">
            <a:avLst/>
          </a:prstGeom>
          <a:solidFill>
            <a:srgbClr val="F3F3F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72853707"/>
      </p:ext>
    </p:extLst>
  </p:cSld>
  <p:clrMapOvr>
    <a:masterClrMapping/>
  </p:clrMapOvr>
  <p:extLst>
    <p:ext uri="{DCECCB84-F9BA-43D5-87BE-67443E8EF086}">
      <p15:sldGuideLst xmlns:p15="http://schemas.microsoft.com/office/powerpoint/2012/main">
        <p15:guide id="1" orient="horz" pos="2183" userDrawn="1">
          <p15:clr>
            <a:srgbClr val="FBAE40"/>
          </p15:clr>
        </p15:guide>
        <p15:guide id="2" pos="381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2" name="流程图: 过程 21">
            <a:extLst>
              <a:ext uri="{FF2B5EF4-FFF2-40B4-BE49-F238E27FC236}">
                <a16:creationId xmlns:a16="http://schemas.microsoft.com/office/drawing/2014/main" id="{7B6A2D70-5AC0-63C2-9CDA-36E6EFA93F86}"/>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23" name="文本框 22">
            <a:extLst>
              <a:ext uri="{FF2B5EF4-FFF2-40B4-BE49-F238E27FC236}">
                <a16:creationId xmlns:a16="http://schemas.microsoft.com/office/drawing/2014/main" id="{BFD73065-7196-4418-70F9-4F6B2BCF8416}"/>
              </a:ext>
            </a:extLst>
          </p:cNvPr>
          <p:cNvSpPr txBox="1">
            <a:spLocks noChangeArrowheads="1"/>
          </p:cNvSpPr>
          <p:nvPr userDrawn="1"/>
        </p:nvSpPr>
        <p:spPr bwMode="auto">
          <a:xfrm>
            <a:off x="11700474" y="666115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矩形 6">
            <a:extLst>
              <a:ext uri="{FF2B5EF4-FFF2-40B4-BE49-F238E27FC236}">
                <a16:creationId xmlns:a16="http://schemas.microsoft.com/office/drawing/2014/main" id="{73CC3651-9070-2544-3DE7-B1F5241D2CB4}"/>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文本框 7">
            <a:extLst>
              <a:ext uri="{FF2B5EF4-FFF2-40B4-BE49-F238E27FC236}">
                <a16:creationId xmlns:a16="http://schemas.microsoft.com/office/drawing/2014/main" id="{B6D5D583-3D83-213B-220B-2DADD92EDCFB}"/>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0757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7" name="流程图: 过程 6">
            <a:extLst>
              <a:ext uri="{FF2B5EF4-FFF2-40B4-BE49-F238E27FC236}">
                <a16:creationId xmlns:a16="http://schemas.microsoft.com/office/drawing/2014/main" id="{DF5FE356-776E-EF39-4817-5A1CC6E3CE88}"/>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9" name="TextBox 17">
            <a:extLst>
              <a:ext uri="{FF2B5EF4-FFF2-40B4-BE49-F238E27FC236}">
                <a16:creationId xmlns:a16="http://schemas.microsoft.com/office/drawing/2014/main" id="{E56F08AC-0BC3-A45C-8629-5E778CA56A91}"/>
              </a:ext>
            </a:extLst>
          </p:cNvPr>
          <p:cNvSpPr txBox="1">
            <a:spLocks noChangeArrowheads="1"/>
          </p:cNvSpPr>
          <p:nvPr userDrawn="1"/>
        </p:nvSpPr>
        <p:spPr bwMode="auto">
          <a:xfrm>
            <a:off x="1846537" y="6585727"/>
            <a:ext cx="1983239"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飞行器基础布局全国重点实验室</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33" b="1" kern="1200" baseline="0" dirty="0">
                <a:solidFill>
                  <a:srgbClr val="004097"/>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533"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0" name="图片 9">
            <a:extLst>
              <a:ext uri="{FF2B5EF4-FFF2-40B4-BE49-F238E27FC236}">
                <a16:creationId xmlns:a16="http://schemas.microsoft.com/office/drawing/2014/main" id="{94FD8742-88EF-ABF4-3EC3-E00653652D37}"/>
              </a:ext>
            </a:extLst>
          </p:cNvPr>
          <p:cNvPicPr>
            <a:picLocks noChangeAspect="1"/>
          </p:cNvPicPr>
          <p:nvPr userDrawn="1"/>
        </p:nvPicPr>
        <p:blipFill rotWithShape="1">
          <a:blip r:embed="rId2" cstate="print"/>
          <a:srcRect r="79416"/>
          <a:stretch/>
        </p:blipFill>
        <p:spPr>
          <a:xfrm>
            <a:off x="4008867" y="6608049"/>
            <a:ext cx="305191" cy="220662"/>
          </a:xfrm>
          <a:prstGeom prst="rect">
            <a:avLst/>
          </a:prstGeom>
        </p:spPr>
      </p:pic>
      <p:sp>
        <p:nvSpPr>
          <p:cNvPr id="15" name="TextBox 17">
            <a:extLst>
              <a:ext uri="{FF2B5EF4-FFF2-40B4-BE49-F238E27FC236}">
                <a16:creationId xmlns:a16="http://schemas.microsoft.com/office/drawing/2014/main" id="{28FCC62F-29D7-422F-7CDB-28899C7EAEE0}"/>
              </a:ext>
            </a:extLst>
          </p:cNvPr>
          <p:cNvSpPr txBox="1">
            <a:spLocks noChangeArrowheads="1"/>
          </p:cNvSpPr>
          <p:nvPr userDrawn="1"/>
        </p:nvSpPr>
        <p:spPr bwMode="auto">
          <a:xfrm>
            <a:off x="4274591" y="6585727"/>
            <a:ext cx="1995866"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气动与多学科优化设计研究所</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6" name="图片 15" descr="徽标, 公司名称&#10;&#10;描述已自动生成">
            <a:extLst>
              <a:ext uri="{FF2B5EF4-FFF2-40B4-BE49-F238E27FC236}">
                <a16:creationId xmlns:a16="http://schemas.microsoft.com/office/drawing/2014/main" id="{348A36C4-3B0C-AC99-0452-2A4CBAB6B978}"/>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1200" t="34750" r="12986" b="38625"/>
          <a:stretch/>
        </p:blipFill>
        <p:spPr>
          <a:xfrm>
            <a:off x="168777" y="6597237"/>
            <a:ext cx="1237564" cy="231474"/>
          </a:xfrm>
          <a:prstGeom prst="rect">
            <a:avLst/>
          </a:prstGeom>
        </p:spPr>
      </p:pic>
      <p:pic>
        <p:nvPicPr>
          <p:cNvPr id="18" name="Picture 4" descr="国防logo">
            <a:extLst>
              <a:ext uri="{FF2B5EF4-FFF2-40B4-BE49-F238E27FC236}">
                <a16:creationId xmlns:a16="http://schemas.microsoft.com/office/drawing/2014/main" id="{19781FD9-F228-E798-7682-BEE431A63A0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603098" y="6597237"/>
            <a:ext cx="279589" cy="235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9" name="直接连接符 18">
            <a:extLst>
              <a:ext uri="{FF2B5EF4-FFF2-40B4-BE49-F238E27FC236}">
                <a16:creationId xmlns:a16="http://schemas.microsoft.com/office/drawing/2014/main" id="{AD799EF4-5209-6D9C-60DC-55BE69D7C3CF}"/>
              </a:ext>
            </a:extLst>
          </p:cNvPr>
          <p:cNvCxnSpPr>
            <a:cxnSpLocks/>
          </p:cNvCxnSpPr>
          <p:nvPr userDrawn="1"/>
        </p:nvCxnSpPr>
        <p:spPr>
          <a:xfrm>
            <a:off x="246000" y="747485"/>
            <a:ext cx="11700000" cy="0"/>
          </a:xfrm>
          <a:prstGeom prst="line">
            <a:avLst/>
          </a:prstGeom>
          <a:ln w="19050">
            <a:solidFill>
              <a:srgbClr val="002060"/>
            </a:solidFill>
            <a:tailEnd type="non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BE27817B-A09C-A614-A85A-2B87FBA3C94B}"/>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0875D557-BA29-4F2F-0E1A-1C68131D65BF}"/>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39236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und Inhalt">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C2AF1924-1D13-8114-5EC0-DBDF9F4C7E1B}"/>
              </a:ext>
            </a:extLst>
          </p:cNvPr>
          <p:cNvSpPr/>
          <p:nvPr userDrawn="1"/>
        </p:nvSpPr>
        <p:spPr>
          <a:xfrm>
            <a:off x="419100" y="6604000"/>
            <a:ext cx="11772900" cy="25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3240408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流程图: 过程 11"/>
          <p:cNvSpPr/>
          <p:nvPr userDrawn="1"/>
        </p:nvSpPr>
        <p:spPr>
          <a:xfrm>
            <a:off x="463552" y="6637338"/>
            <a:ext cx="11728449" cy="220662"/>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a:p>
        </p:txBody>
      </p:sp>
      <p:sp>
        <p:nvSpPr>
          <p:cNvPr id="22" name="文本框 7"/>
          <p:cNvSpPr txBox="1">
            <a:spLocks noChangeArrowheads="1"/>
          </p:cNvSpPr>
          <p:nvPr/>
        </p:nvSpPr>
        <p:spPr bwMode="auto">
          <a:xfrm>
            <a:off x="11853144" y="6661150"/>
            <a:ext cx="187552"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D5E0037A-9D1D-439F-950C-9A7AC256782F}" type="slidenum">
              <a:rPr lang="en-GB" altLang="zh-CN" sz="1200" smtClean="0">
                <a:solidFill>
                  <a:schemeClr val="bg1"/>
                </a:solidFill>
                <a:latin typeface="Arial" pitchFamily="34" charset="0"/>
                <a:cs typeface="Arial" pitchFamily="34" charset="0"/>
              </a:rPr>
              <a:pPr eaLnBrk="1" hangingPunct="1"/>
              <a:t>‹#›</a:t>
            </a:fld>
            <a:endParaRPr lang="en-GB" altLang="zh-CN" sz="1200" dirty="0">
              <a:solidFill>
                <a:schemeClr val="bg1"/>
              </a:solidFill>
              <a:latin typeface="Arial" pitchFamily="34" charset="0"/>
              <a:cs typeface="Arial" pitchFamily="34" charset="0"/>
            </a:endParaRPr>
          </a:p>
        </p:txBody>
      </p:sp>
    </p:spTree>
    <p:extLst>
      <p:ext uri="{BB962C8B-B14F-4D97-AF65-F5344CB8AC3E}">
        <p14:creationId xmlns:p14="http://schemas.microsoft.com/office/powerpoint/2010/main" val="3318367548"/>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63" r:id="rId3"/>
    <p:sldLayoutId id="2147483664" r:id="rId4"/>
  </p:sldLayoutIdLst>
  <p:hf hdr="0" dt="0"/>
  <p:txStyles>
    <p:titleStyle>
      <a:lvl1pPr algn="l" defTabSz="914400" rtl="0" eaLnBrk="1" latinLnBrk="0" hangingPunct="1">
        <a:spcBef>
          <a:spcPct val="0"/>
        </a:spcBef>
        <a:buNone/>
        <a:defRPr sz="2800" b="1" kern="1200">
          <a:solidFill>
            <a:srgbClr val="686868"/>
          </a:solidFill>
          <a:latin typeface="黑体" pitchFamily="49" charset="-122"/>
          <a:ea typeface="黑体" pitchFamily="49" charset="-122"/>
          <a:cs typeface="Arial" pitchFamily="34" charset="0"/>
        </a:defRPr>
      </a:lvl1pPr>
    </p:titleStyle>
    <p:bodyStyle>
      <a:lvl1pPr marL="180000" indent="-180000" algn="l" defTabSz="914400" rtl="0" eaLnBrk="1" latinLnBrk="0" hangingPunct="1">
        <a:spcBef>
          <a:spcPts val="300"/>
        </a:spcBef>
        <a:spcAft>
          <a:spcPts val="0"/>
        </a:spcAft>
        <a:buFont typeface="Arial" pitchFamily="34" charset="0"/>
        <a:buChar char="•"/>
        <a:defRPr sz="2000" kern="1200">
          <a:solidFill>
            <a:schemeClr val="tx1"/>
          </a:solidFill>
          <a:latin typeface="宋体" pitchFamily="2" charset="-122"/>
          <a:ea typeface="宋体" pitchFamily="2" charset="-122"/>
          <a:cs typeface="Arial" pitchFamily="34" charset="0"/>
        </a:defRPr>
      </a:lvl1pPr>
      <a:lvl2pPr marL="62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2pPr>
      <a:lvl3pPr marL="107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3pPr>
      <a:lvl4pPr marL="15228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4pPr>
      <a:lvl5pPr marL="19692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github.com/suavecode/Tutorial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hyperlink" Target="https://github.com/suavecode/Tutorials"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E27AC507-31BA-ACC3-D74E-D1EF65417EDF}"/>
              </a:ext>
            </a:extLst>
          </p:cNvPr>
          <p:cNvPicPr>
            <a:picLocks noChangeAspect="1"/>
          </p:cNvPicPr>
          <p:nvPr/>
        </p:nvPicPr>
        <p:blipFill>
          <a:blip r:embed="rId3">
            <a:alphaModFix amt="15000"/>
          </a:blip>
          <a:stretch>
            <a:fillRect/>
          </a:stretch>
        </p:blipFill>
        <p:spPr>
          <a:xfrm>
            <a:off x="2252873" y="1712457"/>
            <a:ext cx="7686254" cy="5003802"/>
          </a:xfrm>
          <a:prstGeom prst="rect">
            <a:avLst/>
          </a:prstGeom>
        </p:spPr>
      </p:pic>
      <p:sp>
        <p:nvSpPr>
          <p:cNvPr id="12" name="标题 1"/>
          <p:cNvSpPr txBox="1">
            <a:spLocks/>
          </p:cNvSpPr>
          <p:nvPr/>
        </p:nvSpPr>
        <p:spPr bwMode="auto">
          <a:xfrm>
            <a:off x="1883532" y="2340799"/>
            <a:ext cx="8424936" cy="1863727"/>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sz="5400" dirty="0">
                <a:solidFill>
                  <a:srgbClr val="002060"/>
                </a:solidFill>
              </a:rPr>
              <a:t>Design Conceptual Aircraft</a:t>
            </a:r>
          </a:p>
          <a:p>
            <a:pPr algn="ctr" eaLnBrk="1" hangingPunct="1">
              <a:lnSpc>
                <a:spcPct val="120000"/>
              </a:lnSpc>
            </a:pPr>
            <a:r>
              <a:rPr lang="en-US" altLang="zh-CN" sz="5400" dirty="0">
                <a:solidFill>
                  <a:srgbClr val="002060"/>
                </a:solidFill>
              </a:rPr>
              <a:t> via SUAVE</a:t>
            </a:r>
            <a:endParaRPr lang="en-US" altLang="zh-CN" sz="5400" dirty="0">
              <a:solidFill>
                <a:srgbClr val="002060"/>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D6D6EECA-F9F9-6DE6-A7FF-4935E371663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April 29,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34799851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90665-6601-DC53-2F95-0CEE7E67C391}"/>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FF8DCF8C-B1F5-1A54-C237-A9A8B016EE15}"/>
              </a:ext>
            </a:extLst>
          </p:cNvPr>
          <p:cNvSpPr/>
          <p:nvPr/>
        </p:nvSpPr>
        <p:spPr>
          <a:xfrm>
            <a:off x="766676" y="241309"/>
            <a:ext cx="3240174" cy="678787"/>
          </a:xfrm>
          <a:prstGeom prst="rect">
            <a:avLst/>
          </a:prstGeom>
          <a:solidFill>
            <a:srgbClr val="002060"/>
          </a:solidFill>
          <a:ln w="9525">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sz="2800" b="1" dirty="0">
                <a:solidFill>
                  <a:schemeClr val="bg1"/>
                </a:solidFill>
                <a:latin typeface="微软雅黑" panose="020B0503020204020204" pitchFamily="34" charset="-122"/>
                <a:ea typeface="微软雅黑" panose="020B0503020204020204" pitchFamily="34" charset="-122"/>
                <a:cs typeface="Arial" pitchFamily="34" charset="0"/>
              </a:rPr>
              <a:t>content</a:t>
            </a:r>
            <a:endParaRPr lang="zh-CN" altLang="en-US" sz="2800" b="1" dirty="0">
              <a:solidFill>
                <a:schemeClr val="bg1"/>
              </a:solidFill>
              <a:latin typeface="微软雅黑" panose="020B0503020204020204" pitchFamily="34" charset="-122"/>
              <a:ea typeface="微软雅黑" panose="020B0503020204020204" pitchFamily="34" charset="-122"/>
              <a:cs typeface="Arial" pitchFamily="34" charset="0"/>
            </a:endParaRPr>
          </a:p>
        </p:txBody>
      </p:sp>
      <p:sp>
        <p:nvSpPr>
          <p:cNvPr id="4" name="文本框 3">
            <a:extLst>
              <a:ext uri="{FF2B5EF4-FFF2-40B4-BE49-F238E27FC236}">
                <a16:creationId xmlns:a16="http://schemas.microsoft.com/office/drawing/2014/main" id="{2AD5AD5A-F635-8C06-1061-FF2ED9685C2D}"/>
              </a:ext>
            </a:extLst>
          </p:cNvPr>
          <p:cNvSpPr txBox="1"/>
          <p:nvPr/>
        </p:nvSpPr>
        <p:spPr>
          <a:xfrm>
            <a:off x="5401757" y="1106211"/>
            <a:ext cx="6096000" cy="442903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Background Introduction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Prepare</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Overall</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Design Process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Design Flowchart</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Case Implementation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Main</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Modules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Vehicle</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Mission</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Aerodynamic Analysis</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Customization &amp; Extension</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227192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9159C3-631B-37EE-E2B3-66D8074240F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1</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Background Introduction</a:t>
            </a:r>
            <a:endParaRPr lang="en-US" altLang="zh-CN" dirty="0">
              <a:solidFill>
                <a:srgbClr val="00206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1CB4C85D-31E6-AC34-DE47-A78DCE091832}"/>
              </a:ext>
            </a:extLst>
          </p:cNvPr>
          <p:cNvPicPr>
            <a:picLocks noChangeAspect="1"/>
          </p:cNvPicPr>
          <p:nvPr/>
        </p:nvPicPr>
        <p:blipFill>
          <a:blip r:embed="rId3">
            <a:alphaModFix/>
          </a:blip>
          <a:stretch>
            <a:fillRect/>
          </a:stretch>
        </p:blipFill>
        <p:spPr>
          <a:xfrm>
            <a:off x="6096000" y="1682961"/>
            <a:ext cx="5721573" cy="3724782"/>
          </a:xfrm>
          <a:prstGeom prst="rect">
            <a:avLst/>
          </a:prstGeom>
        </p:spPr>
      </p:pic>
      <p:sp>
        <p:nvSpPr>
          <p:cNvPr id="5" name="文本框 4">
            <a:extLst>
              <a:ext uri="{FF2B5EF4-FFF2-40B4-BE49-F238E27FC236}">
                <a16:creationId xmlns:a16="http://schemas.microsoft.com/office/drawing/2014/main" id="{121939E5-6053-EC1A-5E0D-2F75783409D6}"/>
              </a:ext>
            </a:extLst>
          </p:cNvPr>
          <p:cNvSpPr txBox="1"/>
          <p:nvPr/>
        </p:nvSpPr>
        <p:spPr>
          <a:xfrm>
            <a:off x="211886" y="1682961"/>
            <a:ext cx="5539985" cy="3908762"/>
          </a:xfrm>
          <a:prstGeom prst="rect">
            <a:avLst/>
          </a:prstGeom>
          <a:noFill/>
        </p:spPr>
        <p:txBody>
          <a:bodyPr wrap="square">
            <a:spAutoFit/>
          </a:bodyPr>
          <a:lstStyle/>
          <a:p>
            <a:pPr algn="just"/>
            <a:r>
              <a:rPr lang="en-US" altLang="zh-CN" sz="2000" b="0" i="0" dirty="0">
                <a:solidFill>
                  <a:srgbClr val="002060"/>
                </a:solidFill>
                <a:effectLst/>
                <a:latin typeface="Times New Roman" panose="02020603050405020304" pitchFamily="18" charset="0"/>
                <a:cs typeface="Times New Roman" panose="02020603050405020304" pitchFamily="18" charset="0"/>
              </a:rPr>
              <a:t>SUAVE is a conceptual level aircraft design environment built with the ability to analyze and optimize both conventional and unconventional designs. This capability is achieved in part by allowing analysis information for aircraft to be drawn from multiple sources. Many other software tools for aircraft conceptual design rely on fixed empirical correlations and other handbook approximation. </a:t>
            </a:r>
            <a:r>
              <a:rPr lang="en-US" altLang="zh-CN" sz="2200" b="1" i="0" dirty="0">
                <a:solidFill>
                  <a:srgbClr val="C00000"/>
                </a:solidFill>
                <a:effectLst/>
                <a:latin typeface="Times New Roman" panose="02020603050405020304" pitchFamily="18" charset="0"/>
                <a:cs typeface="Times New Roman" panose="02020603050405020304" pitchFamily="18" charset="0"/>
              </a:rPr>
              <a:t>SUAVE instead provides a framework</a:t>
            </a:r>
            <a:r>
              <a:rPr lang="en-US" altLang="zh-CN" sz="2000" b="0" i="0" dirty="0">
                <a:solidFill>
                  <a:srgbClr val="002060"/>
                </a:solidFill>
                <a:effectLst/>
                <a:latin typeface="Times New Roman" panose="02020603050405020304" pitchFamily="18" charset="0"/>
                <a:cs typeface="Times New Roman" panose="02020603050405020304" pitchFamily="18" charset="0"/>
              </a:rPr>
              <a:t> that can be used to design aircraft featuring advanced technologies by augmenting relevant correlations with physics-based methods.</a:t>
            </a:r>
            <a:endParaRPr lang="zh-CN" altLang="en-US" sz="2000" dirty="0">
              <a:solidFill>
                <a:srgbClr val="00206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89718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CBD9D6-F49C-5670-E7AC-81830A47736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D91F18C2-6205-2767-2D0D-217823C0A545}"/>
              </a:ext>
            </a:extLst>
          </p:cNvPr>
          <p:cNvSpPr txBox="1"/>
          <p:nvPr/>
        </p:nvSpPr>
        <p:spPr>
          <a:xfrm>
            <a:off x="710649" y="1792729"/>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create –n suave python = 3.60</a:t>
            </a: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activate suave</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graphicFrame>
        <p:nvGraphicFramePr>
          <p:cNvPr id="5" name="表格 4">
            <a:extLst>
              <a:ext uri="{FF2B5EF4-FFF2-40B4-BE49-F238E27FC236}">
                <a16:creationId xmlns:a16="http://schemas.microsoft.com/office/drawing/2014/main" id="{EBC8FB12-70F3-76B6-5E24-58C01430936E}"/>
              </a:ext>
            </a:extLst>
          </p:cNvPr>
          <p:cNvGraphicFramePr>
            <a:graphicFrameLocks noGrp="1"/>
          </p:cNvGraphicFramePr>
          <p:nvPr>
            <p:extLst>
              <p:ext uri="{D42A27DB-BD31-4B8C-83A1-F6EECF244321}">
                <p14:modId xmlns:p14="http://schemas.microsoft.com/office/powerpoint/2010/main" val="136818531"/>
              </p:ext>
            </p:extLst>
          </p:nvPr>
        </p:nvGraphicFramePr>
        <p:xfrm>
          <a:off x="7427138" y="1684813"/>
          <a:ext cx="4552978" cy="2743200"/>
        </p:xfrm>
        <a:graphic>
          <a:graphicData uri="http://schemas.openxmlformats.org/drawingml/2006/table">
            <a:tbl>
              <a:tblPr firstRow="1" bandRow="1">
                <a:tableStyleId>{5C22544A-7EE6-4342-B048-85BDC9FD1C3A}</a:tableStyleId>
              </a:tblPr>
              <a:tblGrid>
                <a:gridCol w="2276489">
                  <a:extLst>
                    <a:ext uri="{9D8B030D-6E8A-4147-A177-3AD203B41FA5}">
                      <a16:colId xmlns:a16="http://schemas.microsoft.com/office/drawing/2014/main" val="1207367569"/>
                    </a:ext>
                  </a:extLst>
                </a:gridCol>
                <a:gridCol w="2276489">
                  <a:extLst>
                    <a:ext uri="{9D8B030D-6E8A-4147-A177-3AD203B41FA5}">
                      <a16:colId xmlns:a16="http://schemas.microsoft.com/office/drawing/2014/main" val="4045598875"/>
                    </a:ext>
                  </a:extLst>
                </a:gridCol>
              </a:tblGrid>
              <a:tr h="456901">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Libraries</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version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62022383"/>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matplotlib</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3.3.4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62686602"/>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numpy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1.16.6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54798316"/>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scipy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16068009"/>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scikit-learn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0.18.2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6324054"/>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plotly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5.18.0</a:t>
                      </a: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7021117"/>
                  </a:ext>
                </a:extLst>
              </a:tr>
            </a:tbl>
          </a:graphicData>
        </a:graphic>
      </p:graphicFrame>
      <p:sp>
        <p:nvSpPr>
          <p:cNvPr id="6" name="文本框 5">
            <a:extLst>
              <a:ext uri="{FF2B5EF4-FFF2-40B4-BE49-F238E27FC236}">
                <a16:creationId xmlns:a16="http://schemas.microsoft.com/office/drawing/2014/main" id="{C51F52E6-4B67-274D-3151-E96DB7AAACC0}"/>
              </a:ext>
            </a:extLst>
          </p:cNvPr>
          <p:cNvSpPr txBox="1"/>
          <p:nvPr/>
        </p:nvSpPr>
        <p:spPr>
          <a:xfrm>
            <a:off x="211885" y="870401"/>
            <a:ext cx="4294909"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Prepare the</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rPr>
              <a:t>Anaconda</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B0975CD1-7A86-8BB8-C1AD-BB830B191363}"/>
              </a:ext>
            </a:extLst>
          </p:cNvPr>
          <p:cNvSpPr txBox="1"/>
          <p:nvPr/>
        </p:nvSpPr>
        <p:spPr>
          <a:xfrm>
            <a:off x="211884" y="1280935"/>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2</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Create python environment</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96FFE749-4F79-EEED-1C9F-9FB4684EAFCC}"/>
              </a:ext>
            </a:extLst>
          </p:cNvPr>
          <p:cNvSpPr txBox="1"/>
          <p:nvPr/>
        </p:nvSpPr>
        <p:spPr>
          <a:xfrm>
            <a:off x="211884" y="2915681"/>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libraries the suave need</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9" name="文本框 8">
            <a:extLst>
              <a:ext uri="{FF2B5EF4-FFF2-40B4-BE49-F238E27FC236}">
                <a16:creationId xmlns:a16="http://schemas.microsoft.com/office/drawing/2014/main" id="{FE421041-5E9F-5607-3F04-ABE089FFFB6D}"/>
              </a:ext>
            </a:extLst>
          </p:cNvPr>
          <p:cNvSpPr txBox="1"/>
          <p:nvPr/>
        </p:nvSpPr>
        <p:spPr>
          <a:xfrm>
            <a:off x="710648" y="3380862"/>
            <a:ext cx="6401351" cy="681038"/>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requirement.txt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2" name="文本框 11">
            <a:extLst>
              <a:ext uri="{FF2B5EF4-FFF2-40B4-BE49-F238E27FC236}">
                <a16:creationId xmlns:a16="http://schemas.microsoft.com/office/drawing/2014/main" id="{69254791-27F6-023F-4FCA-74EF1BC5AD2B}"/>
              </a:ext>
            </a:extLst>
          </p:cNvPr>
          <p:cNvSpPr txBox="1"/>
          <p:nvPr/>
        </p:nvSpPr>
        <p:spPr>
          <a:xfrm>
            <a:off x="211884" y="4255387"/>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BC5613CA-5A67-9798-51FF-CBCA5C48213C}"/>
              </a:ext>
            </a:extLst>
          </p:cNvPr>
          <p:cNvSpPr txBox="1"/>
          <p:nvPr/>
        </p:nvSpPr>
        <p:spPr>
          <a:xfrm>
            <a:off x="710648" y="4624719"/>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spTree>
    <p:extLst>
      <p:ext uri="{BB962C8B-B14F-4D97-AF65-F5344CB8AC3E}">
        <p14:creationId xmlns:p14="http://schemas.microsoft.com/office/powerpoint/2010/main" val="3968075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92E70-3C10-DE90-6115-99125C189D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4948798-5FF7-2EEA-F12C-951E2E528AE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F188C2C5-D69E-7617-3F34-0F3E2F104D7D}"/>
              </a:ext>
            </a:extLst>
          </p:cNvPr>
          <p:cNvSpPr txBox="1"/>
          <p:nvPr/>
        </p:nvSpPr>
        <p:spPr>
          <a:xfrm>
            <a:off x="211884" y="92782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AE2C0E0B-52C4-6746-5855-A52386F86161}"/>
              </a:ext>
            </a:extLst>
          </p:cNvPr>
          <p:cNvSpPr txBox="1"/>
          <p:nvPr/>
        </p:nvSpPr>
        <p:spPr>
          <a:xfrm>
            <a:off x="710648" y="129715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pic>
        <p:nvPicPr>
          <p:cNvPr id="13" name="图片 12">
            <a:extLst>
              <a:ext uri="{FF2B5EF4-FFF2-40B4-BE49-F238E27FC236}">
                <a16:creationId xmlns:a16="http://schemas.microsoft.com/office/drawing/2014/main" id="{93F47FB9-93C4-6197-EA90-322354486143}"/>
              </a:ext>
            </a:extLst>
          </p:cNvPr>
          <p:cNvPicPr>
            <a:picLocks noChangeAspect="1"/>
          </p:cNvPicPr>
          <p:nvPr/>
        </p:nvPicPr>
        <p:blipFill>
          <a:blip r:embed="rId5"/>
          <a:stretch>
            <a:fillRect/>
          </a:stretch>
        </p:blipFill>
        <p:spPr>
          <a:xfrm>
            <a:off x="7728239" y="927824"/>
            <a:ext cx="4185693" cy="2918548"/>
          </a:xfrm>
          <a:prstGeom prst="rect">
            <a:avLst/>
          </a:prstGeom>
        </p:spPr>
      </p:pic>
      <p:sp>
        <p:nvSpPr>
          <p:cNvPr id="14" name="文本框 13">
            <a:extLst>
              <a:ext uri="{FF2B5EF4-FFF2-40B4-BE49-F238E27FC236}">
                <a16:creationId xmlns:a16="http://schemas.microsoft.com/office/drawing/2014/main" id="{F1169113-BE4E-7450-5420-87A155468DD1}"/>
              </a:ext>
            </a:extLst>
          </p:cNvPr>
          <p:cNvSpPr txBox="1"/>
          <p:nvPr/>
        </p:nvSpPr>
        <p:spPr>
          <a:xfrm>
            <a:off x="211884" y="2020560"/>
            <a:ext cx="7017591" cy="681038"/>
          </a:xfrm>
          <a:prstGeom prst="roundRect">
            <a:avLst/>
          </a:prstGeom>
          <a:solidFill>
            <a:srgbClr val="2D2D30"/>
          </a:solidFill>
        </p:spPr>
        <p:txBody>
          <a:bodyPr wrap="square" lIns="0" tIns="0" rIns="0" bIns="0" rtlCol="0">
            <a:spAutoFit/>
          </a:bodyPr>
          <a:lstStyle/>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bash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clone https://github.com/suavecode/SUAVE.git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5" name="文本框 14">
            <a:extLst>
              <a:ext uri="{FF2B5EF4-FFF2-40B4-BE49-F238E27FC236}">
                <a16:creationId xmlns:a16="http://schemas.microsoft.com/office/drawing/2014/main" id="{13FE6F99-C10A-DA22-22FA-AA49B58DE433}"/>
              </a:ext>
            </a:extLst>
          </p:cNvPr>
          <p:cNvSpPr txBox="1"/>
          <p:nvPr/>
        </p:nvSpPr>
        <p:spPr>
          <a:xfrm>
            <a:off x="3289764" y="2701598"/>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7" name="文本框 16">
            <a:extLst>
              <a:ext uri="{FF2B5EF4-FFF2-40B4-BE49-F238E27FC236}">
                <a16:creationId xmlns:a16="http://schemas.microsoft.com/office/drawing/2014/main" id="{3C603ADC-C036-057F-4D00-2730F0FB0DA5}"/>
              </a:ext>
            </a:extLst>
          </p:cNvPr>
          <p:cNvSpPr txBox="1"/>
          <p:nvPr/>
        </p:nvSpPr>
        <p:spPr>
          <a:xfrm>
            <a:off x="1385479" y="3120202"/>
            <a:ext cx="4746336"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Download the zip from release directly</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8" name="文本框 17">
            <a:extLst>
              <a:ext uri="{FF2B5EF4-FFF2-40B4-BE49-F238E27FC236}">
                <a16:creationId xmlns:a16="http://schemas.microsoft.com/office/drawing/2014/main" id="{08229FF5-5A08-2D52-AF33-B84268B60C1D}"/>
              </a:ext>
            </a:extLst>
          </p:cNvPr>
          <p:cNvSpPr txBox="1"/>
          <p:nvPr/>
        </p:nvSpPr>
        <p:spPr>
          <a:xfrm>
            <a:off x="211884" y="3765436"/>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5</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20" name="文本框 19">
            <a:extLst>
              <a:ext uri="{FF2B5EF4-FFF2-40B4-BE49-F238E27FC236}">
                <a16:creationId xmlns:a16="http://schemas.microsoft.com/office/drawing/2014/main" id="{A201334D-C4A0-F4BE-C8A6-4CABC0EBE700}"/>
              </a:ext>
            </a:extLst>
          </p:cNvPr>
          <p:cNvSpPr txBox="1"/>
          <p:nvPr/>
        </p:nvSpPr>
        <p:spPr>
          <a:xfrm>
            <a:off x="8731112" y="3846372"/>
            <a:ext cx="2162175" cy="369332"/>
          </a:xfrm>
          <a:prstGeom prst="rect">
            <a:avLst/>
          </a:prstGeom>
          <a:noFill/>
        </p:spPr>
        <p:txBody>
          <a:bodyPr wrap="square">
            <a:spAutoFit/>
          </a:bodyPr>
          <a:lstStyle/>
          <a:p>
            <a:pPr algn="ctr"/>
            <a:r>
              <a:rPr lang="en-US" altLang="zh-CN" b="0" i="0" dirty="0">
                <a:solidFill>
                  <a:srgbClr val="000000"/>
                </a:solidFill>
                <a:effectLst/>
                <a:latin typeface="PingFang SC"/>
              </a:rPr>
              <a:t>GitHub repository</a:t>
            </a:r>
            <a:endParaRPr lang="zh-CN" altLang="en-US" dirty="0"/>
          </a:p>
        </p:txBody>
      </p:sp>
      <p:sp>
        <p:nvSpPr>
          <p:cNvPr id="23" name="文本框 22">
            <a:extLst>
              <a:ext uri="{FF2B5EF4-FFF2-40B4-BE49-F238E27FC236}">
                <a16:creationId xmlns:a16="http://schemas.microsoft.com/office/drawing/2014/main" id="{F35D7AD8-B110-582F-3DA4-3AD8AE7193ED}"/>
              </a:ext>
            </a:extLst>
          </p:cNvPr>
          <p:cNvSpPr txBox="1"/>
          <p:nvPr/>
        </p:nvSpPr>
        <p:spPr>
          <a:xfrm>
            <a:off x="211883" y="4301429"/>
            <a:ext cx="701759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D:\SUAVE-2.5.2\trunk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python3 setup.py install</a:t>
            </a:r>
          </a:p>
        </p:txBody>
      </p:sp>
    </p:spTree>
    <p:extLst>
      <p:ext uri="{BB962C8B-B14F-4D97-AF65-F5344CB8AC3E}">
        <p14:creationId xmlns:p14="http://schemas.microsoft.com/office/powerpoint/2010/main" val="4253380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55D5A-7803-7383-609D-71AD1CC5A376}"/>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6DE28BFD-D88F-056D-A3F5-9216D6B5BF73}"/>
              </a:ext>
            </a:extLst>
          </p:cNvPr>
          <p:cNvSpPr txBox="1"/>
          <p:nvPr/>
        </p:nvSpPr>
        <p:spPr>
          <a:xfrm>
            <a:off x="-286327" y="768072"/>
            <a:ext cx="6096000" cy="458908"/>
          </a:xfrm>
          <a:prstGeom prst="rect">
            <a:avLst/>
          </a:prstGeom>
          <a:noFill/>
        </p:spPr>
        <p:txBody>
          <a:bodyPr wrap="square">
            <a:spAutoFit/>
          </a:bodyPr>
          <a:lstStyle/>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Test if you setup SUAVE successfully</a:t>
            </a:r>
          </a:p>
        </p:txBody>
      </p:sp>
      <p:pic>
        <p:nvPicPr>
          <p:cNvPr id="7" name="图片 6">
            <a:extLst>
              <a:ext uri="{FF2B5EF4-FFF2-40B4-BE49-F238E27FC236}">
                <a16:creationId xmlns:a16="http://schemas.microsoft.com/office/drawing/2014/main" id="{8EE278D3-C7DC-9249-9F15-11C9B567348A}"/>
              </a:ext>
            </a:extLst>
          </p:cNvPr>
          <p:cNvPicPr>
            <a:picLocks noChangeAspect="1"/>
          </p:cNvPicPr>
          <p:nvPr/>
        </p:nvPicPr>
        <p:blipFill>
          <a:blip r:embed="rId3"/>
          <a:stretch>
            <a:fillRect/>
          </a:stretch>
        </p:blipFill>
        <p:spPr>
          <a:xfrm>
            <a:off x="211886" y="1626622"/>
            <a:ext cx="4107229" cy="2497701"/>
          </a:xfrm>
          <a:prstGeom prst="rect">
            <a:avLst/>
          </a:prstGeom>
        </p:spPr>
      </p:pic>
      <p:pic>
        <p:nvPicPr>
          <p:cNvPr id="8" name="图片 7">
            <a:extLst>
              <a:ext uri="{FF2B5EF4-FFF2-40B4-BE49-F238E27FC236}">
                <a16:creationId xmlns:a16="http://schemas.microsoft.com/office/drawing/2014/main" id="{9D56324F-9CB1-55AA-74C5-7BE1CCB0A8F1}"/>
              </a:ext>
            </a:extLst>
          </p:cNvPr>
          <p:cNvPicPr>
            <a:picLocks noChangeAspect="1"/>
          </p:cNvPicPr>
          <p:nvPr/>
        </p:nvPicPr>
        <p:blipFill>
          <a:blip r:embed="rId4"/>
          <a:stretch>
            <a:fillRect/>
          </a:stretch>
        </p:blipFill>
        <p:spPr>
          <a:xfrm>
            <a:off x="4470622" y="2845709"/>
            <a:ext cx="3709070" cy="2967257"/>
          </a:xfrm>
          <a:prstGeom prst="rect">
            <a:avLst/>
          </a:prstGeom>
        </p:spPr>
      </p:pic>
      <p:pic>
        <p:nvPicPr>
          <p:cNvPr id="9" name="图片 8">
            <a:extLst>
              <a:ext uri="{FF2B5EF4-FFF2-40B4-BE49-F238E27FC236}">
                <a16:creationId xmlns:a16="http://schemas.microsoft.com/office/drawing/2014/main" id="{8E436A8C-08B7-2108-2D25-647ADBA27CF7}"/>
              </a:ext>
            </a:extLst>
          </p:cNvPr>
          <p:cNvPicPr>
            <a:picLocks noChangeAspect="1"/>
          </p:cNvPicPr>
          <p:nvPr/>
        </p:nvPicPr>
        <p:blipFill>
          <a:blip r:embed="rId5"/>
          <a:stretch>
            <a:fillRect/>
          </a:stretch>
        </p:blipFill>
        <p:spPr>
          <a:xfrm>
            <a:off x="4624775" y="897325"/>
            <a:ext cx="7109833" cy="1819131"/>
          </a:xfrm>
          <a:prstGeom prst="rect">
            <a:avLst/>
          </a:prstGeom>
        </p:spPr>
      </p:pic>
      <p:pic>
        <p:nvPicPr>
          <p:cNvPr id="10" name="图片 9">
            <a:extLst>
              <a:ext uri="{FF2B5EF4-FFF2-40B4-BE49-F238E27FC236}">
                <a16:creationId xmlns:a16="http://schemas.microsoft.com/office/drawing/2014/main" id="{215C0207-609B-0C12-3530-2981D5387F3E}"/>
              </a:ext>
            </a:extLst>
          </p:cNvPr>
          <p:cNvPicPr>
            <a:picLocks noChangeAspect="1"/>
          </p:cNvPicPr>
          <p:nvPr/>
        </p:nvPicPr>
        <p:blipFill>
          <a:blip r:embed="rId6"/>
          <a:stretch>
            <a:fillRect/>
          </a:stretch>
        </p:blipFill>
        <p:spPr>
          <a:xfrm>
            <a:off x="8331200" y="2875472"/>
            <a:ext cx="3501732" cy="2990852"/>
          </a:xfrm>
          <a:prstGeom prst="rect">
            <a:avLst/>
          </a:prstGeom>
        </p:spPr>
      </p:pic>
      <p:sp>
        <p:nvSpPr>
          <p:cNvPr id="4" name="文本框 3">
            <a:extLst>
              <a:ext uri="{FF2B5EF4-FFF2-40B4-BE49-F238E27FC236}">
                <a16:creationId xmlns:a16="http://schemas.microsoft.com/office/drawing/2014/main" id="{97D3194B-4FF3-610A-23D4-AA30251DA57D}"/>
              </a:ext>
            </a:extLst>
          </p:cNvPr>
          <p:cNvSpPr txBox="1"/>
          <p:nvPr/>
        </p:nvSpPr>
        <p:spPr>
          <a:xfrm>
            <a:off x="994345" y="4186232"/>
            <a:ext cx="2542309" cy="369332"/>
          </a:xfrm>
          <a:prstGeom prst="rect">
            <a:avLst/>
          </a:prstGeom>
          <a:noFill/>
        </p:spPr>
        <p:txBody>
          <a:bodyPr wrap="square">
            <a:spAutoFit/>
          </a:bodyPr>
          <a:lstStyle/>
          <a:p>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B737-800 in </a:t>
            </a: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openvsp</a:t>
            </a:r>
            <a:endParaRPr lang="zh-CN" altLang="en-US" dirty="0"/>
          </a:p>
        </p:txBody>
      </p:sp>
      <p:sp>
        <p:nvSpPr>
          <p:cNvPr id="5" name="文本框 4">
            <a:extLst>
              <a:ext uri="{FF2B5EF4-FFF2-40B4-BE49-F238E27FC236}">
                <a16:creationId xmlns:a16="http://schemas.microsoft.com/office/drawing/2014/main" id="{174DC26E-991C-92C0-507B-1788C281A9B8}"/>
              </a:ext>
            </a:extLst>
          </p:cNvPr>
          <p:cNvSpPr txBox="1"/>
          <p:nvPr/>
        </p:nvSpPr>
        <p:spPr>
          <a:xfrm>
            <a:off x="1540720" y="6089928"/>
            <a:ext cx="9568873"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Run the </a:t>
            </a:r>
            <a:r>
              <a:rPr lang="en-US" altLang="zh-CN" sz="2000" dirty="0">
                <a:solidFill>
                  <a:srgbClr val="C00000"/>
                </a:solidFill>
                <a:latin typeface="Consolas" panose="020B0609020204030204" pitchFamily="49" charset="0"/>
                <a:ea typeface="微软雅黑" panose="020B0503020204020204" pitchFamily="34" charset="-122"/>
                <a:cs typeface="Arial" pitchFamily="34" charset="0"/>
              </a:rPr>
              <a:t>tut_mission_B737.py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to see these pictures as shown above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3" name="标题 1">
            <a:extLst>
              <a:ext uri="{FF2B5EF4-FFF2-40B4-BE49-F238E27FC236}">
                <a16:creationId xmlns:a16="http://schemas.microsoft.com/office/drawing/2014/main" id="{EDFCA70B-CCAE-AC38-FC5C-1D3D82E5C32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29823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52AE-7401-620B-DFD6-D90602ED366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CAF901-878E-CCA3-C552-A64B8DAA972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7232EDF5-910B-B93D-6BB0-923F4B7EB388}"/>
              </a:ext>
            </a:extLst>
          </p:cNvPr>
          <p:cNvSpPr txBox="1"/>
          <p:nvPr/>
        </p:nvSpPr>
        <p:spPr>
          <a:xfrm>
            <a:off x="240146" y="1385697"/>
            <a:ext cx="5332678" cy="307777"/>
          </a:xfrm>
          <a:prstGeom prst="rect">
            <a:avLst/>
          </a:prstGeom>
          <a:noFill/>
        </p:spPr>
        <p:txBody>
          <a:bodyPr wrap="non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rPr>
              <a:t>What do we need to design for an aircraft?</a:t>
            </a:r>
            <a:endPar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9" name="矩形: 圆角 8">
            <a:extLst>
              <a:ext uri="{FF2B5EF4-FFF2-40B4-BE49-F238E27FC236}">
                <a16:creationId xmlns:a16="http://schemas.microsoft.com/office/drawing/2014/main" id="{9C814DEF-829E-B4D9-FDAE-C2FC1181F340}"/>
              </a:ext>
            </a:extLst>
          </p:cNvPr>
          <p:cNvSpPr/>
          <p:nvPr/>
        </p:nvSpPr>
        <p:spPr>
          <a:xfrm>
            <a:off x="24014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Requirements</a:t>
            </a:r>
            <a:endParaRPr lang="zh-CN" altLang="en-US" dirty="0">
              <a:solidFill>
                <a:schemeClr val="tx1"/>
              </a:solidFill>
              <a:latin typeface="Arial" pitchFamily="34" charset="0"/>
              <a:cs typeface="Arial" pitchFamily="34" charset="0"/>
            </a:endParaRPr>
          </a:p>
        </p:txBody>
      </p:sp>
      <p:cxnSp>
        <p:nvCxnSpPr>
          <p:cNvPr id="11" name="直接箭头连接符 10">
            <a:extLst>
              <a:ext uri="{FF2B5EF4-FFF2-40B4-BE49-F238E27FC236}">
                <a16:creationId xmlns:a16="http://schemas.microsoft.com/office/drawing/2014/main" id="{5F9DF3F6-6BA7-FF4F-CC38-83BA25DEE746}"/>
              </a:ext>
            </a:extLst>
          </p:cNvPr>
          <p:cNvCxnSpPr>
            <a:cxnSpLocks/>
            <a:stCxn id="9" idx="3"/>
            <a:endCxn id="13" idx="1"/>
          </p:cNvCxnSpPr>
          <p:nvPr/>
        </p:nvCxnSpPr>
        <p:spPr>
          <a:xfrm>
            <a:off x="1958109"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6A36986E-0D31-1644-F117-5059B2768C53}"/>
              </a:ext>
            </a:extLst>
          </p:cNvPr>
          <p:cNvSpPr/>
          <p:nvPr/>
        </p:nvSpPr>
        <p:spPr>
          <a:xfrm>
            <a:off x="2663153"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Mission</a:t>
            </a:r>
            <a:endParaRPr lang="zh-CN" altLang="en-US" dirty="0">
              <a:solidFill>
                <a:schemeClr val="tx1"/>
              </a:solidFill>
              <a:latin typeface="Arial" pitchFamily="34" charset="0"/>
              <a:cs typeface="Arial" pitchFamily="34" charset="0"/>
            </a:endParaRPr>
          </a:p>
        </p:txBody>
      </p:sp>
      <p:cxnSp>
        <p:nvCxnSpPr>
          <p:cNvPr id="14" name="直接箭头连接符 13">
            <a:extLst>
              <a:ext uri="{FF2B5EF4-FFF2-40B4-BE49-F238E27FC236}">
                <a16:creationId xmlns:a16="http://schemas.microsoft.com/office/drawing/2014/main" id="{93F4E3C1-39B5-FA12-C81D-14215A816F1D}"/>
              </a:ext>
            </a:extLst>
          </p:cNvPr>
          <p:cNvCxnSpPr>
            <a:cxnSpLocks/>
            <a:stCxn id="13" idx="3"/>
            <a:endCxn id="15" idx="1"/>
          </p:cNvCxnSpPr>
          <p:nvPr/>
        </p:nvCxnSpPr>
        <p:spPr>
          <a:xfrm>
            <a:off x="4381116"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F522472D-9750-A4DA-F87F-FFA9F38AFCB1}"/>
              </a:ext>
            </a:extLst>
          </p:cNvPr>
          <p:cNvSpPr/>
          <p:nvPr/>
        </p:nvSpPr>
        <p:spPr>
          <a:xfrm>
            <a:off x="5086160"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Configuration</a:t>
            </a:r>
          </a:p>
        </p:txBody>
      </p:sp>
      <p:sp>
        <p:nvSpPr>
          <p:cNvPr id="16" name="矩形: 圆角 15">
            <a:extLst>
              <a:ext uri="{FF2B5EF4-FFF2-40B4-BE49-F238E27FC236}">
                <a16:creationId xmlns:a16="http://schemas.microsoft.com/office/drawing/2014/main" id="{85B86636-A106-0F56-7570-AB999B0D8D98}"/>
              </a:ext>
            </a:extLst>
          </p:cNvPr>
          <p:cNvSpPr/>
          <p:nvPr/>
        </p:nvSpPr>
        <p:spPr>
          <a:xfrm>
            <a:off x="750916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Analysis</a:t>
            </a:r>
          </a:p>
        </p:txBody>
      </p:sp>
      <p:cxnSp>
        <p:nvCxnSpPr>
          <p:cNvPr id="20" name="直接箭头连接符 19">
            <a:extLst>
              <a:ext uri="{FF2B5EF4-FFF2-40B4-BE49-F238E27FC236}">
                <a16:creationId xmlns:a16="http://schemas.microsoft.com/office/drawing/2014/main" id="{5B631C2A-0114-0708-7A2B-5D332BB3400E}"/>
              </a:ext>
            </a:extLst>
          </p:cNvPr>
          <p:cNvCxnSpPr>
            <a:cxnSpLocks/>
            <a:stCxn id="15" idx="3"/>
            <a:endCxn id="16" idx="1"/>
          </p:cNvCxnSpPr>
          <p:nvPr/>
        </p:nvCxnSpPr>
        <p:spPr>
          <a:xfrm>
            <a:off x="6804123" y="3641439"/>
            <a:ext cx="70504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E8113C85-B229-1127-F96C-CE0AB9A5AC93}"/>
              </a:ext>
            </a:extLst>
          </p:cNvPr>
          <p:cNvSpPr/>
          <p:nvPr/>
        </p:nvSpPr>
        <p:spPr>
          <a:xfrm>
            <a:off x="9832113" y="14708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Aerodynamic</a:t>
            </a:r>
          </a:p>
        </p:txBody>
      </p:sp>
      <p:cxnSp>
        <p:nvCxnSpPr>
          <p:cNvPr id="30" name="连接符: 肘形 29">
            <a:extLst>
              <a:ext uri="{FF2B5EF4-FFF2-40B4-BE49-F238E27FC236}">
                <a16:creationId xmlns:a16="http://schemas.microsoft.com/office/drawing/2014/main" id="{E3A571DD-04A3-55FB-71CB-028C54969C32}"/>
              </a:ext>
            </a:extLst>
          </p:cNvPr>
          <p:cNvCxnSpPr>
            <a:cxnSpLocks/>
            <a:stCxn id="16" idx="0"/>
            <a:endCxn id="13" idx="0"/>
          </p:cNvCxnSpPr>
          <p:nvPr/>
        </p:nvCxnSpPr>
        <p:spPr>
          <a:xfrm rot="16200000" flipV="1">
            <a:off x="5945142" y="885923"/>
            <a:ext cx="12700" cy="4846013"/>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23150C1C-7864-ACC6-CAFD-1F8C9C69161A}"/>
              </a:ext>
            </a:extLst>
          </p:cNvPr>
          <p:cNvSpPr/>
          <p:nvPr/>
        </p:nvSpPr>
        <p:spPr>
          <a:xfrm>
            <a:off x="9832113" y="23852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Weight</a:t>
            </a:r>
          </a:p>
        </p:txBody>
      </p:sp>
      <p:sp>
        <p:nvSpPr>
          <p:cNvPr id="33" name="矩形: 圆角 32">
            <a:extLst>
              <a:ext uri="{FF2B5EF4-FFF2-40B4-BE49-F238E27FC236}">
                <a16:creationId xmlns:a16="http://schemas.microsoft.com/office/drawing/2014/main" id="{CD2A5BC1-3DFA-1430-69A0-D7154EEE1A88}"/>
              </a:ext>
            </a:extLst>
          </p:cNvPr>
          <p:cNvSpPr/>
          <p:nvPr/>
        </p:nvSpPr>
        <p:spPr>
          <a:xfrm>
            <a:off x="9832113" y="3308928"/>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Thrust</a:t>
            </a:r>
          </a:p>
        </p:txBody>
      </p:sp>
      <p:sp>
        <p:nvSpPr>
          <p:cNvPr id="34" name="矩形: 圆角 33">
            <a:extLst>
              <a:ext uri="{FF2B5EF4-FFF2-40B4-BE49-F238E27FC236}">
                <a16:creationId xmlns:a16="http://schemas.microsoft.com/office/drawing/2014/main" id="{241588F0-5B7D-1700-7068-7F81C6150A54}"/>
              </a:ext>
            </a:extLst>
          </p:cNvPr>
          <p:cNvSpPr/>
          <p:nvPr/>
        </p:nvSpPr>
        <p:spPr>
          <a:xfrm>
            <a:off x="9832113" y="4214092"/>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Stability</a:t>
            </a:r>
          </a:p>
        </p:txBody>
      </p:sp>
      <p:sp>
        <p:nvSpPr>
          <p:cNvPr id="35" name="矩形: 圆角 34">
            <a:extLst>
              <a:ext uri="{FF2B5EF4-FFF2-40B4-BE49-F238E27FC236}">
                <a16:creationId xmlns:a16="http://schemas.microsoft.com/office/drawing/2014/main" id="{1A49ED38-BF62-A715-7BEE-2D0D92EF27FE}"/>
              </a:ext>
            </a:extLst>
          </p:cNvPr>
          <p:cNvSpPr/>
          <p:nvPr/>
        </p:nvSpPr>
        <p:spPr>
          <a:xfrm>
            <a:off x="9832113" y="5128491"/>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t>
            </a:r>
          </a:p>
        </p:txBody>
      </p:sp>
      <p:cxnSp>
        <p:nvCxnSpPr>
          <p:cNvPr id="43" name="连接符: 肘形 42">
            <a:extLst>
              <a:ext uri="{FF2B5EF4-FFF2-40B4-BE49-F238E27FC236}">
                <a16:creationId xmlns:a16="http://schemas.microsoft.com/office/drawing/2014/main" id="{8AE11732-9EC3-680B-4AB4-14BBFEC92BD3}"/>
              </a:ext>
            </a:extLst>
          </p:cNvPr>
          <p:cNvCxnSpPr>
            <a:stCxn id="16" idx="3"/>
            <a:endCxn id="23" idx="1"/>
          </p:cNvCxnSpPr>
          <p:nvPr/>
        </p:nvCxnSpPr>
        <p:spPr>
          <a:xfrm flipV="1">
            <a:off x="9227129" y="1803401"/>
            <a:ext cx="604984" cy="18380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CEFE6722-EB7C-0600-2CD9-24DE7B55D660}"/>
              </a:ext>
            </a:extLst>
          </p:cNvPr>
          <p:cNvCxnSpPr>
            <a:cxnSpLocks/>
            <a:stCxn id="16" idx="3"/>
            <a:endCxn id="32" idx="1"/>
          </p:cNvCxnSpPr>
          <p:nvPr/>
        </p:nvCxnSpPr>
        <p:spPr>
          <a:xfrm flipV="1">
            <a:off x="9227129" y="2717801"/>
            <a:ext cx="604984" cy="92363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33462A38-FAFE-7A18-0BE7-386612166D2D}"/>
              </a:ext>
            </a:extLst>
          </p:cNvPr>
          <p:cNvCxnSpPr>
            <a:cxnSpLocks/>
            <a:stCxn id="16" idx="3"/>
            <a:endCxn id="33" idx="1"/>
          </p:cNvCxnSpPr>
          <p:nvPr/>
        </p:nvCxnSpPr>
        <p:spPr>
          <a:xfrm flipV="1">
            <a:off x="9227129" y="3641437"/>
            <a:ext cx="604984" cy="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392C6C41-7176-BB9D-1D83-1E117B531084}"/>
              </a:ext>
            </a:extLst>
          </p:cNvPr>
          <p:cNvCxnSpPr>
            <a:cxnSpLocks/>
            <a:stCxn id="16" idx="3"/>
            <a:endCxn id="34" idx="1"/>
          </p:cNvCxnSpPr>
          <p:nvPr/>
        </p:nvCxnSpPr>
        <p:spPr>
          <a:xfrm>
            <a:off x="9227129" y="3641439"/>
            <a:ext cx="604984" cy="90516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955D01AB-91CD-2429-D393-8A0E4F5DD44B}"/>
              </a:ext>
            </a:extLst>
          </p:cNvPr>
          <p:cNvCxnSpPr>
            <a:cxnSpLocks/>
            <a:stCxn id="16" idx="3"/>
            <a:endCxn id="35" idx="1"/>
          </p:cNvCxnSpPr>
          <p:nvPr/>
        </p:nvCxnSpPr>
        <p:spPr>
          <a:xfrm>
            <a:off x="9227129" y="3641439"/>
            <a:ext cx="604984" cy="18195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7441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E874F-819C-9139-F186-C360D06EF4C2}"/>
            </a:ext>
          </a:extLst>
        </p:cNvPr>
        <p:cNvGrpSpPr/>
        <p:nvPr/>
      </p:nvGrpSpPr>
      <p:grpSpPr>
        <a:xfrm>
          <a:off x="0" y="0"/>
          <a:ext cx="0" cy="0"/>
          <a:chOff x="0" y="0"/>
          <a:chExt cx="0" cy="0"/>
        </a:xfrm>
      </p:grpSpPr>
      <p:sp>
        <p:nvSpPr>
          <p:cNvPr id="26" name="文本框 25">
            <a:extLst>
              <a:ext uri="{FF2B5EF4-FFF2-40B4-BE49-F238E27FC236}">
                <a16:creationId xmlns:a16="http://schemas.microsoft.com/office/drawing/2014/main" id="{B26C28F2-A309-0599-4013-3900CE4202C6}"/>
              </a:ext>
            </a:extLst>
          </p:cNvPr>
          <p:cNvSpPr txBox="1"/>
          <p:nvPr/>
        </p:nvSpPr>
        <p:spPr>
          <a:xfrm>
            <a:off x="5616678" y="966920"/>
            <a:ext cx="6566499" cy="4985980"/>
          </a:xfrm>
          <a:prstGeom prst="rect">
            <a:avLst/>
          </a:prstGeom>
          <a:noFill/>
        </p:spPr>
        <p:txBody>
          <a:bodyPr wrap="square" lIns="0" tIns="0" rIns="0" bIns="0" rtlCol="0" anchor="t">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solidFill>
                  <a:srgbClr val="002060"/>
                </a:solidFill>
              </a:rPr>
              <a:t>def main():</a:t>
            </a:r>
          </a:p>
          <a:p>
            <a:r>
              <a:rPr lang="en-US" altLang="zh-CN" sz="1800" dirty="0">
                <a:solidFill>
                  <a:srgbClr val="002060"/>
                </a:solidFill>
              </a:rPr>
              <a:t>    vehicle  = vehicle_setup()</a:t>
            </a:r>
          </a:p>
          <a:p>
            <a:endParaRPr lang="en-US" altLang="zh-CN" sz="1800" dirty="0">
              <a:solidFill>
                <a:srgbClr val="002060"/>
              </a:solidFill>
            </a:endParaRPr>
          </a:p>
          <a:p>
            <a:r>
              <a:rPr lang="en-US" altLang="zh-CN" sz="1800" dirty="0">
                <a:solidFill>
                  <a:srgbClr val="002060"/>
                </a:solidFill>
              </a:rPr>
              <a:t>    configs  = </a:t>
            </a:r>
            <a:r>
              <a:rPr lang="en-US" altLang="zh-CN" sz="1800" dirty="0" err="1">
                <a:solidFill>
                  <a:srgbClr val="002060"/>
                </a:solidFill>
              </a:rPr>
              <a:t>configs_setup</a:t>
            </a:r>
            <a:r>
              <a:rPr lang="en-US" altLang="zh-CN" sz="1800" dirty="0">
                <a:solidFill>
                  <a:srgbClr val="002060"/>
                </a:solidFill>
              </a:rPr>
              <a:t>(vehicle)</a:t>
            </a:r>
          </a:p>
          <a:p>
            <a:r>
              <a:rPr lang="en-US" altLang="zh-CN" sz="1800" dirty="0">
                <a:solidFill>
                  <a:srgbClr val="002060"/>
                </a:solidFill>
              </a:rPr>
              <a:t>    configs_analyses = </a:t>
            </a:r>
            <a:r>
              <a:rPr lang="en-US" altLang="zh-CN" sz="1800" dirty="0" err="1">
                <a:solidFill>
                  <a:srgbClr val="002060"/>
                </a:solidFill>
              </a:rPr>
              <a:t>analyses_setup</a:t>
            </a:r>
            <a:r>
              <a:rPr lang="en-US" altLang="zh-CN" sz="1800" dirty="0">
                <a:solidFill>
                  <a:srgbClr val="002060"/>
                </a:solidFill>
              </a:rPr>
              <a:t>(configs)</a:t>
            </a:r>
          </a:p>
          <a:p>
            <a:r>
              <a:rPr lang="en-US" altLang="zh-CN" sz="1800" dirty="0">
                <a:solidFill>
                  <a:srgbClr val="002060"/>
                </a:solidFill>
              </a:rPr>
              <a:t>    analyses = </a:t>
            </a:r>
            <a:r>
              <a:rPr lang="en-US" altLang="zh-CN" sz="1800" dirty="0" err="1">
                <a:solidFill>
                  <a:srgbClr val="002060"/>
                </a:solidFill>
              </a:rPr>
              <a:t>SUAVE.Analyses.Analysis.Container</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analyses.configs</a:t>
            </a:r>
            <a:r>
              <a:rPr lang="en-US" altLang="zh-CN" sz="1800" dirty="0">
                <a:solidFill>
                  <a:srgbClr val="002060"/>
                </a:solidFill>
              </a:rPr>
              <a:t>  = configs_analyses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simple_sizing</a:t>
            </a:r>
            <a:r>
              <a:rPr lang="en-US" altLang="zh-CN" sz="1800" dirty="0">
                <a:solidFill>
                  <a:srgbClr val="002060"/>
                </a:solidFill>
              </a:rPr>
              <a:t>(configs)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configs.finalize</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analyses.finalize</a:t>
            </a:r>
            <a:r>
              <a:rPr lang="en-US" altLang="zh-CN" sz="1800" dirty="0">
                <a:solidFill>
                  <a:srgbClr val="002060"/>
                </a:solidFill>
              </a:rPr>
              <a:t>()</a:t>
            </a:r>
          </a:p>
          <a:p>
            <a:br>
              <a:rPr lang="en-US" altLang="zh-CN" sz="1800" dirty="0">
                <a:solidFill>
                  <a:srgbClr val="002060"/>
                </a:solidFill>
              </a:rPr>
            </a:br>
            <a:r>
              <a:rPr lang="en-US" altLang="zh-CN" sz="1800" dirty="0">
                <a:solidFill>
                  <a:srgbClr val="002060"/>
                </a:solidFill>
              </a:rPr>
              <a:t>    mission = </a:t>
            </a:r>
            <a:r>
              <a:rPr lang="en-US" altLang="zh-CN" sz="1800" dirty="0" err="1">
                <a:solidFill>
                  <a:srgbClr val="002060"/>
                </a:solidFill>
              </a:rPr>
              <a:t>analyses.mission</a:t>
            </a:r>
            <a:endParaRPr lang="en-US" altLang="zh-CN" sz="1800" dirty="0">
              <a:solidFill>
                <a:srgbClr val="002060"/>
              </a:solidFill>
            </a:endParaRPr>
          </a:p>
          <a:p>
            <a:r>
              <a:rPr lang="en-US" altLang="zh-CN" sz="1800" dirty="0">
                <a:solidFill>
                  <a:srgbClr val="002060"/>
                </a:solidFill>
              </a:rPr>
              <a:t>    results = </a:t>
            </a:r>
            <a:r>
              <a:rPr lang="en-US" altLang="zh-CN" sz="1800" dirty="0" err="1">
                <a:solidFill>
                  <a:srgbClr val="002060"/>
                </a:solidFill>
              </a:rPr>
              <a:t>mission.evaluate</a:t>
            </a:r>
            <a:r>
              <a:rPr lang="en-US" altLang="zh-CN" sz="1800" dirty="0">
                <a:solidFill>
                  <a:srgbClr val="002060"/>
                </a:solidFill>
              </a:rPr>
              <a:t>()</a:t>
            </a:r>
            <a:br>
              <a:rPr lang="en-US" altLang="zh-CN" sz="1800" dirty="0">
                <a:solidFill>
                  <a:srgbClr val="002060"/>
                </a:solidFill>
              </a:rPr>
            </a:br>
            <a:r>
              <a:rPr lang="en-US" altLang="zh-CN" sz="1800" dirty="0">
                <a:solidFill>
                  <a:srgbClr val="002060"/>
                </a:solidFill>
              </a:rPr>
              <a:t>    </a:t>
            </a:r>
            <a:r>
              <a:rPr lang="en-US" altLang="zh-CN" sz="1800" dirty="0" err="1">
                <a:solidFill>
                  <a:srgbClr val="002060"/>
                </a:solidFill>
              </a:rPr>
              <a:t>plot_mission</a:t>
            </a:r>
            <a:r>
              <a:rPr lang="en-US" altLang="zh-CN" sz="1800" dirty="0">
                <a:solidFill>
                  <a:srgbClr val="002060"/>
                </a:solidFill>
              </a:rPr>
              <a:t>(results)</a:t>
            </a:r>
            <a:br>
              <a:rPr lang="en-US" altLang="zh-CN" sz="1800" dirty="0">
                <a:solidFill>
                  <a:srgbClr val="002060"/>
                </a:solidFill>
              </a:rPr>
            </a:br>
            <a:endParaRPr lang="en-US" altLang="zh-CN" sz="1800" dirty="0">
              <a:solidFill>
                <a:srgbClr val="002060"/>
              </a:solidFill>
            </a:endParaRPr>
          </a:p>
          <a:p>
            <a:r>
              <a:rPr lang="en-US" altLang="zh-CN" sz="1800" dirty="0">
                <a:solidFill>
                  <a:srgbClr val="002060"/>
                </a:solidFill>
              </a:rPr>
              <a:t>    return</a:t>
            </a:r>
          </a:p>
        </p:txBody>
      </p:sp>
      <p:sp>
        <p:nvSpPr>
          <p:cNvPr id="2" name="标题 1">
            <a:extLst>
              <a:ext uri="{FF2B5EF4-FFF2-40B4-BE49-F238E27FC236}">
                <a16:creationId xmlns:a16="http://schemas.microsoft.com/office/drawing/2014/main" id="{F9E11E51-1744-4F24-A3F9-9D47EF5F5F6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Build the main function</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13" name="文本框 12">
            <a:extLst>
              <a:ext uri="{FF2B5EF4-FFF2-40B4-BE49-F238E27FC236}">
                <a16:creationId xmlns:a16="http://schemas.microsoft.com/office/drawing/2014/main" id="{E7F410DB-5448-8CC1-1602-6A193FE89404}"/>
              </a:ext>
            </a:extLst>
          </p:cNvPr>
          <p:cNvSpPr txBox="1"/>
          <p:nvPr/>
        </p:nvSpPr>
        <p:spPr>
          <a:xfrm>
            <a:off x="3315748" y="2042108"/>
            <a:ext cx="2236838" cy="646331"/>
          </a:xfrm>
          <a:prstGeom prst="rect">
            <a:avLst/>
          </a:prstGeom>
          <a:noFill/>
        </p:spPr>
        <p:txBody>
          <a:bodyPr wrap="square">
            <a:spAutoFit/>
          </a:bodyPr>
          <a:lstStyle/>
          <a:p>
            <a:pPr>
              <a:buNone/>
            </a:pPr>
            <a:r>
              <a:rPr lang="zh-CN" altLang="en-US" dirty="0"/>
              <a:t>🛠️ </a:t>
            </a:r>
            <a:r>
              <a:rPr lang="en-US" altLang="zh-CN" b="1" dirty="0">
                <a:solidFill>
                  <a:srgbClr val="000000"/>
                </a:solidFill>
                <a:effectLst/>
                <a:latin typeface="ui-sans-serif"/>
              </a:rPr>
              <a:t>Config Setup</a:t>
            </a:r>
            <a:endParaRPr lang="en-US" altLang="zh-CN" dirty="0"/>
          </a:p>
          <a:p>
            <a:pPr>
              <a:buNone/>
            </a:pPr>
            <a:r>
              <a:rPr lang="en-US" altLang="zh-CN" dirty="0"/>
              <a:t>Create analysis config</a:t>
            </a:r>
            <a:endParaRPr lang="zh-CN" altLang="en-US" dirty="0"/>
          </a:p>
        </p:txBody>
      </p:sp>
      <p:sp>
        <p:nvSpPr>
          <p:cNvPr id="19" name="文本框 18">
            <a:extLst>
              <a:ext uri="{FF2B5EF4-FFF2-40B4-BE49-F238E27FC236}">
                <a16:creationId xmlns:a16="http://schemas.microsoft.com/office/drawing/2014/main" id="{9B8E6BCA-13D3-30A8-87E7-1581A0BCA153}"/>
              </a:ext>
            </a:extLst>
          </p:cNvPr>
          <p:cNvSpPr txBox="1"/>
          <p:nvPr/>
        </p:nvSpPr>
        <p:spPr>
          <a:xfrm>
            <a:off x="254901" y="966920"/>
            <a:ext cx="5018877"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Main function: encapsulates aircraft, analysis, mission, and post-processing modules.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左大括号 21">
            <a:extLst>
              <a:ext uri="{FF2B5EF4-FFF2-40B4-BE49-F238E27FC236}">
                <a16:creationId xmlns:a16="http://schemas.microsoft.com/office/drawing/2014/main" id="{15B474C6-7485-D8C3-E47B-73D4306D19DF}"/>
              </a:ext>
            </a:extLst>
          </p:cNvPr>
          <p:cNvSpPr/>
          <p:nvPr/>
        </p:nvSpPr>
        <p:spPr>
          <a:xfrm>
            <a:off x="5638683" y="1865212"/>
            <a:ext cx="272594" cy="100012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3" name="左大括号 22">
            <a:extLst>
              <a:ext uri="{FF2B5EF4-FFF2-40B4-BE49-F238E27FC236}">
                <a16:creationId xmlns:a16="http://schemas.microsoft.com/office/drawing/2014/main" id="{7DD90A5F-B570-9C82-77D4-1BE6E369F165}"/>
              </a:ext>
            </a:extLst>
          </p:cNvPr>
          <p:cNvSpPr/>
          <p:nvPr/>
        </p:nvSpPr>
        <p:spPr>
          <a:xfrm>
            <a:off x="5638683" y="4598888"/>
            <a:ext cx="272594" cy="763688"/>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EF450A86-F052-82A7-C6EA-50AEFA73C326}"/>
              </a:ext>
            </a:extLst>
          </p:cNvPr>
          <p:cNvSpPr txBox="1"/>
          <p:nvPr/>
        </p:nvSpPr>
        <p:spPr>
          <a:xfrm>
            <a:off x="3315748" y="4598888"/>
            <a:ext cx="2236838" cy="923330"/>
          </a:xfrm>
          <a:prstGeom prst="rect">
            <a:avLst/>
          </a:prstGeom>
          <a:noFill/>
        </p:spPr>
        <p:txBody>
          <a:bodyPr wrap="square">
            <a:spAutoFit/>
          </a:bodyPr>
          <a:lstStyle/>
          <a:p>
            <a:pPr>
              <a:buNone/>
            </a:pPr>
            <a:r>
              <a:rPr lang="zh-CN" altLang="en-US" dirty="0"/>
              <a:t>🧮</a:t>
            </a:r>
            <a:r>
              <a:rPr lang="en-US" altLang="zh-CN" b="1" dirty="0">
                <a:solidFill>
                  <a:srgbClr val="000000"/>
                </a:solidFill>
                <a:latin typeface="ui-sans-serif"/>
              </a:rPr>
              <a:t> Mission</a:t>
            </a:r>
            <a:r>
              <a:rPr lang="en-US" altLang="zh-CN" b="1" dirty="0">
                <a:solidFill>
                  <a:srgbClr val="000000"/>
                </a:solidFill>
                <a:effectLst/>
                <a:latin typeface="ui-sans-serif"/>
              </a:rPr>
              <a:t> </a:t>
            </a:r>
            <a:r>
              <a:rPr lang="en-US" altLang="zh-CN" b="1" dirty="0">
                <a:solidFill>
                  <a:srgbClr val="000000"/>
                </a:solidFill>
                <a:latin typeface="ui-sans-serif"/>
              </a:rPr>
              <a:t>C</a:t>
            </a:r>
            <a:r>
              <a:rPr lang="en-US" altLang="zh-CN" b="1" dirty="0">
                <a:solidFill>
                  <a:srgbClr val="000000"/>
                </a:solidFill>
                <a:effectLst/>
                <a:latin typeface="ui-sans-serif"/>
              </a:rPr>
              <a:t>alculate</a:t>
            </a:r>
            <a:endParaRPr lang="en-US" altLang="zh-CN" dirty="0"/>
          </a:p>
          <a:p>
            <a:pPr>
              <a:buNone/>
            </a:pPr>
            <a:r>
              <a:rPr lang="en-US" altLang="zh-CN" dirty="0"/>
              <a:t>Run the mission and plot the result</a:t>
            </a:r>
            <a:endParaRPr lang="zh-CN" altLang="en-US" dirty="0"/>
          </a:p>
        </p:txBody>
      </p:sp>
      <p:sp>
        <p:nvSpPr>
          <p:cNvPr id="25" name="文本框 24">
            <a:extLst>
              <a:ext uri="{FF2B5EF4-FFF2-40B4-BE49-F238E27FC236}">
                <a16:creationId xmlns:a16="http://schemas.microsoft.com/office/drawing/2014/main" id="{6922895D-7F66-2CCF-9337-CEFF4962B26A}"/>
              </a:ext>
            </a:extLst>
          </p:cNvPr>
          <p:cNvSpPr txBox="1"/>
          <p:nvPr/>
        </p:nvSpPr>
        <p:spPr>
          <a:xfrm>
            <a:off x="2117497" y="3013112"/>
            <a:ext cx="3657483" cy="646331"/>
          </a:xfrm>
          <a:prstGeom prst="rect">
            <a:avLst/>
          </a:prstGeom>
          <a:noFill/>
        </p:spPr>
        <p:txBody>
          <a:bodyPr wrap="square">
            <a:spAutoFit/>
          </a:bodyPr>
          <a:lstStyle/>
          <a:p>
            <a:pPr algn="ctr">
              <a:buNone/>
            </a:pPr>
            <a:r>
              <a:rPr lang="zh-CN" altLang="en-US" dirty="0"/>
              <a:t>✈️</a:t>
            </a:r>
            <a:r>
              <a:rPr lang="en-US" altLang="zh-CN" b="1" dirty="0">
                <a:solidFill>
                  <a:srgbClr val="000000"/>
                </a:solidFill>
                <a:latin typeface="ui-sans-serif"/>
              </a:rPr>
              <a:t> Simple sizing</a:t>
            </a:r>
            <a:endParaRPr lang="en-US" altLang="zh-CN" dirty="0"/>
          </a:p>
          <a:p>
            <a:pPr algn="ctr">
              <a:buNone/>
            </a:pPr>
            <a:r>
              <a:rPr lang="en-US" altLang="zh-CN" dirty="0"/>
              <a:t>Complete basic settings of vehicle</a:t>
            </a:r>
            <a:endParaRPr lang="zh-CN" altLang="en-US" dirty="0"/>
          </a:p>
        </p:txBody>
      </p:sp>
      <p:sp>
        <p:nvSpPr>
          <p:cNvPr id="27" name="左大括号 26">
            <a:extLst>
              <a:ext uri="{FF2B5EF4-FFF2-40B4-BE49-F238E27FC236}">
                <a16:creationId xmlns:a16="http://schemas.microsoft.com/office/drawing/2014/main" id="{D9970863-E6B6-1317-481A-BDFAD2EC49EB}"/>
              </a:ext>
            </a:extLst>
          </p:cNvPr>
          <p:cNvSpPr/>
          <p:nvPr/>
        </p:nvSpPr>
        <p:spPr>
          <a:xfrm>
            <a:off x="5638683" y="3129040"/>
            <a:ext cx="272594" cy="42378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7050810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2C578-5173-7A7F-523B-FBE1AB323D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76DC0D2-4714-C198-0C80-74852F8C2FE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BF5DC9EA-AC19-B19F-B6D4-970D25276303}"/>
              </a:ext>
            </a:extLst>
          </p:cNvPr>
          <p:cNvSpPr txBox="1"/>
          <p:nvPr/>
        </p:nvSpPr>
        <p:spPr>
          <a:xfrm>
            <a:off x="4756784" y="794708"/>
            <a:ext cx="7423355" cy="6186309"/>
          </a:xfrm>
          <a:prstGeom prst="rect">
            <a:avLst/>
          </a:prstGeom>
          <a:noFill/>
        </p:spPr>
        <p:txBody>
          <a:bodyPr wrap="square">
            <a:spAutoFit/>
          </a:bodyPr>
          <a:lstStyle/>
          <a:p>
            <a:pPr>
              <a:buNone/>
            </a:pPr>
            <a:r>
              <a:rPr lang="en-US" altLang="zh-CN" sz="1600" b="0" dirty="0">
                <a:solidFill>
                  <a:srgbClr val="002060"/>
                </a:solidFill>
                <a:effectLst/>
                <a:latin typeface="Consolas" panose="020B0609020204030204" pitchFamily="49" charset="0"/>
              </a:rPr>
              <a:t>def </a:t>
            </a:r>
            <a:r>
              <a:rPr lang="en-US" altLang="zh-CN" sz="1600" b="0" dirty="0" err="1">
                <a:solidFill>
                  <a:srgbClr val="002060"/>
                </a:solidFill>
                <a:effectLst/>
                <a:latin typeface="Consolas" panose="020B0609020204030204" pitchFamily="49" charset="0"/>
              </a:rPr>
              <a:t>base_analysis</a:t>
            </a:r>
            <a:r>
              <a:rPr lang="en-US" altLang="zh-CN" sz="1600" b="0" dirty="0">
                <a:solidFill>
                  <a:srgbClr val="002060"/>
                </a:solidFill>
                <a:effectLst/>
                <a:latin typeface="Consolas" panose="020B0609020204030204" pitchFamily="49" charset="0"/>
              </a:rPr>
              <a:t>(vehicle):</a:t>
            </a:r>
            <a:br>
              <a:rPr lang="en-US" altLang="zh-CN" sz="1600" b="0" dirty="0">
                <a:solidFill>
                  <a:srgbClr val="002060"/>
                </a:solidFill>
                <a:effectLst/>
                <a:latin typeface="Consolas" panose="020B0609020204030204" pitchFamily="49" charset="0"/>
              </a:rPr>
            </a:b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analyses = </a:t>
            </a:r>
            <a:r>
              <a:rPr lang="en-US" altLang="zh-CN" sz="1600" b="0" dirty="0" err="1">
                <a:solidFill>
                  <a:srgbClr val="002060"/>
                </a:solidFill>
                <a:effectLst/>
                <a:latin typeface="Consolas" panose="020B0609020204030204" pitchFamily="49" charset="0"/>
              </a:rPr>
              <a:t>SUAVE.Analyses.Vehicle</a:t>
            </a:r>
            <a:r>
              <a:rPr lang="en-US" altLang="zh-CN" sz="1600" b="0" dirty="0">
                <a:solidFill>
                  <a:srgbClr val="002060"/>
                </a:solidFill>
                <a:effectLst/>
                <a:latin typeface="Consolas" panose="020B0609020204030204" pitchFamily="49" charset="0"/>
              </a:rPr>
              <a: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weights = </a:t>
            </a:r>
            <a:r>
              <a:rPr lang="en-US" altLang="zh-CN" sz="1600" b="0" dirty="0" err="1">
                <a:solidFill>
                  <a:srgbClr val="002060"/>
                </a:solidFill>
                <a:effectLst/>
                <a:latin typeface="Consolas" panose="020B0609020204030204" pitchFamily="49" charset="0"/>
              </a:rPr>
              <a:t>SUAVE.Analyses.Weights.Weights_Transport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weights.vehicle</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(weights)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aerodynamics = </a:t>
            </a:r>
            <a:r>
              <a:rPr lang="en-US" altLang="zh-CN" sz="1600" b="0" dirty="0" err="1">
                <a:solidFill>
                  <a:srgbClr val="002060"/>
                </a:solidFill>
                <a:effectLst/>
                <a:latin typeface="Consolas" panose="020B0609020204030204" pitchFamily="49" charset="0"/>
              </a:rPr>
              <a:t>SUAVE.Analyses.Aerodynamics.Fidelity_Zero</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aerodynamics.geometry</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(aerodynamics)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energy = </a:t>
            </a:r>
            <a:r>
              <a:rPr lang="en-US" altLang="zh-CN" sz="1600" b="0" dirty="0" err="1">
                <a:solidFill>
                  <a:srgbClr val="002060"/>
                </a:solidFill>
                <a:effectLst/>
                <a:latin typeface="Consolas" panose="020B0609020204030204" pitchFamily="49" charset="0"/>
              </a:rPr>
              <a:t>SUAVE.Analyses.Energy.Energy</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energy.network</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vehicle.networks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(energy)</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planet = </a:t>
            </a:r>
            <a:r>
              <a:rPr lang="en-US" altLang="zh-CN" sz="1600" b="0" dirty="0" err="1">
                <a:solidFill>
                  <a:srgbClr val="002060"/>
                </a:solidFill>
                <a:effectLst/>
                <a:latin typeface="Consolas" panose="020B0609020204030204" pitchFamily="49" charset="0"/>
              </a:rPr>
              <a:t>SUAVE.Analyses.Planets.Planet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(planet)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atmosphere = SUAVE.Analyses.Atmospheric.US_Standard_1976()</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atmosphere.features.planet</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planet.features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(atmosphere)   </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return analyses   </a:t>
            </a:r>
          </a:p>
        </p:txBody>
      </p:sp>
      <p:sp>
        <p:nvSpPr>
          <p:cNvPr id="5" name="文本框 4">
            <a:extLst>
              <a:ext uri="{FF2B5EF4-FFF2-40B4-BE49-F238E27FC236}">
                <a16:creationId xmlns:a16="http://schemas.microsoft.com/office/drawing/2014/main" id="{D2367A30-B66F-CAA6-41F4-FD63A47E23A9}"/>
              </a:ext>
            </a:extLst>
          </p:cNvPr>
          <p:cNvSpPr txBox="1"/>
          <p:nvPr/>
        </p:nvSpPr>
        <p:spPr>
          <a:xfrm>
            <a:off x="211886" y="794708"/>
            <a:ext cx="4459973"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Base analysis: create analysis component and set aerodynamic solver.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左大括号 6">
            <a:extLst>
              <a:ext uri="{FF2B5EF4-FFF2-40B4-BE49-F238E27FC236}">
                <a16:creationId xmlns:a16="http://schemas.microsoft.com/office/drawing/2014/main" id="{741378DC-AC63-207B-8499-EAE9FB46205F}"/>
              </a:ext>
            </a:extLst>
          </p:cNvPr>
          <p:cNvSpPr/>
          <p:nvPr/>
        </p:nvSpPr>
        <p:spPr>
          <a:xfrm>
            <a:off x="4686300" y="3868812"/>
            <a:ext cx="400050" cy="2370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9B530680-7B9A-F2CB-1BDF-FC9EB38CF217}"/>
              </a:ext>
            </a:extLst>
          </p:cNvPr>
          <p:cNvSpPr txBox="1"/>
          <p:nvPr/>
        </p:nvSpPr>
        <p:spPr>
          <a:xfrm>
            <a:off x="1967866" y="4730677"/>
            <a:ext cx="2718434"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No need to modify usually</a:t>
            </a:r>
            <a:endParaRPr lang="zh-CN" altLang="en-US" dirty="0"/>
          </a:p>
        </p:txBody>
      </p:sp>
      <p:sp>
        <p:nvSpPr>
          <p:cNvPr id="9" name="左大括号 8">
            <a:extLst>
              <a:ext uri="{FF2B5EF4-FFF2-40B4-BE49-F238E27FC236}">
                <a16:creationId xmlns:a16="http://schemas.microsoft.com/office/drawing/2014/main" id="{47FD0979-4336-EBDC-175E-12D9E1CA9E27}"/>
              </a:ext>
            </a:extLst>
          </p:cNvPr>
          <p:cNvSpPr/>
          <p:nvPr/>
        </p:nvSpPr>
        <p:spPr>
          <a:xfrm>
            <a:off x="4686299" y="2869859"/>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BF49E66B-AAD7-A9B8-2D0A-3AF59B5F0F1F}"/>
              </a:ext>
            </a:extLst>
          </p:cNvPr>
          <p:cNvSpPr txBox="1"/>
          <p:nvPr/>
        </p:nvSpPr>
        <p:spPr>
          <a:xfrm>
            <a:off x="1967866" y="2869859"/>
            <a:ext cx="2718434"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Aerodynamic solver</a:t>
            </a:r>
            <a:endParaRPr lang="en-US" altLang="zh-CN" dirty="0"/>
          </a:p>
          <a:p>
            <a:pPr>
              <a:buNone/>
            </a:pPr>
            <a:r>
              <a:rPr lang="en-US" altLang="zh-CN" dirty="0"/>
              <a:t>This cases uses vortex</a:t>
            </a:r>
            <a:endParaRPr lang="zh-CN" altLang="en-US" dirty="0"/>
          </a:p>
        </p:txBody>
      </p:sp>
      <p:sp>
        <p:nvSpPr>
          <p:cNvPr id="11" name="文本框 10">
            <a:extLst>
              <a:ext uri="{FF2B5EF4-FFF2-40B4-BE49-F238E27FC236}">
                <a16:creationId xmlns:a16="http://schemas.microsoft.com/office/drawing/2014/main" id="{5583E148-1555-E1CC-7268-F84883605F22}"/>
              </a:ext>
            </a:extLst>
          </p:cNvPr>
          <p:cNvSpPr txBox="1"/>
          <p:nvPr/>
        </p:nvSpPr>
        <p:spPr>
          <a:xfrm>
            <a:off x="1504950" y="1900155"/>
            <a:ext cx="3181350"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Weights module</a:t>
            </a:r>
            <a:endParaRPr lang="en-US" altLang="zh-CN" dirty="0"/>
          </a:p>
          <a:p>
            <a:pPr>
              <a:buNone/>
            </a:pPr>
            <a:r>
              <a:rPr lang="en-US" altLang="zh-CN" dirty="0"/>
              <a:t>Calculate weight change by fuel</a:t>
            </a:r>
            <a:endParaRPr lang="zh-CN" altLang="en-US" dirty="0"/>
          </a:p>
        </p:txBody>
      </p:sp>
      <p:sp>
        <p:nvSpPr>
          <p:cNvPr id="12" name="左大括号 11">
            <a:extLst>
              <a:ext uri="{FF2B5EF4-FFF2-40B4-BE49-F238E27FC236}">
                <a16:creationId xmlns:a16="http://schemas.microsoft.com/office/drawing/2014/main" id="{F9ACD3DE-9524-7048-C610-04035274170C}"/>
              </a:ext>
            </a:extLst>
          </p:cNvPr>
          <p:cNvSpPr/>
          <p:nvPr/>
        </p:nvSpPr>
        <p:spPr>
          <a:xfrm>
            <a:off x="4686299" y="1900155"/>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1249285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4DA3-079A-6C08-4E1E-55C30694E321}"/>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00D134E2-E861-F630-990F-69FBF4533034}"/>
              </a:ext>
            </a:extLst>
          </p:cNvPr>
          <p:cNvSpPr txBox="1"/>
          <p:nvPr/>
        </p:nvSpPr>
        <p:spPr>
          <a:xfrm>
            <a:off x="4476749" y="979374"/>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analyses_setup(configs):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analyses = SUAVE.Analyses.Analysis.Container()</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tag,config</a:t>
            </a:r>
            <a:r>
              <a:rPr lang="en-US" altLang="zh-CN" b="0" dirty="0">
                <a:solidFill>
                  <a:srgbClr val="002060"/>
                </a:solidFill>
                <a:effectLst/>
                <a:latin typeface="Consolas" panose="020B0609020204030204" pitchFamily="49" charset="0"/>
              </a:rPr>
              <a:t> in </a:t>
            </a:r>
            <a:r>
              <a:rPr lang="en-US" altLang="zh-CN" b="0" dirty="0" err="1">
                <a:solidFill>
                  <a:srgbClr val="002060"/>
                </a:solidFill>
                <a:effectLst/>
                <a:latin typeface="Consolas" panose="020B0609020204030204" pitchFamily="49" charset="0"/>
              </a:rPr>
              <a:t>configs.items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analysis = </a:t>
            </a:r>
            <a:r>
              <a:rPr lang="en-US" altLang="zh-CN" b="0" dirty="0" err="1">
                <a:solidFill>
                  <a:srgbClr val="002060"/>
                </a:solidFill>
                <a:effectLst/>
                <a:latin typeface="Consolas" panose="020B0609020204030204" pitchFamily="49" charset="0"/>
              </a:rPr>
              <a:t>base_analysis</a:t>
            </a:r>
            <a:r>
              <a:rPr lang="en-US" altLang="zh-CN" b="0" dirty="0">
                <a:solidFill>
                  <a:srgbClr val="002060"/>
                </a:solidFill>
                <a:effectLst/>
                <a:latin typeface="Consolas" panose="020B0609020204030204" pitchFamily="49" charset="0"/>
              </a:rPr>
              <a:t>(config)</a:t>
            </a:r>
          </a:p>
          <a:p>
            <a:pPr>
              <a:buNone/>
            </a:pPr>
            <a:r>
              <a:rPr lang="en-US" altLang="zh-CN" b="0" dirty="0">
                <a:solidFill>
                  <a:srgbClr val="002060"/>
                </a:solidFill>
                <a:effectLst/>
                <a:latin typeface="Consolas" panose="020B0609020204030204" pitchFamily="49" charset="0"/>
              </a:rPr>
              <a:t>    analyses[tag] = analysis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analyses</a:t>
            </a:r>
          </a:p>
        </p:txBody>
      </p:sp>
      <p:sp>
        <p:nvSpPr>
          <p:cNvPr id="10" name="文本框 9">
            <a:extLst>
              <a:ext uri="{FF2B5EF4-FFF2-40B4-BE49-F238E27FC236}">
                <a16:creationId xmlns:a16="http://schemas.microsoft.com/office/drawing/2014/main" id="{A0EAAD8C-9195-2653-F12B-05482DDFFF58}"/>
              </a:ext>
            </a:extLst>
          </p:cNvPr>
          <p:cNvSpPr txBox="1"/>
          <p:nvPr/>
        </p:nvSpPr>
        <p:spPr>
          <a:xfrm>
            <a:off x="4476750" y="3790839"/>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configs_setup(vehicle):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configs = </a:t>
            </a:r>
            <a:r>
              <a:rPr lang="en-US" altLang="zh-CN" b="0" dirty="0" err="1">
                <a:solidFill>
                  <a:srgbClr val="002060"/>
                </a:solidFill>
                <a:effectLst/>
                <a:latin typeface="Consolas" panose="020B0609020204030204" pitchFamily="49" charset="0"/>
              </a:rPr>
              <a:t>SUAVE.Components.Configs.Config.Container</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SUAVE.Components.Configs.Config</a:t>
            </a:r>
            <a:r>
              <a:rPr lang="en-US" altLang="zh-CN" b="0" dirty="0">
                <a:solidFill>
                  <a:srgbClr val="002060"/>
                </a:solidFill>
                <a:effectLst/>
                <a:latin typeface="Consolas" panose="020B0609020204030204" pitchFamily="49" charset="0"/>
              </a:rPr>
              <a:t>(vehicle)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base_config.tag</a:t>
            </a:r>
            <a:r>
              <a:rPr lang="en-US" altLang="zh-CN" b="0" dirty="0">
                <a:solidFill>
                  <a:srgbClr val="002060"/>
                </a:solidFill>
                <a:effectLst/>
                <a:latin typeface="Consolas" panose="020B0609020204030204" pitchFamily="49" charset="0"/>
              </a:rPr>
              <a:t> = 'base'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configs.append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configs</a:t>
            </a:r>
          </a:p>
        </p:txBody>
      </p:sp>
      <p:sp>
        <p:nvSpPr>
          <p:cNvPr id="6" name="标题 1">
            <a:extLst>
              <a:ext uri="{FF2B5EF4-FFF2-40B4-BE49-F238E27FC236}">
                <a16:creationId xmlns:a16="http://schemas.microsoft.com/office/drawing/2014/main" id="{1B1B08ED-E845-19E5-16CB-AF68C10AA9E2}"/>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84952298-7B5A-54E3-394A-5732A81F1255}"/>
              </a:ext>
            </a:extLst>
          </p:cNvPr>
          <p:cNvSpPr txBox="1"/>
          <p:nvPr/>
        </p:nvSpPr>
        <p:spPr>
          <a:xfrm>
            <a:off x="211886" y="979374"/>
            <a:ext cx="3998163" cy="2028569"/>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rPr>
              <a:t>Analyses_setup</a:t>
            </a:r>
            <a:r>
              <a:rPr lang="en-US" altLang="zh-CN" dirty="0">
                <a:solidFill>
                  <a:srgbClr val="002060"/>
                </a:solidFill>
                <a:latin typeface="微软雅黑" panose="020B0503020204020204" pitchFamily="34" charset="-122"/>
                <a:ea typeface="微软雅黑" panose="020B0503020204020204" pitchFamily="34" charset="-122"/>
              </a:rPr>
              <a:t> and </a:t>
            </a:r>
            <a:r>
              <a:rPr lang="en-US" altLang="zh-CN" dirty="0" err="1">
                <a:solidFill>
                  <a:srgbClr val="002060"/>
                </a:solidFill>
                <a:latin typeface="微软雅黑" panose="020B0503020204020204" pitchFamily="34" charset="-122"/>
                <a:ea typeface="微软雅黑" panose="020B0503020204020204" pitchFamily="34" charset="-122"/>
              </a:rPr>
              <a:t>configs_setup</a:t>
            </a:r>
            <a:r>
              <a:rPr lang="en-US" altLang="zh-CN" dirty="0">
                <a:solidFill>
                  <a:srgbClr val="002060"/>
                </a:solidFill>
                <a:latin typeface="微软雅黑" panose="020B0503020204020204" pitchFamily="34" charset="-122"/>
                <a:ea typeface="微软雅黑" panose="020B0503020204020204" pitchFamily="34" charset="-122"/>
              </a:rPr>
              <a:t>: </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Set tag for analysis component,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if you have more than one analysis component you can call them by different tags.</a:t>
            </a:r>
          </a:p>
        </p:txBody>
      </p:sp>
      <p:sp>
        <p:nvSpPr>
          <p:cNvPr id="9" name="文本框 8">
            <a:extLst>
              <a:ext uri="{FF2B5EF4-FFF2-40B4-BE49-F238E27FC236}">
                <a16:creationId xmlns:a16="http://schemas.microsoft.com/office/drawing/2014/main" id="{1519B822-8352-BDFA-F2BF-880F236228D6}"/>
              </a:ext>
            </a:extLst>
          </p:cNvPr>
          <p:cNvSpPr txBox="1"/>
          <p:nvPr/>
        </p:nvSpPr>
        <p:spPr>
          <a:xfrm>
            <a:off x="552450" y="5083500"/>
            <a:ext cx="3819525"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Transfer vehicle to analysis component</a:t>
            </a:r>
            <a:endParaRPr lang="zh-CN" altLang="en-US" dirty="0"/>
          </a:p>
        </p:txBody>
      </p:sp>
      <p:sp>
        <p:nvSpPr>
          <p:cNvPr id="11" name="左大括号 10">
            <a:extLst>
              <a:ext uri="{FF2B5EF4-FFF2-40B4-BE49-F238E27FC236}">
                <a16:creationId xmlns:a16="http://schemas.microsoft.com/office/drawing/2014/main" id="{3EABD554-E337-F772-DE2B-522E88C9AA14}"/>
              </a:ext>
            </a:extLst>
          </p:cNvPr>
          <p:cNvSpPr/>
          <p:nvPr/>
        </p:nvSpPr>
        <p:spPr>
          <a:xfrm>
            <a:off x="4371975" y="4983633"/>
            <a:ext cx="400050" cy="846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552868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2C8EA-570D-D3A1-9C4C-637FE8EAB6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ED45F14-12ED-4317-AF9D-9C69DA8F80C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A086CC66-2115-4A68-B3BB-59E69B947E30}"/>
              </a:ext>
            </a:extLst>
          </p:cNvPr>
          <p:cNvSpPr txBox="1"/>
          <p:nvPr/>
        </p:nvSpPr>
        <p:spPr>
          <a:xfrm>
            <a:off x="4474414" y="2176946"/>
            <a:ext cx="7505700" cy="3139321"/>
          </a:xfrm>
          <a:prstGeom prst="rect">
            <a:avLst/>
          </a:prstGeom>
          <a:noFill/>
          <a:ln w="15875">
            <a:solidFill>
              <a:srgbClr val="C00000"/>
            </a:solidFill>
            <a:prstDash val="dash"/>
            <a:extLst>
              <a:ext uri="{C807C97D-BFC1-408E-A445-0C87EB9F89A2}">
                <ask:lineSketchStyleProps xmlns:ask="http://schemas.microsoft.com/office/drawing/2018/sketchyshapes" sd="1219033472">
                  <a:custGeom>
                    <a:avLst/>
                    <a:gdLst>
                      <a:gd name="csX0" fmla="*/ 0 w 7505700"/>
                      <a:gd name="csY0" fmla="*/ 0 h 3416320"/>
                      <a:gd name="csX1" fmla="*/ 502305 w 7505700"/>
                      <a:gd name="csY1" fmla="*/ 0 h 3416320"/>
                      <a:gd name="csX2" fmla="*/ 854495 w 7505700"/>
                      <a:gd name="csY2" fmla="*/ 0 h 3416320"/>
                      <a:gd name="csX3" fmla="*/ 1581971 w 7505700"/>
                      <a:gd name="csY3" fmla="*/ 0 h 3416320"/>
                      <a:gd name="csX4" fmla="*/ 2084275 w 7505700"/>
                      <a:gd name="csY4" fmla="*/ 0 h 3416320"/>
                      <a:gd name="csX5" fmla="*/ 2586580 w 7505700"/>
                      <a:gd name="csY5" fmla="*/ 0 h 3416320"/>
                      <a:gd name="csX6" fmla="*/ 3314055 w 7505700"/>
                      <a:gd name="csY6" fmla="*/ 0 h 3416320"/>
                      <a:gd name="csX7" fmla="*/ 3741303 w 7505700"/>
                      <a:gd name="csY7" fmla="*/ 0 h 3416320"/>
                      <a:gd name="csX8" fmla="*/ 4468778 w 7505700"/>
                      <a:gd name="csY8" fmla="*/ 0 h 3416320"/>
                      <a:gd name="csX9" fmla="*/ 5196254 w 7505700"/>
                      <a:gd name="csY9" fmla="*/ 0 h 3416320"/>
                      <a:gd name="csX10" fmla="*/ 5773615 w 7505700"/>
                      <a:gd name="csY10" fmla="*/ 0 h 3416320"/>
                      <a:gd name="csX11" fmla="*/ 6501091 w 7505700"/>
                      <a:gd name="csY11" fmla="*/ 0 h 3416320"/>
                      <a:gd name="csX12" fmla="*/ 7003395 w 7505700"/>
                      <a:gd name="csY12" fmla="*/ 0 h 3416320"/>
                      <a:gd name="csX13" fmla="*/ 7505700 w 7505700"/>
                      <a:gd name="csY13" fmla="*/ 0 h 3416320"/>
                      <a:gd name="csX14" fmla="*/ 7505700 w 7505700"/>
                      <a:gd name="csY14" fmla="*/ 603550 h 3416320"/>
                      <a:gd name="csX15" fmla="*/ 7505700 w 7505700"/>
                      <a:gd name="csY15" fmla="*/ 1172937 h 3416320"/>
                      <a:gd name="csX16" fmla="*/ 7505700 w 7505700"/>
                      <a:gd name="csY16" fmla="*/ 1742323 h 3416320"/>
                      <a:gd name="csX17" fmla="*/ 7505700 w 7505700"/>
                      <a:gd name="csY17" fmla="*/ 2345873 h 3416320"/>
                      <a:gd name="csX18" fmla="*/ 7505700 w 7505700"/>
                      <a:gd name="csY18" fmla="*/ 3416320 h 3416320"/>
                      <a:gd name="csX19" fmla="*/ 6853281 w 7505700"/>
                      <a:gd name="csY19" fmla="*/ 3416320 h 3416320"/>
                      <a:gd name="csX20" fmla="*/ 6426034 w 7505700"/>
                      <a:gd name="csY20" fmla="*/ 3416320 h 3416320"/>
                      <a:gd name="csX21" fmla="*/ 5698558 w 7505700"/>
                      <a:gd name="csY21" fmla="*/ 3416320 h 3416320"/>
                      <a:gd name="csX22" fmla="*/ 5121197 w 7505700"/>
                      <a:gd name="csY22" fmla="*/ 3416320 h 3416320"/>
                      <a:gd name="csX23" fmla="*/ 4693949 w 7505700"/>
                      <a:gd name="csY23" fmla="*/ 3416320 h 3416320"/>
                      <a:gd name="csX24" fmla="*/ 4116588 w 7505700"/>
                      <a:gd name="csY24" fmla="*/ 3416320 h 3416320"/>
                      <a:gd name="csX25" fmla="*/ 3764397 w 7505700"/>
                      <a:gd name="csY25" fmla="*/ 3416320 h 3416320"/>
                      <a:gd name="csX26" fmla="*/ 3412207 w 7505700"/>
                      <a:gd name="csY26" fmla="*/ 3416320 h 3416320"/>
                      <a:gd name="csX27" fmla="*/ 2834845 w 7505700"/>
                      <a:gd name="csY27" fmla="*/ 3416320 h 3416320"/>
                      <a:gd name="csX28" fmla="*/ 2407598 w 7505700"/>
                      <a:gd name="csY28" fmla="*/ 3416320 h 3416320"/>
                      <a:gd name="csX29" fmla="*/ 1755179 w 7505700"/>
                      <a:gd name="csY29" fmla="*/ 3416320 h 3416320"/>
                      <a:gd name="csX30" fmla="*/ 1327932 w 7505700"/>
                      <a:gd name="csY30" fmla="*/ 3416320 h 3416320"/>
                      <a:gd name="csX31" fmla="*/ 675513 w 7505700"/>
                      <a:gd name="csY31" fmla="*/ 3416320 h 3416320"/>
                      <a:gd name="csX32" fmla="*/ 0 w 7505700"/>
                      <a:gd name="csY32" fmla="*/ 3416320 h 3416320"/>
                      <a:gd name="csX33" fmla="*/ 0 w 7505700"/>
                      <a:gd name="csY33" fmla="*/ 2812770 h 3416320"/>
                      <a:gd name="csX34" fmla="*/ 0 w 7505700"/>
                      <a:gd name="csY34" fmla="*/ 2209220 h 3416320"/>
                      <a:gd name="csX35" fmla="*/ 0 w 7505700"/>
                      <a:gd name="csY35" fmla="*/ 1571507 h 3416320"/>
                      <a:gd name="csX36" fmla="*/ 0 w 7505700"/>
                      <a:gd name="csY36" fmla="*/ 1036284 h 3416320"/>
                      <a:gd name="csX37" fmla="*/ 0 w 7505700"/>
                      <a:gd name="csY37" fmla="*/ 0 h 3416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7505700" h="3416320" extrusionOk="0">
                        <a:moveTo>
                          <a:pt x="0" y="0"/>
                        </a:moveTo>
                        <a:cubicBezTo>
                          <a:pt x="115206" y="-17194"/>
                          <a:pt x="310407" y="55893"/>
                          <a:pt x="502305" y="0"/>
                        </a:cubicBezTo>
                        <a:cubicBezTo>
                          <a:pt x="694203" y="-55893"/>
                          <a:pt x="738491" y="32658"/>
                          <a:pt x="854495" y="0"/>
                        </a:cubicBezTo>
                        <a:cubicBezTo>
                          <a:pt x="970499" y="-32658"/>
                          <a:pt x="1389864" y="62721"/>
                          <a:pt x="1581971" y="0"/>
                        </a:cubicBezTo>
                        <a:cubicBezTo>
                          <a:pt x="1774078" y="-62721"/>
                          <a:pt x="1871535" y="20876"/>
                          <a:pt x="2084275" y="0"/>
                        </a:cubicBezTo>
                        <a:cubicBezTo>
                          <a:pt x="2297015" y="-20876"/>
                          <a:pt x="2469875" y="35721"/>
                          <a:pt x="2586580" y="0"/>
                        </a:cubicBezTo>
                        <a:cubicBezTo>
                          <a:pt x="2703285" y="-35721"/>
                          <a:pt x="3036511" y="50296"/>
                          <a:pt x="3314055" y="0"/>
                        </a:cubicBezTo>
                        <a:cubicBezTo>
                          <a:pt x="3591600" y="-50296"/>
                          <a:pt x="3651431" y="13125"/>
                          <a:pt x="3741303" y="0"/>
                        </a:cubicBezTo>
                        <a:cubicBezTo>
                          <a:pt x="3831175" y="-13125"/>
                          <a:pt x="4152275" y="2412"/>
                          <a:pt x="4468778" y="0"/>
                        </a:cubicBezTo>
                        <a:cubicBezTo>
                          <a:pt x="4785281" y="-2412"/>
                          <a:pt x="5022678" y="19074"/>
                          <a:pt x="5196254" y="0"/>
                        </a:cubicBezTo>
                        <a:cubicBezTo>
                          <a:pt x="5369830" y="-19074"/>
                          <a:pt x="5641454" y="29978"/>
                          <a:pt x="5773615" y="0"/>
                        </a:cubicBezTo>
                        <a:cubicBezTo>
                          <a:pt x="5905776" y="-29978"/>
                          <a:pt x="6212118" y="40579"/>
                          <a:pt x="6501091" y="0"/>
                        </a:cubicBezTo>
                        <a:cubicBezTo>
                          <a:pt x="6790064" y="-40579"/>
                          <a:pt x="6807243" y="35590"/>
                          <a:pt x="7003395" y="0"/>
                        </a:cubicBezTo>
                        <a:cubicBezTo>
                          <a:pt x="7199547" y="-35590"/>
                          <a:pt x="7255712" y="17399"/>
                          <a:pt x="7505700" y="0"/>
                        </a:cubicBezTo>
                        <a:cubicBezTo>
                          <a:pt x="7513809" y="163765"/>
                          <a:pt x="7463689" y="356425"/>
                          <a:pt x="7505700" y="603550"/>
                        </a:cubicBezTo>
                        <a:cubicBezTo>
                          <a:pt x="7547711" y="850675"/>
                          <a:pt x="7503728" y="919127"/>
                          <a:pt x="7505700" y="1172937"/>
                        </a:cubicBezTo>
                        <a:cubicBezTo>
                          <a:pt x="7507672" y="1426747"/>
                          <a:pt x="7485059" y="1569889"/>
                          <a:pt x="7505700" y="1742323"/>
                        </a:cubicBezTo>
                        <a:cubicBezTo>
                          <a:pt x="7526341" y="1914757"/>
                          <a:pt x="7497049" y="2188175"/>
                          <a:pt x="7505700" y="2345873"/>
                        </a:cubicBezTo>
                        <a:cubicBezTo>
                          <a:pt x="7514351" y="2503571"/>
                          <a:pt x="7452470" y="2908247"/>
                          <a:pt x="7505700" y="3416320"/>
                        </a:cubicBezTo>
                        <a:cubicBezTo>
                          <a:pt x="7227452" y="3447608"/>
                          <a:pt x="7053036" y="3355831"/>
                          <a:pt x="6853281" y="3416320"/>
                        </a:cubicBezTo>
                        <a:cubicBezTo>
                          <a:pt x="6653526" y="3476809"/>
                          <a:pt x="6533909" y="3415967"/>
                          <a:pt x="6426034" y="3416320"/>
                        </a:cubicBezTo>
                        <a:cubicBezTo>
                          <a:pt x="6318159" y="3416673"/>
                          <a:pt x="6000212" y="3359845"/>
                          <a:pt x="5698558" y="3416320"/>
                        </a:cubicBezTo>
                        <a:cubicBezTo>
                          <a:pt x="5396904" y="3472795"/>
                          <a:pt x="5395653" y="3360157"/>
                          <a:pt x="5121197" y="3416320"/>
                        </a:cubicBezTo>
                        <a:cubicBezTo>
                          <a:pt x="4846741" y="3472483"/>
                          <a:pt x="4788901" y="3401385"/>
                          <a:pt x="4693949" y="3416320"/>
                        </a:cubicBezTo>
                        <a:cubicBezTo>
                          <a:pt x="4598997" y="3431255"/>
                          <a:pt x="4323583" y="3388534"/>
                          <a:pt x="4116588" y="3416320"/>
                        </a:cubicBezTo>
                        <a:cubicBezTo>
                          <a:pt x="3909593" y="3444106"/>
                          <a:pt x="3933326" y="3376426"/>
                          <a:pt x="3764397" y="3416320"/>
                        </a:cubicBezTo>
                        <a:cubicBezTo>
                          <a:pt x="3595468" y="3456214"/>
                          <a:pt x="3550015" y="3405653"/>
                          <a:pt x="3412207" y="3416320"/>
                        </a:cubicBezTo>
                        <a:cubicBezTo>
                          <a:pt x="3274399" y="3426987"/>
                          <a:pt x="3085138" y="3364694"/>
                          <a:pt x="2834845" y="3416320"/>
                        </a:cubicBezTo>
                        <a:cubicBezTo>
                          <a:pt x="2584552" y="3467946"/>
                          <a:pt x="2499410" y="3377957"/>
                          <a:pt x="2407598" y="3416320"/>
                        </a:cubicBezTo>
                        <a:cubicBezTo>
                          <a:pt x="2315786" y="3454683"/>
                          <a:pt x="1896555" y="3403188"/>
                          <a:pt x="1755179" y="3416320"/>
                        </a:cubicBezTo>
                        <a:cubicBezTo>
                          <a:pt x="1613803" y="3429452"/>
                          <a:pt x="1536670" y="3376973"/>
                          <a:pt x="1327932" y="3416320"/>
                        </a:cubicBezTo>
                        <a:cubicBezTo>
                          <a:pt x="1119194" y="3455667"/>
                          <a:pt x="844763" y="3351586"/>
                          <a:pt x="675513" y="3416320"/>
                        </a:cubicBezTo>
                        <a:cubicBezTo>
                          <a:pt x="506263" y="3481054"/>
                          <a:pt x="244544" y="3366772"/>
                          <a:pt x="0" y="3416320"/>
                        </a:cubicBezTo>
                        <a:cubicBezTo>
                          <a:pt x="-67907" y="3274680"/>
                          <a:pt x="60050" y="3005570"/>
                          <a:pt x="0" y="2812770"/>
                        </a:cubicBezTo>
                        <a:cubicBezTo>
                          <a:pt x="-60050" y="2619970"/>
                          <a:pt x="29205" y="2482003"/>
                          <a:pt x="0" y="2209220"/>
                        </a:cubicBezTo>
                        <a:cubicBezTo>
                          <a:pt x="-29205" y="1936437"/>
                          <a:pt x="67910" y="1726675"/>
                          <a:pt x="0" y="1571507"/>
                        </a:cubicBezTo>
                        <a:cubicBezTo>
                          <a:pt x="-67910" y="1416339"/>
                          <a:pt x="57187" y="1285430"/>
                          <a:pt x="0" y="1036284"/>
                        </a:cubicBezTo>
                        <a:cubicBezTo>
                          <a:pt x="-57187" y="787138"/>
                          <a:pt x="51933" y="208732"/>
                          <a:pt x="0" y="0"/>
                        </a:cubicBezTo>
                        <a:close/>
                      </a:path>
                    </a:pathLst>
                  </a:custGeom>
                  <ask:type>
                    <ask:lineSketchNone/>
                  </ask:type>
                </ask:lineSketchStyleProps>
              </a:ext>
            </a:extLst>
          </a:ln>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mission_setup</a:t>
            </a:r>
            <a:r>
              <a:rPr lang="en-US" altLang="zh-CN" b="0" dirty="0">
                <a:solidFill>
                  <a:srgbClr val="002060"/>
                </a:solidFill>
                <a:effectLst/>
                <a:latin typeface="Consolas" panose="020B0609020204030204" pitchFamily="49" charset="0"/>
              </a:rPr>
              <a:t>(analyses):</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mission = </a:t>
            </a:r>
            <a:r>
              <a:rPr lang="en-US" altLang="zh-CN" b="0" dirty="0" err="1">
                <a:solidFill>
                  <a:srgbClr val="002060"/>
                </a:solidFill>
                <a:effectLst/>
                <a:latin typeface="Consolas" panose="020B0609020204030204" pitchFamily="49" charset="0"/>
              </a:rPr>
              <a:t>SUAVE.Analyses.Mission.Sequential_Segments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simple_mission</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airport = </a:t>
            </a:r>
            <a:r>
              <a:rPr lang="en-US" altLang="zh-CN" b="0" dirty="0" err="1">
                <a:solidFill>
                  <a:srgbClr val="002060"/>
                </a:solidFill>
                <a:effectLst/>
                <a:latin typeface="Consolas" panose="020B0609020204030204" pitchFamily="49" charset="0"/>
              </a:rPr>
              <a:t>SUAVE.Attributes.Airports.Airport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airport.altitude</a:t>
            </a:r>
            <a:r>
              <a:rPr lang="en-US" altLang="zh-CN" b="0" dirty="0">
                <a:solidFill>
                  <a:srgbClr val="002060"/>
                </a:solidFill>
                <a:effectLst/>
                <a:latin typeface="Consolas" panose="020B0609020204030204" pitchFamily="49" charset="0"/>
              </a:rPr>
              <a:t>   =  0.0  * Units.</a:t>
            </a:r>
            <a:r>
              <a:rPr lang="en-US" altLang="zh-CN" dirty="0">
                <a:solidFill>
                  <a:srgbClr val="002060"/>
                </a:solidFill>
                <a:latin typeface="Consolas" panose="020B0609020204030204" pitchFamily="49" charset="0"/>
              </a:rPr>
              <a:t>km</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airport.delta_isa</a:t>
            </a:r>
            <a:r>
              <a:rPr lang="en-US" altLang="zh-CN" b="0" dirty="0">
                <a:solidFill>
                  <a:srgbClr val="002060"/>
                </a:solidFill>
                <a:effectLst/>
                <a:latin typeface="Consolas" panose="020B0609020204030204" pitchFamily="49" charset="0"/>
              </a:rPr>
              <a:t>  =  0.0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airport.atmosphere</a:t>
            </a:r>
            <a:r>
              <a:rPr lang="en-US" altLang="zh-CN" b="0" dirty="0">
                <a:solidFill>
                  <a:srgbClr val="002060"/>
                </a:solidFill>
                <a:effectLst/>
                <a:latin typeface="Consolas" panose="020B0609020204030204" pitchFamily="49" charset="0"/>
              </a:rPr>
              <a:t> = </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SUAVE.Attributes.Atmospheres.Earth.US_Standard_1976()</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mission.airport</a:t>
            </a:r>
            <a:r>
              <a:rPr lang="en-US" altLang="zh-CN" b="0" dirty="0">
                <a:solidFill>
                  <a:srgbClr val="002060"/>
                </a:solidFill>
                <a:effectLst/>
                <a:latin typeface="Consolas" panose="020B0609020204030204" pitchFamily="49" charset="0"/>
              </a:rPr>
              <a:t> = airport    </a:t>
            </a:r>
          </a:p>
        </p:txBody>
      </p:sp>
      <p:sp>
        <p:nvSpPr>
          <p:cNvPr id="5" name="文本框 4">
            <a:extLst>
              <a:ext uri="{FF2B5EF4-FFF2-40B4-BE49-F238E27FC236}">
                <a16:creationId xmlns:a16="http://schemas.microsoft.com/office/drawing/2014/main" id="{219DDFF1-B901-27E3-69BE-D6DF6E934B43}"/>
              </a:ext>
            </a:extLst>
          </p:cNvPr>
          <p:cNvSpPr txBox="1"/>
          <p:nvPr/>
        </p:nvSpPr>
        <p:spPr>
          <a:xfrm>
            <a:off x="211886" y="979374"/>
            <a:ext cx="3902914" cy="1197572"/>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Mission_setup</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Define the flight mission, including takeoff, climb, cruise, descent, land</a:t>
            </a:r>
          </a:p>
        </p:txBody>
      </p:sp>
      <p:sp>
        <p:nvSpPr>
          <p:cNvPr id="8" name="文本框 7">
            <a:extLst>
              <a:ext uri="{FF2B5EF4-FFF2-40B4-BE49-F238E27FC236}">
                <a16:creationId xmlns:a16="http://schemas.microsoft.com/office/drawing/2014/main" id="{891672D9-218E-2D99-8ACB-9BC3EDB2CB37}"/>
              </a:ext>
            </a:extLst>
          </p:cNvPr>
          <p:cNvSpPr txBox="1"/>
          <p:nvPr/>
        </p:nvSpPr>
        <p:spPr>
          <a:xfrm>
            <a:off x="1314450" y="3562647"/>
            <a:ext cx="3159964" cy="923330"/>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Airport setting</a:t>
            </a:r>
            <a:endParaRPr lang="en-US" altLang="zh-CN" dirty="0"/>
          </a:p>
          <a:p>
            <a:pPr>
              <a:buNone/>
            </a:pPr>
            <a:r>
              <a:rPr lang="en-US" altLang="zh-CN" dirty="0"/>
              <a:t>Sometime will need to modify, like takeoff from plateau</a:t>
            </a:r>
            <a:endParaRPr lang="zh-CN" altLang="en-US" dirty="0"/>
          </a:p>
        </p:txBody>
      </p:sp>
      <p:sp>
        <p:nvSpPr>
          <p:cNvPr id="10" name="左大括号 9">
            <a:extLst>
              <a:ext uri="{FF2B5EF4-FFF2-40B4-BE49-F238E27FC236}">
                <a16:creationId xmlns:a16="http://schemas.microsoft.com/office/drawing/2014/main" id="{5537D2F5-C3CD-EFA9-B08E-EF10257B0A6C}"/>
              </a:ext>
            </a:extLst>
          </p:cNvPr>
          <p:cNvSpPr/>
          <p:nvPr/>
        </p:nvSpPr>
        <p:spPr>
          <a:xfrm>
            <a:off x="4433978" y="3429000"/>
            <a:ext cx="400050" cy="1190625"/>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778541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5B83A-7704-0F5F-A3DC-9D180669A550}"/>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80C1A37-9A78-4CFC-06CC-E0D3EE7B9615}"/>
              </a:ext>
            </a:extLst>
          </p:cNvPr>
          <p:cNvSpPr txBox="1"/>
          <p:nvPr/>
        </p:nvSpPr>
        <p:spPr>
          <a:xfrm>
            <a:off x="6096000" y="1284227"/>
            <a:ext cx="5555226" cy="646331"/>
          </a:xfrm>
          <a:prstGeom prst="rect">
            <a:avLst/>
          </a:prstGeom>
          <a:noFill/>
          <a:ln w="1905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Segments = </a:t>
            </a:r>
            <a:r>
              <a:rPr lang="en-US" altLang="zh-CN" b="0" dirty="0" err="1">
                <a:solidFill>
                  <a:srgbClr val="002060"/>
                </a:solidFill>
                <a:effectLst/>
                <a:latin typeface="Consolas" panose="020B0609020204030204" pitchFamily="49" charset="0"/>
              </a:rPr>
              <a:t>SUAVE.Analyses.Mission.Segments</a:t>
            </a:r>
            <a:endParaRPr lang="en-US" altLang="zh-CN" b="0" dirty="0">
              <a:solidFill>
                <a:srgbClr val="002060"/>
              </a:solidFill>
              <a:effectLst/>
              <a:latin typeface="Consolas" panose="020B0609020204030204" pitchFamily="49" charset="0"/>
            </a:endParaRPr>
          </a:p>
          <a:p>
            <a:pPr>
              <a:buNone/>
            </a:pP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Segments.Segment</a:t>
            </a:r>
            <a:r>
              <a:rPr lang="en-US" altLang="zh-CN" b="0" dirty="0">
                <a:solidFill>
                  <a:srgbClr val="002060"/>
                </a:solidFill>
                <a:effectLst/>
                <a:latin typeface="Consolas" panose="020B0609020204030204" pitchFamily="49" charset="0"/>
              </a:rPr>
              <a:t>()</a:t>
            </a:r>
            <a:endParaRPr lang="zh-CN" altLang="en-US" dirty="0"/>
          </a:p>
        </p:txBody>
      </p:sp>
      <p:sp>
        <p:nvSpPr>
          <p:cNvPr id="10" name="文本框 9">
            <a:extLst>
              <a:ext uri="{FF2B5EF4-FFF2-40B4-BE49-F238E27FC236}">
                <a16:creationId xmlns:a16="http://schemas.microsoft.com/office/drawing/2014/main" id="{129ABA12-D145-1A86-897D-0792AEEED42F}"/>
              </a:ext>
            </a:extLst>
          </p:cNvPr>
          <p:cNvSpPr txBox="1"/>
          <p:nvPr/>
        </p:nvSpPr>
        <p:spPr>
          <a:xfrm>
            <a:off x="2500800" y="2935173"/>
            <a:ext cx="9150426" cy="313932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Segments.Climb.Constant_Speed_Constant_Rate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"climb"</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segment.altitude_start</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10.668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segment.climb_rate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40A6516F-252A-917E-CD40-8EC4207F6F0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158DC038-ADFC-1D8D-B39A-A7918AA448A0}"/>
              </a:ext>
            </a:extLst>
          </p:cNvPr>
          <p:cNvSpPr txBox="1"/>
          <p:nvPr/>
        </p:nvSpPr>
        <p:spPr>
          <a:xfrm>
            <a:off x="7259126" y="914818"/>
            <a:ext cx="3228975" cy="307777"/>
          </a:xfrm>
          <a:prstGeom prst="rect">
            <a:avLst/>
          </a:prstGeom>
          <a:noFill/>
        </p:spPr>
        <p:txBody>
          <a:bodyPr wrap="square" lIns="0" tIns="0" rIns="0" bIns="0" rtlCol="0">
            <a:spAutoFit/>
          </a:bodyPr>
          <a:lstStyle/>
          <a:p>
            <a:pPr algn="ctr"/>
            <a:r>
              <a:rPr lang="zh-CN" altLang="en-US" sz="2000" dirty="0">
                <a:solidFill>
                  <a:srgbClr val="E67000"/>
                </a:solidFill>
              </a:rPr>
              <a:t>🛠️</a:t>
            </a:r>
            <a:r>
              <a:rPr lang="en-US" altLang="zh-CN" sz="2000" dirty="0">
                <a:solidFill>
                  <a:srgbClr val="E67000"/>
                </a:solidFill>
                <a:latin typeface="微软雅黑" panose="020B0503020204020204" pitchFamily="34" charset="-122"/>
                <a:ea typeface="微软雅黑" panose="020B0503020204020204" pitchFamily="34" charset="-122"/>
                <a:cs typeface="Arial" pitchFamily="34" charset="0"/>
              </a:rPr>
              <a:t>Basic segments class</a:t>
            </a:r>
            <a:endParaRPr lang="zh-CN" altLang="en-US" sz="2000" dirty="0">
              <a:solidFill>
                <a:srgbClr val="E67000"/>
              </a:solidFill>
              <a:latin typeface="微软雅黑" panose="020B0503020204020204" pitchFamily="34" charset="-122"/>
              <a:ea typeface="微软雅黑" panose="020B0503020204020204" pitchFamily="34" charset="-122"/>
              <a:cs typeface="Arial" pitchFamily="34" charset="0"/>
            </a:endParaRPr>
          </a:p>
        </p:txBody>
      </p:sp>
      <p:sp>
        <p:nvSpPr>
          <p:cNvPr id="6" name="箭头: 上 5">
            <a:extLst>
              <a:ext uri="{FF2B5EF4-FFF2-40B4-BE49-F238E27FC236}">
                <a16:creationId xmlns:a16="http://schemas.microsoft.com/office/drawing/2014/main" id="{B433DAEB-EDE2-6BA6-CF2E-90163B3511AA}"/>
              </a:ext>
            </a:extLst>
          </p:cNvPr>
          <p:cNvSpPr/>
          <p:nvPr/>
        </p:nvSpPr>
        <p:spPr>
          <a:xfrm>
            <a:off x="10344150" y="2109700"/>
            <a:ext cx="476250" cy="646331"/>
          </a:xfrm>
          <a:prstGeom prst="upArrow">
            <a:avLst/>
          </a:prstGeom>
          <a:solidFill>
            <a:srgbClr val="E67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矩形 7">
            <a:extLst>
              <a:ext uri="{FF2B5EF4-FFF2-40B4-BE49-F238E27FC236}">
                <a16:creationId xmlns:a16="http://schemas.microsoft.com/office/drawing/2014/main" id="{ED544FED-5157-F723-CC3D-80F9A8B2CDF1}"/>
              </a:ext>
            </a:extLst>
          </p:cNvPr>
          <p:cNvSpPr/>
          <p:nvPr/>
        </p:nvSpPr>
        <p:spPr>
          <a:xfrm>
            <a:off x="9757875" y="2944698"/>
            <a:ext cx="1719750" cy="379527"/>
          </a:xfrm>
          <a:prstGeom prst="rect">
            <a:avLst/>
          </a:prstGeom>
          <a:noFill/>
          <a:ln w="25400">
            <a:solidFill>
              <a:srgbClr val="E67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9" name="文本框 8">
            <a:extLst>
              <a:ext uri="{FF2B5EF4-FFF2-40B4-BE49-F238E27FC236}">
                <a16:creationId xmlns:a16="http://schemas.microsoft.com/office/drawing/2014/main" id="{45121A1A-0907-5A2E-D6FF-13392A24CFC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takeoff</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41" name="组合 40">
            <a:extLst>
              <a:ext uri="{FF2B5EF4-FFF2-40B4-BE49-F238E27FC236}">
                <a16:creationId xmlns:a16="http://schemas.microsoft.com/office/drawing/2014/main" id="{D19A4852-5D3A-CF5A-DE24-F3C80B58C139}"/>
              </a:ext>
            </a:extLst>
          </p:cNvPr>
          <p:cNvGrpSpPr/>
          <p:nvPr/>
        </p:nvGrpSpPr>
        <p:grpSpPr>
          <a:xfrm>
            <a:off x="233301" y="1382356"/>
            <a:ext cx="3283789" cy="1292917"/>
            <a:chOff x="233301" y="1382356"/>
            <a:chExt cx="3283789" cy="1292917"/>
          </a:xfrm>
        </p:grpSpPr>
        <p:grpSp>
          <p:nvGrpSpPr>
            <p:cNvPr id="12" name="组合 11">
              <a:extLst>
                <a:ext uri="{FF2B5EF4-FFF2-40B4-BE49-F238E27FC236}">
                  <a16:creationId xmlns:a16="http://schemas.microsoft.com/office/drawing/2014/main" id="{F1049FEA-6660-00BD-D876-27A32C28DE25}"/>
                </a:ext>
              </a:extLst>
            </p:cNvPr>
            <p:cNvGrpSpPr/>
            <p:nvPr/>
          </p:nvGrpSpPr>
          <p:grpSpPr>
            <a:xfrm rot="20760269" flipH="1">
              <a:off x="549672" y="1746580"/>
              <a:ext cx="1650425" cy="276167"/>
              <a:chOff x="10354859" y="107628"/>
              <a:chExt cx="945165" cy="120228"/>
            </a:xfrm>
          </p:grpSpPr>
          <p:sp>
            <p:nvSpPr>
              <p:cNvPr id="14" name="Freeform 31">
                <a:extLst>
                  <a:ext uri="{FF2B5EF4-FFF2-40B4-BE49-F238E27FC236}">
                    <a16:creationId xmlns:a16="http://schemas.microsoft.com/office/drawing/2014/main" id="{019B594B-2D1B-98CE-C35D-0DEEB2FDC7AD}"/>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5" name="Freeform 32">
                <a:extLst>
                  <a:ext uri="{FF2B5EF4-FFF2-40B4-BE49-F238E27FC236}">
                    <a16:creationId xmlns:a16="http://schemas.microsoft.com/office/drawing/2014/main" id="{49FCE6A3-22ED-0397-A704-23898ECC00BA}"/>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3">
                <a:extLst>
                  <a:ext uri="{FF2B5EF4-FFF2-40B4-BE49-F238E27FC236}">
                    <a16:creationId xmlns:a16="http://schemas.microsoft.com/office/drawing/2014/main" id="{E62C441C-2317-93D0-76DA-15870A0BADE6}"/>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4">
                <a:extLst>
                  <a:ext uri="{FF2B5EF4-FFF2-40B4-BE49-F238E27FC236}">
                    <a16:creationId xmlns:a16="http://schemas.microsoft.com/office/drawing/2014/main" id="{A269A174-3214-AF43-44EC-130E23F30BFE}"/>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5">
                <a:extLst>
                  <a:ext uri="{FF2B5EF4-FFF2-40B4-BE49-F238E27FC236}">
                    <a16:creationId xmlns:a16="http://schemas.microsoft.com/office/drawing/2014/main" id="{1782DC35-2816-5315-B71E-BFC1173E5683}"/>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6">
                <a:extLst>
                  <a:ext uri="{FF2B5EF4-FFF2-40B4-BE49-F238E27FC236}">
                    <a16:creationId xmlns:a16="http://schemas.microsoft.com/office/drawing/2014/main" id="{7B28BD50-E5FE-2535-4EFF-D718785D4DDD}"/>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7">
                <a:extLst>
                  <a:ext uri="{FF2B5EF4-FFF2-40B4-BE49-F238E27FC236}">
                    <a16:creationId xmlns:a16="http://schemas.microsoft.com/office/drawing/2014/main" id="{E6F0FD36-B102-95C8-C531-37880FB2402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8">
                <a:extLst>
                  <a:ext uri="{FF2B5EF4-FFF2-40B4-BE49-F238E27FC236}">
                    <a16:creationId xmlns:a16="http://schemas.microsoft.com/office/drawing/2014/main" id="{54C6C790-FAF3-D038-7AEF-39C840CE06BC}"/>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9">
                <a:extLst>
                  <a:ext uri="{FF2B5EF4-FFF2-40B4-BE49-F238E27FC236}">
                    <a16:creationId xmlns:a16="http://schemas.microsoft.com/office/drawing/2014/main" id="{78FF115E-E26F-D891-1FC7-BEF18C0B4B5D}"/>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40">
                <a:extLst>
                  <a:ext uri="{FF2B5EF4-FFF2-40B4-BE49-F238E27FC236}">
                    <a16:creationId xmlns:a16="http://schemas.microsoft.com/office/drawing/2014/main" id="{7850E46C-DAAC-3D8F-C213-DD4B3FEA2669}"/>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1">
                <a:extLst>
                  <a:ext uri="{FF2B5EF4-FFF2-40B4-BE49-F238E27FC236}">
                    <a16:creationId xmlns:a16="http://schemas.microsoft.com/office/drawing/2014/main" id="{BB7A69AA-A2DF-AA9A-7734-68D549B27DB0}"/>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2">
                <a:extLst>
                  <a:ext uri="{FF2B5EF4-FFF2-40B4-BE49-F238E27FC236}">
                    <a16:creationId xmlns:a16="http://schemas.microsoft.com/office/drawing/2014/main" id="{12B16B27-6C42-CE74-1557-37A0378DEB06}"/>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3">
                <a:extLst>
                  <a:ext uri="{FF2B5EF4-FFF2-40B4-BE49-F238E27FC236}">
                    <a16:creationId xmlns:a16="http://schemas.microsoft.com/office/drawing/2014/main" id="{AEA40D4E-4D57-A6AD-5E28-F952A917D847}"/>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4">
                <a:extLst>
                  <a:ext uri="{FF2B5EF4-FFF2-40B4-BE49-F238E27FC236}">
                    <a16:creationId xmlns:a16="http://schemas.microsoft.com/office/drawing/2014/main" id="{8CAFECD4-5F19-EDB2-E65B-1620A3BB8004}"/>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5">
                <a:extLst>
                  <a:ext uri="{FF2B5EF4-FFF2-40B4-BE49-F238E27FC236}">
                    <a16:creationId xmlns:a16="http://schemas.microsoft.com/office/drawing/2014/main" id="{FB8AB028-97A7-C2BE-64F7-B637B05D1C69}"/>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Rectangle 46">
                <a:extLst>
                  <a:ext uri="{FF2B5EF4-FFF2-40B4-BE49-F238E27FC236}">
                    <a16:creationId xmlns:a16="http://schemas.microsoft.com/office/drawing/2014/main" id="{639B1C73-9A02-3C3A-2D33-AA4B50B13A90}"/>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7">
                <a:extLst>
                  <a:ext uri="{FF2B5EF4-FFF2-40B4-BE49-F238E27FC236}">
                    <a16:creationId xmlns:a16="http://schemas.microsoft.com/office/drawing/2014/main" id="{D82829A7-99C6-5999-576A-FAB2F7CEB889}"/>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8">
                <a:extLst>
                  <a:ext uri="{FF2B5EF4-FFF2-40B4-BE49-F238E27FC236}">
                    <a16:creationId xmlns:a16="http://schemas.microsoft.com/office/drawing/2014/main" id="{D88E150C-03F7-D6C1-1D7C-C12AD309E30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33" name="直接箭头连接符 32">
              <a:extLst>
                <a:ext uri="{FF2B5EF4-FFF2-40B4-BE49-F238E27FC236}">
                  <a16:creationId xmlns:a16="http://schemas.microsoft.com/office/drawing/2014/main" id="{732F4610-6F20-6E54-514B-6CFDBCB1EC0C}"/>
                </a:ext>
              </a:extLst>
            </p:cNvPr>
            <p:cNvCxnSpPr>
              <a:cxnSpLocks/>
            </p:cNvCxnSpPr>
            <p:nvPr/>
          </p:nvCxnSpPr>
          <p:spPr>
            <a:xfrm flipV="1">
              <a:off x="2288365" y="1382356"/>
              <a:ext cx="1228725" cy="389667"/>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E9944788-800D-73EA-21C7-7949CA1371D4}"/>
                </a:ext>
              </a:extLst>
            </p:cNvPr>
            <p:cNvCxnSpPr/>
            <p:nvPr/>
          </p:nvCxnSpPr>
          <p:spPr>
            <a:xfrm>
              <a:off x="233301" y="232137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2F59E3F7-F6B9-E36C-7A95-B3A97E66FFB5}"/>
                </a:ext>
              </a:extLst>
            </p:cNvPr>
            <p:cNvCxnSpPr/>
            <p:nvPr/>
          </p:nvCxnSpPr>
          <p:spPr>
            <a:xfrm>
              <a:off x="233301" y="2675273"/>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4129413C-519C-99D6-4FD4-FE6AAE5E8D8C}"/>
                </a:ext>
              </a:extLst>
            </p:cNvPr>
            <p:cNvCxnSpPr/>
            <p:nvPr/>
          </p:nvCxnSpPr>
          <p:spPr>
            <a:xfrm>
              <a:off x="233301" y="2507129"/>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738637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02F6C-4CDD-3385-7BFD-B29A574C88E5}"/>
            </a:ext>
          </a:extLst>
        </p:cNvPr>
        <p:cNvGrpSpPr/>
        <p:nvPr/>
      </p:nvGrpSpPr>
      <p:grpSpPr>
        <a:xfrm>
          <a:off x="0" y="0"/>
          <a:ext cx="0" cy="0"/>
          <a:chOff x="0" y="0"/>
          <a:chExt cx="0" cy="0"/>
        </a:xfrm>
      </p:grpSpPr>
      <p:sp>
        <p:nvSpPr>
          <p:cNvPr id="12" name="文本框 11">
            <a:extLst>
              <a:ext uri="{FF2B5EF4-FFF2-40B4-BE49-F238E27FC236}">
                <a16:creationId xmlns:a16="http://schemas.microsoft.com/office/drawing/2014/main" id="{3DE53A44-AC58-BE47-5470-22BF1314EE6D}"/>
              </a:ext>
            </a:extLst>
          </p:cNvPr>
          <p:cNvSpPr txBox="1"/>
          <p:nvPr/>
        </p:nvSpPr>
        <p:spPr>
          <a:xfrm>
            <a:off x="2268000" y="1260000"/>
            <a:ext cx="9772255" cy="258532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Segments.Cruise.Constant_Speed_Constant_Altitude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"cruise"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230.412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segment.distance</a:t>
            </a:r>
            <a:r>
              <a:rPr lang="en-US" altLang="zh-CN" b="0" dirty="0">
                <a:solidFill>
                  <a:srgbClr val="002060"/>
                </a:solidFill>
                <a:effectLst/>
                <a:latin typeface="Consolas" panose="020B0609020204030204" pitchFamily="49" charset="0"/>
              </a:rPr>
              <a:t>   = 2490. * </a:t>
            </a:r>
            <a:r>
              <a:rPr lang="en-US" altLang="zh-CN" b="0" dirty="0" err="1">
                <a:solidFill>
                  <a:srgbClr val="002060"/>
                </a:solidFill>
                <a:effectLst/>
                <a:latin typeface="Consolas" panose="020B0609020204030204" pitchFamily="49" charset="0"/>
              </a:rPr>
              <a:t>Units.nautical_miles</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6AF5EF78-FBAD-3398-EBEC-AB98DE547E0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92DCB112-FDC6-1CED-218E-94F244084D5F}"/>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cruise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4" name="组合 33">
            <a:extLst>
              <a:ext uri="{FF2B5EF4-FFF2-40B4-BE49-F238E27FC236}">
                <a16:creationId xmlns:a16="http://schemas.microsoft.com/office/drawing/2014/main" id="{2B95C3BA-0159-6EDF-BF40-89AF4508E28D}"/>
              </a:ext>
            </a:extLst>
          </p:cNvPr>
          <p:cNvGrpSpPr/>
          <p:nvPr/>
        </p:nvGrpSpPr>
        <p:grpSpPr>
          <a:xfrm flipH="1">
            <a:off x="922717" y="4820808"/>
            <a:ext cx="1650425" cy="276167"/>
            <a:chOff x="10354859" y="107628"/>
            <a:chExt cx="945165" cy="120228"/>
          </a:xfrm>
        </p:grpSpPr>
        <p:sp>
          <p:nvSpPr>
            <p:cNvPr id="35" name="Freeform 31">
              <a:extLst>
                <a:ext uri="{FF2B5EF4-FFF2-40B4-BE49-F238E27FC236}">
                  <a16:creationId xmlns:a16="http://schemas.microsoft.com/office/drawing/2014/main" id="{7B27FB55-2242-77B3-B638-6E60433F2FC3}"/>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6" name="Freeform 32">
              <a:extLst>
                <a:ext uri="{FF2B5EF4-FFF2-40B4-BE49-F238E27FC236}">
                  <a16:creationId xmlns:a16="http://schemas.microsoft.com/office/drawing/2014/main" id="{6FDE6708-9F43-C639-38DD-25B0CDEF2EF0}"/>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7" name="Freeform 33">
              <a:extLst>
                <a:ext uri="{FF2B5EF4-FFF2-40B4-BE49-F238E27FC236}">
                  <a16:creationId xmlns:a16="http://schemas.microsoft.com/office/drawing/2014/main" id="{4BBBA08C-3E78-818E-2A89-A421A00F3D5A}"/>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8" name="Freeform 34">
              <a:extLst>
                <a:ext uri="{FF2B5EF4-FFF2-40B4-BE49-F238E27FC236}">
                  <a16:creationId xmlns:a16="http://schemas.microsoft.com/office/drawing/2014/main" id="{21A3AF58-E8CB-612B-4B93-614CBB3AB343}"/>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9" name="Freeform 35">
              <a:extLst>
                <a:ext uri="{FF2B5EF4-FFF2-40B4-BE49-F238E27FC236}">
                  <a16:creationId xmlns:a16="http://schemas.microsoft.com/office/drawing/2014/main" id="{1A32CC16-468B-8727-A497-06C0A27EBBDA}"/>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0" name="Freeform 36">
              <a:extLst>
                <a:ext uri="{FF2B5EF4-FFF2-40B4-BE49-F238E27FC236}">
                  <a16:creationId xmlns:a16="http://schemas.microsoft.com/office/drawing/2014/main" id="{BFCD598F-2DBF-1496-14EF-EF799E91DC02}"/>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1" name="Freeform 37">
              <a:extLst>
                <a:ext uri="{FF2B5EF4-FFF2-40B4-BE49-F238E27FC236}">
                  <a16:creationId xmlns:a16="http://schemas.microsoft.com/office/drawing/2014/main" id="{961F3464-37B2-8502-91BE-7AC394F1089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2" name="Freeform 38">
              <a:extLst>
                <a:ext uri="{FF2B5EF4-FFF2-40B4-BE49-F238E27FC236}">
                  <a16:creationId xmlns:a16="http://schemas.microsoft.com/office/drawing/2014/main" id="{91857BEC-A1E2-F602-4DAB-B609FC0EA9EF}"/>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3" name="Freeform 39">
              <a:extLst>
                <a:ext uri="{FF2B5EF4-FFF2-40B4-BE49-F238E27FC236}">
                  <a16:creationId xmlns:a16="http://schemas.microsoft.com/office/drawing/2014/main" id="{6D12E053-60F7-4855-B0E3-96C730B73034}"/>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4" name="Freeform 40">
              <a:extLst>
                <a:ext uri="{FF2B5EF4-FFF2-40B4-BE49-F238E27FC236}">
                  <a16:creationId xmlns:a16="http://schemas.microsoft.com/office/drawing/2014/main" id="{1810BE87-A9BF-1505-D57B-EDD889AC7712}"/>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5" name="Freeform 41">
              <a:extLst>
                <a:ext uri="{FF2B5EF4-FFF2-40B4-BE49-F238E27FC236}">
                  <a16:creationId xmlns:a16="http://schemas.microsoft.com/office/drawing/2014/main" id="{F2AD536D-8637-792C-E6C3-9B1F60A5EF88}"/>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6" name="Freeform 42">
              <a:extLst>
                <a:ext uri="{FF2B5EF4-FFF2-40B4-BE49-F238E27FC236}">
                  <a16:creationId xmlns:a16="http://schemas.microsoft.com/office/drawing/2014/main" id="{59D70F6B-93CB-7F37-DCCD-61603F73280B}"/>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7" name="Freeform 43">
              <a:extLst>
                <a:ext uri="{FF2B5EF4-FFF2-40B4-BE49-F238E27FC236}">
                  <a16:creationId xmlns:a16="http://schemas.microsoft.com/office/drawing/2014/main" id="{24252D34-F078-36B1-F50E-39BBD09516C6}"/>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8" name="Freeform 44">
              <a:extLst>
                <a:ext uri="{FF2B5EF4-FFF2-40B4-BE49-F238E27FC236}">
                  <a16:creationId xmlns:a16="http://schemas.microsoft.com/office/drawing/2014/main" id="{24D2ABE7-DB13-D2E7-8119-F2570E0191CB}"/>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9" name="Freeform 45">
              <a:extLst>
                <a:ext uri="{FF2B5EF4-FFF2-40B4-BE49-F238E27FC236}">
                  <a16:creationId xmlns:a16="http://schemas.microsoft.com/office/drawing/2014/main" id="{E1FF9AE9-1930-1F59-15F7-19EC31F37BBB}"/>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0" name="Rectangle 46">
              <a:extLst>
                <a:ext uri="{FF2B5EF4-FFF2-40B4-BE49-F238E27FC236}">
                  <a16:creationId xmlns:a16="http://schemas.microsoft.com/office/drawing/2014/main" id="{80D99186-F0CF-AF47-3694-A299AC5DCCCA}"/>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1" name="Rectangle 47">
              <a:extLst>
                <a:ext uri="{FF2B5EF4-FFF2-40B4-BE49-F238E27FC236}">
                  <a16:creationId xmlns:a16="http://schemas.microsoft.com/office/drawing/2014/main" id="{83A96F76-A751-B90A-BAAE-F7658D3FC0D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2" name="Rectangle 48">
              <a:extLst>
                <a:ext uri="{FF2B5EF4-FFF2-40B4-BE49-F238E27FC236}">
                  <a16:creationId xmlns:a16="http://schemas.microsoft.com/office/drawing/2014/main" id="{E834D950-A341-5627-7040-1752C86C408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53" name="直接箭头连接符 52">
            <a:extLst>
              <a:ext uri="{FF2B5EF4-FFF2-40B4-BE49-F238E27FC236}">
                <a16:creationId xmlns:a16="http://schemas.microsoft.com/office/drawing/2014/main" id="{189535C2-C78E-0FC0-565A-BA76A11093F4}"/>
              </a:ext>
            </a:extLst>
          </p:cNvPr>
          <p:cNvCxnSpPr>
            <a:cxnSpLocks/>
          </p:cNvCxnSpPr>
          <p:nvPr/>
        </p:nvCxnSpPr>
        <p:spPr>
          <a:xfrm>
            <a:off x="2822101" y="5071483"/>
            <a:ext cx="2130899" cy="0"/>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55" name="云形 54">
            <a:extLst>
              <a:ext uri="{FF2B5EF4-FFF2-40B4-BE49-F238E27FC236}">
                <a16:creationId xmlns:a16="http://schemas.microsoft.com/office/drawing/2014/main" id="{033D55B8-255D-2832-9784-A984F0B29544}"/>
              </a:ext>
            </a:extLst>
          </p:cNvPr>
          <p:cNvSpPr/>
          <p:nvPr/>
        </p:nvSpPr>
        <p:spPr>
          <a:xfrm>
            <a:off x="459895" y="5587072"/>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56" name="云形 55">
            <a:extLst>
              <a:ext uri="{FF2B5EF4-FFF2-40B4-BE49-F238E27FC236}">
                <a16:creationId xmlns:a16="http://schemas.microsoft.com/office/drawing/2014/main" id="{D8F89333-05A6-C7A7-AB78-94695E7771AF}"/>
              </a:ext>
            </a:extLst>
          </p:cNvPr>
          <p:cNvSpPr/>
          <p:nvPr/>
        </p:nvSpPr>
        <p:spPr>
          <a:xfrm>
            <a:off x="2268000" y="5800033"/>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3778535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9321D-D1F2-5235-5C38-A6B67AD55ECB}"/>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2FCBADE5-5D79-1580-C4CA-95C83758CB84}"/>
              </a:ext>
            </a:extLst>
          </p:cNvPr>
          <p:cNvSpPr txBox="1"/>
          <p:nvPr/>
        </p:nvSpPr>
        <p:spPr>
          <a:xfrm>
            <a:off x="2268000" y="1260000"/>
            <a:ext cx="9690238" cy="3416320"/>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Segments.Descent.Constant_Speed_Constant_Rate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"descent"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segment.descent_rate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a:p>
            <a:pPr>
              <a:buNone/>
            </a:pPr>
            <a:endParaRPr lang="en-US" altLang="zh-CN" dirty="0">
              <a:solidFill>
                <a:srgbClr val="002060"/>
              </a:solidFill>
              <a:latin typeface="Consolas" panose="020B0609020204030204" pitchFamily="49" charset="0"/>
            </a:endParaRPr>
          </a:p>
          <a:p>
            <a:pPr>
              <a:buNone/>
            </a:pPr>
            <a:r>
              <a:rPr lang="en-US" altLang="zh-CN" dirty="0">
                <a:solidFill>
                  <a:srgbClr val="002060"/>
                </a:solidFill>
                <a:latin typeface="Consolas" panose="020B0609020204030204" pitchFamily="49" charset="0"/>
              </a:rPr>
              <a:t>    return mission</a:t>
            </a:r>
            <a:endParaRPr lang="en-US" altLang="zh-CN" b="0" dirty="0">
              <a:solidFill>
                <a:srgbClr val="002060"/>
              </a:solidFill>
              <a:effectLst/>
              <a:latin typeface="Consolas" panose="020B0609020204030204" pitchFamily="49" charset="0"/>
            </a:endParaRPr>
          </a:p>
        </p:txBody>
      </p:sp>
      <p:sp>
        <p:nvSpPr>
          <p:cNvPr id="4" name="标题 1">
            <a:extLst>
              <a:ext uri="{FF2B5EF4-FFF2-40B4-BE49-F238E27FC236}">
                <a16:creationId xmlns:a16="http://schemas.microsoft.com/office/drawing/2014/main" id="{64587CC5-10DD-6936-2F1E-730AA901F8B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7962F279-DE4D-4B3E-B47F-A5C8583B1867}"/>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descent</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5" name="组合 34">
            <a:extLst>
              <a:ext uri="{FF2B5EF4-FFF2-40B4-BE49-F238E27FC236}">
                <a16:creationId xmlns:a16="http://schemas.microsoft.com/office/drawing/2014/main" id="{F613B1DD-5816-03D2-AEF8-7BE9D0AEC966}"/>
              </a:ext>
            </a:extLst>
          </p:cNvPr>
          <p:cNvGrpSpPr/>
          <p:nvPr/>
        </p:nvGrpSpPr>
        <p:grpSpPr>
          <a:xfrm>
            <a:off x="407030" y="4956626"/>
            <a:ext cx="3185866" cy="1236169"/>
            <a:chOff x="407030" y="4956626"/>
            <a:chExt cx="3185866" cy="1236169"/>
          </a:xfrm>
        </p:grpSpPr>
        <p:grpSp>
          <p:nvGrpSpPr>
            <p:cNvPr id="9" name="组合 8">
              <a:extLst>
                <a:ext uri="{FF2B5EF4-FFF2-40B4-BE49-F238E27FC236}">
                  <a16:creationId xmlns:a16="http://schemas.microsoft.com/office/drawing/2014/main" id="{828EF960-014F-C76D-7722-9E42FB023866}"/>
                </a:ext>
              </a:extLst>
            </p:cNvPr>
            <p:cNvGrpSpPr/>
            <p:nvPr/>
          </p:nvGrpSpPr>
          <p:grpSpPr>
            <a:xfrm rot="790026" flipH="1">
              <a:off x="806225" y="4956626"/>
              <a:ext cx="1650425" cy="276167"/>
              <a:chOff x="10354859" y="107628"/>
              <a:chExt cx="945165" cy="120228"/>
            </a:xfrm>
          </p:grpSpPr>
          <p:sp>
            <p:nvSpPr>
              <p:cNvPr id="15" name="Freeform 31">
                <a:extLst>
                  <a:ext uri="{FF2B5EF4-FFF2-40B4-BE49-F238E27FC236}">
                    <a16:creationId xmlns:a16="http://schemas.microsoft.com/office/drawing/2014/main" id="{211BA68A-A030-E706-4477-7A7FC27545BA}"/>
                  </a:ext>
                </a:extLst>
              </p:cNvPr>
              <p:cNvSpPr>
                <a:spLocks/>
              </p:cNvSpPr>
              <p:nvPr/>
            </p:nvSpPr>
            <p:spPr bwMode="auto">
              <a:xfrm>
                <a:off x="10354859" y="173291"/>
                <a:ext cx="736547"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2">
                <a:extLst>
                  <a:ext uri="{FF2B5EF4-FFF2-40B4-BE49-F238E27FC236}">
                    <a16:creationId xmlns:a16="http://schemas.microsoft.com/office/drawing/2014/main" id="{D923B9DD-A944-0DA9-67CC-2338F08A572E}"/>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3">
                <a:extLst>
                  <a:ext uri="{FF2B5EF4-FFF2-40B4-BE49-F238E27FC236}">
                    <a16:creationId xmlns:a16="http://schemas.microsoft.com/office/drawing/2014/main" id="{6646D254-E327-107D-BF9F-F0ACBEEC4BE5}"/>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4">
                <a:extLst>
                  <a:ext uri="{FF2B5EF4-FFF2-40B4-BE49-F238E27FC236}">
                    <a16:creationId xmlns:a16="http://schemas.microsoft.com/office/drawing/2014/main" id="{01E50EDD-D9F5-340A-42B0-187B8997F42D}"/>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5">
                <a:extLst>
                  <a:ext uri="{FF2B5EF4-FFF2-40B4-BE49-F238E27FC236}">
                    <a16:creationId xmlns:a16="http://schemas.microsoft.com/office/drawing/2014/main" id="{B8E71262-3709-21D6-5B85-5C142C21F8E8}"/>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6">
                <a:extLst>
                  <a:ext uri="{FF2B5EF4-FFF2-40B4-BE49-F238E27FC236}">
                    <a16:creationId xmlns:a16="http://schemas.microsoft.com/office/drawing/2014/main" id="{44B5C285-80CF-B3B7-9C22-214E4B377183}"/>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7">
                <a:extLst>
                  <a:ext uri="{FF2B5EF4-FFF2-40B4-BE49-F238E27FC236}">
                    <a16:creationId xmlns:a16="http://schemas.microsoft.com/office/drawing/2014/main" id="{E2B84B98-48B1-660C-C9C6-0A3D1F2E0E6E}"/>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8">
                <a:extLst>
                  <a:ext uri="{FF2B5EF4-FFF2-40B4-BE49-F238E27FC236}">
                    <a16:creationId xmlns:a16="http://schemas.microsoft.com/office/drawing/2014/main" id="{BBD8A3C0-0E97-E4A5-17A2-5F34D1DB3225}"/>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39">
                <a:extLst>
                  <a:ext uri="{FF2B5EF4-FFF2-40B4-BE49-F238E27FC236}">
                    <a16:creationId xmlns:a16="http://schemas.microsoft.com/office/drawing/2014/main" id="{3FB837AB-8C11-1D78-49AD-16C23ED58751}"/>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0">
                <a:extLst>
                  <a:ext uri="{FF2B5EF4-FFF2-40B4-BE49-F238E27FC236}">
                    <a16:creationId xmlns:a16="http://schemas.microsoft.com/office/drawing/2014/main" id="{9F4133F8-84EF-0C3B-4AE0-C1DED75EFD54}"/>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1">
                <a:extLst>
                  <a:ext uri="{FF2B5EF4-FFF2-40B4-BE49-F238E27FC236}">
                    <a16:creationId xmlns:a16="http://schemas.microsoft.com/office/drawing/2014/main" id="{C940E411-4B3C-B9A2-DE8B-3E99A2A31D51}"/>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2">
                <a:extLst>
                  <a:ext uri="{FF2B5EF4-FFF2-40B4-BE49-F238E27FC236}">
                    <a16:creationId xmlns:a16="http://schemas.microsoft.com/office/drawing/2014/main" id="{2797F10E-32AD-E36B-F2FF-59B99E098AB1}"/>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3">
                <a:extLst>
                  <a:ext uri="{FF2B5EF4-FFF2-40B4-BE49-F238E27FC236}">
                    <a16:creationId xmlns:a16="http://schemas.microsoft.com/office/drawing/2014/main" id="{6DF4D4D0-EAF9-A97E-CB7F-BC0C67DC5771}"/>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4">
                <a:extLst>
                  <a:ext uri="{FF2B5EF4-FFF2-40B4-BE49-F238E27FC236}">
                    <a16:creationId xmlns:a16="http://schemas.microsoft.com/office/drawing/2014/main" id="{F3F6B3B3-5E14-76FB-00B3-7A725409E648}"/>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Freeform 45">
                <a:extLst>
                  <a:ext uri="{FF2B5EF4-FFF2-40B4-BE49-F238E27FC236}">
                    <a16:creationId xmlns:a16="http://schemas.microsoft.com/office/drawing/2014/main" id="{FDD11BD3-6E7F-D4EB-2DE6-D3CC7ED9665A}"/>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6">
                <a:extLst>
                  <a:ext uri="{FF2B5EF4-FFF2-40B4-BE49-F238E27FC236}">
                    <a16:creationId xmlns:a16="http://schemas.microsoft.com/office/drawing/2014/main" id="{DCE21BC0-DBD6-EF8B-B799-99BD46770D78}"/>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7">
                <a:extLst>
                  <a:ext uri="{FF2B5EF4-FFF2-40B4-BE49-F238E27FC236}">
                    <a16:creationId xmlns:a16="http://schemas.microsoft.com/office/drawing/2014/main" id="{DF26733B-CE34-B3F3-AB6E-13EBB8C6D9E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2" name="Rectangle 48">
                <a:extLst>
                  <a:ext uri="{FF2B5EF4-FFF2-40B4-BE49-F238E27FC236}">
                    <a16:creationId xmlns:a16="http://schemas.microsoft.com/office/drawing/2014/main" id="{CEF89BDA-97DB-9335-C718-B5C66F9873D5}"/>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10" name="直接箭头连接符 9">
              <a:extLst>
                <a:ext uri="{FF2B5EF4-FFF2-40B4-BE49-F238E27FC236}">
                  <a16:creationId xmlns:a16="http://schemas.microsoft.com/office/drawing/2014/main" id="{1787D682-E7F1-2658-B3D3-A4195A19F1EE}"/>
                </a:ext>
              </a:extLst>
            </p:cNvPr>
            <p:cNvCxnSpPr>
              <a:cxnSpLocks/>
            </p:cNvCxnSpPr>
            <p:nvPr/>
          </p:nvCxnSpPr>
          <p:spPr>
            <a:xfrm>
              <a:off x="2564926" y="5432541"/>
              <a:ext cx="999945" cy="227592"/>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D603B0B9-3A5A-3386-F35C-8F55D1FE8517}"/>
                </a:ext>
              </a:extLst>
            </p:cNvPr>
            <p:cNvCxnSpPr/>
            <p:nvPr/>
          </p:nvCxnSpPr>
          <p:spPr>
            <a:xfrm>
              <a:off x="407030" y="5838897"/>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166A1C9-F6A2-1EDF-42CA-BC0758A1C907}"/>
                </a:ext>
              </a:extLst>
            </p:cNvPr>
            <p:cNvCxnSpPr/>
            <p:nvPr/>
          </p:nvCxnSpPr>
          <p:spPr>
            <a:xfrm>
              <a:off x="407030" y="619279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A229631C-6ECA-B003-5D25-1BD96AC9207C}"/>
                </a:ext>
              </a:extLst>
            </p:cNvPr>
            <p:cNvCxnSpPr/>
            <p:nvPr/>
          </p:nvCxnSpPr>
          <p:spPr>
            <a:xfrm>
              <a:off x="407030" y="6024651"/>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123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02AA2-8A15-782F-D5D6-05A5C7472FA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1528722-DDC2-1F38-3882-8E2F820901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pic>
        <p:nvPicPr>
          <p:cNvPr id="5" name="图片 4">
            <a:extLst>
              <a:ext uri="{FF2B5EF4-FFF2-40B4-BE49-F238E27FC236}">
                <a16:creationId xmlns:a16="http://schemas.microsoft.com/office/drawing/2014/main" id="{216DBDDE-33B8-D42C-96D5-C36694B53D8A}"/>
              </a:ext>
            </a:extLst>
          </p:cNvPr>
          <p:cNvPicPr>
            <a:picLocks noChangeAspect="1"/>
          </p:cNvPicPr>
          <p:nvPr/>
        </p:nvPicPr>
        <p:blipFill>
          <a:blip r:embed="rId3"/>
          <a:stretch>
            <a:fillRect/>
          </a:stretch>
        </p:blipFill>
        <p:spPr>
          <a:xfrm>
            <a:off x="0" y="1620000"/>
            <a:ext cx="3797993" cy="2309647"/>
          </a:xfrm>
          <a:prstGeom prst="rect">
            <a:avLst/>
          </a:prstGeom>
        </p:spPr>
      </p:pic>
      <p:sp>
        <p:nvSpPr>
          <p:cNvPr id="7" name="文本框 6">
            <a:extLst>
              <a:ext uri="{FF2B5EF4-FFF2-40B4-BE49-F238E27FC236}">
                <a16:creationId xmlns:a16="http://schemas.microsoft.com/office/drawing/2014/main" id="{4B5E2204-6F73-3181-7D51-535760B1818C}"/>
              </a:ext>
            </a:extLst>
          </p:cNvPr>
          <p:cNvSpPr txBox="1"/>
          <p:nvPr/>
        </p:nvSpPr>
        <p:spPr>
          <a:xfrm>
            <a:off x="3582609" y="794708"/>
            <a:ext cx="8699500"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vehicle_setup():</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vehicle = </a:t>
            </a:r>
            <a:r>
              <a:rPr lang="en-US" altLang="zh-CN" b="0" dirty="0" err="1">
                <a:solidFill>
                  <a:srgbClr val="002060"/>
                </a:solidFill>
                <a:effectLst/>
                <a:latin typeface="Consolas" panose="020B0609020204030204" pitchFamily="49" charset="0"/>
              </a:rPr>
              <a:t>SUAVE.Vehicle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vehicle.tag</a:t>
            </a:r>
            <a:r>
              <a:rPr lang="en-US" altLang="zh-CN" b="0" dirty="0">
                <a:solidFill>
                  <a:srgbClr val="002060"/>
                </a:solidFill>
                <a:effectLst/>
                <a:latin typeface="Consolas" panose="020B0609020204030204" pitchFamily="49" charset="0"/>
              </a:rPr>
              <a:t> = 'Boeing_737-800'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vehicle.mass_properties.max_takeoff</a:t>
            </a: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79015.8 * Units.</a:t>
            </a:r>
            <a:r>
              <a:rPr lang="en-US" altLang="zh-CN" dirty="0">
                <a:solidFill>
                  <a:srgbClr val="002060"/>
                </a:solidFill>
                <a:latin typeface="Consolas" panose="020B0609020204030204" pitchFamily="49" charset="0"/>
              </a:rPr>
              <a:t>kg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vehicle.mass_properties.takeoff</a:t>
            </a:r>
            <a:r>
              <a:rPr lang="en-US" altLang="zh-CN" b="0" dirty="0">
                <a:solidFill>
                  <a:srgbClr val="002060"/>
                </a:solidFill>
                <a:effectLst/>
                <a:latin typeface="Consolas" panose="020B0609020204030204" pitchFamily="49" charset="0"/>
              </a:rPr>
              <a:t>         = 79015.8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vehicle.mass_properties.operating_empty</a:t>
            </a:r>
            <a:r>
              <a:rPr lang="en-US" altLang="zh-CN" b="0" dirty="0">
                <a:solidFill>
                  <a:srgbClr val="002060"/>
                </a:solidFill>
                <a:effectLst/>
                <a:latin typeface="Consolas" panose="020B0609020204030204" pitchFamily="49" charset="0"/>
              </a:rPr>
              <a:t> = 62746.4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vehicle.mass_properties.max_zero_fuel</a:t>
            </a:r>
            <a:r>
              <a:rPr lang="en-US" altLang="zh-CN" b="0" dirty="0">
                <a:solidFill>
                  <a:srgbClr val="002060"/>
                </a:solidFill>
                <a:effectLst/>
                <a:latin typeface="Consolas" panose="020B0609020204030204" pitchFamily="49" charset="0"/>
              </a:rPr>
              <a:t>   = 62732.0 * Units.kg</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vehicle.mass_properties.cargo</a:t>
            </a:r>
            <a:r>
              <a:rPr lang="en-US" altLang="zh-CN" b="0" dirty="0">
                <a:solidFill>
                  <a:srgbClr val="002060"/>
                </a:solidFill>
                <a:effectLst/>
                <a:latin typeface="Consolas" panose="020B0609020204030204" pitchFamily="49" charset="0"/>
              </a:rPr>
              <a:t>           = 10000.  * Units.kg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vehicle.envelope.ultimate_load</a:t>
            </a:r>
            <a:r>
              <a:rPr lang="en-US" altLang="zh-CN" b="0" dirty="0">
                <a:solidFill>
                  <a:srgbClr val="002060"/>
                </a:solidFill>
                <a:effectLst/>
                <a:latin typeface="Consolas" panose="020B0609020204030204" pitchFamily="49" charset="0"/>
              </a:rPr>
              <a:t> = 3.75</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vehicle.envelope.limit_load</a:t>
            </a:r>
            <a:r>
              <a:rPr lang="en-US" altLang="zh-CN" b="0" dirty="0">
                <a:solidFill>
                  <a:srgbClr val="002060"/>
                </a:solidFill>
                <a:effectLst/>
                <a:latin typeface="Consolas" panose="020B0609020204030204" pitchFamily="49" charset="0"/>
              </a:rPr>
              <a:t>    = 2.5</a:t>
            </a:r>
            <a:endParaRPr lang="zh-CN" altLang="en-US" b="0" dirty="0">
              <a:solidFill>
                <a:srgbClr val="002060"/>
              </a:solidFill>
              <a:effectLst/>
              <a:latin typeface="Consolas" panose="020B0609020204030204" pitchFamily="49" charset="0"/>
            </a:endParaRPr>
          </a:p>
          <a:p>
            <a:pPr>
              <a:buNone/>
            </a:pPr>
            <a:br>
              <a:rPr lang="zh-CN" altLang="en-US"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vehicle.reference_area</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vehicle.passengers</a:t>
            </a:r>
            <a:r>
              <a:rPr lang="en-US" altLang="zh-CN" b="0" dirty="0">
                <a:solidFill>
                  <a:srgbClr val="002060"/>
                </a:solidFill>
                <a:effectLst/>
                <a:latin typeface="Consolas" panose="020B0609020204030204" pitchFamily="49" charset="0"/>
              </a:rPr>
              <a:t>             = 170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vehicle.systems.control</a:t>
            </a:r>
            <a:r>
              <a:rPr lang="en-US" altLang="zh-CN" b="0" dirty="0">
                <a:solidFill>
                  <a:srgbClr val="002060"/>
                </a:solidFill>
                <a:effectLst/>
                <a:latin typeface="Consolas" panose="020B0609020204030204" pitchFamily="49" charset="0"/>
              </a:rPr>
              <a:t>        = "fully powered"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vehicle.systems.accessories</a:t>
            </a:r>
            <a:r>
              <a:rPr lang="en-US" altLang="zh-CN" b="0" dirty="0">
                <a:solidFill>
                  <a:srgbClr val="002060"/>
                </a:solidFill>
                <a:effectLst/>
                <a:latin typeface="Consolas" panose="020B0609020204030204" pitchFamily="49" charset="0"/>
              </a:rPr>
              <a:t>    = "medium range"</a:t>
            </a:r>
          </a:p>
        </p:txBody>
      </p:sp>
      <p:sp>
        <p:nvSpPr>
          <p:cNvPr id="4" name="文本框 3">
            <a:extLst>
              <a:ext uri="{FF2B5EF4-FFF2-40B4-BE49-F238E27FC236}">
                <a16:creationId xmlns:a16="http://schemas.microsoft.com/office/drawing/2014/main" id="{03FD96A1-29BA-F7EC-C015-9FA03209A59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Overall parameter</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0229318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7914F-E3AC-1DE2-FB2F-26A750D41875}"/>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3E62AB74-0D50-00D5-63DD-922E97F2BD4A}"/>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Main Wing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5B84B3B1-7B75-37B0-A54A-3C6DFBEFFDCD}"/>
              </a:ext>
            </a:extLst>
          </p:cNvPr>
          <p:cNvSpPr txBox="1"/>
          <p:nvPr/>
        </p:nvSpPr>
        <p:spPr>
          <a:xfrm>
            <a:off x="3384000" y="1080000"/>
            <a:ext cx="8826500" cy="5355312"/>
          </a:xfrm>
          <a:prstGeom prst="rect">
            <a:avLst/>
          </a:prstGeom>
          <a:noFill/>
        </p:spPr>
        <p:txBody>
          <a:bodyPr wrap="square">
            <a:spAutoFit/>
          </a:bodyPr>
          <a:lstStyle/>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wing = </a:t>
            </a:r>
            <a:r>
              <a:rPr lang="en-US" altLang="zh-CN" b="0" dirty="0" err="1">
                <a:solidFill>
                  <a:srgbClr val="002060"/>
                </a:solidFill>
                <a:effectLst/>
                <a:latin typeface="Consolas" panose="020B0609020204030204" pitchFamily="49" charset="0"/>
              </a:rPr>
              <a:t>SUAVE.Components.Wings.Main_Wing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10.18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34.32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7.760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0.782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4.235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[[13.61, 0, -1.27]]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 </a:t>
            </a:r>
          </a:p>
        </p:txBody>
      </p:sp>
      <p:pic>
        <p:nvPicPr>
          <p:cNvPr id="9" name="图片 8">
            <a:extLst>
              <a:ext uri="{FF2B5EF4-FFF2-40B4-BE49-F238E27FC236}">
                <a16:creationId xmlns:a16="http://schemas.microsoft.com/office/drawing/2014/main" id="{228F09A0-D66E-DDEF-9495-22B824BF075A}"/>
              </a:ext>
            </a:extLst>
          </p:cNvPr>
          <p:cNvPicPr>
            <a:picLocks noChangeAspect="1"/>
          </p:cNvPicPr>
          <p:nvPr/>
        </p:nvPicPr>
        <p:blipFill>
          <a:blip r:embed="rId3"/>
          <a:stretch>
            <a:fillRect/>
          </a:stretch>
        </p:blipFill>
        <p:spPr>
          <a:xfrm>
            <a:off x="0" y="1620000"/>
            <a:ext cx="3913520" cy="2578101"/>
          </a:xfrm>
          <a:prstGeom prst="rect">
            <a:avLst/>
          </a:prstGeom>
        </p:spPr>
      </p:pic>
      <p:sp>
        <p:nvSpPr>
          <p:cNvPr id="4" name="标题 1">
            <a:extLst>
              <a:ext uri="{FF2B5EF4-FFF2-40B4-BE49-F238E27FC236}">
                <a16:creationId xmlns:a16="http://schemas.microsoft.com/office/drawing/2014/main" id="{2E3343F4-338A-AE34-B6F7-4447E6442EC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646303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81424-50AD-0D5F-C91C-035C6344BD24}"/>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9FF82B8-5535-74FA-AA23-7B512F2ACA55}"/>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Horizontal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E8C5227D-25C7-9D6F-E198-9D8880268339}"/>
              </a:ext>
            </a:extLst>
          </p:cNvPr>
          <p:cNvSpPr txBox="1"/>
          <p:nvPr/>
        </p:nvSpPr>
        <p:spPr>
          <a:xfrm>
            <a:off x="3384000" y="1080000"/>
            <a:ext cx="8472212" cy="563231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SUAVE.Components.Wings.Horizontal_Tail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horizontal_stabilizer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6.16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40.0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14.2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4.7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32.488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[[32.83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0 , 1.14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7" name="图片 6">
            <a:extLst>
              <a:ext uri="{FF2B5EF4-FFF2-40B4-BE49-F238E27FC236}">
                <a16:creationId xmlns:a16="http://schemas.microsoft.com/office/drawing/2014/main" id="{B43AFEF7-5A4F-CCC9-6359-07C53EAAC8C4}"/>
              </a:ext>
            </a:extLst>
          </p:cNvPr>
          <p:cNvPicPr>
            <a:picLocks noChangeAspect="1"/>
          </p:cNvPicPr>
          <p:nvPr/>
        </p:nvPicPr>
        <p:blipFill>
          <a:blip r:embed="rId3"/>
          <a:stretch>
            <a:fillRect/>
          </a:stretch>
        </p:blipFill>
        <p:spPr>
          <a:xfrm>
            <a:off x="1" y="1620000"/>
            <a:ext cx="3888622" cy="2564738"/>
          </a:xfrm>
          <a:prstGeom prst="rect">
            <a:avLst/>
          </a:prstGeom>
        </p:spPr>
      </p:pic>
      <p:sp>
        <p:nvSpPr>
          <p:cNvPr id="4" name="标题 1">
            <a:extLst>
              <a:ext uri="{FF2B5EF4-FFF2-40B4-BE49-F238E27FC236}">
                <a16:creationId xmlns:a16="http://schemas.microsoft.com/office/drawing/2014/main" id="{32B5A293-7B66-3F51-A6CA-084AC2FEDC0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23339455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E5EA4-DE76-F584-C58B-B6B0649A874F}"/>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F24C571-778E-5F43-15B7-5F5B5A25742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Vertical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390738E0-C456-2D04-6D42-AA8C3177EDE7}"/>
              </a:ext>
            </a:extLst>
          </p:cNvPr>
          <p:cNvSpPr txBox="1"/>
          <p:nvPr/>
        </p:nvSpPr>
        <p:spPr>
          <a:xfrm>
            <a:off x="3384000" y="1080000"/>
            <a:ext cx="8696140" cy="5355312"/>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SUAVE.Components.Wings.Vertical_Tail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vertical_stabilizer</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1.91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7.777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8.19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27.316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[[28.79, 0, 1.54]] </a:t>
            </a:r>
            <a:r>
              <a:rPr lang="en-US" altLang="zh-CN" dirty="0">
                <a:solidFill>
                  <a:srgbClr val="002060"/>
                </a:solidFill>
                <a:latin typeface="Consolas" panose="020B0609020204030204" pitchFamily="49" charset="0"/>
              </a:rPr>
              <a:t>* </a:t>
            </a:r>
            <a:r>
              <a:rPr lang="en-US" altLang="zh-CN" dirty="0" err="1">
                <a:solidFill>
                  <a:srgbClr val="002060"/>
                </a:solidFill>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False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8" name="图片 7">
            <a:extLst>
              <a:ext uri="{FF2B5EF4-FFF2-40B4-BE49-F238E27FC236}">
                <a16:creationId xmlns:a16="http://schemas.microsoft.com/office/drawing/2014/main" id="{807DDA5A-1384-32D4-7F3E-39221E3CB823}"/>
              </a:ext>
            </a:extLst>
          </p:cNvPr>
          <p:cNvPicPr>
            <a:picLocks noChangeAspect="1"/>
          </p:cNvPicPr>
          <p:nvPr/>
        </p:nvPicPr>
        <p:blipFill>
          <a:blip r:embed="rId3"/>
          <a:stretch>
            <a:fillRect/>
          </a:stretch>
        </p:blipFill>
        <p:spPr>
          <a:xfrm>
            <a:off x="1" y="1620000"/>
            <a:ext cx="3797300" cy="2524035"/>
          </a:xfrm>
          <a:prstGeom prst="rect">
            <a:avLst/>
          </a:prstGeom>
        </p:spPr>
      </p:pic>
      <p:sp>
        <p:nvSpPr>
          <p:cNvPr id="4" name="标题 1">
            <a:extLst>
              <a:ext uri="{FF2B5EF4-FFF2-40B4-BE49-F238E27FC236}">
                <a16:creationId xmlns:a16="http://schemas.microsoft.com/office/drawing/2014/main" id="{55566A3D-080E-802F-F70A-0A8B68196D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440112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E6683-9025-4FCB-6956-07F2BC82F87B}"/>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9B2B803-58D7-95F0-0E31-721CE2ADD488}"/>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Fuselage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DB96CA57-5B78-C7EF-8BBF-0007B7DD8DB5}"/>
              </a:ext>
            </a:extLst>
          </p:cNvPr>
          <p:cNvPicPr>
            <a:picLocks noChangeAspect="1"/>
          </p:cNvPicPr>
          <p:nvPr/>
        </p:nvPicPr>
        <p:blipFill>
          <a:blip r:embed="rId3"/>
          <a:stretch>
            <a:fillRect/>
          </a:stretch>
        </p:blipFill>
        <p:spPr>
          <a:xfrm>
            <a:off x="0" y="1620000"/>
            <a:ext cx="3837756" cy="2564610"/>
          </a:xfrm>
          <a:prstGeom prst="rect">
            <a:avLst/>
          </a:prstGeom>
        </p:spPr>
      </p:pic>
      <p:sp>
        <p:nvSpPr>
          <p:cNvPr id="6" name="文本框 5">
            <a:extLst>
              <a:ext uri="{FF2B5EF4-FFF2-40B4-BE49-F238E27FC236}">
                <a16:creationId xmlns:a16="http://schemas.microsoft.com/office/drawing/2014/main" id="{7822B842-406B-555E-CAE3-BEAB3BD61779}"/>
              </a:ext>
            </a:extLst>
          </p:cNvPr>
          <p:cNvSpPr txBox="1"/>
          <p:nvPr/>
        </p:nvSpPr>
        <p:spPr>
          <a:xfrm>
            <a:off x="3383999" y="1080000"/>
            <a:ext cx="8474625" cy="5632311"/>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    fuselage = </a:t>
            </a:r>
            <a:r>
              <a:rPr lang="en-US" altLang="zh-CN" dirty="0" err="1"/>
              <a:t>SUAVE.Components.Fuselages.Fuselage</a:t>
            </a:r>
            <a:r>
              <a:rPr lang="en-US" altLang="zh-CN" dirty="0"/>
              <a:t>()</a:t>
            </a:r>
          </a:p>
          <a:p>
            <a:r>
              <a:rPr lang="en-US" altLang="zh-CN" dirty="0"/>
              <a:t>    </a:t>
            </a:r>
            <a:r>
              <a:rPr lang="en-US" altLang="zh-CN" dirty="0" err="1"/>
              <a:t>fuselage.tag</a:t>
            </a:r>
            <a:r>
              <a:rPr lang="en-US" altLang="zh-CN" dirty="0"/>
              <a:t> = 'fuselage'</a:t>
            </a:r>
          </a:p>
          <a:p>
            <a:endParaRPr lang="en-US" altLang="zh-CN" dirty="0"/>
          </a:p>
          <a:p>
            <a:r>
              <a:rPr lang="en-US" altLang="zh-CN" dirty="0"/>
              <a:t>    </a:t>
            </a:r>
            <a:r>
              <a:rPr lang="en-US" altLang="zh-CN" dirty="0" err="1"/>
              <a:t>fuselage.fineness.nose</a:t>
            </a:r>
            <a:r>
              <a:rPr lang="en-US" altLang="zh-CN" dirty="0"/>
              <a:t>         = 1.6</a:t>
            </a:r>
          </a:p>
          <a:p>
            <a:r>
              <a:rPr lang="en-US" altLang="zh-CN" dirty="0"/>
              <a:t>    </a:t>
            </a:r>
            <a:r>
              <a:rPr lang="en-US" altLang="zh-CN" dirty="0" err="1"/>
              <a:t>fuselage.fineness.tail</a:t>
            </a:r>
            <a:r>
              <a:rPr lang="en-US" altLang="zh-CN" dirty="0"/>
              <a:t>         = 2.</a:t>
            </a:r>
          </a:p>
          <a:p>
            <a:r>
              <a:rPr lang="en-US" altLang="zh-CN" dirty="0"/>
              <a:t>    </a:t>
            </a:r>
            <a:r>
              <a:rPr lang="en-US" altLang="zh-CN" dirty="0" err="1"/>
              <a:t>fuselage.lengths.nose</a:t>
            </a:r>
            <a:r>
              <a:rPr lang="en-US" altLang="zh-CN" dirty="0"/>
              <a:t>          = 6.4   * </a:t>
            </a:r>
            <a:r>
              <a:rPr lang="en-US" altLang="zh-CN" dirty="0" err="1"/>
              <a:t>Units.meter</a:t>
            </a:r>
            <a:endParaRPr lang="en-US" altLang="zh-CN" dirty="0"/>
          </a:p>
          <a:p>
            <a:r>
              <a:rPr lang="en-US" altLang="zh-CN" dirty="0"/>
              <a:t>    </a:t>
            </a:r>
            <a:r>
              <a:rPr lang="en-US" altLang="zh-CN" dirty="0" err="1"/>
              <a:t>fuselage.lengths.tail</a:t>
            </a:r>
            <a:r>
              <a:rPr lang="en-US" altLang="zh-CN" dirty="0"/>
              <a:t>          = 8.0   * </a:t>
            </a:r>
            <a:r>
              <a:rPr lang="en-US" altLang="zh-CN" dirty="0" err="1"/>
              <a:t>Units.meter</a:t>
            </a:r>
            <a:endParaRPr lang="en-US" altLang="zh-CN" dirty="0"/>
          </a:p>
          <a:p>
            <a:r>
              <a:rPr lang="en-US" altLang="zh-CN" dirty="0"/>
              <a:t>    </a:t>
            </a:r>
            <a:r>
              <a:rPr lang="en-US" altLang="zh-CN" dirty="0" err="1"/>
              <a:t>fuselage.lengths.total</a:t>
            </a:r>
            <a:r>
              <a:rPr lang="en-US" altLang="zh-CN" dirty="0"/>
              <a:t>         = 38.02 * </a:t>
            </a:r>
            <a:r>
              <a:rPr lang="en-US" altLang="zh-CN" dirty="0" err="1"/>
              <a:t>Units.meter</a:t>
            </a:r>
            <a:endParaRPr lang="en-US" altLang="zh-CN" dirty="0"/>
          </a:p>
          <a:p>
            <a:r>
              <a:rPr lang="en-US" altLang="zh-CN" dirty="0"/>
              <a:t>    </a:t>
            </a:r>
            <a:r>
              <a:rPr lang="en-US" altLang="zh-CN" dirty="0" err="1"/>
              <a:t>fuselage.lengths.fore_space</a:t>
            </a:r>
            <a:r>
              <a:rPr lang="en-US" altLang="zh-CN" dirty="0"/>
              <a:t>    = 6.    * </a:t>
            </a:r>
            <a:r>
              <a:rPr lang="en-US" altLang="zh-CN" dirty="0" err="1"/>
              <a:t>Units.meter</a:t>
            </a:r>
            <a:endParaRPr lang="en-US" altLang="zh-CN" dirty="0"/>
          </a:p>
          <a:p>
            <a:r>
              <a:rPr lang="en-US" altLang="zh-CN" dirty="0"/>
              <a:t>    </a:t>
            </a:r>
            <a:r>
              <a:rPr lang="en-US" altLang="zh-CN" dirty="0" err="1"/>
              <a:t>fuselage.lengths.aft_space</a:t>
            </a:r>
            <a:r>
              <a:rPr lang="en-US" altLang="zh-CN" dirty="0"/>
              <a:t>     = 5.    * </a:t>
            </a:r>
            <a:r>
              <a:rPr lang="en-US" altLang="zh-CN" dirty="0" err="1"/>
              <a:t>Units.meter</a:t>
            </a:r>
            <a:endParaRPr lang="en-US" altLang="zh-CN" dirty="0"/>
          </a:p>
          <a:p>
            <a:r>
              <a:rPr lang="en-US" altLang="zh-CN" dirty="0"/>
              <a:t>    </a:t>
            </a:r>
            <a:r>
              <a:rPr lang="en-US" altLang="zh-CN" dirty="0" err="1"/>
              <a:t>fuselage.width</a:t>
            </a:r>
            <a:r>
              <a:rPr lang="en-US" altLang="zh-CN" dirty="0"/>
              <a:t>                 = 3.74  * </a:t>
            </a:r>
            <a:r>
              <a:rPr lang="en-US" altLang="zh-CN" dirty="0" err="1"/>
              <a:t>Units.meter</a:t>
            </a:r>
            <a:endParaRPr lang="en-US" altLang="zh-CN" dirty="0"/>
          </a:p>
          <a:p>
            <a:r>
              <a:rPr lang="en-US" altLang="zh-CN" dirty="0"/>
              <a:t>    </a:t>
            </a:r>
            <a:r>
              <a:rPr lang="en-US" altLang="zh-CN" dirty="0" err="1"/>
              <a:t>fuselage.heights.maximum</a:t>
            </a:r>
            <a:r>
              <a:rPr lang="en-US" altLang="zh-CN" dirty="0"/>
              <a:t>       = 3.74  * </a:t>
            </a:r>
            <a:r>
              <a:rPr lang="en-US" altLang="zh-CN" dirty="0" err="1"/>
              <a:t>Units.meter</a:t>
            </a:r>
            <a:endParaRPr lang="en-US" altLang="zh-CN" dirty="0"/>
          </a:p>
          <a:p>
            <a:r>
              <a:rPr lang="en-US" altLang="zh-CN" dirty="0"/>
              <a:t>    </a:t>
            </a:r>
            <a:r>
              <a:rPr lang="en-US" altLang="zh-CN" dirty="0" err="1"/>
              <a:t>fuselage.effective_diameter</a:t>
            </a:r>
            <a:r>
              <a:rPr lang="en-US" altLang="zh-CN" dirty="0"/>
              <a:t>    = 3.74     * </a:t>
            </a:r>
            <a:r>
              <a:rPr lang="en-US" altLang="zh-CN" dirty="0" err="1"/>
              <a:t>Units.meter</a:t>
            </a:r>
            <a:endParaRPr lang="en-US" altLang="zh-CN" dirty="0"/>
          </a:p>
          <a:p>
            <a:r>
              <a:rPr lang="en-US" altLang="zh-CN" dirty="0"/>
              <a:t>    </a:t>
            </a:r>
            <a:r>
              <a:rPr lang="en-US" altLang="zh-CN" dirty="0" err="1"/>
              <a:t>fuselage.areas.side_projected</a:t>
            </a:r>
            <a:r>
              <a:rPr lang="en-US" altLang="zh-CN" dirty="0"/>
              <a:t>  = 142.1948 * Units['meters**2'] </a:t>
            </a:r>
          </a:p>
          <a:p>
            <a:r>
              <a:rPr lang="en-US" altLang="zh-CN" dirty="0"/>
              <a:t>    </a:t>
            </a:r>
            <a:r>
              <a:rPr lang="en-US" altLang="zh-CN" dirty="0" err="1"/>
              <a:t>fuselage.areas.wetted</a:t>
            </a:r>
            <a:r>
              <a:rPr lang="en-US" altLang="zh-CN" dirty="0"/>
              <a:t>          = 446.718  * Units['meters**2'] </a:t>
            </a:r>
          </a:p>
          <a:p>
            <a:r>
              <a:rPr lang="en-US" altLang="zh-CN" dirty="0"/>
              <a:t>    </a:t>
            </a:r>
            <a:r>
              <a:rPr lang="en-US" altLang="zh-CN" dirty="0" err="1"/>
              <a:t>fuselage.areas.front_projected</a:t>
            </a:r>
            <a:r>
              <a:rPr lang="en-US" altLang="zh-CN" dirty="0"/>
              <a:t> = 12.57    * Units['meters**2'] </a:t>
            </a:r>
            <a:br>
              <a:rPr lang="en-US" altLang="zh-CN" dirty="0"/>
            </a:br>
            <a:endParaRPr lang="en-US" altLang="zh-CN" dirty="0"/>
          </a:p>
          <a:p>
            <a:r>
              <a:rPr lang="en-US" altLang="zh-CN" dirty="0"/>
              <a:t>    </a:t>
            </a:r>
            <a:r>
              <a:rPr lang="en-US" altLang="zh-CN" dirty="0" err="1"/>
              <a:t>fuselage.differential_pressure</a:t>
            </a:r>
            <a:r>
              <a:rPr lang="en-US" altLang="zh-CN" dirty="0"/>
              <a:t> = 5.0e4 * </a:t>
            </a:r>
            <a:r>
              <a:rPr lang="en-US" altLang="zh-CN" dirty="0" err="1"/>
              <a:t>Units.pascal</a:t>
            </a:r>
            <a:endParaRPr lang="en-US" altLang="zh-CN" dirty="0"/>
          </a:p>
          <a:p>
            <a:r>
              <a:rPr lang="en-US" altLang="zh-CN" dirty="0"/>
              <a:t>    </a:t>
            </a:r>
          </a:p>
          <a:p>
            <a:r>
              <a:rPr lang="en-US" altLang="zh-CN" dirty="0"/>
              <a:t>    </a:t>
            </a:r>
            <a:r>
              <a:rPr lang="en-US" altLang="zh-CN" dirty="0" err="1"/>
              <a:t>vehicle.append_component</a:t>
            </a:r>
            <a:r>
              <a:rPr lang="en-US" altLang="zh-CN" dirty="0"/>
              <a:t>(fuselage)</a:t>
            </a:r>
          </a:p>
        </p:txBody>
      </p:sp>
      <p:sp>
        <p:nvSpPr>
          <p:cNvPr id="5" name="标题 1">
            <a:extLst>
              <a:ext uri="{FF2B5EF4-FFF2-40B4-BE49-F238E27FC236}">
                <a16:creationId xmlns:a16="http://schemas.microsoft.com/office/drawing/2014/main" id="{A2D14E50-5B0F-4895-8CB5-442814C0A47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433379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D4A34-5AAF-606E-A05F-03AAD1535D6E}"/>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035DBD64-8C84-AAFE-0702-3FBF22C7ED6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Nacelle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30569CAD-691F-C8F6-4351-22FD5403D288}"/>
              </a:ext>
            </a:extLst>
          </p:cNvPr>
          <p:cNvSpPr txBox="1"/>
          <p:nvPr/>
        </p:nvSpPr>
        <p:spPr>
          <a:xfrm>
            <a:off x="3398274" y="960840"/>
            <a:ext cx="8793726"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nacelle  = </a:t>
            </a:r>
            <a:r>
              <a:rPr lang="en-US" altLang="zh-CN" b="0" dirty="0" err="1">
                <a:solidFill>
                  <a:srgbClr val="002060"/>
                </a:solidFill>
                <a:effectLst/>
                <a:latin typeface="Consolas" panose="020B0609020204030204" pitchFamily="49" charset="0"/>
              </a:rPr>
              <a:t>SUAVE.Components.Nacelles.Nacelle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nacelle.tag</a:t>
            </a:r>
            <a:r>
              <a:rPr lang="en-US" altLang="zh-CN" b="0" dirty="0">
                <a:solidFill>
                  <a:srgbClr val="002060"/>
                </a:solidFill>
                <a:effectLst/>
                <a:latin typeface="Consolas" panose="020B0609020204030204" pitchFamily="49" charset="0"/>
              </a:rPr>
              <a:t>                   = 'nacelle_1'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nacelle.length</a:t>
            </a:r>
            <a:r>
              <a:rPr lang="en-US" altLang="zh-CN" b="0" dirty="0">
                <a:solidFill>
                  <a:srgbClr val="002060"/>
                </a:solidFill>
                <a:effectLst/>
                <a:latin typeface="Consolas" panose="020B0609020204030204" pitchFamily="49" charset="0"/>
              </a:rPr>
              <a:t>                = 2.71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nacelle.inlet_diameter</a:t>
            </a:r>
            <a:r>
              <a:rPr lang="en-US" altLang="zh-CN" b="0" dirty="0">
                <a:solidFill>
                  <a:srgbClr val="002060"/>
                </a:solidFill>
                <a:effectLst/>
                <a:latin typeface="Consolas" panose="020B0609020204030204" pitchFamily="49" charset="0"/>
              </a:rPr>
              <a:t>        = 1.90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              = 2.05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nacelle.areas.wetted</a:t>
            </a:r>
            <a:r>
              <a:rPr lang="en-US" altLang="zh-CN" b="0" dirty="0">
                <a:solidFill>
                  <a:srgbClr val="002060"/>
                </a:solidFill>
                <a:effectLst/>
                <a:latin typeface="Consolas" panose="020B0609020204030204" pitchFamily="49" charset="0"/>
              </a:rPr>
              <a:t> = 1.1*</a:t>
            </a:r>
            <a:r>
              <a:rPr lang="en-US" altLang="zh-CN" b="0" dirty="0" err="1">
                <a:solidFill>
                  <a:srgbClr val="002060"/>
                </a:solidFill>
                <a:effectLst/>
                <a:latin typeface="Consolas" panose="020B0609020204030204" pitchFamily="49" charset="0"/>
              </a:rPr>
              <a:t>np.pi</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nacelle.length</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nacelle.origin</a:t>
            </a:r>
            <a:r>
              <a:rPr lang="en-US" altLang="zh-CN" b="0" dirty="0">
                <a:solidFill>
                  <a:srgbClr val="002060"/>
                </a:solidFill>
                <a:effectLst/>
                <a:latin typeface="Consolas" panose="020B0609020204030204" pitchFamily="49" charset="0"/>
              </a:rPr>
              <a:t>                = [[13.72, -4.86,-1.9]]</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nacelle.flow_through</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SUAVE.Components.Airfoils.Airfoil</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nacelle_airfoil.naca_4_series_airfoil = '2410'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nacelle.append_airfoil</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nacelle_2                     = </a:t>
            </a:r>
            <a:r>
              <a:rPr lang="en-US" altLang="zh-CN" b="0" dirty="0" err="1">
                <a:solidFill>
                  <a:srgbClr val="002060"/>
                </a:solidFill>
                <a:effectLst/>
                <a:latin typeface="Consolas" panose="020B0609020204030204" pitchFamily="49" charset="0"/>
              </a:rPr>
              <a:t>deepcopy</a:t>
            </a:r>
            <a:r>
              <a:rPr lang="en-US" altLang="zh-CN" b="0" dirty="0">
                <a:solidFill>
                  <a:srgbClr val="002060"/>
                </a:solidFill>
                <a:effectLst/>
                <a:latin typeface="Consolas" panose="020B0609020204030204" pitchFamily="49" charset="0"/>
              </a:rPr>
              <a:t>(nacelle)</a:t>
            </a:r>
          </a:p>
          <a:p>
            <a:pPr>
              <a:buNone/>
            </a:pPr>
            <a:r>
              <a:rPr lang="en-US" altLang="zh-CN" b="0" dirty="0">
                <a:solidFill>
                  <a:srgbClr val="002060"/>
                </a:solidFill>
                <a:effectLst/>
                <a:latin typeface="Consolas" panose="020B0609020204030204" pitchFamily="49" charset="0"/>
              </a:rPr>
              <a:t>    nacelle_2.tag                 = 'nacelle_2'</a:t>
            </a:r>
          </a:p>
          <a:p>
            <a:pPr>
              <a:buNone/>
            </a:pPr>
            <a:r>
              <a:rPr lang="en-US" altLang="zh-CN" b="0" dirty="0">
                <a:solidFill>
                  <a:srgbClr val="002060"/>
                </a:solidFill>
                <a:effectLst/>
                <a:latin typeface="Consolas" panose="020B0609020204030204" pitchFamily="49" charset="0"/>
              </a:rPr>
              <a:t>    nacelle_2.origin              = [[13.72, 4.86,-1.9]]</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(nacelle_2)     </a:t>
            </a:r>
          </a:p>
        </p:txBody>
      </p:sp>
      <p:pic>
        <p:nvPicPr>
          <p:cNvPr id="6" name="图片 5">
            <a:extLst>
              <a:ext uri="{FF2B5EF4-FFF2-40B4-BE49-F238E27FC236}">
                <a16:creationId xmlns:a16="http://schemas.microsoft.com/office/drawing/2014/main" id="{E217C5E0-F2FD-63F2-1F46-5D1851DFD4EC}"/>
              </a:ext>
            </a:extLst>
          </p:cNvPr>
          <p:cNvPicPr>
            <a:picLocks noChangeAspect="1"/>
          </p:cNvPicPr>
          <p:nvPr/>
        </p:nvPicPr>
        <p:blipFill>
          <a:blip r:embed="rId3"/>
          <a:stretch>
            <a:fillRect/>
          </a:stretch>
        </p:blipFill>
        <p:spPr>
          <a:xfrm>
            <a:off x="0" y="1620000"/>
            <a:ext cx="3901288" cy="2590009"/>
          </a:xfrm>
          <a:prstGeom prst="rect">
            <a:avLst/>
          </a:prstGeom>
        </p:spPr>
      </p:pic>
      <p:sp>
        <p:nvSpPr>
          <p:cNvPr id="4" name="标题 1">
            <a:extLst>
              <a:ext uri="{FF2B5EF4-FFF2-40B4-BE49-F238E27FC236}">
                <a16:creationId xmlns:a16="http://schemas.microsoft.com/office/drawing/2014/main" id="{C7483B07-3882-0E15-7241-E5340207514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1628876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499A-766C-3CF7-4C25-99484B8B85CB}"/>
            </a:ext>
          </a:extLst>
        </p:cNvPr>
        <p:cNvGrpSpPr/>
        <p:nvPr/>
      </p:nvGrpSpPr>
      <p:grpSpPr>
        <a:xfrm>
          <a:off x="0" y="0"/>
          <a:ext cx="0" cy="0"/>
          <a:chOff x="0" y="0"/>
          <a:chExt cx="0" cy="0"/>
        </a:xfrm>
      </p:grpSpPr>
      <p:sp>
        <p:nvSpPr>
          <p:cNvPr id="16" name="矩形: 圆角 15">
            <a:extLst>
              <a:ext uri="{FF2B5EF4-FFF2-40B4-BE49-F238E27FC236}">
                <a16:creationId xmlns:a16="http://schemas.microsoft.com/office/drawing/2014/main" id="{0BF163F0-43AE-4D5A-B5F8-9846C8A55AA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3F1E08B2-4436-7DBB-5AD8-511B606C9D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F382DEE1-5821-4BD7-499E-F9DCA2AD50E5}"/>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3D82785-7D12-196E-5C80-81F4123F0EE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35FD8F9A-4EFA-B43E-0F53-6E71409E2C7C}"/>
              </a:ext>
            </a:extLst>
          </p:cNvPr>
          <p:cNvSpPr txBox="1"/>
          <p:nvPr/>
        </p:nvSpPr>
        <p:spPr>
          <a:xfrm>
            <a:off x="4320000" y="1201359"/>
            <a:ext cx="7787857" cy="2585323"/>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turbofan = </a:t>
            </a:r>
            <a:r>
              <a:rPr lang="en-US" altLang="zh-CN" dirty="0" err="1"/>
              <a:t>SUAVE.Components.Energy.Networks.Turbofan</a:t>
            </a:r>
            <a:r>
              <a:rPr lang="en-US" altLang="zh-CN" dirty="0"/>
              <a:t>()</a:t>
            </a:r>
          </a:p>
          <a:p>
            <a:r>
              <a:rPr lang="en-US" altLang="zh-CN" dirty="0" err="1"/>
              <a:t>turbofan.tag</a:t>
            </a:r>
            <a:r>
              <a:rPr lang="en-US" altLang="zh-CN" dirty="0"/>
              <a:t> = 'turbofan'</a:t>
            </a:r>
          </a:p>
          <a:p>
            <a:r>
              <a:rPr lang="en-US" altLang="zh-CN" dirty="0"/>
              <a:t>    </a:t>
            </a:r>
          </a:p>
          <a:p>
            <a:r>
              <a:rPr lang="en-US" altLang="zh-CN" dirty="0" err="1"/>
              <a:t>turbofan.number_of_engines</a:t>
            </a:r>
            <a:r>
              <a:rPr lang="en-US" altLang="zh-CN" dirty="0"/>
              <a:t> = 2</a:t>
            </a:r>
          </a:p>
          <a:p>
            <a:r>
              <a:rPr lang="en-US" altLang="zh-CN" dirty="0" err="1"/>
              <a:t>turbofan.bypass_ratio</a:t>
            </a:r>
            <a:r>
              <a:rPr lang="en-US" altLang="zh-CN" dirty="0"/>
              <a:t>      = 5.4</a:t>
            </a:r>
          </a:p>
          <a:p>
            <a:r>
              <a:rPr lang="en-US" altLang="zh-CN" dirty="0" err="1"/>
              <a:t>turbofan.origin</a:t>
            </a:r>
            <a:r>
              <a:rPr lang="en-US" altLang="zh-CN" dirty="0"/>
              <a:t>            = </a:t>
            </a:r>
          </a:p>
          <a:p>
            <a:r>
              <a:rPr lang="en-US" altLang="zh-CN" dirty="0"/>
              <a:t>      [[13.72, 4.86,-1.9],[13.72, -4.86,-1.9]] * </a:t>
            </a:r>
            <a:r>
              <a:rPr lang="en-US" altLang="zh-CN" dirty="0" err="1"/>
              <a:t>Units.meter</a:t>
            </a:r>
            <a:br>
              <a:rPr lang="en-US" altLang="zh-CN" dirty="0"/>
            </a:br>
            <a:endParaRPr lang="en-US" altLang="zh-CN" dirty="0"/>
          </a:p>
          <a:p>
            <a:r>
              <a:rPr lang="en-US" altLang="zh-CN" dirty="0" err="1"/>
              <a:t>turbofan.working_fluid</a:t>
            </a:r>
            <a:r>
              <a:rPr lang="en-US" altLang="zh-CN" dirty="0"/>
              <a:t> = </a:t>
            </a:r>
            <a:r>
              <a:rPr lang="en-US" altLang="zh-CN" dirty="0" err="1"/>
              <a:t>SUAVE.Attributes.Gases.Air</a:t>
            </a:r>
            <a:r>
              <a:rPr lang="en-US" altLang="zh-CN" dirty="0"/>
              <a:t>()</a:t>
            </a:r>
          </a:p>
        </p:txBody>
      </p:sp>
      <p:sp>
        <p:nvSpPr>
          <p:cNvPr id="15" name="文本框 14">
            <a:extLst>
              <a:ext uri="{FF2B5EF4-FFF2-40B4-BE49-F238E27FC236}">
                <a16:creationId xmlns:a16="http://schemas.microsoft.com/office/drawing/2014/main" id="{45C0D591-E25C-04F7-1093-A7091A2C00C7}"/>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954568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2CB46-B4F6-8294-918F-7A22F2E3F70D}"/>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88FDFAC5-AA1E-8B57-0925-3C7AD449C72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D7C9664D-2AAB-04E9-A847-199946E0BA53}"/>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47EB4-7CA2-41E9-233A-82DCA3BD317B}"/>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E3A06A42-46CF-8F92-F18D-2BB5468B851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6F75028-EF82-3567-8F7E-16E10C316A34}"/>
              </a:ext>
            </a:extLst>
          </p:cNvPr>
          <p:cNvSpPr txBox="1"/>
          <p:nvPr/>
        </p:nvSpPr>
        <p:spPr>
          <a:xfrm>
            <a:off x="4320000" y="794708"/>
            <a:ext cx="7656842" cy="39703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ram = </a:t>
            </a:r>
            <a:r>
              <a:rPr lang="en-US" altLang="zh-CN" dirty="0" err="1"/>
              <a:t>SUAVE.Components.Energy.Converters.Ram</a:t>
            </a:r>
            <a:r>
              <a:rPr lang="en-US" altLang="zh-CN" dirty="0"/>
              <a:t>()</a:t>
            </a:r>
          </a:p>
          <a:p>
            <a:r>
              <a:rPr lang="en-US" altLang="zh-CN" dirty="0" err="1"/>
              <a:t>ram.tag</a:t>
            </a:r>
            <a:r>
              <a:rPr lang="en-US" altLang="zh-CN" dirty="0"/>
              <a:t> = 'ram'</a:t>
            </a:r>
          </a:p>
          <a:p>
            <a:endParaRPr lang="en-US" altLang="zh-CN" dirty="0"/>
          </a:p>
          <a:p>
            <a:r>
              <a:rPr lang="en-US" altLang="zh-CN" dirty="0" err="1"/>
              <a:t>turbofan.append</a:t>
            </a:r>
            <a:r>
              <a:rPr lang="en-US" altLang="zh-CN" dirty="0"/>
              <a:t>(ram)</a:t>
            </a:r>
          </a:p>
          <a:p>
            <a:endParaRPr lang="en-US" altLang="zh-CN" dirty="0"/>
          </a:p>
          <a:p>
            <a:endParaRPr lang="en-US" altLang="zh-CN" dirty="0"/>
          </a:p>
          <a:p>
            <a:r>
              <a:rPr lang="en-US" altLang="zh-CN" dirty="0" err="1"/>
              <a:t>inlet_nozzle</a:t>
            </a:r>
            <a:r>
              <a:rPr lang="en-US" altLang="zh-CN" dirty="0"/>
              <a:t> =           </a:t>
            </a:r>
          </a:p>
          <a:p>
            <a:r>
              <a:rPr lang="en-US" altLang="zh-CN" dirty="0"/>
              <a:t>    </a:t>
            </a:r>
            <a:r>
              <a:rPr lang="en-US" altLang="zh-CN" dirty="0" err="1"/>
              <a:t>SUAVE.Components.Energy.Converters.Compression_Nozzle</a:t>
            </a:r>
            <a:r>
              <a:rPr lang="en-US" altLang="zh-CN" dirty="0"/>
              <a:t>()</a:t>
            </a:r>
          </a:p>
          <a:p>
            <a:r>
              <a:rPr lang="en-US" altLang="zh-CN" dirty="0" err="1"/>
              <a:t>inlet_nozzle.tag</a:t>
            </a:r>
            <a:r>
              <a:rPr lang="en-US" altLang="zh-CN" dirty="0"/>
              <a:t> = '</a:t>
            </a:r>
            <a:r>
              <a:rPr lang="en-US" altLang="zh-CN" dirty="0" err="1"/>
              <a:t>inlet_nozzle</a:t>
            </a:r>
            <a:r>
              <a:rPr lang="en-US" altLang="zh-CN" dirty="0"/>
              <a:t>'</a:t>
            </a:r>
          </a:p>
          <a:p>
            <a:endParaRPr lang="en-US" altLang="zh-CN" dirty="0"/>
          </a:p>
          <a:p>
            <a:r>
              <a:rPr lang="en-US" altLang="zh-CN" dirty="0" err="1"/>
              <a:t>inlet_nozzle.polytropic_efficiency</a:t>
            </a:r>
            <a:r>
              <a:rPr lang="en-US" altLang="zh-CN" dirty="0"/>
              <a:t> = 0.98</a:t>
            </a:r>
          </a:p>
          <a:p>
            <a:r>
              <a:rPr lang="en-US" altLang="zh-CN" dirty="0" err="1"/>
              <a:t>inlet_nozzle.pressure_ratio</a:t>
            </a:r>
            <a:r>
              <a:rPr lang="en-US" altLang="zh-CN" dirty="0"/>
              <a:t>        = 0.98</a:t>
            </a:r>
          </a:p>
          <a:p>
            <a:endParaRPr lang="en-US" altLang="zh-CN" dirty="0"/>
          </a:p>
          <a:p>
            <a:r>
              <a:rPr lang="en-US" altLang="zh-CN" dirty="0" err="1"/>
              <a:t>turbofan.append</a:t>
            </a:r>
            <a:r>
              <a:rPr lang="en-US" altLang="zh-CN" dirty="0"/>
              <a:t>(</a:t>
            </a:r>
            <a:r>
              <a:rPr lang="en-US" altLang="zh-CN" dirty="0" err="1"/>
              <a:t>inlet_nozzle</a:t>
            </a:r>
            <a:r>
              <a:rPr lang="en-US" altLang="zh-CN" dirty="0"/>
              <a:t>)</a:t>
            </a:r>
          </a:p>
        </p:txBody>
      </p:sp>
      <p:sp>
        <p:nvSpPr>
          <p:cNvPr id="8" name="文本框 7">
            <a:extLst>
              <a:ext uri="{FF2B5EF4-FFF2-40B4-BE49-F238E27FC236}">
                <a16:creationId xmlns:a16="http://schemas.microsoft.com/office/drawing/2014/main" id="{719458CC-5C60-3401-2D96-FDD16BE2323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Ram  </a:t>
            </a:r>
            <a:r>
              <a:rPr lang="zh-CN" altLang="en-US" sz="2000" dirty="0">
                <a:solidFill>
                  <a:srgbClr val="C00000"/>
                </a:solidFill>
              </a:rPr>
              <a:t>➡️</a:t>
            </a:r>
            <a:r>
              <a:rPr lang="en-US" altLang="zh-CN" sz="2000" b="1" dirty="0">
                <a:solidFill>
                  <a:srgbClr val="C0000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80752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08F55-1754-C3B3-034C-5B8BD43C14B9}"/>
            </a:ext>
          </a:extLst>
        </p:cNvPr>
        <p:cNvGrpSpPr/>
        <p:nvPr/>
      </p:nvGrpSpPr>
      <p:grpSpPr>
        <a:xfrm>
          <a:off x="0" y="0"/>
          <a:ext cx="0" cy="0"/>
          <a:chOff x="0" y="0"/>
          <a:chExt cx="0" cy="0"/>
        </a:xfrm>
      </p:grpSpPr>
      <p:sp>
        <p:nvSpPr>
          <p:cNvPr id="7" name="矩形: 圆角 6">
            <a:extLst>
              <a:ext uri="{FF2B5EF4-FFF2-40B4-BE49-F238E27FC236}">
                <a16:creationId xmlns:a16="http://schemas.microsoft.com/office/drawing/2014/main" id="{99D911B5-570A-4DC1-5527-B3920C28EE5A}"/>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C9400B18-7923-E8D8-3B50-26FCFCCB79BC}"/>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8C0AB-7375-562A-9881-94FEAEA5ADC9}"/>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6B26E973-2AF4-E0F4-63C8-56290DAEE01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14541B00-EF21-EBA8-9317-8D9C316A4152}"/>
              </a:ext>
            </a:extLst>
          </p:cNvPr>
          <p:cNvSpPr txBox="1"/>
          <p:nvPr/>
        </p:nvSpPr>
        <p:spPr>
          <a:xfrm>
            <a:off x="4320000" y="794708"/>
            <a:ext cx="7376700"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fan = </a:t>
            </a:r>
            <a:r>
              <a:rPr lang="en-US" altLang="zh-CN" dirty="0" err="1"/>
              <a:t>SUAVE.Components.Energy.Converters.Fan</a:t>
            </a:r>
            <a:r>
              <a:rPr lang="en-US" altLang="zh-CN" dirty="0"/>
              <a:t>()   </a:t>
            </a:r>
          </a:p>
          <a:p>
            <a:r>
              <a:rPr lang="en-US" altLang="zh-CN" dirty="0" err="1"/>
              <a:t>fan.tag</a:t>
            </a:r>
            <a:r>
              <a:rPr lang="en-US" altLang="zh-CN" dirty="0"/>
              <a:t> = 'fan'</a:t>
            </a:r>
          </a:p>
          <a:p>
            <a:r>
              <a:rPr lang="en-US" altLang="zh-CN" dirty="0" err="1"/>
              <a:t>fan.polytropic_efficiency</a:t>
            </a:r>
            <a:r>
              <a:rPr lang="en-US" altLang="zh-CN" dirty="0"/>
              <a:t> = 0.93</a:t>
            </a:r>
          </a:p>
          <a:p>
            <a:r>
              <a:rPr lang="en-US" altLang="zh-CN" dirty="0" err="1"/>
              <a:t>fan.pressure_ratio</a:t>
            </a:r>
            <a:r>
              <a:rPr lang="en-US" altLang="zh-CN" dirty="0"/>
              <a:t>        = 1.7    </a:t>
            </a:r>
          </a:p>
          <a:p>
            <a:r>
              <a:rPr lang="en-US" altLang="zh-CN" dirty="0" err="1"/>
              <a:t>turbofan.append</a:t>
            </a:r>
            <a:r>
              <a:rPr lang="en-US" altLang="zh-CN" dirty="0"/>
              <a:t>(fan)</a:t>
            </a:r>
          </a:p>
          <a:p>
            <a:endParaRPr lang="en-US" altLang="zh-CN" dirty="0"/>
          </a:p>
          <a:p>
            <a:r>
              <a:rPr lang="en-US" altLang="zh-CN" dirty="0"/>
              <a:t>compressor =</a:t>
            </a:r>
          </a:p>
          <a:p>
            <a:r>
              <a:rPr lang="en-US" altLang="zh-CN" dirty="0"/>
              <a:t>      </a:t>
            </a:r>
            <a:r>
              <a:rPr lang="en-US" altLang="zh-CN" dirty="0" err="1"/>
              <a:t>SUAVE.Components.Energy.Converters.Compressor</a:t>
            </a:r>
            <a:r>
              <a:rPr lang="en-US" altLang="zh-CN" dirty="0"/>
              <a:t>()    </a:t>
            </a:r>
          </a:p>
          <a:p>
            <a:r>
              <a:rPr lang="en-US" altLang="zh-CN" dirty="0" err="1"/>
              <a:t>compressor.tag</a:t>
            </a:r>
            <a:r>
              <a:rPr lang="en-US" altLang="zh-CN" dirty="0"/>
              <a:t> = '</a:t>
            </a:r>
            <a:r>
              <a:rPr lang="en-US" altLang="zh-CN" dirty="0" err="1"/>
              <a:t>low_pressure_compressor</a:t>
            </a:r>
            <a:r>
              <a:rPr lang="en-US" altLang="zh-CN" dirty="0"/>
              <a:t>'</a:t>
            </a:r>
          </a:p>
          <a:p>
            <a:r>
              <a:rPr lang="en-US" altLang="zh-CN" dirty="0" err="1"/>
              <a:t>compressor.polytropic_efficiency</a:t>
            </a:r>
            <a:r>
              <a:rPr lang="en-US" altLang="zh-CN" dirty="0"/>
              <a:t> = 0.91</a:t>
            </a:r>
          </a:p>
          <a:p>
            <a:r>
              <a:rPr lang="en-US" altLang="zh-CN" dirty="0" err="1"/>
              <a:t>compressor.pressure_ratio</a:t>
            </a:r>
            <a:r>
              <a:rPr lang="en-US" altLang="zh-CN" dirty="0"/>
              <a:t>        = 1.14   </a:t>
            </a:r>
          </a:p>
          <a:p>
            <a:r>
              <a:rPr lang="en-US" altLang="zh-CN" dirty="0" err="1"/>
              <a:t>turbofan.append</a:t>
            </a:r>
            <a:r>
              <a:rPr lang="en-US" altLang="zh-CN" dirty="0"/>
              <a:t>(compressor)</a:t>
            </a:r>
          </a:p>
        </p:txBody>
      </p:sp>
      <p:sp>
        <p:nvSpPr>
          <p:cNvPr id="6" name="文本框 5">
            <a:extLst>
              <a:ext uri="{FF2B5EF4-FFF2-40B4-BE49-F238E27FC236}">
                <a16:creationId xmlns:a16="http://schemas.microsoft.com/office/drawing/2014/main" id="{48E5A833-7643-8F3C-DEEE-2F8F56FF934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Fan</a:t>
            </a:r>
            <a:r>
              <a:rPr lang="en-US" altLang="zh-CN" sz="2000" b="1" dirty="0">
                <a:solidFill>
                  <a:srgbClr val="002060"/>
                </a:solidFill>
                <a:latin typeface="微软雅黑" panose="020B0503020204020204" pitchFamily="34" charset="-122"/>
                <a:ea typeface="微软雅黑" panose="020B0503020204020204" pitchFamily="34" charset="-122"/>
              </a:rPr>
              <a:t>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Low Pressure Compressor</a:t>
            </a:r>
            <a:r>
              <a:rPr lang="en-US" altLang="zh-CN" sz="2000" b="1" dirty="0">
                <a:solidFill>
                  <a:srgbClr val="002060"/>
                </a:solidFill>
                <a:latin typeface="微软雅黑" panose="020B0503020204020204" pitchFamily="34" charset="-122"/>
                <a:ea typeface="微软雅黑" panose="020B0503020204020204" pitchFamily="34" charset="-122"/>
              </a:rPr>
              <a:t>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76937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99EAE-7EB1-7453-4B6D-58D12E2D483D}"/>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549FC8-41B8-A459-17A2-C5AC82340462}"/>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B06B9AF4-278D-A0D8-05ED-C33A31AC61DD}"/>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95C6D6E-EDF7-89F8-DC24-3C3F688B795D}"/>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A756F0E3-90E1-9F0F-5344-3F3397A4166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C0E00D0E-E0FA-2C75-3054-27E41305BF9B}"/>
              </a:ext>
            </a:extLst>
          </p:cNvPr>
          <p:cNvSpPr txBox="1"/>
          <p:nvPr/>
        </p:nvSpPr>
        <p:spPr>
          <a:xfrm>
            <a:off x="4320000" y="794708"/>
            <a:ext cx="7376700" cy="2308324"/>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compressor =</a:t>
            </a:r>
          </a:p>
          <a:p>
            <a:r>
              <a:rPr lang="en-US" altLang="zh-CN" dirty="0"/>
              <a:t>      </a:t>
            </a:r>
            <a:r>
              <a:rPr lang="en-US" altLang="zh-CN" dirty="0" err="1"/>
              <a:t>SUAVE.Components.Energy.Converters.Compressor</a:t>
            </a:r>
            <a:r>
              <a:rPr lang="en-US" altLang="zh-CN" dirty="0"/>
              <a:t>()</a:t>
            </a:r>
          </a:p>
          <a:p>
            <a:r>
              <a:rPr lang="en-US" altLang="zh-CN" dirty="0" err="1"/>
              <a:t>compressor.tag</a:t>
            </a:r>
            <a:r>
              <a:rPr lang="en-US" altLang="zh-CN" dirty="0"/>
              <a:t> = '</a:t>
            </a:r>
            <a:r>
              <a:rPr lang="en-US" altLang="zh-CN" dirty="0" err="1"/>
              <a:t>high_pressure_compressor</a:t>
            </a:r>
            <a:r>
              <a:rPr lang="en-US" altLang="zh-CN" dirty="0"/>
              <a:t>'</a:t>
            </a:r>
          </a:p>
          <a:p>
            <a:endParaRPr lang="en-US" altLang="zh-CN" dirty="0"/>
          </a:p>
          <a:p>
            <a:r>
              <a:rPr lang="en-US" altLang="zh-CN" dirty="0" err="1"/>
              <a:t>compressor.polytropic_efficiency</a:t>
            </a:r>
            <a:r>
              <a:rPr lang="en-US" altLang="zh-CN" dirty="0"/>
              <a:t> = 0.91</a:t>
            </a:r>
          </a:p>
          <a:p>
            <a:r>
              <a:rPr lang="en-US" altLang="zh-CN" dirty="0" err="1"/>
              <a:t>compressor.pressure_ratio</a:t>
            </a:r>
            <a:r>
              <a:rPr lang="en-US" altLang="zh-CN" dirty="0"/>
              <a:t>        = 13.415 </a:t>
            </a:r>
          </a:p>
          <a:p>
            <a:endParaRPr lang="en-US" altLang="zh-CN" dirty="0"/>
          </a:p>
          <a:p>
            <a:r>
              <a:rPr lang="en-US" altLang="zh-CN" dirty="0" err="1"/>
              <a:t>turbofan.append</a:t>
            </a:r>
            <a:r>
              <a:rPr lang="en-US" altLang="zh-CN" dirty="0"/>
              <a:t>(compressor)</a:t>
            </a:r>
          </a:p>
        </p:txBody>
      </p:sp>
      <p:sp>
        <p:nvSpPr>
          <p:cNvPr id="2" name="文本框 1">
            <a:extLst>
              <a:ext uri="{FF2B5EF4-FFF2-40B4-BE49-F238E27FC236}">
                <a16:creationId xmlns:a16="http://schemas.microsoft.com/office/drawing/2014/main" id="{5BB1DB4D-10CB-8394-929E-3A55EB4B4791}"/>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755318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A1942-5096-D62B-E04E-A5FEE5B01AFF}"/>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9E445E2-A0D3-04CF-3180-FAADF351F7DC}"/>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5BE4B32-A7A7-65AC-A25A-052AD303A60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8A49B92D-D104-B802-4C2C-87A872A6D829}"/>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CA7357B4-6CC2-1EF0-8C4D-373A28AB1A2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F6C6D0EF-EE17-256C-3C01-B5D8D11B6EBB}"/>
              </a:ext>
            </a:extLst>
          </p:cNvPr>
          <p:cNvSpPr txBox="1"/>
          <p:nvPr/>
        </p:nvSpPr>
        <p:spPr>
          <a:xfrm>
            <a:off x="4320000" y="794708"/>
            <a:ext cx="7660114"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combustor =</a:t>
            </a:r>
          </a:p>
          <a:p>
            <a:r>
              <a:rPr lang="en-US" altLang="zh-CN" dirty="0"/>
              <a:t>    </a:t>
            </a:r>
            <a:r>
              <a:rPr lang="en-US" altLang="zh-CN" dirty="0" err="1"/>
              <a:t>SUAVE.Components.Energy.Converters.Combustor</a:t>
            </a:r>
            <a:r>
              <a:rPr lang="en-US" altLang="zh-CN" dirty="0"/>
              <a:t>()   </a:t>
            </a:r>
          </a:p>
          <a:p>
            <a:r>
              <a:rPr lang="en-US" altLang="zh-CN" dirty="0" err="1"/>
              <a:t>combustor.tag</a:t>
            </a:r>
            <a:r>
              <a:rPr lang="en-US" altLang="zh-CN" dirty="0"/>
              <a:t> = 'combustor'</a:t>
            </a:r>
          </a:p>
          <a:p>
            <a:endParaRPr lang="en-US" altLang="zh-CN" dirty="0"/>
          </a:p>
          <a:p>
            <a:r>
              <a:rPr lang="en-US" altLang="zh-CN" dirty="0" err="1"/>
              <a:t>combustor.efficiency</a:t>
            </a:r>
            <a:r>
              <a:rPr lang="en-US" altLang="zh-CN" dirty="0"/>
              <a:t>                = 0.99 </a:t>
            </a:r>
          </a:p>
          <a:p>
            <a:r>
              <a:rPr lang="en-US" altLang="zh-CN" dirty="0" err="1"/>
              <a:t>combustor.alphac</a:t>
            </a:r>
            <a:r>
              <a:rPr lang="en-US" altLang="zh-CN" dirty="0"/>
              <a:t>                    = 1.0   </a:t>
            </a:r>
          </a:p>
          <a:p>
            <a:r>
              <a:rPr lang="en-US" altLang="zh-CN" dirty="0" err="1"/>
              <a:t>combustor.turbine_inlet_temperature</a:t>
            </a:r>
            <a:r>
              <a:rPr lang="en-US" altLang="zh-CN" dirty="0"/>
              <a:t> = 1450 # K</a:t>
            </a:r>
          </a:p>
          <a:p>
            <a:r>
              <a:rPr lang="en-US" altLang="zh-CN" dirty="0" err="1"/>
              <a:t>combustor.pressure_ratio</a:t>
            </a:r>
            <a:r>
              <a:rPr lang="en-US" altLang="zh-CN" dirty="0"/>
              <a:t>            = 0.95</a:t>
            </a:r>
          </a:p>
          <a:p>
            <a:r>
              <a:rPr lang="en-US" altLang="zh-CN" dirty="0" err="1"/>
              <a:t>combustor.fuel_data</a:t>
            </a:r>
            <a:r>
              <a:rPr lang="en-US" altLang="zh-CN" dirty="0"/>
              <a:t>                 =</a:t>
            </a:r>
          </a:p>
          <a:p>
            <a:r>
              <a:rPr lang="en-US" altLang="zh-CN" dirty="0"/>
              <a:t>              </a:t>
            </a:r>
            <a:r>
              <a:rPr lang="en-US" altLang="zh-CN" dirty="0" err="1">
                <a:solidFill>
                  <a:srgbClr val="C00000"/>
                </a:solidFill>
              </a:rPr>
              <a:t>SUAVE.Attributes.Propellants.Jet_A</a:t>
            </a:r>
            <a:r>
              <a:rPr lang="en-US" altLang="zh-CN" dirty="0">
                <a:solidFill>
                  <a:srgbClr val="C00000"/>
                </a:solidFill>
              </a:rPr>
              <a:t>()</a:t>
            </a:r>
          </a:p>
          <a:p>
            <a:r>
              <a:rPr lang="en-US" altLang="zh-CN" dirty="0"/>
              <a:t>    </a:t>
            </a:r>
          </a:p>
          <a:p>
            <a:r>
              <a:rPr lang="en-US" altLang="zh-CN" dirty="0" err="1"/>
              <a:t>turbofan.append</a:t>
            </a:r>
            <a:r>
              <a:rPr lang="en-US" altLang="zh-CN" dirty="0"/>
              <a:t>(combustor)</a:t>
            </a:r>
          </a:p>
        </p:txBody>
      </p:sp>
      <p:sp>
        <p:nvSpPr>
          <p:cNvPr id="2" name="文本框 1">
            <a:extLst>
              <a:ext uri="{FF2B5EF4-FFF2-40B4-BE49-F238E27FC236}">
                <a16:creationId xmlns:a16="http://schemas.microsoft.com/office/drawing/2014/main" id="{74628B40-FADD-D545-7AC7-0D313277AA32}"/>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93827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BFC47-3CED-154D-E3E3-7D93B6024E73}"/>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344B24-556C-913D-071E-6382A84A2FA7}"/>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2219C350-C0C5-57B1-A9DC-E04B46A73F9B}"/>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5070746B-A20B-A780-B153-EFB2311CAE61}"/>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83DD1F7-5D19-375A-4239-C9C0C607CDE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4493DBEE-F8F8-528B-6494-2DF37887DB1C}"/>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high_pressure_turbine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a:t>
            </a:r>
          </a:p>
          <a:p>
            <a:endParaRPr lang="en-US" altLang="zh-CN" dirty="0"/>
          </a:p>
          <a:p>
            <a:r>
              <a:rPr lang="en-US" altLang="zh-CN" dirty="0" err="1"/>
              <a:t>turbofan.append</a:t>
            </a:r>
            <a:r>
              <a:rPr lang="en-US" altLang="zh-CN" dirty="0"/>
              <a:t>(turbine)  </a:t>
            </a:r>
          </a:p>
          <a:p>
            <a:endParaRPr lang="en-US" altLang="zh-CN" dirty="0"/>
          </a:p>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low_pressure_turbine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     </a:t>
            </a:r>
          </a:p>
          <a:p>
            <a:endParaRPr lang="en-US" altLang="zh-CN" dirty="0"/>
          </a:p>
          <a:p>
            <a:r>
              <a:rPr lang="en-US" altLang="zh-CN" dirty="0" err="1"/>
              <a:t>turbofan.append</a:t>
            </a:r>
            <a:r>
              <a:rPr lang="en-US" altLang="zh-CN" dirty="0"/>
              <a:t>(turbine)</a:t>
            </a:r>
          </a:p>
        </p:txBody>
      </p:sp>
      <p:sp>
        <p:nvSpPr>
          <p:cNvPr id="2" name="文本框 1">
            <a:extLst>
              <a:ext uri="{FF2B5EF4-FFF2-40B4-BE49-F238E27FC236}">
                <a16:creationId xmlns:a16="http://schemas.microsoft.com/office/drawing/2014/main" id="{8E32F51B-7F67-A9CC-2D0E-E05AC992C34F}"/>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096750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E7E49-05FA-D506-D2FC-DE2496B5ED94}"/>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258E426F-3268-0D83-2F42-62D4BBA76F1B}"/>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7093579D-2FFA-AD78-45D6-E9AA3A443FE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BAF01FE-6447-0CDA-F8E8-584C6DF3F0B3}"/>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292CD6F-1614-5FB9-28B7-515E98FA1B1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4509236-1B77-EFE9-5F25-3C369BD42FEF}"/>
              </a:ext>
            </a:extLst>
          </p:cNvPr>
          <p:cNvSpPr txBox="1"/>
          <p:nvPr/>
        </p:nvSpPr>
        <p:spPr>
          <a:xfrm>
            <a:off x="4320000" y="794708"/>
            <a:ext cx="7660114" cy="38318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nozzle =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core_nozzle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    </a:t>
            </a:r>
          </a:p>
          <a:p>
            <a:r>
              <a:rPr lang="en-US" altLang="zh-CN" dirty="0" err="1"/>
              <a:t>turbofan.append</a:t>
            </a:r>
            <a:r>
              <a:rPr lang="en-US" altLang="zh-CN" dirty="0"/>
              <a:t>(nozzle)</a:t>
            </a:r>
          </a:p>
          <a:p>
            <a:pPr>
              <a:lnSpc>
                <a:spcPct val="150000"/>
              </a:lnSpc>
            </a:pPr>
            <a:r>
              <a:rPr lang="en-US" altLang="zh-CN" dirty="0">
                <a:solidFill>
                  <a:srgbClr val="00B050"/>
                </a:solidFill>
              </a:rPr>
              <a:t>===========================================================</a:t>
            </a:r>
          </a:p>
          <a:p>
            <a:r>
              <a:rPr lang="en-US" altLang="zh-CN" dirty="0"/>
              <a:t>nozzle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fan_nozzle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a:t>
            </a:r>
          </a:p>
          <a:p>
            <a:r>
              <a:rPr lang="en-US" altLang="zh-CN" dirty="0" err="1"/>
              <a:t>turbofan.append</a:t>
            </a:r>
            <a:r>
              <a:rPr lang="en-US" altLang="zh-CN" dirty="0"/>
              <a:t>(nozzle)</a:t>
            </a:r>
          </a:p>
        </p:txBody>
      </p:sp>
      <p:sp>
        <p:nvSpPr>
          <p:cNvPr id="2" name="文本框 1">
            <a:extLst>
              <a:ext uri="{FF2B5EF4-FFF2-40B4-BE49-F238E27FC236}">
                <a16:creationId xmlns:a16="http://schemas.microsoft.com/office/drawing/2014/main" id="{4463D983-EE26-F5E5-64A3-F413CEAB4EB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89045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8510-885B-A43D-2B5F-6205B99260E0}"/>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3A025B3-33A7-0BAA-1176-1891D267EC2F}"/>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DC3E688-D20A-A931-73FC-72C269AFFC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E40C643C-2EA8-A973-072C-B9EE746C9A91}"/>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9891614-4328-EA3E-1493-6EADD5BE0DB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783B069D-7E7B-A0CA-736A-D76E9EE7437E}"/>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thrust = </a:t>
            </a:r>
            <a:r>
              <a:rPr lang="en-US" altLang="zh-CN" dirty="0" err="1"/>
              <a:t>SUAVE.Components.Energy.Processes.Thrust</a:t>
            </a:r>
            <a:r>
              <a:rPr lang="en-US" altLang="zh-CN" dirty="0"/>
              <a:t>()       </a:t>
            </a:r>
          </a:p>
          <a:p>
            <a:r>
              <a:rPr lang="en-US" altLang="zh-CN" dirty="0" err="1"/>
              <a:t>thrust.tag</a:t>
            </a:r>
            <a:r>
              <a:rPr lang="en-US" altLang="zh-CN" dirty="0"/>
              <a:t> ='</a:t>
            </a:r>
            <a:r>
              <a:rPr lang="en-US" altLang="zh-CN" dirty="0" err="1"/>
              <a:t>compute_thrust</a:t>
            </a:r>
            <a:r>
              <a:rPr lang="en-US" altLang="zh-CN" dirty="0"/>
              <a:t>'</a:t>
            </a:r>
          </a:p>
          <a:p>
            <a:endParaRPr lang="en-US" altLang="zh-CN" dirty="0"/>
          </a:p>
          <a:p>
            <a:r>
              <a:rPr lang="en-US" altLang="zh-CN" dirty="0" err="1"/>
              <a:t>thrust.total_design</a:t>
            </a:r>
            <a:r>
              <a:rPr lang="en-US" altLang="zh-CN" dirty="0"/>
              <a:t>             = 2*24000. * </a:t>
            </a:r>
            <a:r>
              <a:rPr lang="en-US" altLang="zh-CN" dirty="0" err="1"/>
              <a:t>Units.N</a:t>
            </a:r>
            <a:endParaRPr lang="en-US" altLang="zh-CN" dirty="0"/>
          </a:p>
          <a:p>
            <a:r>
              <a:rPr lang="en-US" altLang="zh-CN" dirty="0" err="1"/>
              <a:t>turbofan.thrust</a:t>
            </a:r>
            <a:r>
              <a:rPr lang="en-US" altLang="zh-CN" dirty="0"/>
              <a:t> = thrust</a:t>
            </a:r>
          </a:p>
          <a:p>
            <a:r>
              <a:rPr lang="en-US" altLang="zh-CN" dirty="0"/>
              <a:t>altitude      = 35000.0*</a:t>
            </a:r>
            <a:r>
              <a:rPr lang="en-US" altLang="zh-CN" dirty="0" err="1"/>
              <a:t>Units.ft</a:t>
            </a:r>
            <a:endParaRPr lang="en-US" altLang="zh-CN" dirty="0"/>
          </a:p>
          <a:p>
            <a:r>
              <a:rPr lang="en-US" altLang="zh-CN" dirty="0" err="1"/>
              <a:t>mach_number</a:t>
            </a:r>
            <a:r>
              <a:rPr lang="en-US" altLang="zh-CN" dirty="0"/>
              <a:t>   = 0.78     </a:t>
            </a:r>
          </a:p>
          <a:p>
            <a:r>
              <a:rPr lang="en-US" altLang="zh-CN" dirty="0"/>
              <a:t>Determine turbofan behavior at the design condition</a:t>
            </a:r>
          </a:p>
          <a:p>
            <a:r>
              <a:rPr lang="en-US" altLang="zh-CN" dirty="0" err="1"/>
              <a:t>turbofan_sizing</a:t>
            </a:r>
            <a:r>
              <a:rPr lang="en-US" altLang="zh-CN" dirty="0"/>
              <a:t>(</a:t>
            </a:r>
            <a:r>
              <a:rPr lang="en-US" altLang="zh-CN" dirty="0" err="1"/>
              <a:t>turbofan,mach_number,altitude</a:t>
            </a:r>
            <a:r>
              <a:rPr lang="en-US" altLang="zh-CN" dirty="0"/>
              <a:t>)</a:t>
            </a:r>
          </a:p>
          <a:p>
            <a:endParaRPr lang="en-US" altLang="zh-CN" dirty="0"/>
          </a:p>
          <a:p>
            <a:r>
              <a:rPr lang="en-US" altLang="zh-CN" dirty="0" err="1"/>
              <a:t>vehicle.append_component</a:t>
            </a:r>
            <a:r>
              <a:rPr lang="en-US" altLang="zh-CN" dirty="0"/>
              <a:t>(turbofan)</a:t>
            </a:r>
          </a:p>
          <a:p>
            <a:endParaRPr lang="en-US" altLang="zh-CN" dirty="0"/>
          </a:p>
          <a:p>
            <a:r>
              <a:rPr lang="en-US" altLang="zh-CN" dirty="0"/>
              <a:t>return vehicle</a:t>
            </a:r>
          </a:p>
        </p:txBody>
      </p:sp>
      <p:sp>
        <p:nvSpPr>
          <p:cNvPr id="2" name="文本框 1">
            <a:extLst>
              <a:ext uri="{FF2B5EF4-FFF2-40B4-BE49-F238E27FC236}">
                <a16:creationId xmlns:a16="http://schemas.microsoft.com/office/drawing/2014/main" id="{AAD5A7A5-2467-04C9-A525-060153BE18B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Thrust</a:t>
            </a:r>
            <a:endParaRPr lang="zh-CN" altLang="en-US" sz="20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047594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BC19C-7CE0-3E85-F85D-FE4D364D276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CF849EA-6A27-567C-28D1-BFE9D4D9F00E}"/>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Simple sizing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标题 1">
            <a:extLst>
              <a:ext uri="{FF2B5EF4-FFF2-40B4-BE49-F238E27FC236}">
                <a16:creationId xmlns:a16="http://schemas.microsoft.com/office/drawing/2014/main" id="{E96E2D55-B32F-9953-039A-0BC2C0E2BC0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821AEDF5-1F30-153F-E312-74287452AA63}"/>
              </a:ext>
            </a:extLst>
          </p:cNvPr>
          <p:cNvSpPr txBox="1"/>
          <p:nvPr/>
        </p:nvSpPr>
        <p:spPr>
          <a:xfrm>
            <a:off x="4370801" y="794708"/>
            <a:ext cx="7609313" cy="4524315"/>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def </a:t>
            </a:r>
            <a:r>
              <a:rPr lang="en-US" altLang="zh-CN" dirty="0" err="1"/>
              <a:t>simple_sizing</a:t>
            </a:r>
            <a:r>
              <a:rPr lang="en-US" altLang="zh-CN" dirty="0"/>
              <a:t>(configs):</a:t>
            </a:r>
            <a:br>
              <a:rPr lang="en-US" altLang="zh-CN" dirty="0"/>
            </a:br>
            <a:endParaRPr lang="en-US" altLang="zh-CN" dirty="0"/>
          </a:p>
          <a:p>
            <a:r>
              <a:rPr lang="en-US" altLang="zh-CN" dirty="0"/>
              <a:t>    base = </a:t>
            </a:r>
            <a:r>
              <a:rPr lang="en-US" altLang="zh-CN" dirty="0" err="1"/>
              <a:t>configs.base</a:t>
            </a:r>
            <a:endParaRPr lang="en-US" altLang="zh-CN" dirty="0"/>
          </a:p>
          <a:p>
            <a:r>
              <a:rPr lang="en-US" altLang="zh-CN" dirty="0"/>
              <a:t>    </a:t>
            </a:r>
            <a:r>
              <a:rPr lang="en-US" altLang="zh-CN" dirty="0" err="1"/>
              <a:t>base.pull_base</a:t>
            </a:r>
            <a:r>
              <a:rPr lang="en-US" altLang="zh-CN" dirty="0"/>
              <a:t>()</a:t>
            </a:r>
          </a:p>
          <a:p>
            <a:br>
              <a:rPr lang="en-US" altLang="zh-CN" dirty="0"/>
            </a:br>
            <a:r>
              <a:rPr lang="en-US" altLang="zh-CN" dirty="0"/>
              <a:t>    </a:t>
            </a:r>
            <a:r>
              <a:rPr lang="en-US" altLang="zh-CN" dirty="0" err="1"/>
              <a:t>base.mass_properties.max_zero_fuel</a:t>
            </a:r>
            <a:r>
              <a:rPr lang="en-US" altLang="zh-CN" dirty="0"/>
              <a:t> = </a:t>
            </a:r>
          </a:p>
          <a:p>
            <a:r>
              <a:rPr lang="en-US" altLang="zh-CN" dirty="0"/>
              <a:t>                   0.9 * </a:t>
            </a:r>
            <a:r>
              <a:rPr lang="en-US" altLang="zh-CN" dirty="0" err="1"/>
              <a:t>base.mass_properties.max_takeoff</a:t>
            </a:r>
            <a:r>
              <a:rPr lang="en-US" altLang="zh-CN" dirty="0"/>
              <a:t> </a:t>
            </a:r>
          </a:p>
          <a:p>
            <a:br>
              <a:rPr lang="en-US" altLang="zh-CN" dirty="0"/>
            </a:br>
            <a:r>
              <a:rPr lang="en-US" altLang="zh-CN" dirty="0"/>
              <a:t>    for wing in </a:t>
            </a:r>
            <a:r>
              <a:rPr lang="en-US" altLang="zh-CN" dirty="0" err="1"/>
              <a:t>base.wings</a:t>
            </a:r>
            <a:r>
              <a:rPr lang="en-US" altLang="zh-CN" dirty="0"/>
              <a:t>:</a:t>
            </a:r>
          </a:p>
          <a:p>
            <a:r>
              <a:rPr lang="en-US" altLang="zh-CN" dirty="0"/>
              <a:t>        </a:t>
            </a:r>
            <a:r>
              <a:rPr lang="en-US" altLang="zh-CN" dirty="0" err="1"/>
              <a:t>wing.areas.wetted</a:t>
            </a:r>
            <a:r>
              <a:rPr lang="en-US" altLang="zh-CN" dirty="0"/>
              <a:t>   = 2.0 * </a:t>
            </a:r>
            <a:r>
              <a:rPr lang="en-US" altLang="zh-CN" dirty="0" err="1"/>
              <a:t>wing.areas.reference</a:t>
            </a:r>
            <a:endParaRPr lang="en-US" altLang="zh-CN" dirty="0"/>
          </a:p>
          <a:p>
            <a:r>
              <a:rPr lang="en-US" altLang="zh-CN" dirty="0"/>
              <a:t>        </a:t>
            </a:r>
            <a:r>
              <a:rPr lang="en-US" altLang="zh-CN" dirty="0" err="1"/>
              <a:t>wing.areas.exposed</a:t>
            </a:r>
            <a:r>
              <a:rPr lang="en-US" altLang="zh-CN" dirty="0"/>
              <a:t>  = 0.8 * </a:t>
            </a:r>
            <a:r>
              <a:rPr lang="en-US" altLang="zh-CN" dirty="0" err="1"/>
              <a:t>wing.areas.wetted</a:t>
            </a:r>
            <a:endParaRPr lang="en-US" altLang="zh-CN" dirty="0"/>
          </a:p>
          <a:p>
            <a:r>
              <a:rPr lang="en-US" altLang="zh-CN" dirty="0"/>
              <a:t>        </a:t>
            </a:r>
            <a:r>
              <a:rPr lang="en-US" altLang="zh-CN" dirty="0" err="1"/>
              <a:t>wing.areas.affected</a:t>
            </a:r>
            <a:r>
              <a:rPr lang="en-US" altLang="zh-CN" dirty="0"/>
              <a:t> = 0.6 * </a:t>
            </a:r>
            <a:r>
              <a:rPr lang="en-US" altLang="zh-CN" dirty="0" err="1"/>
              <a:t>wing.areas.wetted</a:t>
            </a:r>
            <a:br>
              <a:rPr lang="en-US" altLang="zh-CN" dirty="0"/>
            </a:br>
            <a:endParaRPr lang="en-US" altLang="zh-CN" dirty="0"/>
          </a:p>
          <a:p>
            <a:r>
              <a:rPr lang="en-US" altLang="zh-CN" dirty="0"/>
              <a:t>    </a:t>
            </a:r>
            <a:r>
              <a:rPr lang="en-US" altLang="zh-CN" dirty="0" err="1"/>
              <a:t>base.store_diff</a:t>
            </a:r>
            <a:r>
              <a:rPr lang="en-US" altLang="zh-CN" dirty="0"/>
              <a:t>()</a:t>
            </a:r>
          </a:p>
          <a:p>
            <a:endParaRPr lang="en-US" altLang="zh-CN" dirty="0"/>
          </a:p>
          <a:p>
            <a:r>
              <a:rPr lang="en-US" altLang="zh-CN" dirty="0"/>
              <a:t>    return</a:t>
            </a:r>
          </a:p>
        </p:txBody>
      </p:sp>
      <p:pic>
        <p:nvPicPr>
          <p:cNvPr id="7" name="图片 6">
            <a:extLst>
              <a:ext uri="{FF2B5EF4-FFF2-40B4-BE49-F238E27FC236}">
                <a16:creationId xmlns:a16="http://schemas.microsoft.com/office/drawing/2014/main" id="{0A216A59-2045-E16B-EAEA-1985CD56421E}"/>
              </a:ext>
            </a:extLst>
          </p:cNvPr>
          <p:cNvPicPr>
            <a:picLocks noChangeAspect="1"/>
          </p:cNvPicPr>
          <p:nvPr/>
        </p:nvPicPr>
        <p:blipFill>
          <a:blip r:embed="rId3"/>
          <a:stretch>
            <a:fillRect/>
          </a:stretch>
        </p:blipFill>
        <p:spPr>
          <a:xfrm>
            <a:off x="0" y="1620000"/>
            <a:ext cx="3797993" cy="2309647"/>
          </a:xfrm>
          <a:prstGeom prst="rect">
            <a:avLst/>
          </a:prstGeom>
        </p:spPr>
      </p:pic>
      <p:sp>
        <p:nvSpPr>
          <p:cNvPr id="8" name="文本框 7">
            <a:extLst>
              <a:ext uri="{FF2B5EF4-FFF2-40B4-BE49-F238E27FC236}">
                <a16:creationId xmlns:a16="http://schemas.microsoft.com/office/drawing/2014/main" id="{AAE978D9-6591-F46D-F871-215E7359BB9A}"/>
              </a:ext>
            </a:extLst>
          </p:cNvPr>
          <p:cNvSpPr txBox="1"/>
          <p:nvPr/>
        </p:nvSpPr>
        <p:spPr>
          <a:xfrm>
            <a:off x="563143" y="5340505"/>
            <a:ext cx="11065714" cy="868956"/>
          </a:xfrm>
          <a:prstGeom prst="rect">
            <a:avLst/>
          </a:prstGeom>
          <a:noFill/>
        </p:spPr>
        <p:txBody>
          <a:bodyPr wrap="square" lIns="0" tIns="0" rIns="0" bIns="0" rtlCol="0">
            <a:spAutoFit/>
          </a:bodyPr>
          <a:lstStyle/>
          <a:p>
            <a:pPr>
              <a:lnSpc>
                <a:spcPct val="150000"/>
              </a:lnSpc>
            </a:pPr>
            <a:r>
              <a:rPr lang="en-US" altLang="zh-CN" sz="2000" dirty="0">
                <a:latin typeface="微软雅黑" panose="020B0503020204020204" pitchFamily="34" charset="-122"/>
                <a:ea typeface="微软雅黑" panose="020B0503020204020204" pitchFamily="34" charset="-122"/>
              </a:rPr>
              <a:t>Simple sizing: This function automatically computes unspecified critical parameters for the vehicle using overall design inputs, finalizing the aircraft model for subsequent analysis.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15559976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A1ABF-FFA3-5CEE-D2E3-A74176AF22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2F5E236-A313-CC9B-CD13-3B3FF53927E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Plot the result</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7F3EB31F-3AD0-9807-B09E-43595771BC20}"/>
              </a:ext>
            </a:extLst>
          </p:cNvPr>
          <p:cNvSpPr txBox="1"/>
          <p:nvPr/>
        </p:nvSpPr>
        <p:spPr>
          <a:xfrm>
            <a:off x="4679950" y="1164040"/>
            <a:ext cx="7102337" cy="4247317"/>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plot_mission</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results,line_style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bo</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plot_flight_conditions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plot_aerodynamic_forces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plot_aerodynamic_coefficients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plot_drag_components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plot_altitude_sfc_weight</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plot_aircraft_velocities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return</a:t>
            </a:r>
          </a:p>
        </p:txBody>
      </p:sp>
      <p:pic>
        <p:nvPicPr>
          <p:cNvPr id="4" name="图片 3">
            <a:extLst>
              <a:ext uri="{FF2B5EF4-FFF2-40B4-BE49-F238E27FC236}">
                <a16:creationId xmlns:a16="http://schemas.microsoft.com/office/drawing/2014/main" id="{C19B230C-05DA-78E3-553C-947DF5FD242A}"/>
              </a:ext>
            </a:extLst>
          </p:cNvPr>
          <p:cNvPicPr>
            <a:picLocks noChangeAspect="1"/>
          </p:cNvPicPr>
          <p:nvPr/>
        </p:nvPicPr>
        <p:blipFill>
          <a:blip r:embed="rId3"/>
          <a:stretch>
            <a:fillRect/>
          </a:stretch>
        </p:blipFill>
        <p:spPr>
          <a:xfrm>
            <a:off x="114300" y="2362200"/>
            <a:ext cx="4502378" cy="3331760"/>
          </a:xfrm>
          <a:prstGeom prst="rect">
            <a:avLst/>
          </a:prstGeom>
        </p:spPr>
      </p:pic>
      <p:sp>
        <p:nvSpPr>
          <p:cNvPr id="5" name="文本框 4">
            <a:extLst>
              <a:ext uri="{FF2B5EF4-FFF2-40B4-BE49-F238E27FC236}">
                <a16:creationId xmlns:a16="http://schemas.microsoft.com/office/drawing/2014/main" id="{CC1D51D7-5868-A036-0CE4-A60E9910CC32}"/>
              </a:ext>
            </a:extLst>
          </p:cNvPr>
          <p:cNvSpPr txBox="1"/>
          <p:nvPr/>
        </p:nvSpPr>
        <p:spPr>
          <a:xfrm>
            <a:off x="211886" y="979374"/>
            <a:ext cx="3902914" cy="782074"/>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plot_mission</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Plot mission result by matplotlib</a:t>
            </a:r>
          </a:p>
        </p:txBody>
      </p:sp>
      <p:sp>
        <p:nvSpPr>
          <p:cNvPr id="6" name="箭头: 上 5">
            <a:extLst>
              <a:ext uri="{FF2B5EF4-FFF2-40B4-BE49-F238E27FC236}">
                <a16:creationId xmlns:a16="http://schemas.microsoft.com/office/drawing/2014/main" id="{89300B11-B07F-61BB-0955-DEB84E75EF7B}"/>
              </a:ext>
            </a:extLst>
          </p:cNvPr>
          <p:cNvSpPr/>
          <p:nvPr/>
        </p:nvSpPr>
        <p:spPr>
          <a:xfrm rot="14518351">
            <a:off x="4732225" y="1793230"/>
            <a:ext cx="334057" cy="752475"/>
          </a:xfrm>
          <a:prstGeom prst="upArrow">
            <a:avLst>
              <a:gd name="adj1" fmla="val 50000"/>
              <a:gd name="adj2" fmla="val 98635"/>
            </a:avLst>
          </a:prstGeom>
          <a:solidFill>
            <a:srgbClr val="00206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5250387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62E98-3C95-61D3-43F8-D424C072359A}"/>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6AF7E4D6-F952-7128-CEEB-5D1D7325EB1E}"/>
              </a:ext>
            </a:extLst>
          </p:cNvPr>
          <p:cNvSpPr/>
          <p:nvPr/>
        </p:nvSpPr>
        <p:spPr>
          <a:xfrm>
            <a:off x="682205" y="5332147"/>
            <a:ext cx="10827589" cy="523220"/>
          </a:xfrm>
          <a:prstGeom prst="roundRect">
            <a:avLst/>
          </a:prstGeom>
          <a:solidFill>
            <a:schemeClr val="bg1"/>
          </a:solidFill>
          <a:ln w="15875">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2" name="标题 1">
            <a:extLst>
              <a:ext uri="{FF2B5EF4-FFF2-40B4-BE49-F238E27FC236}">
                <a16:creationId xmlns:a16="http://schemas.microsoft.com/office/drawing/2014/main" id="{5015A0DE-5F5D-B7CC-A3EC-8C336B044C0A}"/>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BD369C98-00D0-DFD1-6D3E-B2EB7926E001}"/>
              </a:ext>
            </a:extLst>
          </p:cNvPr>
          <p:cNvSpPr txBox="1"/>
          <p:nvPr/>
        </p:nvSpPr>
        <p:spPr>
          <a:xfrm>
            <a:off x="211886" y="870401"/>
            <a:ext cx="4845890"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a:t>
            </a:r>
            <a:r>
              <a:rPr lang="en-US" altLang="zh-CN" sz="2400"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==3.29.1</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ACC6327E-8173-1E15-5F71-6AD75EE1D835}"/>
              </a:ext>
            </a:extLst>
          </p:cNvPr>
          <p:cNvSpPr txBox="1"/>
          <p:nvPr/>
        </p:nvSpPr>
        <p:spPr>
          <a:xfrm>
            <a:off x="211886" y="1522744"/>
            <a:ext cx="8360614"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D:\OpenVSP-3.29.1-win64\python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requirements.txt</a:t>
            </a:r>
          </a:p>
        </p:txBody>
      </p:sp>
      <p:sp>
        <p:nvSpPr>
          <p:cNvPr id="8" name="文本框 7">
            <a:extLst>
              <a:ext uri="{FF2B5EF4-FFF2-40B4-BE49-F238E27FC236}">
                <a16:creationId xmlns:a16="http://schemas.microsoft.com/office/drawing/2014/main" id="{497A1B9F-92DD-EA57-6F06-CCDD672C0F95}"/>
              </a:ext>
            </a:extLst>
          </p:cNvPr>
          <p:cNvSpPr txBox="1"/>
          <p:nvPr/>
        </p:nvSpPr>
        <p:spPr>
          <a:xfrm>
            <a:off x="211886" y="2922561"/>
            <a:ext cx="7102337" cy="2031325"/>
          </a:xfrm>
          <a:prstGeom prst="rect">
            <a:avLst/>
          </a:prstGeom>
          <a:noFill/>
        </p:spPr>
        <p:txBody>
          <a:bodyPr wrap="square">
            <a:spAutoFit/>
          </a:bodyPr>
          <a:lstStyle/>
          <a:p>
            <a:pPr>
              <a:buNone/>
            </a:pPr>
            <a:r>
              <a:rPr lang="en-US" altLang="zh-CN" b="0" dirty="0">
                <a:solidFill>
                  <a:srgbClr val="002060"/>
                </a:solidFill>
                <a:effectLst/>
                <a:latin typeface="微软雅黑" panose="020B0503020204020204" pitchFamily="34" charset="-122"/>
                <a:ea typeface="微软雅黑" panose="020B0503020204020204" pitchFamily="34" charset="-122"/>
              </a:rPr>
              <a:t>add</a:t>
            </a:r>
          </a:p>
          <a:p>
            <a:pPr>
              <a:buNone/>
            </a:pPr>
            <a:r>
              <a:rPr lang="en-US" altLang="zh-CN" b="0" dirty="0">
                <a:solidFill>
                  <a:srgbClr val="C00000"/>
                </a:solidFill>
                <a:effectLst/>
                <a:latin typeface="Consolas" panose="020B0609020204030204" pitchFamily="49" charset="0"/>
              </a:rPr>
              <a:t>from </a:t>
            </a:r>
            <a:r>
              <a:rPr lang="en-US" altLang="zh-CN" b="0" dirty="0" err="1">
                <a:solidFill>
                  <a:srgbClr val="C00000"/>
                </a:solidFill>
                <a:effectLst/>
                <a:latin typeface="Consolas" panose="020B0609020204030204" pitchFamily="49" charset="0"/>
              </a:rPr>
              <a:t>SUAVE.Input_Output.OpenVSP</a:t>
            </a:r>
            <a:r>
              <a:rPr lang="en-US" altLang="zh-CN" b="0" dirty="0">
                <a:solidFill>
                  <a:srgbClr val="C00000"/>
                </a:solidFill>
                <a:effectLst/>
                <a:latin typeface="Consolas" panose="020B0609020204030204" pitchFamily="49" charset="0"/>
              </a:rPr>
              <a:t> import write</a:t>
            </a:r>
          </a:p>
          <a:p>
            <a:pPr>
              <a:buNone/>
            </a:pPr>
            <a:r>
              <a:rPr lang="en-US" altLang="zh-CN" dirty="0">
                <a:solidFill>
                  <a:srgbClr val="002060"/>
                </a:solidFill>
                <a:latin typeface="Consolas" panose="020B0609020204030204" pitchFamily="49" charset="0"/>
              </a:rPr>
              <a:t>to the import section</a:t>
            </a:r>
          </a:p>
          <a:p>
            <a:pPr>
              <a:buNone/>
            </a:pPr>
            <a:endParaRPr lang="en-US" altLang="zh-CN" b="0" dirty="0">
              <a:solidFill>
                <a:srgbClr val="002060"/>
              </a:solidFill>
              <a:effectLst/>
              <a:latin typeface="Consolas" panose="020B0609020204030204" pitchFamily="49" charset="0"/>
            </a:endParaRPr>
          </a:p>
          <a:p>
            <a:pPr>
              <a:buNone/>
            </a:pPr>
            <a:r>
              <a:rPr lang="en-US" altLang="zh-CN" dirty="0">
                <a:solidFill>
                  <a:srgbClr val="002060"/>
                </a:solidFill>
                <a:latin typeface="微软雅黑" panose="020B0503020204020204" pitchFamily="34" charset="-122"/>
                <a:ea typeface="微软雅黑" panose="020B0503020204020204" pitchFamily="34" charset="-122"/>
              </a:rPr>
              <a:t>a</a:t>
            </a:r>
            <a:r>
              <a:rPr lang="en-US" altLang="zh-CN" b="0" dirty="0">
                <a:solidFill>
                  <a:srgbClr val="002060"/>
                </a:solidFill>
                <a:effectLst/>
                <a:latin typeface="微软雅黑" panose="020B0503020204020204" pitchFamily="34" charset="-122"/>
                <a:ea typeface="微软雅黑" panose="020B0503020204020204" pitchFamily="34" charset="-122"/>
              </a:rPr>
              <a:t>dd</a:t>
            </a:r>
          </a:p>
          <a:p>
            <a:pPr>
              <a:buNone/>
            </a:pPr>
            <a:r>
              <a:rPr lang="en-US" altLang="zh-CN" b="0" dirty="0">
                <a:solidFill>
                  <a:srgbClr val="C00000"/>
                </a:solidFill>
                <a:effectLst/>
                <a:latin typeface="Consolas" panose="020B0609020204030204" pitchFamily="49" charset="0"/>
              </a:rPr>
              <a:t>write(vehicle, </a:t>
            </a:r>
            <a:r>
              <a:rPr lang="en-US" altLang="zh-CN" dirty="0">
                <a:solidFill>
                  <a:srgbClr val="C00000"/>
                </a:solidFill>
                <a:latin typeface="Consolas" panose="020B0609020204030204" pitchFamily="49" charset="0"/>
              </a:rPr>
              <a:t>'</a:t>
            </a:r>
            <a:r>
              <a:rPr lang="en-US" altLang="zh-CN" b="0" dirty="0">
                <a:solidFill>
                  <a:srgbClr val="C00000"/>
                </a:solidFill>
                <a:effectLst/>
                <a:latin typeface="Consolas" panose="020B0609020204030204" pitchFamily="49" charset="0"/>
              </a:rPr>
              <a:t>base</a:t>
            </a:r>
            <a:r>
              <a:rPr lang="en-US" altLang="zh-CN" dirty="0">
                <a:solidFill>
                  <a:srgbClr val="C00000"/>
                </a:solidFill>
                <a:latin typeface="Consolas" panose="020B0609020204030204" pitchFamily="49" charset="0"/>
              </a:rPr>
              <a:t>')</a:t>
            </a:r>
            <a:endParaRPr lang="en-US" altLang="zh-CN" b="0" dirty="0">
              <a:solidFill>
                <a:srgbClr val="C00000"/>
              </a:solidFill>
              <a:effectLst/>
              <a:latin typeface="Consolas" panose="020B0609020204030204" pitchFamily="49" charset="0"/>
            </a:endParaRPr>
          </a:p>
          <a:p>
            <a:pPr>
              <a:buNone/>
            </a:pPr>
            <a:r>
              <a:rPr lang="en-US" altLang="zh-CN" dirty="0">
                <a:solidFill>
                  <a:srgbClr val="002060"/>
                </a:solidFill>
                <a:latin typeface="Consolas" panose="020B0609020204030204" pitchFamily="49" charset="0"/>
              </a:rPr>
              <a:t>a</a:t>
            </a:r>
            <a:r>
              <a:rPr lang="en-US" altLang="zh-CN" b="0" dirty="0">
                <a:solidFill>
                  <a:srgbClr val="002060"/>
                </a:solidFill>
                <a:effectLst/>
                <a:latin typeface="Consolas" panose="020B0609020204030204" pitchFamily="49" charset="0"/>
              </a:rPr>
              <a:t>fter </a:t>
            </a:r>
            <a:r>
              <a:rPr lang="en-US" altLang="zh-CN" b="0" dirty="0" err="1">
                <a:solidFill>
                  <a:srgbClr val="002060"/>
                </a:solidFill>
                <a:effectLst/>
                <a:latin typeface="Consolas" panose="020B0609020204030204" pitchFamily="49" charset="0"/>
              </a:rPr>
              <a:t>vehicle_setup</a:t>
            </a:r>
            <a:r>
              <a:rPr lang="en-US" altLang="zh-CN" b="0" dirty="0">
                <a:solidFill>
                  <a:srgbClr val="002060"/>
                </a:solidFill>
                <a:effectLst/>
                <a:latin typeface="Consolas" panose="020B0609020204030204" pitchFamily="49" charset="0"/>
              </a:rPr>
              <a:t>() in main()</a:t>
            </a:r>
          </a:p>
        </p:txBody>
      </p:sp>
      <p:sp>
        <p:nvSpPr>
          <p:cNvPr id="9" name="文本框 8">
            <a:extLst>
              <a:ext uri="{FF2B5EF4-FFF2-40B4-BE49-F238E27FC236}">
                <a16:creationId xmlns:a16="http://schemas.microsoft.com/office/drawing/2014/main" id="{8BC6EC09-30DC-BA6A-6A27-71E48AB2F4DD}"/>
              </a:ext>
            </a:extLst>
          </p:cNvPr>
          <p:cNvSpPr txBox="1"/>
          <p:nvPr/>
        </p:nvSpPr>
        <p:spPr>
          <a:xfrm>
            <a:off x="995361" y="5439868"/>
            <a:ext cx="10201275" cy="307777"/>
          </a:xfrm>
          <a:prstGeom prst="rect">
            <a:avLst/>
          </a:prstGeom>
          <a:noFill/>
          <a:ln>
            <a:noFill/>
          </a:ln>
        </p:spPr>
        <p:txBody>
          <a:bodyPr wrap="square" lIns="0" tIns="0" rIns="0" bIns="0" rtlCol="0" anchor="t">
            <a:spAutoFit/>
          </a:bodyPr>
          <a:lstStyle/>
          <a:p>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 Run your code again, “base.vsp3”will be generated under your code directory</a:t>
            </a:r>
          </a:p>
        </p:txBody>
      </p:sp>
      <p:pic>
        <p:nvPicPr>
          <p:cNvPr id="11" name="图片 10">
            <a:extLst>
              <a:ext uri="{FF2B5EF4-FFF2-40B4-BE49-F238E27FC236}">
                <a16:creationId xmlns:a16="http://schemas.microsoft.com/office/drawing/2014/main" id="{C7670BC0-4624-4EBD-DAC2-ECC777D3214B}"/>
              </a:ext>
            </a:extLst>
          </p:cNvPr>
          <p:cNvPicPr>
            <a:picLocks noChangeAspect="1"/>
          </p:cNvPicPr>
          <p:nvPr/>
        </p:nvPicPr>
        <p:blipFill>
          <a:blip r:embed="rId3"/>
          <a:stretch>
            <a:fillRect/>
          </a:stretch>
        </p:blipFill>
        <p:spPr>
          <a:xfrm>
            <a:off x="7711801" y="2783400"/>
            <a:ext cx="3797993" cy="2309647"/>
          </a:xfrm>
          <a:prstGeom prst="rect">
            <a:avLst/>
          </a:prstGeom>
        </p:spPr>
      </p:pic>
    </p:spTree>
    <p:extLst>
      <p:ext uri="{BB962C8B-B14F-4D97-AF65-F5344CB8AC3E}">
        <p14:creationId xmlns:p14="http://schemas.microsoft.com/office/powerpoint/2010/main" val="1487602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F5150-19AC-A2CD-F443-5B48FE98B6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A788F9-4463-543E-3E5F-7CFEDD5F860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5E345E22-DF37-6B6C-5060-1AE7AF8DE0B7}"/>
              </a:ext>
            </a:extLst>
          </p:cNvPr>
          <p:cNvSpPr txBox="1"/>
          <p:nvPr/>
        </p:nvSpPr>
        <p:spPr>
          <a:xfrm>
            <a:off x="272630" y="1477858"/>
            <a:ext cx="11646739" cy="4978237"/>
          </a:xfrm>
          <a:prstGeom prst="roundRect">
            <a:avLst>
              <a:gd name="adj" fmla="val 3743"/>
            </a:avLst>
          </a:prstGeom>
          <a:solidFill>
            <a:srgbClr val="2D2D30"/>
          </a:solidFill>
        </p:spPr>
        <p:txBody>
          <a:bodyPr wrap="square" lIns="0" tIns="0" rIns="0" bIns="0" rtlCol="0">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t>    </a:t>
            </a:r>
          </a:p>
          <a:p>
            <a:endParaRPr lang="en-US" altLang="zh-CN" sz="1800" dirty="0"/>
          </a:p>
          <a:p>
            <a:r>
              <a:rPr lang="en-US" altLang="zh-CN" sz="1800" dirty="0"/>
              <a:t>    # Create the wing</a:t>
            </a:r>
          </a:p>
          <a:p>
            <a:r>
              <a:rPr lang="en-US" altLang="zh-CN" sz="1800" dirty="0"/>
              <a:t>    </a:t>
            </a:r>
            <a:r>
              <a:rPr lang="en-US" altLang="zh-CN" sz="1800" dirty="0" err="1"/>
              <a:t>wing_id</a:t>
            </a:r>
            <a:r>
              <a:rPr lang="en-US" altLang="zh-CN" sz="1800" dirty="0"/>
              <a:t> = </a:t>
            </a:r>
            <a:r>
              <a:rPr lang="en-US" altLang="zh-CN" sz="1800" dirty="0" err="1"/>
              <a:t>vsp.AddGeom</a:t>
            </a:r>
            <a:r>
              <a:rPr lang="en-US" altLang="zh-CN" sz="1800" dirty="0"/>
              <a:t>( "WING" )</a:t>
            </a:r>
          </a:p>
          <a:p>
            <a:r>
              <a:rPr lang="en-US" altLang="zh-CN" sz="1800" dirty="0"/>
              <a:t>    </a:t>
            </a:r>
            <a:r>
              <a:rPr lang="en-US" altLang="zh-CN" sz="1800" dirty="0" err="1"/>
              <a:t>vsp.SetGeomName</a:t>
            </a:r>
            <a:r>
              <a:rPr lang="en-US" altLang="zh-CN" sz="1800" dirty="0"/>
              <a:t>(</a:t>
            </a:r>
            <a:r>
              <a:rPr lang="en-US" altLang="zh-CN" sz="1800" dirty="0" err="1"/>
              <a:t>wing_id</a:t>
            </a:r>
            <a:r>
              <a:rPr lang="en-US" altLang="zh-CN" sz="1800" dirty="0"/>
              <a:t>, </a:t>
            </a:r>
            <a:r>
              <a:rPr lang="en-US" altLang="zh-CN" sz="1800" dirty="0" err="1"/>
              <a:t>wing.tag</a:t>
            </a:r>
            <a:r>
              <a:rPr lang="en-US" altLang="zh-CN" sz="1800" dirty="0"/>
              <a:t>)</a:t>
            </a:r>
          </a:p>
          <a:p>
            <a:r>
              <a:rPr lang="en-US" altLang="zh-CN" sz="1800" dirty="0"/>
              <a:t>    </a:t>
            </a:r>
            <a:r>
              <a:rPr lang="en-US" altLang="zh-CN" sz="1800" dirty="0" err="1"/>
              <a:t>area_tags</a:t>
            </a:r>
            <a:r>
              <a:rPr lang="en-US" altLang="zh-CN" sz="1800" dirty="0"/>
              <a:t>[</a:t>
            </a:r>
            <a:r>
              <a:rPr lang="en-US" altLang="zh-CN" sz="1800" dirty="0" err="1"/>
              <a:t>wing.tag</a:t>
            </a:r>
            <a:r>
              <a:rPr lang="en-US" altLang="zh-CN" sz="1800" dirty="0"/>
              <a:t>] = ['wings',</a:t>
            </a:r>
            <a:r>
              <a:rPr lang="en-US" altLang="zh-CN" sz="1800" dirty="0" err="1"/>
              <a:t>wing.tag</a:t>
            </a:r>
            <a:r>
              <a:rPr lang="en-US" altLang="zh-CN" sz="1800" dirty="0"/>
              <a:t>]</a:t>
            </a:r>
          </a:p>
          <a:p>
            <a:br>
              <a:rPr lang="en-US" altLang="zh-CN" sz="1800" dirty="0"/>
            </a:br>
            <a:r>
              <a:rPr lang="en-US" altLang="zh-CN" sz="1800" dirty="0"/>
              <a:t>    </a:t>
            </a:r>
            <a:r>
              <a:rPr lang="en-US" altLang="zh-CN" sz="1800" dirty="0" err="1"/>
              <a:t>x_secs</a:t>
            </a:r>
            <a:r>
              <a:rPr lang="en-US" altLang="zh-CN" sz="1800" dirty="0"/>
              <a:t>       = []</a:t>
            </a:r>
          </a:p>
          <a:p>
            <a:r>
              <a:rPr lang="en-US" altLang="zh-CN" sz="1800" dirty="0"/>
              <a:t>    </a:t>
            </a:r>
            <a:r>
              <a:rPr lang="en-US" altLang="zh-CN" sz="1800" dirty="0" err="1"/>
              <a:t>x_sec_curves</a:t>
            </a:r>
            <a:r>
              <a:rPr lang="en-US" altLang="zh-CN" sz="1800" dirty="0"/>
              <a:t> = []</a:t>
            </a:r>
          </a:p>
          <a:p>
            <a:endParaRPr lang="en-US" altLang="zh-CN" sz="1800" dirty="0"/>
          </a:p>
          <a:p>
            <a:r>
              <a:rPr lang="en-US" altLang="zh-CN" sz="1800" dirty="0"/>
              <a:t>    for </a:t>
            </a:r>
            <a:r>
              <a:rPr lang="en-US" altLang="zh-CN" sz="1800" dirty="0" err="1"/>
              <a:t>i_segs</a:t>
            </a:r>
            <a:r>
              <a:rPr lang="en-US" altLang="zh-CN" sz="1800" dirty="0"/>
              <a:t> in range(0,n_segments+2):</a:t>
            </a:r>
          </a:p>
          <a:p>
            <a:r>
              <a:rPr lang="en-US" altLang="zh-CN" sz="1800" dirty="0"/>
              <a:t>        </a:t>
            </a:r>
            <a:r>
              <a:rPr lang="en-US" altLang="zh-CN" sz="1800" dirty="0" err="1"/>
              <a:t>x_secs.append</a:t>
            </a:r>
            <a:r>
              <a:rPr lang="en-US" altLang="zh-CN" sz="1800" dirty="0"/>
              <a:t>('</a:t>
            </a:r>
            <a:r>
              <a:rPr lang="en-US" altLang="zh-CN" sz="1800" dirty="0" err="1"/>
              <a:t>XSec</a:t>
            </a:r>
            <a:r>
              <a:rPr lang="en-US" altLang="zh-CN" sz="1800" dirty="0"/>
              <a:t>_' + str(</a:t>
            </a:r>
            <a:r>
              <a:rPr lang="en-US" altLang="zh-CN" sz="1800" dirty="0" err="1"/>
              <a:t>i_segs</a:t>
            </a:r>
            <a:r>
              <a:rPr lang="en-US" altLang="zh-CN" sz="1800" dirty="0"/>
              <a:t>))</a:t>
            </a:r>
          </a:p>
          <a:p>
            <a:r>
              <a:rPr lang="en-US" altLang="zh-CN" sz="1800" dirty="0"/>
              <a:t>        </a:t>
            </a:r>
            <a:r>
              <a:rPr lang="en-US" altLang="zh-CN" sz="1800" dirty="0" err="1"/>
              <a:t>x_sec_curves.append</a:t>
            </a:r>
            <a:r>
              <a:rPr lang="en-US" altLang="zh-CN" sz="1800" dirty="0"/>
              <a:t>('XSecCurve_' + str(</a:t>
            </a:r>
            <a:r>
              <a:rPr lang="en-US" altLang="zh-CN" sz="1800" dirty="0" err="1"/>
              <a:t>i_segs</a:t>
            </a:r>
            <a:r>
              <a:rPr lang="en-US" altLang="zh-CN" sz="1800" dirty="0"/>
              <a:t>))</a:t>
            </a:r>
            <a:br>
              <a:rPr lang="en-US" altLang="zh-CN" sz="1800" dirty="0"/>
            </a:br>
            <a:endParaRPr lang="en-US" altLang="zh-CN" sz="1800" dirty="0"/>
          </a:p>
          <a:p>
            <a:r>
              <a:rPr lang="en-US" altLang="zh-CN" sz="1800" dirty="0"/>
              <a:t>    </a:t>
            </a:r>
            <a:r>
              <a:rPr lang="en-US" altLang="zh-CN" sz="1800" dirty="0" err="1"/>
              <a:t>vsp.SetParmVal</a:t>
            </a:r>
            <a:r>
              <a:rPr lang="en-US" altLang="zh-CN" sz="1800" dirty="0"/>
              <a:t>( wing_id,'X_Rel_Location','</a:t>
            </a:r>
            <a:r>
              <a:rPr lang="en-US" altLang="zh-CN" sz="1800" dirty="0" err="1"/>
              <a:t>XForm</a:t>
            </a:r>
            <a:r>
              <a:rPr lang="en-US" altLang="zh-CN" sz="1800" dirty="0"/>
              <a:t>',</a:t>
            </a:r>
            <a:r>
              <a:rPr lang="en-US" altLang="zh-CN" sz="1800" dirty="0" err="1"/>
              <a:t>wing_x</a:t>
            </a:r>
            <a:r>
              <a:rPr lang="en-US" altLang="zh-CN" sz="1800" dirty="0"/>
              <a:t>)</a:t>
            </a:r>
          </a:p>
          <a:p>
            <a:r>
              <a:rPr lang="en-US" altLang="zh-CN" sz="1800" dirty="0"/>
              <a:t>    </a:t>
            </a:r>
            <a:r>
              <a:rPr lang="en-US" altLang="zh-CN" sz="1800" dirty="0" err="1"/>
              <a:t>vsp.SetParmVal</a:t>
            </a:r>
            <a:r>
              <a:rPr lang="en-US" altLang="zh-CN" sz="1800" dirty="0"/>
              <a:t>( wing_id,'Y_Rel_Location','</a:t>
            </a:r>
            <a:r>
              <a:rPr lang="en-US" altLang="zh-CN" sz="1800" dirty="0" err="1"/>
              <a:t>XForm</a:t>
            </a:r>
            <a:r>
              <a:rPr lang="en-US" altLang="zh-CN" sz="1800" dirty="0"/>
              <a:t>',</a:t>
            </a:r>
            <a:r>
              <a:rPr lang="en-US" altLang="zh-CN" sz="1800" dirty="0" err="1"/>
              <a:t>wing_y</a:t>
            </a:r>
            <a:r>
              <a:rPr lang="en-US" altLang="zh-CN" sz="1800" dirty="0"/>
              <a:t>)</a:t>
            </a:r>
          </a:p>
          <a:p>
            <a:r>
              <a:rPr lang="en-US" altLang="zh-CN" sz="1800" dirty="0"/>
              <a:t>    </a:t>
            </a:r>
            <a:r>
              <a:rPr lang="en-US" altLang="zh-CN" sz="1800" dirty="0" err="1"/>
              <a:t>vsp.SetParmVal</a:t>
            </a:r>
            <a:r>
              <a:rPr lang="en-US" altLang="zh-CN" sz="1800" dirty="0"/>
              <a:t>( wing_id,'Z_Rel_Location','</a:t>
            </a:r>
            <a:r>
              <a:rPr lang="en-US" altLang="zh-CN" sz="1800" dirty="0" err="1"/>
              <a:t>XForm</a:t>
            </a:r>
            <a:r>
              <a:rPr lang="en-US" altLang="zh-CN" sz="1800" dirty="0"/>
              <a:t>',</a:t>
            </a:r>
            <a:r>
              <a:rPr lang="en-US" altLang="zh-CN" sz="1800" dirty="0" err="1"/>
              <a:t>wing_z</a:t>
            </a:r>
            <a:r>
              <a:rPr lang="en-US" altLang="zh-CN" sz="1800" dirty="0"/>
              <a:t>)</a:t>
            </a:r>
          </a:p>
          <a:p>
            <a:pPr>
              <a:lnSpc>
                <a:spcPts val="1200"/>
              </a:lnSpc>
            </a:pPr>
            <a:endParaRPr lang="en-US" altLang="zh-CN" sz="1800" dirty="0"/>
          </a:p>
        </p:txBody>
      </p:sp>
      <p:sp>
        <p:nvSpPr>
          <p:cNvPr id="12" name="文本框 11">
            <a:extLst>
              <a:ext uri="{FF2B5EF4-FFF2-40B4-BE49-F238E27FC236}">
                <a16:creationId xmlns:a16="http://schemas.microsoft.com/office/drawing/2014/main" id="{BB32E569-2D54-A69C-840A-B2303FCE5EC8}"/>
              </a:ext>
            </a:extLst>
          </p:cNvPr>
          <p:cNvSpPr txBox="1"/>
          <p:nvPr/>
        </p:nvSpPr>
        <p:spPr>
          <a:xfrm>
            <a:off x="3047999" y="1477858"/>
            <a:ext cx="6096000" cy="430887"/>
          </a:xfrm>
          <a:prstGeom prst="rect">
            <a:avLst/>
          </a:prstGeom>
          <a:noFill/>
        </p:spPr>
        <p:txBody>
          <a:bodyPr wrap="square">
            <a:spAutoFit/>
          </a:bodyPr>
          <a:lstStyle/>
          <a:p>
            <a:pPr algn="ctr"/>
            <a:r>
              <a:rPr lang="en-US" altLang="zh-CN" sz="2200" b="1" i="0" dirty="0">
                <a:solidFill>
                  <a:srgbClr val="E67000"/>
                </a:solidFill>
                <a:effectLst/>
                <a:latin typeface="微软雅黑" panose="020B0503020204020204" pitchFamily="34" charset="-122"/>
                <a:ea typeface="微软雅黑" panose="020B0503020204020204" pitchFamily="34" charset="-122"/>
              </a:rPr>
              <a:t>Partial source code of </a:t>
            </a:r>
            <a:r>
              <a:rPr lang="en-US" altLang="zh-CN" sz="2200" b="1" i="0" dirty="0" err="1">
                <a:solidFill>
                  <a:srgbClr val="E67000"/>
                </a:solidFill>
                <a:effectLst/>
                <a:latin typeface="微软雅黑" panose="020B0503020204020204" pitchFamily="34" charset="-122"/>
                <a:ea typeface="微软雅黑" panose="020B0503020204020204" pitchFamily="34" charset="-122"/>
              </a:rPr>
              <a:t>vsp_write</a:t>
            </a:r>
            <a:endParaRPr lang="zh-CN" altLang="en-US" sz="2200" b="1" dirty="0">
              <a:solidFill>
                <a:srgbClr val="E67000"/>
              </a:solidFill>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69FA3DB7-3EBD-8190-FD9D-19FBC608ECEE}"/>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SUAVE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cxnSp>
        <p:nvCxnSpPr>
          <p:cNvPr id="15" name="直接连接符 14">
            <a:extLst>
              <a:ext uri="{FF2B5EF4-FFF2-40B4-BE49-F238E27FC236}">
                <a16:creationId xmlns:a16="http://schemas.microsoft.com/office/drawing/2014/main" id="{5E1F1F84-D444-D2B6-2C2C-7BDDF24CE37D}"/>
              </a:ext>
            </a:extLst>
          </p:cNvPr>
          <p:cNvCxnSpPr>
            <a:cxnSpLocks/>
          </p:cNvCxnSpPr>
          <p:nvPr/>
        </p:nvCxnSpPr>
        <p:spPr>
          <a:xfrm>
            <a:off x="263105" y="1908745"/>
            <a:ext cx="11646739" cy="0"/>
          </a:xfrm>
          <a:prstGeom prst="line">
            <a:avLst/>
          </a:prstGeom>
          <a:ln w="25400">
            <a:solidFill>
              <a:schemeClr val="bg1">
                <a:alpha val="60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7925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a:extLst>
              <a:ext uri="{FF2B5EF4-FFF2-40B4-BE49-F238E27FC236}">
                <a16:creationId xmlns:a16="http://schemas.microsoft.com/office/drawing/2014/main" id="{63CB6D9D-6A1E-068A-7E53-9AB50F1A989D}"/>
              </a:ext>
            </a:extLst>
          </p:cNvPr>
          <p:cNvPicPr>
            <a:picLocks noChangeAspect="1"/>
          </p:cNvPicPr>
          <p:nvPr/>
        </p:nvPicPr>
        <p:blipFill>
          <a:blip r:embed="rId3"/>
          <a:stretch>
            <a:fillRect/>
          </a:stretch>
        </p:blipFill>
        <p:spPr>
          <a:xfrm>
            <a:off x="4273893" y="1405987"/>
            <a:ext cx="7819048" cy="4819048"/>
          </a:xfrm>
          <a:prstGeom prst="rect">
            <a:avLst/>
          </a:prstGeom>
          <a:ln>
            <a:noFill/>
          </a:ln>
        </p:spPr>
      </p:pic>
      <p:sp>
        <p:nvSpPr>
          <p:cNvPr id="3" name="标题 1">
            <a:extLst>
              <a:ext uri="{FF2B5EF4-FFF2-40B4-BE49-F238E27FC236}">
                <a16:creationId xmlns:a16="http://schemas.microsoft.com/office/drawing/2014/main" id="{B31474C8-FE06-72E8-CE90-1430DBC46D6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63673A65-2847-B6EF-D296-44808DF147B0}"/>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a:t>
            </a:r>
            <a:r>
              <a:rPr lang="en-US" altLang="zh-CN" sz="2400" b="1"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AB5055E6-3323-1BA4-7E5C-6BCF3C60A1C9}"/>
              </a:ext>
            </a:extLst>
          </p:cNvPr>
          <p:cNvSpPr txBox="1"/>
          <p:nvPr/>
        </p:nvSpPr>
        <p:spPr>
          <a:xfrm>
            <a:off x="7015017" y="6252789"/>
            <a:ext cx="2336800" cy="276999"/>
          </a:xfrm>
          <a:prstGeom prst="rect">
            <a:avLst/>
          </a:prstGeom>
          <a:noFill/>
        </p:spPr>
        <p:txBody>
          <a:bodyPr wrap="square" lIns="0" tIns="0" rIns="0" bIns="0" rtlCol="0">
            <a:spAutoFit/>
          </a:bodyPr>
          <a:lstStyle/>
          <a:p>
            <a:pPr algn="ctr"/>
            <a:r>
              <a:rPr lang="en-US" altLang="zh-CN" dirty="0">
                <a:solidFill>
                  <a:srgbClr val="002060"/>
                </a:solidFill>
                <a:latin typeface="微软雅黑" panose="020B0503020204020204" pitchFamily="34" charset="-122"/>
                <a:ea typeface="微软雅黑" panose="020B0503020204020204" pitchFamily="34" charset="-122"/>
              </a:rPr>
              <a:t>Partial text of </a:t>
            </a:r>
            <a:r>
              <a:rPr lang="en-US" altLang="zh-CN" dirty="0" err="1">
                <a:solidFill>
                  <a:srgbClr val="002060"/>
                </a:solidFill>
                <a:latin typeface="微软雅黑" panose="020B0503020204020204" pitchFamily="34" charset="-122"/>
                <a:ea typeface="微软雅黑" panose="020B0503020204020204" pitchFamily="34" charset="-122"/>
              </a:rPr>
              <a:t>vsp</a:t>
            </a:r>
            <a:r>
              <a:rPr lang="en-US" altLang="zh-CN" dirty="0">
                <a:solidFill>
                  <a:srgbClr val="002060"/>
                </a:solidFill>
                <a:latin typeface="微软雅黑" panose="020B0503020204020204" pitchFamily="34" charset="-122"/>
                <a:ea typeface="微软雅黑" panose="020B0503020204020204" pitchFamily="34" charset="-122"/>
              </a:rPr>
              <a:t> file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F1C0F48B-7573-ECA4-76B9-0862188AEC95}"/>
              </a:ext>
            </a:extLst>
          </p:cNvPr>
          <p:cNvSpPr txBox="1"/>
          <p:nvPr/>
        </p:nvSpPr>
        <p:spPr>
          <a:xfrm>
            <a:off x="479157" y="3252337"/>
            <a:ext cx="3352526" cy="1477328"/>
          </a:xfrm>
          <a:prstGeom prst="rect">
            <a:avLst/>
          </a:prstGeom>
          <a:solidFill>
            <a:srgbClr val="2D2D30"/>
          </a:solidFill>
        </p:spPr>
        <p:txBody>
          <a:bodyPr wrap="square" lIns="0" tIns="0" rIns="0" bIns="0" rtlCol="0">
            <a:spAutoFit/>
          </a:bodyPr>
          <a:lstStyle>
            <a:defPPr>
              <a:defRPr lang="de-DE"/>
            </a:defPPr>
            <a:lvl1pPr marL="108000">
              <a:defRPr>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600" dirty="0" err="1"/>
              <a:t>wing.sweeps.quarter_chord</a:t>
            </a:r>
            <a:r>
              <a:rPr lang="en-US" altLang="zh-CN" sz="1600" dirty="0"/>
              <a:t>=25</a:t>
            </a:r>
          </a:p>
          <a:p>
            <a:r>
              <a:rPr lang="en-US" altLang="zh-CN" sz="1600" dirty="0" err="1"/>
              <a:t>wing.thickness_to_chord</a:t>
            </a:r>
            <a:r>
              <a:rPr lang="en-US" altLang="zh-CN" sz="1600" dirty="0"/>
              <a:t>  =0.1</a:t>
            </a:r>
          </a:p>
          <a:p>
            <a:r>
              <a:rPr lang="en-US" altLang="zh-CN" sz="1600" dirty="0" err="1"/>
              <a:t>wing.taper</a:t>
            </a:r>
            <a:r>
              <a:rPr lang="en-US" altLang="zh-CN" sz="1600" dirty="0"/>
              <a:t>               =0.1</a:t>
            </a:r>
          </a:p>
          <a:p>
            <a:r>
              <a:rPr lang="en-US" altLang="zh-CN" sz="1600" dirty="0" err="1"/>
              <a:t>wing.spans.projected</a:t>
            </a:r>
            <a:r>
              <a:rPr lang="en-US" altLang="zh-CN" sz="1600" dirty="0"/>
              <a:t>   =34.32</a:t>
            </a:r>
          </a:p>
          <a:p>
            <a:r>
              <a:rPr lang="en-US" altLang="zh-CN" sz="1600" dirty="0" err="1"/>
              <a:t>wing.chords.root</a:t>
            </a:r>
            <a:r>
              <a:rPr lang="en-US" altLang="zh-CN" sz="1600" dirty="0"/>
              <a:t>       =7.760</a:t>
            </a:r>
          </a:p>
          <a:p>
            <a:r>
              <a:rPr lang="en-US" altLang="zh-CN" sz="1600" dirty="0" err="1"/>
              <a:t>wing.chords.tip</a:t>
            </a:r>
            <a:r>
              <a:rPr lang="en-US" altLang="zh-CN" sz="1600" dirty="0"/>
              <a:t>        =0.782</a:t>
            </a:r>
          </a:p>
        </p:txBody>
      </p:sp>
      <p:cxnSp>
        <p:nvCxnSpPr>
          <p:cNvPr id="14" name="连接符: 肘形 13">
            <a:extLst>
              <a:ext uri="{FF2B5EF4-FFF2-40B4-BE49-F238E27FC236}">
                <a16:creationId xmlns:a16="http://schemas.microsoft.com/office/drawing/2014/main" id="{14A63F45-853F-8533-E596-F2704BA25CAD}"/>
              </a:ext>
            </a:extLst>
          </p:cNvPr>
          <p:cNvCxnSpPr>
            <a:cxnSpLocks/>
          </p:cNvCxnSpPr>
          <p:nvPr/>
        </p:nvCxnSpPr>
        <p:spPr>
          <a:xfrm rot="10800000">
            <a:off x="3592946" y="4729666"/>
            <a:ext cx="997527" cy="784443"/>
          </a:xfrm>
          <a:prstGeom prst="bentConnector3">
            <a:avLst>
              <a:gd name="adj1" fmla="val 1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BF7BB9-E51A-45CB-8994-950412704BD7}"/>
              </a:ext>
            </a:extLst>
          </p:cNvPr>
          <p:cNvCxnSpPr>
            <a:cxnSpLocks/>
          </p:cNvCxnSpPr>
          <p:nvPr/>
        </p:nvCxnSpPr>
        <p:spPr>
          <a:xfrm rot="10800000" flipV="1">
            <a:off x="3831684" y="3740724"/>
            <a:ext cx="758791" cy="618839"/>
          </a:xfrm>
          <a:prstGeom prst="bentConnector3">
            <a:avLst>
              <a:gd name="adj1" fmla="val 2443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7CE22A8F-0D9C-89D4-2AA8-724035C5D22A}"/>
              </a:ext>
            </a:extLst>
          </p:cNvPr>
          <p:cNvCxnSpPr>
            <a:cxnSpLocks/>
          </p:cNvCxnSpPr>
          <p:nvPr/>
        </p:nvCxnSpPr>
        <p:spPr>
          <a:xfrm rot="10800000" flipV="1">
            <a:off x="3831682" y="3509816"/>
            <a:ext cx="758793" cy="61884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2F287129-B93E-814A-F94B-CDEFC7AC5AFE}"/>
              </a:ext>
            </a:extLst>
          </p:cNvPr>
          <p:cNvSpPr txBox="1"/>
          <p:nvPr/>
        </p:nvSpPr>
        <p:spPr>
          <a:xfrm>
            <a:off x="211886" y="1522744"/>
            <a:ext cx="3510369" cy="1200329"/>
          </a:xfrm>
          <a:prstGeom prst="rect">
            <a:avLst/>
          </a:prstGeom>
          <a:noFill/>
        </p:spPr>
        <p:txBody>
          <a:bodyPr wrap="square">
            <a:spAutoFit/>
          </a:bodyPr>
          <a:lstStyle/>
          <a:p>
            <a:pPr algn="just"/>
            <a:r>
              <a:rPr lang="en-US" altLang="zh-CN" dirty="0" err="1">
                <a:solidFill>
                  <a:srgbClr val="002060"/>
                </a:solidFill>
                <a:latin typeface="微软雅黑" panose="020B0503020204020204" pitchFamily="34" charset="-122"/>
                <a:ea typeface="微软雅黑" panose="020B0503020204020204" pitchFamily="34" charset="-122"/>
              </a:rPr>
              <a:t>OpenVSP</a:t>
            </a:r>
            <a:r>
              <a:rPr lang="en-US" altLang="zh-CN" dirty="0">
                <a:solidFill>
                  <a:srgbClr val="002060"/>
                </a:solidFill>
                <a:latin typeface="微软雅黑" panose="020B0503020204020204" pitchFamily="34" charset="-122"/>
                <a:ea typeface="微软雅黑" panose="020B0503020204020204" pitchFamily="34" charset="-122"/>
              </a:rPr>
              <a:t> uses XML format to record geometric parameters of each component with structured tags.</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872451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4E429-3D68-E9A7-0EF3-207EB1E82467}"/>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3BD54424-583F-C00C-C69C-5165EF109EEB}"/>
              </a:ext>
            </a:extLst>
          </p:cNvPr>
          <p:cNvPicPr>
            <a:picLocks noChangeAspect="1"/>
          </p:cNvPicPr>
          <p:nvPr/>
        </p:nvPicPr>
        <p:blipFill>
          <a:blip r:embed="rId3">
            <a:clrChange>
              <a:clrFrom>
                <a:srgbClr val="FFFFFF"/>
              </a:clrFrom>
              <a:clrTo>
                <a:srgbClr val="FFFFFF">
                  <a:alpha val="0"/>
                </a:srgbClr>
              </a:clrTo>
            </a:clrChange>
          </a:blip>
          <a:srcRect l="7046" t="57404" r="7752" b="6947"/>
          <a:stretch>
            <a:fillRect/>
          </a:stretch>
        </p:blipFill>
        <p:spPr>
          <a:xfrm>
            <a:off x="860955" y="2453162"/>
            <a:ext cx="10465467" cy="3435041"/>
          </a:xfrm>
          <a:prstGeom prst="rect">
            <a:avLst/>
          </a:prstGeom>
        </p:spPr>
      </p:pic>
      <p:cxnSp>
        <p:nvCxnSpPr>
          <p:cNvPr id="9" name="直接连接符 8">
            <a:extLst>
              <a:ext uri="{FF2B5EF4-FFF2-40B4-BE49-F238E27FC236}">
                <a16:creationId xmlns:a16="http://schemas.microsoft.com/office/drawing/2014/main" id="{6DE5F2C4-9CED-D167-5D00-ADA28AE0B05B}"/>
              </a:ext>
            </a:extLst>
          </p:cNvPr>
          <p:cNvCxnSpPr>
            <a:cxnSpLocks/>
          </p:cNvCxnSpPr>
          <p:nvPr/>
        </p:nvCxnSpPr>
        <p:spPr>
          <a:xfrm>
            <a:off x="2877951" y="2647950"/>
            <a:ext cx="0" cy="2802355"/>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54323FF4-1703-4624-DFC9-65183B640BF9}"/>
              </a:ext>
            </a:extLst>
          </p:cNvPr>
          <p:cNvCxnSpPr>
            <a:cxnSpLocks/>
          </p:cNvCxnSpPr>
          <p:nvPr/>
        </p:nvCxnSpPr>
        <p:spPr>
          <a:xfrm>
            <a:off x="9344523" y="2647950"/>
            <a:ext cx="0" cy="2802354"/>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DDAE9853-6CF5-69BB-EF18-60D1A886CDCC}"/>
              </a:ext>
            </a:extLst>
          </p:cNvPr>
          <p:cNvSpPr txBox="1"/>
          <p:nvPr/>
        </p:nvSpPr>
        <p:spPr>
          <a:xfrm>
            <a:off x="4673960" y="2032534"/>
            <a:ext cx="2839453"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Flight Mission</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 name="标题 1">
            <a:extLst>
              <a:ext uri="{FF2B5EF4-FFF2-40B4-BE49-F238E27FC236}">
                <a16:creationId xmlns:a16="http://schemas.microsoft.com/office/drawing/2014/main" id="{94471E41-3F09-C894-543D-01491508E844}"/>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Mission</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20" name="文本框 19">
            <a:extLst>
              <a:ext uri="{FF2B5EF4-FFF2-40B4-BE49-F238E27FC236}">
                <a16:creationId xmlns:a16="http://schemas.microsoft.com/office/drawing/2014/main" id="{8760A0CD-8BF4-2E1E-FFB8-CB41A5F71E2C}"/>
              </a:ext>
            </a:extLst>
          </p:cNvPr>
          <p:cNvSpPr txBox="1"/>
          <p:nvPr/>
        </p:nvSpPr>
        <p:spPr>
          <a:xfrm>
            <a:off x="860955"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Takeoff &amp; Climb</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1" name="文本框 20">
            <a:extLst>
              <a:ext uri="{FF2B5EF4-FFF2-40B4-BE49-F238E27FC236}">
                <a16:creationId xmlns:a16="http://schemas.microsoft.com/office/drawing/2014/main" id="{04EC8B8A-7B2C-4D39-4010-0D625CC5AD62}"/>
              </a:ext>
            </a:extLst>
          </p:cNvPr>
          <p:cNvSpPr txBox="1"/>
          <p:nvPr/>
        </p:nvSpPr>
        <p:spPr>
          <a:xfrm>
            <a:off x="4892130"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Cruise</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文本框 21">
            <a:extLst>
              <a:ext uri="{FF2B5EF4-FFF2-40B4-BE49-F238E27FC236}">
                <a16:creationId xmlns:a16="http://schemas.microsoft.com/office/drawing/2014/main" id="{0AB16D7E-5B18-BE73-A738-0FF3EF97C2F0}"/>
              </a:ext>
            </a:extLst>
          </p:cNvPr>
          <p:cNvSpPr txBox="1"/>
          <p:nvPr/>
        </p:nvSpPr>
        <p:spPr>
          <a:xfrm>
            <a:off x="8923305" y="5953264"/>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Descent &amp; landing</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pic>
        <p:nvPicPr>
          <p:cNvPr id="25" name="图片 24">
            <a:extLst>
              <a:ext uri="{FF2B5EF4-FFF2-40B4-BE49-F238E27FC236}">
                <a16:creationId xmlns:a16="http://schemas.microsoft.com/office/drawing/2014/main" id="{9FAFBDB6-3783-045A-1249-D52779332076}"/>
              </a:ext>
            </a:extLst>
          </p:cNvPr>
          <p:cNvPicPr>
            <a:picLocks noChangeAspect="1"/>
          </p:cNvPicPr>
          <p:nvPr/>
        </p:nvPicPr>
        <p:blipFill>
          <a:blip r:embed="rId4">
            <a:clrChange>
              <a:clrFrom>
                <a:srgbClr val="F2F2F2"/>
              </a:clrFrom>
              <a:clrTo>
                <a:srgbClr val="F2F2F2">
                  <a:alpha val="0"/>
                </a:srgbClr>
              </a:clrTo>
            </a:clrChange>
          </a:blip>
          <a:stretch>
            <a:fillRect/>
          </a:stretch>
        </p:blipFill>
        <p:spPr>
          <a:xfrm rot="20886059">
            <a:off x="1248547" y="3478615"/>
            <a:ext cx="1627930" cy="1128541"/>
          </a:xfrm>
          <a:prstGeom prst="rect">
            <a:avLst/>
          </a:prstGeom>
        </p:spPr>
      </p:pic>
      <p:pic>
        <p:nvPicPr>
          <p:cNvPr id="26" name="图片 25">
            <a:extLst>
              <a:ext uri="{FF2B5EF4-FFF2-40B4-BE49-F238E27FC236}">
                <a16:creationId xmlns:a16="http://schemas.microsoft.com/office/drawing/2014/main" id="{30BA03BE-533D-25C7-B19C-9E49EA522ADE}"/>
              </a:ext>
            </a:extLst>
          </p:cNvPr>
          <p:cNvPicPr>
            <a:picLocks noChangeAspect="1"/>
          </p:cNvPicPr>
          <p:nvPr/>
        </p:nvPicPr>
        <p:blipFill>
          <a:blip r:embed="rId4">
            <a:clrChange>
              <a:clrFrom>
                <a:srgbClr val="F2F2F2"/>
              </a:clrFrom>
              <a:clrTo>
                <a:srgbClr val="F2F2F2">
                  <a:alpha val="0"/>
                </a:srgbClr>
              </a:clrTo>
            </a:clrChange>
          </a:blip>
          <a:stretch>
            <a:fillRect/>
          </a:stretch>
        </p:blipFill>
        <p:spPr>
          <a:xfrm rot="2027862">
            <a:off x="5297929" y="2277104"/>
            <a:ext cx="1627930" cy="1128541"/>
          </a:xfrm>
          <a:prstGeom prst="rect">
            <a:avLst/>
          </a:prstGeom>
        </p:spPr>
      </p:pic>
      <p:pic>
        <p:nvPicPr>
          <p:cNvPr id="27" name="图片 26">
            <a:extLst>
              <a:ext uri="{FF2B5EF4-FFF2-40B4-BE49-F238E27FC236}">
                <a16:creationId xmlns:a16="http://schemas.microsoft.com/office/drawing/2014/main" id="{A69B2F3D-01AC-0B8B-2C73-510C15EC9F2A}"/>
              </a:ext>
            </a:extLst>
          </p:cNvPr>
          <p:cNvPicPr>
            <a:picLocks noChangeAspect="1"/>
          </p:cNvPicPr>
          <p:nvPr/>
        </p:nvPicPr>
        <p:blipFill>
          <a:blip r:embed="rId4">
            <a:clrChange>
              <a:clrFrom>
                <a:srgbClr val="F2F2F2"/>
              </a:clrFrom>
              <a:clrTo>
                <a:srgbClr val="F2F2F2">
                  <a:alpha val="0"/>
                </a:srgbClr>
              </a:clrTo>
            </a:clrChange>
          </a:blip>
          <a:stretch>
            <a:fillRect/>
          </a:stretch>
        </p:blipFill>
        <p:spPr>
          <a:xfrm rot="3993189">
            <a:off x="9386789" y="3478614"/>
            <a:ext cx="1627930" cy="1128541"/>
          </a:xfrm>
          <a:prstGeom prst="rect">
            <a:avLst/>
          </a:prstGeom>
        </p:spPr>
      </p:pic>
      <p:sp>
        <p:nvSpPr>
          <p:cNvPr id="29" name="文本框 28">
            <a:extLst>
              <a:ext uri="{FF2B5EF4-FFF2-40B4-BE49-F238E27FC236}">
                <a16:creationId xmlns:a16="http://schemas.microsoft.com/office/drawing/2014/main" id="{D314809F-362F-2E48-59C2-FAF72BAD600E}"/>
              </a:ext>
            </a:extLst>
          </p:cNvPr>
          <p:cNvSpPr txBox="1"/>
          <p:nvPr/>
        </p:nvSpPr>
        <p:spPr>
          <a:xfrm>
            <a:off x="222691" y="872758"/>
            <a:ext cx="11741989" cy="874407"/>
          </a:xfrm>
          <a:prstGeom prst="rect">
            <a:avLst/>
          </a:prstGeom>
          <a:noFill/>
        </p:spPr>
        <p:txBody>
          <a:bodyPr wrap="square">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If you want your flight mission to be more realistic, you should adopt a multi-segment climb and descent mode to achieve smoother speed transitions and configure distinct aircraft states for takeoff and landing.</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279997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A5F4-DEF4-6525-1FC4-689A66CD7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DAB3C91-AE58-A2BF-E9A1-9582DA9B197B}"/>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Aerodynamic Analysis</a:t>
            </a:r>
            <a:endParaRPr lang="en-US" altLang="zh-CN" dirty="0">
              <a:solidFill>
                <a:srgbClr val="C00000"/>
              </a:solidFill>
              <a:latin typeface="微软雅黑" panose="020B0503020204020204" pitchFamily="34" charset="-122"/>
              <a:ea typeface="微软雅黑" panose="020B0503020204020204" pitchFamily="34" charset="-122"/>
            </a:endParaRPr>
          </a:p>
        </p:txBody>
      </p:sp>
      <p:graphicFrame>
        <p:nvGraphicFramePr>
          <p:cNvPr id="3" name="表格 2">
            <a:extLst>
              <a:ext uri="{FF2B5EF4-FFF2-40B4-BE49-F238E27FC236}">
                <a16:creationId xmlns:a16="http://schemas.microsoft.com/office/drawing/2014/main" id="{65C088CB-7BD1-2ED0-3B42-566066B70967}"/>
              </a:ext>
            </a:extLst>
          </p:cNvPr>
          <p:cNvGraphicFramePr>
            <a:graphicFrameLocks noGrp="1"/>
          </p:cNvGraphicFramePr>
          <p:nvPr>
            <p:extLst>
              <p:ext uri="{D42A27DB-BD31-4B8C-83A1-F6EECF244321}">
                <p14:modId xmlns:p14="http://schemas.microsoft.com/office/powerpoint/2010/main" val="1346425227"/>
              </p:ext>
            </p:extLst>
          </p:nvPr>
        </p:nvGraphicFramePr>
        <p:xfrm>
          <a:off x="628072" y="1983621"/>
          <a:ext cx="10935856" cy="4286760"/>
        </p:xfrm>
        <a:graphic>
          <a:graphicData uri="http://schemas.openxmlformats.org/drawingml/2006/table">
            <a:tbl>
              <a:tblPr firstRow="1" bandRow="1">
                <a:tableStyleId>{5C22544A-7EE6-4342-B048-85BDC9FD1C3A}</a:tableStyleId>
              </a:tblPr>
              <a:tblGrid>
                <a:gridCol w="4202547">
                  <a:extLst>
                    <a:ext uri="{9D8B030D-6E8A-4147-A177-3AD203B41FA5}">
                      <a16:colId xmlns:a16="http://schemas.microsoft.com/office/drawing/2014/main" val="494558665"/>
                    </a:ext>
                  </a:extLst>
                </a:gridCol>
                <a:gridCol w="6733309">
                  <a:extLst>
                    <a:ext uri="{9D8B030D-6E8A-4147-A177-3AD203B41FA5}">
                      <a16:colId xmlns:a16="http://schemas.microsoft.com/office/drawing/2014/main" val="274078210"/>
                    </a:ext>
                  </a:extLst>
                </a:gridCol>
              </a:tblGrid>
              <a:tr h="370840">
                <a:tc>
                  <a:txBody>
                    <a:bodyPr/>
                    <a:lstStyle/>
                    <a:p>
                      <a:pPr algn="ctr">
                        <a:lnSpc>
                          <a:spcPct val="150000"/>
                        </a:lnSpc>
                      </a:pPr>
                      <a:r>
                        <a:rPr lang="en-US" altLang="zh-CN" sz="2000" b="1" dirty="0" err="1">
                          <a:solidFill>
                            <a:srgbClr val="002060"/>
                          </a:solidFill>
                          <a:latin typeface="Consolas" panose="020B0609020204030204" pitchFamily="49" charset="0"/>
                        </a:rPr>
                        <a:t>Fidelity_Zero</a:t>
                      </a:r>
                      <a:endParaRPr lang="en-US" altLang="zh-CN"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Based on VLM method, it is suitable for aerodynamic force calculation of low-speed aircraft.</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6942181"/>
                  </a:ext>
                </a:extLst>
              </a:tr>
              <a:tr h="370840">
                <a:tc>
                  <a:txBody>
                    <a:bodyPr/>
                    <a:lstStyle/>
                    <a:p>
                      <a:pPr algn="ctr">
                        <a:lnSpc>
                          <a:spcPct val="150000"/>
                        </a:lnSpc>
                      </a:pPr>
                      <a:r>
                        <a:rPr lang="en-US" altLang="zh-CN" sz="2000" b="1" dirty="0" err="1">
                          <a:solidFill>
                            <a:srgbClr val="002060"/>
                          </a:solidFill>
                          <a:latin typeface="Consolas" panose="020B0609020204030204" pitchFamily="49" charset="0"/>
                        </a:rPr>
                        <a:t>Supersonic_Zero</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Also based on VLM method, but modified with empirical formulas for supersonic conditions. </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4963844"/>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AERODAS</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An airfoil aerodynamic prediction method developed by NASA. Its core function is to calculate the CL and CD of airfoils over the entire angle of attack range through empirical formulas and curve fitting.</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1602300"/>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SU2_Euler</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Generate volume meshes via </a:t>
                      </a:r>
                      <a:r>
                        <a:rPr lang="en-US" altLang="zh-CN" sz="1800" b="0" dirty="0" err="1">
                          <a:solidFill>
                            <a:srgbClr val="002060"/>
                          </a:solidFill>
                          <a:latin typeface="微软雅黑" panose="020B0503020204020204" pitchFamily="34" charset="-122"/>
                          <a:ea typeface="微软雅黑" panose="020B0503020204020204" pitchFamily="34" charset="-122"/>
                        </a:rPr>
                        <a:t>Gmsh</a:t>
                      </a:r>
                      <a:r>
                        <a:rPr lang="en-US" altLang="zh-CN" sz="1800" b="0" dirty="0">
                          <a:solidFill>
                            <a:srgbClr val="002060"/>
                          </a:solidFill>
                          <a:latin typeface="微软雅黑" panose="020B0503020204020204" pitchFamily="34" charset="-122"/>
                          <a:ea typeface="微软雅黑" panose="020B0503020204020204" pitchFamily="34" charset="-122"/>
                        </a:rPr>
                        <a:t>, run CFD simulations in SU2.</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6366159"/>
                  </a:ext>
                </a:extLst>
              </a:tr>
            </a:tbl>
          </a:graphicData>
        </a:graphic>
      </p:graphicFrame>
      <p:sp>
        <p:nvSpPr>
          <p:cNvPr id="5" name="文本框 4">
            <a:extLst>
              <a:ext uri="{FF2B5EF4-FFF2-40B4-BE49-F238E27FC236}">
                <a16:creationId xmlns:a16="http://schemas.microsoft.com/office/drawing/2014/main" id="{09678422-CFC3-7E19-18E7-9506CFBC29E8}"/>
              </a:ext>
            </a:extLst>
          </p:cNvPr>
          <p:cNvSpPr txBox="1"/>
          <p:nvPr/>
        </p:nvSpPr>
        <p:spPr>
          <a:xfrm>
            <a:off x="628071" y="1289902"/>
            <a:ext cx="10935855" cy="523220"/>
          </a:xfrm>
          <a:prstGeom prst="rect">
            <a:avLst/>
          </a:prstGeom>
          <a:noFill/>
        </p:spPr>
        <p:txBody>
          <a:bodyPr wrap="square">
            <a:spAutoFit/>
          </a:bodyPr>
          <a:lstStyle/>
          <a:p>
            <a:pPr algn="ctr"/>
            <a:r>
              <a:rPr lang="en-US" altLang="zh-CN" sz="2800" b="1" dirty="0">
                <a:solidFill>
                  <a:srgbClr val="0F1115"/>
                </a:solidFill>
                <a:latin typeface="quote-cjk-patch"/>
              </a:rPr>
              <a:t>M</a:t>
            </a:r>
            <a:r>
              <a:rPr lang="en-US" altLang="zh-CN" sz="2800" b="1" i="0" dirty="0">
                <a:solidFill>
                  <a:srgbClr val="0F1115"/>
                </a:solidFill>
                <a:effectLst/>
                <a:latin typeface="quote-cjk-patch"/>
              </a:rPr>
              <a:t>ain aerodynamic analysis modules in the SUAVE</a:t>
            </a:r>
            <a:endParaRPr lang="zh-CN" altLang="en-US" sz="2800" dirty="0"/>
          </a:p>
        </p:txBody>
      </p:sp>
    </p:spTree>
    <p:extLst>
      <p:ext uri="{BB962C8B-B14F-4D97-AF65-F5344CB8AC3E}">
        <p14:creationId xmlns:p14="http://schemas.microsoft.com/office/powerpoint/2010/main" val="21968962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1CDCB-E60E-0D33-D529-A18FFD280AD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A54334B-2956-C503-F0EC-8BE10966FF2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2DCECF81-3FB8-F1B9-895C-72823BDF87A7}"/>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to optimize your aircraft via SUAVE</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3364476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D8F52-6B52-0DFB-24F0-879EEA285F9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53D0F5-ABB5-0420-497D-884097AB2A9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FD259330-0B18-6933-ED9E-67B23B6E0B58}"/>
              </a:ext>
            </a:extLst>
          </p:cNvPr>
          <p:cNvSpPr txBox="1"/>
          <p:nvPr/>
        </p:nvSpPr>
        <p:spPr>
          <a:xfrm>
            <a:off x="211885" y="870401"/>
            <a:ext cx="9582903"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Generate custom wings based on segmented CST parameters</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6612480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0FCCC-824C-66D2-4817-5763AFF48629}"/>
            </a:ext>
          </a:extLst>
        </p:cNvPr>
        <p:cNvGrpSpPr/>
        <p:nvPr/>
      </p:nvGrpSpPr>
      <p:grpSpPr>
        <a:xfrm>
          <a:off x="0" y="0"/>
          <a:ext cx="0" cy="0"/>
          <a:chOff x="0" y="0"/>
          <a:chExt cx="0" cy="0"/>
        </a:xfrm>
      </p:grpSpPr>
      <p:sp>
        <p:nvSpPr>
          <p:cNvPr id="12" name="标题 1">
            <a:extLst>
              <a:ext uri="{FF2B5EF4-FFF2-40B4-BE49-F238E27FC236}">
                <a16:creationId xmlns:a16="http://schemas.microsoft.com/office/drawing/2014/main" id="{38C0D59A-D3B2-3D84-1CAA-AB2D0AE27105}"/>
              </a:ext>
            </a:extLst>
          </p:cNvPr>
          <p:cNvSpPr txBox="1">
            <a:spLocks/>
          </p:cNvSpPr>
          <p:nvPr/>
        </p:nvSpPr>
        <p:spPr bwMode="auto">
          <a:xfrm>
            <a:off x="1883532" y="3021495"/>
            <a:ext cx="8424936" cy="815010"/>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dirty="0">
                <a:solidFill>
                  <a:srgbClr val="002060"/>
                </a:solidFill>
                <a:latin typeface="微软雅黑" pitchFamily="34" charset="-122"/>
                <a:ea typeface="微软雅黑" pitchFamily="34" charset="-122"/>
              </a:rPr>
              <a:t>Thank You</a:t>
            </a:r>
            <a:r>
              <a:rPr lang="zh-CN" altLang="en-US" dirty="0">
                <a:solidFill>
                  <a:srgbClr val="002060"/>
                </a:solidFill>
                <a:latin typeface="微软雅黑" pitchFamily="34" charset="-122"/>
                <a:ea typeface="微软雅黑" pitchFamily="34" charset="-122"/>
              </a:rPr>
              <a:t>！</a:t>
            </a:r>
            <a:endParaRPr lang="en-US" altLang="zh-CN" dirty="0">
              <a:solidFill>
                <a:srgbClr val="002060"/>
              </a:solidFill>
              <a:latin typeface="微软雅黑" pitchFamily="34" charset="-122"/>
              <a:ea typeface="微软雅黑" pitchFamily="34" charset="-122"/>
            </a:endParaRPr>
          </a:p>
        </p:txBody>
      </p:sp>
      <p:sp>
        <p:nvSpPr>
          <p:cNvPr id="3" name="矩形 2">
            <a:extLst>
              <a:ext uri="{FF2B5EF4-FFF2-40B4-BE49-F238E27FC236}">
                <a16:creationId xmlns:a16="http://schemas.microsoft.com/office/drawing/2014/main" id="{9851C3E8-149E-614D-313E-955834BB738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April 29,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2787142402"/>
      </p:ext>
    </p:extLst>
  </p:cSld>
  <p:clrMapOvr>
    <a:masterClrMapping/>
  </p:clrMapOvr>
</p:sld>
</file>

<file path=ppt/theme/theme1.xml><?xml version="1.0" encoding="utf-8"?>
<a:theme xmlns:a="http://schemas.openxmlformats.org/drawingml/2006/main" name="DLR-Präsentation 4:3 Englisch">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20000"/>
            <a:lumOff val="80000"/>
          </a:schemeClr>
        </a:solidFill>
        <a:ln w="9525">
          <a:noFill/>
        </a:ln>
      </a:spPr>
      <a:bodyPr rtlCol="0" anchor="ctr">
        <a:noAutofit/>
      </a:bodyPr>
      <a:lstStyle>
        <a:defPPr algn="ctr">
          <a:defRPr dirty="0">
            <a:solidFill>
              <a:schemeClr val="tx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sz="2000" dirty="0">
            <a:solidFill>
              <a:srgbClr val="002060"/>
            </a:solidFill>
            <a:latin typeface="微软雅黑" panose="020B0503020204020204" pitchFamily="34" charset="-122"/>
            <a:ea typeface="微软雅黑" panose="020B0503020204020204" pitchFamily="34" charset="-122"/>
            <a:cs typeface="Arial" pitchFamily="34" charset="0"/>
          </a:defRPr>
        </a:defPPr>
      </a:lstStyle>
    </a:txDef>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tns:customPropertyEditors xmlns:tns="http://schemas.microsoft.com/office/2006/customDocumentInformationPanel">
  <tns:showOnOpen>false</tns:showOnOpen>
  <tns:defaultPropertyEditorNamespace>Standardeigenschaften</tns:defaultPropertyEditorNamespace>
</tns:customPropertyEditors>
</file>

<file path=customXml/itemProps1.xml><?xml version="1.0" encoding="utf-8"?>
<ds:datastoreItem xmlns:ds="http://schemas.openxmlformats.org/officeDocument/2006/customXml" ds:itemID="{84F15573-F1C9-4F86-B645-9414221BA1F2}">
  <ds:schemaRefs>
    <ds:schemaRef ds:uri="http://schemas.microsoft.com/office/2006/customDocumentInformationPanel"/>
  </ds:schemaRefs>
</ds:datastoreItem>
</file>

<file path=docProps/app.xml><?xml version="1.0" encoding="utf-8"?>
<Properties xmlns="http://schemas.openxmlformats.org/officeDocument/2006/extended-properties" xmlns:vt="http://schemas.openxmlformats.org/officeDocument/2006/docPropsVTypes">
  <Template/>
  <TotalTime>202222</TotalTime>
  <Words>7604</Words>
  <Application>Microsoft Office PowerPoint</Application>
  <PresentationFormat>宽屏</PresentationFormat>
  <Paragraphs>613</Paragraphs>
  <Slides>38</Slides>
  <Notes>38</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38</vt:i4>
      </vt:variant>
    </vt:vector>
  </HeadingPairs>
  <TitlesOfParts>
    <vt:vector size="51" baseType="lpstr">
      <vt:lpstr>PingFang SC</vt:lpstr>
      <vt:lpstr>quote-cjk-patch</vt:lpstr>
      <vt:lpstr>ui-sans-serif</vt:lpstr>
      <vt:lpstr>华文行楷</vt:lpstr>
      <vt:lpstr>宋体</vt:lpstr>
      <vt:lpstr>微软雅黑</vt:lpstr>
      <vt:lpstr>黑体</vt:lpstr>
      <vt:lpstr>Arial</vt:lpstr>
      <vt:lpstr>Calibri</vt:lpstr>
      <vt:lpstr>Consolas</vt:lpstr>
      <vt:lpstr>Times New Roman</vt:lpstr>
      <vt:lpstr>Wingdings</vt:lpstr>
      <vt:lpstr>DLR-Präsentation 4:3 Englisch</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MDAO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PowerPoint-Presentation 4:3</dc:title>
  <dc:creator>Administrator</dc:creator>
  <cp:lastModifiedBy>毅 林</cp:lastModifiedBy>
  <cp:revision>6200</cp:revision>
  <cp:lastPrinted>2022-06-11T09:17:01Z</cp:lastPrinted>
  <dcterms:created xsi:type="dcterms:W3CDTF">2012-06-19T06:51:55Z</dcterms:created>
  <dcterms:modified xsi:type="dcterms:W3CDTF">2026-04-26T12:27:49Z</dcterms:modified>
</cp:coreProperties>
</file>