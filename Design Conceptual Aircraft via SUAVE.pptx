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1"/>
  </p:notesMasterIdLst>
  <p:handoutMasterIdLst>
    <p:handoutMasterId r:id="rId42"/>
  </p:handoutMasterIdLst>
  <p:sldIdLst>
    <p:sldId id="692" r:id="rId3"/>
    <p:sldId id="1051" r:id="rId4"/>
    <p:sldId id="1069" r:id="rId5"/>
    <p:sldId id="1085" r:id="rId6"/>
    <p:sldId id="1055" r:id="rId7"/>
    <p:sldId id="1052" r:id="rId8"/>
    <p:sldId id="1056" r:id="rId9"/>
    <p:sldId id="1060" r:id="rId10"/>
    <p:sldId id="1064" r:id="rId11"/>
    <p:sldId id="1062" r:id="rId12"/>
    <p:sldId id="1065" r:id="rId13"/>
    <p:sldId id="1066" r:id="rId14"/>
    <p:sldId id="1067" r:id="rId15"/>
    <p:sldId id="1063" r:id="rId16"/>
    <p:sldId id="1070" r:id="rId17"/>
    <p:sldId id="1071" r:id="rId18"/>
    <p:sldId id="1072" r:id="rId19"/>
    <p:sldId id="1076" r:id="rId20"/>
    <p:sldId id="1074" r:id="rId21"/>
    <p:sldId id="1075" r:id="rId22"/>
    <p:sldId id="1077" r:id="rId23"/>
    <p:sldId id="1078" r:id="rId24"/>
    <p:sldId id="1079" r:id="rId25"/>
    <p:sldId id="1080" r:id="rId26"/>
    <p:sldId id="1081" r:id="rId27"/>
    <p:sldId id="1082" r:id="rId28"/>
    <p:sldId id="1083" r:id="rId29"/>
    <p:sldId id="1084" r:id="rId30"/>
    <p:sldId id="1068" r:id="rId31"/>
    <p:sldId id="1053" r:id="rId32"/>
    <p:sldId id="1086" r:id="rId33"/>
    <p:sldId id="1087" r:id="rId34"/>
    <p:sldId id="1057" r:id="rId35"/>
    <p:sldId id="1058" r:id="rId36"/>
    <p:sldId id="1054" r:id="rId37"/>
    <p:sldId id="1089" r:id="rId38"/>
    <p:sldId id="1088" r:id="rId39"/>
    <p:sldId id="995" r:id="rId40"/>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1089"/>
            <p14:sldId id="1088"/>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54567" autoAdjust="0"/>
  </p:normalViewPr>
  <p:slideViewPr>
    <p:cSldViewPr snapToGrid="0">
      <p:cViewPr varScale="1">
        <p:scale>
          <a:sx n="57" d="100"/>
          <a:sy n="57" d="100"/>
        </p:scale>
        <p:origin x="2388" y="60"/>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63" d="100"/>
          <a:sy n="63" d="100"/>
        </p:scale>
        <p:origin x="2931" y="63"/>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commentAuthors" Target="commentAuthor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28/04/2026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28.04.2026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Hello everyone, I’m Lin Yi. I’m a graduate student supervised by Professor Han and Professor Zhang. I mainly study the overall design and low-boom design of blended-wing-body supersonic transport. Today we’re going to talk about how to do conceptual aircraft design with SUAVE. Ok, before we start today’s lecture. Let’s look at these three aircraft. The first one looks quite ordinary, just like the regular airliners we often see. Does anyone remember which aircraft you took to come to China? Boeing 787? Or Airbus 350? I am from southern China, and I usually fly home on Boeing 737 or Airbus 320. They look very similar to this aircraft, so I can definitely tell that this aircraft is flyable, and I can even guess its lift coefficient maybe around 0.5, this is a widely adopted value. Now let’s look at the third aircraft. It looks so weird, and we can easily tell from common sense that it definitely cannot fly, at least, it is very likely cannot fly. But now let’s look at the third aircraft. Its shape is a bit special, yet it seems capable of flying. But it’s hard to tell whether it can perform well in flight, right? So, to figure out its performance, I need to analyze it quickly, because I don’t want to waste time on an unreasonable configuration, that’s why we need conceptual analysis and design of aircraft. Even for the first aircraft, I can roughly estimate its lift coefficient, but does anyone know its range? We need aircraft conceptual analysis and design as well. SUAVE is a very excellent tool for this.</a:t>
            </a:r>
            <a:endParaRPr lang="en-US" altLang="zh-CN" dirty="0"/>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SUAVE is a conceptual level aircraft design environment built with the ability to analyze and optimize both conventional and unconventional designs. This is the official intro from its website, so I’m not </a:t>
            </a:r>
            <a:r>
              <a:rPr lang="en-US" altLang="zh-CN" sz="1200" kern="1200" dirty="0" err="1">
                <a:solidFill>
                  <a:schemeClr val="tx1"/>
                </a:solidFill>
                <a:effectLst/>
                <a:latin typeface="Arial" pitchFamily="34" charset="0"/>
                <a:ea typeface="+mn-ea"/>
                <a:cs typeface="+mn-cs"/>
              </a:rPr>
              <a:t>gonna</a:t>
            </a:r>
            <a:r>
              <a:rPr lang="en-US" altLang="zh-CN" sz="1200" kern="1200" dirty="0">
                <a:solidFill>
                  <a:schemeClr val="tx1"/>
                </a:solidFill>
                <a:effectLst/>
                <a:latin typeface="Arial" pitchFamily="34" charset="0"/>
                <a:ea typeface="+mn-ea"/>
                <a:cs typeface="+mn-cs"/>
              </a:rPr>
              <a:t> read it word by word, just focus on this line, “SUAVE provides a framework”. To me, I’d rather regard it as a coding style, a style to make code highly encapsulated and fully modular. You can assemble these modules however you want, </a:t>
            </a:r>
            <a:r>
              <a:rPr lang="en-US" altLang="zh-CN" sz="1200" kern="1200" dirty="0" err="1">
                <a:solidFill>
                  <a:schemeClr val="tx1"/>
                </a:solidFill>
                <a:effectLst/>
                <a:latin typeface="Arial" pitchFamily="34" charset="0"/>
                <a:ea typeface="+mn-ea"/>
                <a:cs typeface="+mn-cs"/>
              </a:rPr>
              <a:t>modify’em</a:t>
            </a:r>
            <a:r>
              <a:rPr lang="en-US" altLang="zh-CN" sz="1200" kern="1200" dirty="0">
                <a:solidFill>
                  <a:schemeClr val="tx1"/>
                </a:solidFill>
                <a:effectLst/>
                <a:latin typeface="Arial" pitchFamily="34" charset="0"/>
                <a:ea typeface="+mn-ea"/>
                <a:cs typeface="+mn-cs"/>
              </a:rPr>
              <a:t>, </a:t>
            </a:r>
            <a:r>
              <a:rPr lang="en-US" altLang="zh-CN" sz="1200" kern="1200" dirty="0" err="1">
                <a:solidFill>
                  <a:schemeClr val="tx1"/>
                </a:solidFill>
                <a:effectLst/>
                <a:latin typeface="Arial" pitchFamily="34" charset="0"/>
                <a:ea typeface="+mn-ea"/>
                <a:cs typeface="+mn-cs"/>
              </a:rPr>
              <a:t>rewrite’em</a:t>
            </a:r>
            <a:r>
              <a:rPr lang="en-US" altLang="zh-CN" sz="1200" kern="1200" dirty="0">
                <a:solidFill>
                  <a:schemeClr val="tx1"/>
                </a:solidFill>
                <a:effectLst/>
                <a:latin typeface="Arial" pitchFamily="34" charset="0"/>
                <a:ea typeface="+mn-ea"/>
                <a:cs typeface="+mn-cs"/>
              </a:rPr>
              <a:t> or even create your own with your idea. It’s a super customizable program. And today I hope you can open your laptop and follow my step, install the SUAVE and build a simple case on your own.</a:t>
            </a:r>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So the first thing we should do is to create the python environment for SUAVE. I believe you have downloaded the Anaconda before class ok? That will make things more easy. If you haven’t downloaded it yet, the folder I shared with you include the Anaconda installer for Windows 64‑bit version. Then we create a virtual environment with the python version 3.60, Because the SUAVE project has been discontinued for a long time, there are no new releases to be compatible with newer versions of Python. And although you can write Python code in any text editor, it will be more convenient to use a dedicated IDE. The specific IDE won’t affect our class. You can use any IDE you’re familiar with. If you don’t have a preferred editor, I’ve also included the VS Code installer in the shared folder—it’s the code editor I use myself. Once installed it, you just need to install the Python extension from the VS Code extension market, and you’ll be ready to run Python code. Ok back to our topic, I have added my </a:t>
            </a:r>
            <a:r>
              <a:rPr lang="en-US" altLang="zh-CN" sz="1200" kern="1200" dirty="0" err="1">
                <a:solidFill>
                  <a:schemeClr val="tx1"/>
                </a:solidFill>
                <a:effectLst/>
                <a:latin typeface="Arial" pitchFamily="34" charset="0"/>
                <a:ea typeface="+mn-ea"/>
                <a:cs typeface="+mn-cs"/>
              </a:rPr>
              <a:t>powerpoint</a:t>
            </a:r>
            <a:r>
              <a:rPr lang="en-US" altLang="zh-CN" sz="1200" kern="1200" dirty="0">
                <a:solidFill>
                  <a:schemeClr val="tx1"/>
                </a:solidFill>
                <a:effectLst/>
                <a:latin typeface="Arial" pitchFamily="34" charset="0"/>
                <a:ea typeface="+mn-ea"/>
                <a:cs typeface="+mn-cs"/>
              </a:rPr>
              <a:t> into the shared folder, you can open my </a:t>
            </a:r>
            <a:r>
              <a:rPr lang="en-US" altLang="zh-CN" sz="1200" kern="1200" dirty="0" err="1">
                <a:solidFill>
                  <a:schemeClr val="tx1"/>
                </a:solidFill>
                <a:effectLst/>
                <a:latin typeface="Arial" pitchFamily="34" charset="0"/>
                <a:ea typeface="+mn-ea"/>
                <a:cs typeface="+mn-cs"/>
              </a:rPr>
              <a:t>powerpoint</a:t>
            </a:r>
            <a:r>
              <a:rPr lang="en-US" altLang="zh-CN" sz="1200" kern="1200" dirty="0">
                <a:solidFill>
                  <a:schemeClr val="tx1"/>
                </a:solidFill>
                <a:effectLst/>
                <a:latin typeface="Arial" pitchFamily="34" charset="0"/>
                <a:ea typeface="+mn-ea"/>
                <a:cs typeface="+mn-cs"/>
              </a:rPr>
              <a:t> and just copy the command from it. And when we build our simple case you can copy my code from it if you don’t want to type it manually. we have create the python environment, then we should install some libraries suave need, I’ve listed all the required libraries with the correct versions in the requirements.txt. You just need to run this command, and it will automatically install everything you need.</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Once we set up a working environment for SUAVE, we can download the code from the </a:t>
            </a:r>
            <a:r>
              <a:rPr lang="en-US" altLang="zh-CN" sz="1200" kern="1200" dirty="0" err="1">
                <a:solidFill>
                  <a:schemeClr val="tx1"/>
                </a:solidFill>
                <a:effectLst/>
                <a:latin typeface="Arial" pitchFamily="34" charset="0"/>
                <a:ea typeface="+mn-ea"/>
                <a:cs typeface="+mn-cs"/>
              </a:rPr>
              <a:t>github</a:t>
            </a:r>
            <a:r>
              <a:rPr lang="en-US" altLang="zh-CN" sz="1200" kern="1200" dirty="0">
                <a:solidFill>
                  <a:schemeClr val="tx1"/>
                </a:solidFill>
                <a:effectLst/>
                <a:latin typeface="Arial" pitchFamily="34" charset="0"/>
                <a:ea typeface="+mn-ea"/>
                <a:cs typeface="+mn-cs"/>
              </a:rPr>
              <a:t>. I originally wanted you to download everything from GitHub, but GitHub downloads can be a bit unstable due to internet issues. So I’ve put the main SUAVE package and the Tutorial zip file in the shared folder for you. You just need to extract them and open the termination under the main SUAVE directory and run a command to install it.</a:t>
            </a:r>
            <a:endParaRPr lang="zh-CN" altLang="zh-CN" sz="1200" kern="1200" dirty="0">
              <a:solidFill>
                <a:schemeClr val="tx1"/>
              </a:solidFill>
              <a:effectLst/>
              <a:latin typeface="Arial" pitchFamily="34" charset="0"/>
              <a:ea typeface="+mn-ea"/>
              <a:cs typeface="+mn-cs"/>
            </a:endParaRPr>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So next step we should test if we have setup SUAVE successfully. Please open the Tutorial folder, find the tut_mission_B737.py script, run it and just wait — I think it’ll take several seconds it’s very efficient. Then you’ll see lots of plots fill your whole screen! Like this, altitude, weight, lift, drag… all kinds of information will pop up right in front of you. This is just to check if you’ve installed SUAVE correctly. If you don’t see those plots, just let me know. Alright? Alright, we’ve got SUAVE installed.</a:t>
            </a:r>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Before we start building our first SUAVE case, we first need to understand what conceptual aircraft design is, or more simply, what steps we need to go through. This is the overall conceptual design process; it’s not super formal, but it includes all the key steps. First, we need to figure out our aircraft requirements: you want to design a fighter jet, a helicopter or an airliner like Airbus, how many missiles the fighter will carries, if the helicopter is for rescue or security missions, and what range the airliner needs. These are all our basic requirements. Once we confirm the requirements, we define the flight mission, including takeoff, climb, cruise, descent, landing and other possible mission phases. After setting up the mission, we calculate initial aircraft parameters with standard formulas, such as maximum takeoff weight using the Breguet formula. Then we sketch out the aircraft layout. After that we do analyses like aerodynamics, weight updates and thrust analysis, and check if our aircraft can finish the flight mission. If not, we go back and adjust the design repeatedly until it meets the requirements. You’ve already learned those aircraft design knowledge from Professor Zhang or Professor Han, so I won’t talk too much about it, just a brief introduction, and now let’s focus on how to use SUAVE in this whole design process.</a:t>
            </a:r>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Firstly we will build the main function. In the main function we call the component functions in sequence. And we will create those component functions later. In this stage we just create empty function and type the “pass” in these component functions, just to make sure this script can be executed normally later.</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Once we have finished the main function, the basic framework for aircraft design, the first module will be developed is the </a:t>
            </a:r>
            <a:r>
              <a:rPr lang="en-US" altLang="zh-CN" sz="1200" kern="1200" dirty="0" err="1">
                <a:solidFill>
                  <a:schemeClr val="tx1"/>
                </a:solidFill>
                <a:effectLst/>
                <a:latin typeface="Arial" pitchFamily="34" charset="0"/>
                <a:ea typeface="+mn-ea"/>
                <a:cs typeface="+mn-cs"/>
              </a:rPr>
              <a:t>base_analysis</a:t>
            </a:r>
            <a:r>
              <a:rPr lang="en-US" altLang="zh-CN" sz="1200" kern="1200" dirty="0">
                <a:solidFill>
                  <a:schemeClr val="tx1"/>
                </a:solidFill>
                <a:effectLst/>
                <a:latin typeface="Arial" pitchFamily="34" charset="0"/>
                <a:ea typeface="+mn-ea"/>
                <a:cs typeface="+mn-cs"/>
              </a:rPr>
              <a:t> function. To start we need to define the output of this function, we want this function can return a analyses module so that we can use it to analysis the aerodynamic character of our aircraft in other steps. We create a class in the first line of this function. Then we add all the necessary components in turns. The weight module will update the total weight during the flight mission, the second part is most important, we choose the aerodynamic method in this part, in our simple case we just choose the </a:t>
            </a:r>
            <a:r>
              <a:rPr lang="en-US" altLang="zh-CN" sz="1200" kern="1200" dirty="0" err="1">
                <a:solidFill>
                  <a:schemeClr val="tx1"/>
                </a:solidFill>
                <a:effectLst/>
                <a:latin typeface="Arial" pitchFamily="34" charset="0"/>
                <a:ea typeface="+mn-ea"/>
                <a:cs typeface="+mn-cs"/>
              </a:rPr>
              <a:t>Fidelity_Zero</a:t>
            </a:r>
            <a:r>
              <a:rPr lang="en-US" altLang="zh-CN" sz="1200" kern="1200" dirty="0">
                <a:solidFill>
                  <a:schemeClr val="tx1"/>
                </a:solidFill>
                <a:effectLst/>
                <a:latin typeface="Arial" pitchFamily="34" charset="0"/>
                <a:ea typeface="+mn-ea"/>
                <a:cs typeface="+mn-cs"/>
              </a:rPr>
              <a:t>() module, because this module calculate quickly, is suitable for our class, we can get results in several seconds. Now we add the energy module, the planet module and the atmosphere module into this function so that it can run correctly. Usually we do not need to modify these sections, just keep the default settings.</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Normally, we’ll add the </a:t>
            </a:r>
            <a:r>
              <a:rPr lang="en-US" altLang="zh-CN" sz="1200" kern="1200" dirty="0" err="1">
                <a:solidFill>
                  <a:schemeClr val="tx1"/>
                </a:solidFill>
                <a:effectLst/>
                <a:latin typeface="Arial" pitchFamily="34" charset="0"/>
                <a:ea typeface="+mn-ea"/>
                <a:cs typeface="+mn-cs"/>
              </a:rPr>
              <a:t>base_analysis</a:t>
            </a:r>
            <a:r>
              <a:rPr lang="en-US" altLang="zh-CN" sz="1200" kern="1200" dirty="0">
                <a:solidFill>
                  <a:schemeClr val="tx1"/>
                </a:solidFill>
                <a:effectLst/>
                <a:latin typeface="Arial" pitchFamily="34" charset="0"/>
                <a:ea typeface="+mn-ea"/>
                <a:cs typeface="+mn-cs"/>
              </a:rPr>
              <a:t> function into a analysis container. This way, we can throw in multiple analysis modules inside it for different needs. For instance, we often need special settings for control surfaces during the takeoff phase. In today’s simple case, we’re only using one single module—the </a:t>
            </a:r>
            <a:r>
              <a:rPr lang="en-US" altLang="zh-CN" sz="1200" kern="1200" dirty="0" err="1">
                <a:solidFill>
                  <a:schemeClr val="tx1"/>
                </a:solidFill>
                <a:effectLst/>
                <a:latin typeface="Arial" pitchFamily="34" charset="0"/>
                <a:ea typeface="+mn-ea"/>
                <a:cs typeface="+mn-cs"/>
              </a:rPr>
              <a:t>base_analysis</a:t>
            </a:r>
            <a:r>
              <a:rPr lang="en-US" altLang="zh-CN" sz="1200" kern="1200" dirty="0">
                <a:solidFill>
                  <a:schemeClr val="tx1"/>
                </a:solidFill>
                <a:effectLst/>
                <a:latin typeface="Arial" pitchFamily="34" charset="0"/>
                <a:ea typeface="+mn-ea"/>
                <a:cs typeface="+mn-cs"/>
              </a:rPr>
              <a:t> we just built. Still, just to keep our code clean and fully structured, we’ll make a container to hold it anyway. Correspondingly, we turn the vehicle settings into a config class. Then we pass this config to our analysis.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great—our analysis framework is done. Now we’ll define the flight mission. Before the actual mission segments, we’ve got to input airport data first. Uh, you might think this is unnecessary — this part is mainly for special takeoff requirement, like high‑altitude departures. For example, Xizang in China is super high above sea level. If you want to analyze a mission taking off from an airport there, you</a:t>
            </a:r>
            <a:r>
              <a:rPr lang="zh-CN" altLang="zh-CN" sz="1200" kern="1200" dirty="0">
                <a:solidFill>
                  <a:schemeClr val="tx1"/>
                </a:solidFill>
                <a:effectLst/>
                <a:latin typeface="Arial" pitchFamily="34" charset="0"/>
                <a:ea typeface="+mn-ea"/>
                <a:cs typeface="+mn-cs"/>
              </a:rPr>
              <a:t>’</a:t>
            </a:r>
            <a:r>
              <a:rPr lang="en-US" altLang="zh-CN" sz="1200" kern="1200" dirty="0">
                <a:solidFill>
                  <a:schemeClr val="tx1"/>
                </a:solidFill>
                <a:effectLst/>
                <a:latin typeface="Arial" pitchFamily="34" charset="0"/>
                <a:ea typeface="+mn-ea"/>
                <a:cs typeface="+mn-cs"/>
              </a:rPr>
              <a:t>d set the airport altitude to</a:t>
            </a:r>
            <a:r>
              <a:rPr lang="zh-CN" altLang="zh-CN" sz="1200" kern="1200" dirty="0">
                <a:solidFill>
                  <a:schemeClr val="tx1"/>
                </a:solidFill>
                <a:effectLst/>
                <a:latin typeface="Arial" pitchFamily="34" charset="0"/>
                <a:ea typeface="+mn-ea"/>
                <a:cs typeface="+mn-cs"/>
              </a:rPr>
              <a:t>…</a:t>
            </a:r>
            <a:r>
              <a:rPr lang="en-US" altLang="zh-CN" sz="1200" kern="1200" dirty="0">
                <a:solidFill>
                  <a:schemeClr val="tx1"/>
                </a:solidFill>
                <a:effectLst/>
                <a:latin typeface="Arial" pitchFamily="34" charset="0"/>
                <a:ea typeface="+mn-ea"/>
                <a:cs typeface="+mn-cs"/>
              </a:rPr>
              <a:t> let me check</a:t>
            </a:r>
            <a:r>
              <a:rPr lang="zh-CN" altLang="zh-CN" sz="1200" kern="1200" dirty="0">
                <a:solidFill>
                  <a:schemeClr val="tx1"/>
                </a:solidFill>
                <a:effectLst/>
                <a:latin typeface="Arial" pitchFamily="34" charset="0"/>
                <a:ea typeface="+mn-ea"/>
                <a:cs typeface="+mn-cs"/>
              </a:rPr>
              <a:t>—</a:t>
            </a:r>
            <a:r>
              <a:rPr lang="en-US" altLang="zh-CN" sz="1200" kern="1200" dirty="0">
                <a:solidFill>
                  <a:schemeClr val="tx1"/>
                </a:solidFill>
                <a:effectLst/>
                <a:latin typeface="Arial" pitchFamily="34" charset="0"/>
                <a:ea typeface="+mn-ea"/>
                <a:cs typeface="+mn-cs"/>
              </a:rPr>
              <a:t>around 4.3 km for </a:t>
            </a:r>
            <a:r>
              <a:rPr lang="en-US" altLang="zh-CN" sz="1200" kern="1200" dirty="0" err="1">
                <a:solidFill>
                  <a:schemeClr val="tx1"/>
                </a:solidFill>
                <a:effectLst/>
                <a:latin typeface="Arial" pitchFamily="34" charset="0"/>
                <a:ea typeface="+mn-ea"/>
                <a:cs typeface="+mn-cs"/>
              </a:rPr>
              <a:t>Changdu</a:t>
            </a:r>
            <a:r>
              <a:rPr lang="en-US" altLang="zh-CN" sz="1200" kern="1200" dirty="0">
                <a:solidFill>
                  <a:schemeClr val="tx1"/>
                </a:solidFill>
                <a:effectLst/>
                <a:latin typeface="Arial" pitchFamily="34" charset="0"/>
                <a:ea typeface="+mn-ea"/>
                <a:cs typeface="+mn-cs"/>
              </a:rPr>
              <a:t> Bangda Airport, or about 3.6 km for Lhasa </a:t>
            </a:r>
            <a:r>
              <a:rPr lang="en-US" altLang="zh-CN" sz="1200" kern="1200" dirty="0" err="1">
                <a:solidFill>
                  <a:schemeClr val="tx1"/>
                </a:solidFill>
                <a:effectLst/>
                <a:latin typeface="Arial" pitchFamily="34" charset="0"/>
                <a:ea typeface="+mn-ea"/>
                <a:cs typeface="+mn-cs"/>
              </a:rPr>
              <a:t>Gonggar</a:t>
            </a:r>
            <a:r>
              <a:rPr lang="en-US" altLang="zh-CN" sz="1200" kern="1200" dirty="0">
                <a:solidFill>
                  <a:schemeClr val="tx1"/>
                </a:solidFill>
                <a:effectLst/>
                <a:latin typeface="Arial" pitchFamily="34" charset="0"/>
                <a:ea typeface="+mn-ea"/>
                <a:cs typeface="+mn-cs"/>
              </a:rPr>
              <a:t> Airport. Alright, back on track. For our simple case, we’ll just go with the generic airport settings. That means zero altitude, standard temperature, and standard atmosphere. Quick note here: </a:t>
            </a:r>
            <a:r>
              <a:rPr lang="en-US" altLang="zh-CN" sz="1200" kern="1200" dirty="0" err="1">
                <a:solidFill>
                  <a:schemeClr val="tx1"/>
                </a:solidFill>
                <a:effectLst/>
                <a:latin typeface="Arial" pitchFamily="34" charset="0"/>
                <a:ea typeface="+mn-ea"/>
                <a:cs typeface="+mn-cs"/>
              </a:rPr>
              <a:t>delta_isa</a:t>
            </a:r>
            <a:r>
              <a:rPr lang="en-US" altLang="zh-CN" sz="1200" kern="1200" dirty="0">
                <a:solidFill>
                  <a:schemeClr val="tx1"/>
                </a:solidFill>
                <a:effectLst/>
                <a:latin typeface="Arial" pitchFamily="34" charset="0"/>
                <a:ea typeface="+mn-ea"/>
                <a:cs typeface="+mn-cs"/>
              </a:rPr>
              <a:t> refers to the temperature difference between the actual temperature of airport and the standard temperature.</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First, let’s define the takeoff segment. We set the </a:t>
            </a:r>
            <a:r>
              <a:rPr lang="en-US" altLang="zh-CN" sz="1200" kern="1200" dirty="0" err="1">
                <a:solidFill>
                  <a:schemeClr val="tx1"/>
                </a:solidFill>
                <a:effectLst/>
                <a:latin typeface="Arial" pitchFamily="34" charset="0"/>
                <a:ea typeface="+mn-ea"/>
                <a:cs typeface="+mn-cs"/>
              </a:rPr>
              <a:t>altitude_start</a:t>
            </a:r>
            <a:r>
              <a:rPr lang="en-US" altLang="zh-CN" sz="1200" kern="1200" dirty="0">
                <a:solidFill>
                  <a:schemeClr val="tx1"/>
                </a:solidFill>
                <a:effectLst/>
                <a:latin typeface="Arial" pitchFamily="34" charset="0"/>
                <a:ea typeface="+mn-ea"/>
                <a:cs typeface="+mn-cs"/>
              </a:rPr>
              <a:t>, </a:t>
            </a:r>
            <a:r>
              <a:rPr lang="en-US" altLang="zh-CN" sz="1200" kern="1200" dirty="0" err="1">
                <a:solidFill>
                  <a:schemeClr val="tx1"/>
                </a:solidFill>
                <a:effectLst/>
                <a:latin typeface="Arial" pitchFamily="34" charset="0"/>
                <a:ea typeface="+mn-ea"/>
                <a:cs typeface="+mn-cs"/>
              </a:rPr>
              <a:t>altitude_end</a:t>
            </a:r>
            <a:r>
              <a:rPr lang="en-US" altLang="zh-CN" sz="1200" kern="1200" dirty="0">
                <a:solidFill>
                  <a:schemeClr val="tx1"/>
                </a:solidFill>
                <a:effectLst/>
                <a:latin typeface="Arial" pitchFamily="34" charset="0"/>
                <a:ea typeface="+mn-ea"/>
                <a:cs typeface="+mn-cs"/>
              </a:rPr>
              <a:t>, climb </a:t>
            </a:r>
            <a:r>
              <a:rPr lang="en-US" altLang="zh-CN" sz="1200" kern="1200" dirty="0" err="1">
                <a:solidFill>
                  <a:schemeClr val="tx1"/>
                </a:solidFill>
                <a:effectLst/>
                <a:latin typeface="Arial" pitchFamily="34" charset="0"/>
                <a:ea typeface="+mn-ea"/>
                <a:cs typeface="+mn-cs"/>
              </a:rPr>
              <a:t>air_speed</a:t>
            </a:r>
            <a:r>
              <a:rPr lang="en-US" altLang="zh-CN" sz="1200" kern="1200" dirty="0">
                <a:solidFill>
                  <a:schemeClr val="tx1"/>
                </a:solidFill>
                <a:effectLst/>
                <a:latin typeface="Arial" pitchFamily="34" charset="0"/>
                <a:ea typeface="+mn-ea"/>
                <a:cs typeface="+mn-cs"/>
              </a:rPr>
              <a:t>, and </a:t>
            </a:r>
            <a:r>
              <a:rPr lang="en-US" altLang="zh-CN" sz="1200" kern="1200" dirty="0" err="1">
                <a:solidFill>
                  <a:schemeClr val="tx1"/>
                </a:solidFill>
                <a:effectLst/>
                <a:latin typeface="Arial" pitchFamily="34" charset="0"/>
                <a:ea typeface="+mn-ea"/>
                <a:cs typeface="+mn-cs"/>
              </a:rPr>
              <a:t>climb_rate</a:t>
            </a:r>
            <a:r>
              <a:rPr lang="en-US" altLang="zh-CN" sz="1200" kern="1200" dirty="0">
                <a:solidFill>
                  <a:schemeClr val="tx1"/>
                </a:solidFill>
                <a:effectLst/>
                <a:latin typeface="Arial" pitchFamily="34" charset="0"/>
                <a:ea typeface="+mn-ea"/>
                <a:cs typeface="+mn-cs"/>
              </a:rPr>
              <a:t>. Every flight segment we use is built based on a basic Segment class, we should create the base class in advance. Most of the parameters in our simple case come from the Boeing 737 test case, and a few are set based on my own experience, to make our case as simple as possible. You can adjust most of these values freely, as long as they stay reasonable and realistic. After we define a mission segment, please remember to add this segment into the mission.</a:t>
            </a:r>
            <a:endParaRPr lang="zh-CN" altLang="zh-CN" sz="1200" kern="1200" dirty="0">
              <a:solidFill>
                <a:schemeClr val="tx1"/>
              </a:solidFill>
              <a:effectLst/>
              <a:latin typeface="Arial"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we move on to the cruise phase. 230 meters per second equals about Mach 0.8, a common setting for civil transport aircraft. But maybe in the near future, we’ll be flying on faster supersonic transport. Mach 1.3? Or 1.6, or Mach 2! Sorry let’s get back the point. The second parameter here is the cruise range. Attention, the units of range is not kilometer but </a:t>
            </a:r>
            <a:r>
              <a:rPr lang="en-US" altLang="zh-CN" sz="1200" kern="1200" dirty="0" err="1">
                <a:solidFill>
                  <a:schemeClr val="tx1"/>
                </a:solidFill>
                <a:effectLst/>
                <a:latin typeface="Arial" pitchFamily="34" charset="0"/>
                <a:ea typeface="+mn-ea"/>
                <a:cs typeface="+mn-cs"/>
              </a:rPr>
              <a:t>nautical_miles</a:t>
            </a:r>
            <a:r>
              <a:rPr lang="en-US" altLang="zh-CN" sz="1200" kern="1200" dirty="0">
                <a:solidFill>
                  <a:schemeClr val="tx1"/>
                </a:solidFill>
                <a:effectLst/>
                <a:latin typeface="Arial" pitchFamily="34" charset="0"/>
                <a:ea typeface="+mn-ea"/>
                <a:cs typeface="+mn-cs"/>
              </a:rPr>
              <a:t> we need to mark the units after the value with Units module. For me, the Units module is most impressive feature in SUAVE—like, in my own codes, I always use International System of units by default, and yeah, that’s convenient, saves time and keeps the code simple, but here’s the thing: once you start piling up tons of parameters, it’s super easy to lose track of what unit each one uses, because I can’t really be sure I’ve use International System units everywhere. But in the SUAVE, since the Units module, you can use any units you like, the only thing you need to do is just mark the units after value like this simple case. When the SUAVE execute it will transform all value into the same units system automatically. I think this is a really clever coding concept worth learning from. Alright back to our simple case, now we have define the cruise segment, don’t forget to add it in mission.</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Next up is the descent segment. We just set the </a:t>
            </a:r>
            <a:r>
              <a:rPr lang="en-US" altLang="zh-CN" sz="1200" kern="1200" dirty="0" err="1">
                <a:solidFill>
                  <a:schemeClr val="tx1"/>
                </a:solidFill>
                <a:effectLst/>
                <a:latin typeface="Arial" pitchFamily="34" charset="0"/>
                <a:ea typeface="+mn-ea"/>
                <a:cs typeface="+mn-cs"/>
              </a:rPr>
              <a:t>altitude_end</a:t>
            </a:r>
            <a:r>
              <a:rPr lang="en-US" altLang="zh-CN" sz="1200" kern="1200" dirty="0">
                <a:solidFill>
                  <a:schemeClr val="tx1"/>
                </a:solidFill>
                <a:effectLst/>
                <a:latin typeface="Arial" pitchFamily="34" charset="0"/>
                <a:ea typeface="+mn-ea"/>
                <a:cs typeface="+mn-cs"/>
              </a:rPr>
              <a:t>, descent airspeed and </a:t>
            </a:r>
            <a:r>
              <a:rPr lang="en-US" altLang="zh-CN" sz="1200" kern="1200" dirty="0" err="1">
                <a:solidFill>
                  <a:schemeClr val="tx1"/>
                </a:solidFill>
                <a:effectLst/>
                <a:latin typeface="Arial" pitchFamily="34" charset="0"/>
                <a:ea typeface="+mn-ea"/>
                <a:cs typeface="+mn-cs"/>
              </a:rPr>
              <a:t>descent_rate</a:t>
            </a:r>
            <a:r>
              <a:rPr lang="en-US" altLang="zh-CN" sz="1200" kern="1200" dirty="0">
                <a:solidFill>
                  <a:schemeClr val="tx1"/>
                </a:solidFill>
                <a:effectLst/>
                <a:latin typeface="Arial" pitchFamily="34" charset="0"/>
                <a:ea typeface="+mn-ea"/>
                <a:cs typeface="+mn-cs"/>
              </a:rPr>
              <a:t> here, then add it to the mission. And don’t forget to return the mission class at the end. You might’ve noticed that, unlike the takeoff segment, we didn’t set </a:t>
            </a:r>
            <a:r>
              <a:rPr lang="en-US" altLang="zh-CN" sz="1200" kern="1200" dirty="0" err="1">
                <a:solidFill>
                  <a:schemeClr val="tx1"/>
                </a:solidFill>
                <a:effectLst/>
                <a:latin typeface="Arial" pitchFamily="34" charset="0"/>
                <a:ea typeface="+mn-ea"/>
                <a:cs typeface="+mn-cs"/>
              </a:rPr>
              <a:t>altitude_start</a:t>
            </a:r>
            <a:r>
              <a:rPr lang="en-US" altLang="zh-CN" sz="1200" kern="1200" dirty="0">
                <a:solidFill>
                  <a:schemeClr val="tx1"/>
                </a:solidFill>
                <a:effectLst/>
                <a:latin typeface="Arial" pitchFamily="34" charset="0"/>
                <a:ea typeface="+mn-ea"/>
                <a:cs typeface="+mn-cs"/>
              </a:rPr>
              <a:t> here. Because the SUAVE will automatically take the ending altitude of the last segment as the starting point for the next one, just to keep the flight mission consistent. So we just need to set the </a:t>
            </a:r>
            <a:r>
              <a:rPr lang="en-US" altLang="zh-CN" sz="1200" kern="1200" dirty="0" err="1">
                <a:solidFill>
                  <a:schemeClr val="tx1"/>
                </a:solidFill>
                <a:effectLst/>
                <a:latin typeface="Arial" pitchFamily="34" charset="0"/>
                <a:ea typeface="+mn-ea"/>
                <a:cs typeface="+mn-cs"/>
              </a:rPr>
              <a:t>altitude_start</a:t>
            </a:r>
            <a:r>
              <a:rPr lang="en-US" altLang="zh-CN" sz="1200" kern="1200" dirty="0">
                <a:solidFill>
                  <a:schemeClr val="tx1"/>
                </a:solidFill>
                <a:effectLst/>
                <a:latin typeface="Arial" pitchFamily="34" charset="0"/>
                <a:ea typeface="+mn-ea"/>
                <a:cs typeface="+mn-cs"/>
              </a:rPr>
              <a:t> in the first segment.</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Great, now we’re finally getting to the most important part — building our aircraft. First, we’ll lay out a few general parameters for the aircraft, then set up the geometry for every single component. Last week, Dr. Chen mentioned how the creator of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first sketched an aircraft on a napkin. Today, we’re basically </a:t>
            </a:r>
            <a:r>
              <a:rPr lang="en-US" altLang="zh-CN" sz="1200" kern="1200" dirty="0" err="1">
                <a:solidFill>
                  <a:schemeClr val="tx1"/>
                </a:solidFill>
                <a:effectLst/>
                <a:latin typeface="Arial" pitchFamily="34" charset="0"/>
                <a:ea typeface="+mn-ea"/>
                <a:cs typeface="+mn-cs"/>
              </a:rPr>
              <a:t>gonna</a:t>
            </a:r>
            <a:r>
              <a:rPr lang="en-US" altLang="zh-CN" sz="1200" kern="1200" dirty="0">
                <a:solidFill>
                  <a:schemeClr val="tx1"/>
                </a:solidFill>
                <a:effectLst/>
                <a:latin typeface="Arial" pitchFamily="34" charset="0"/>
                <a:ea typeface="+mn-ea"/>
                <a:cs typeface="+mn-cs"/>
              </a:rPr>
              <a:t> draw our own aircraft, but with code instead. Like I said before, most of the parameters is from the Boeing 737 test case, in this part we define the max takeoff weight, and exact takeoff weight, operating empty weight, it means basic weight of this aircraft, no passenger, no cargo, no fuel, and </a:t>
            </a:r>
            <a:r>
              <a:rPr lang="en-US" altLang="zh-CN" sz="1200" kern="1200" dirty="0" err="1">
                <a:solidFill>
                  <a:schemeClr val="tx1"/>
                </a:solidFill>
                <a:effectLst/>
                <a:latin typeface="Arial" pitchFamily="34" charset="0"/>
                <a:ea typeface="+mn-ea"/>
                <a:cs typeface="+mn-cs"/>
              </a:rPr>
              <a:t>max_zero_fuel</a:t>
            </a:r>
            <a:r>
              <a:rPr lang="en-US" altLang="zh-CN" sz="1200" kern="1200" dirty="0">
                <a:solidFill>
                  <a:schemeClr val="tx1"/>
                </a:solidFill>
                <a:effectLst/>
                <a:latin typeface="Arial" pitchFamily="34" charset="0"/>
                <a:ea typeface="+mn-ea"/>
                <a:cs typeface="+mn-cs"/>
              </a:rPr>
              <a:t> weight, We all know that aircraft fuel is usually stored inside the wings. Without fuel, the wing structure is hollow. The maximum zero-fuel weight is defined to protect the structural loading of the wings. and the cargo weight. Reference area</a:t>
            </a:r>
            <a:r>
              <a:rPr lang="zh-CN" altLang="zh-CN" sz="1200" kern="1200" dirty="0">
                <a:solidFill>
                  <a:schemeClr val="tx1"/>
                </a:solidFill>
                <a:effectLst/>
                <a:latin typeface="Arial" pitchFamily="34" charset="0"/>
                <a:ea typeface="+mn-ea"/>
                <a:cs typeface="+mn-cs"/>
              </a:rPr>
              <a:t>，</a:t>
            </a:r>
            <a:r>
              <a:rPr lang="en-US" altLang="zh-CN" sz="1200" kern="1200" dirty="0">
                <a:solidFill>
                  <a:schemeClr val="tx1"/>
                </a:solidFill>
                <a:effectLst/>
                <a:latin typeface="Arial" pitchFamily="34" charset="0"/>
                <a:ea typeface="+mn-ea"/>
                <a:cs typeface="+mn-cs"/>
              </a:rPr>
              <a:t>we are familiar with this parameter, it’s important for calculating the lift coefficient and drag coefficient.</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we define the </a:t>
            </a:r>
            <a:r>
              <a:rPr lang="en-US" altLang="zh-CN" sz="1200" kern="1200" dirty="0" err="1">
                <a:solidFill>
                  <a:schemeClr val="tx1"/>
                </a:solidFill>
                <a:effectLst/>
                <a:latin typeface="Arial" pitchFamily="34" charset="0"/>
                <a:ea typeface="+mn-ea"/>
                <a:cs typeface="+mn-cs"/>
              </a:rPr>
              <a:t>main_wing</a:t>
            </a:r>
            <a:r>
              <a:rPr lang="en-US" altLang="zh-CN" sz="1200" kern="1200" dirty="0">
                <a:solidFill>
                  <a:schemeClr val="tx1"/>
                </a:solidFill>
                <a:effectLst/>
                <a:latin typeface="Arial" pitchFamily="34" charset="0"/>
                <a:ea typeface="+mn-ea"/>
                <a:cs typeface="+mn-cs"/>
              </a:rPr>
              <a:t>, I have emphasis the </a:t>
            </a:r>
            <a:r>
              <a:rPr lang="en-US" altLang="zh-CN" sz="1200" kern="1200" dirty="0" err="1">
                <a:solidFill>
                  <a:schemeClr val="tx1"/>
                </a:solidFill>
                <a:effectLst/>
                <a:latin typeface="Arial" pitchFamily="34" charset="0"/>
                <a:ea typeface="+mn-ea"/>
                <a:cs typeface="+mn-cs"/>
              </a:rPr>
              <a:t>main_wing</a:t>
            </a:r>
            <a:r>
              <a:rPr lang="en-US" altLang="zh-CN" sz="1200" kern="1200" dirty="0">
                <a:solidFill>
                  <a:schemeClr val="tx1"/>
                </a:solidFill>
                <a:effectLst/>
                <a:latin typeface="Arial" pitchFamily="34" charset="0"/>
                <a:ea typeface="+mn-ea"/>
                <a:cs typeface="+mn-cs"/>
              </a:rPr>
              <a:t> in the picture. The main wing parameters defined in this part are quite intuitive, and I believe you all understand what each of these parameters means. And after define the </a:t>
            </a:r>
            <a:r>
              <a:rPr lang="en-US" altLang="zh-CN" sz="1200" kern="1200" dirty="0" err="1">
                <a:solidFill>
                  <a:schemeClr val="tx1"/>
                </a:solidFill>
                <a:effectLst/>
                <a:latin typeface="Arial" pitchFamily="34" charset="0"/>
                <a:ea typeface="+mn-ea"/>
                <a:cs typeface="+mn-cs"/>
              </a:rPr>
              <a:t>main_wing</a:t>
            </a:r>
            <a:r>
              <a:rPr lang="en-US" altLang="zh-CN" sz="1200" kern="1200" dirty="0">
                <a:solidFill>
                  <a:schemeClr val="tx1"/>
                </a:solidFill>
                <a:effectLst/>
                <a:latin typeface="Arial" pitchFamily="34" charset="0"/>
                <a:ea typeface="+mn-ea"/>
                <a:cs typeface="+mn-cs"/>
              </a:rPr>
              <a:t> just remember to add it in vehicle class.</a:t>
            </a:r>
            <a:endParaRPr lang="zh-CN" altLang="zh-CN" sz="1200" kern="1200" dirty="0">
              <a:solidFill>
                <a:schemeClr val="tx1"/>
              </a:solidFill>
              <a:effectLst/>
              <a:latin typeface="Arial" pitchFamily="34" charset="0"/>
              <a:ea typeface="+mn-ea"/>
              <a:cs typeface="+mn-cs"/>
            </a:endParaRPr>
          </a:p>
          <a:p>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Next up, the horizontal tail. It only generates a small amount of lift most of the time, and its real job is acting as a key control surface. Control the attack angle of aircraft. Even though we have created a separate component class, its parameter settings are exactly the same as the main wing, so I will not go into further detail here. You can try adjusting these parameters on your own if you like.</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the vertical tail. Just like the horizontal tail, it also works as a control surface, and it’s mainly in charge of the aircraft’s heading direction.</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Now, moving on to the fuselage. Fineness of nose and tail, length of nose, length of tail, total length. And some area data for drag calculation. Among these data, the wetted area is the most critical, it essentially determines the value of friction drag. And then we define some extra dimensions, the height of quarter length, of three quarters length, and the height of wing root quarter chord. Unlike the wings, its design isn’t super straightforward. It narrows down in some sections and widens out in others, and it’s pretty hard to picture all those shape details just in our mind. That’s why we need extra methods to visualize the aircraft and check what it actually looks like. but we will save that for later, no hurry. Now, let’s keep moving and finish setting up the vehicle.</a:t>
            </a:r>
            <a:endParaRPr lang="zh-CN" altLang="zh-CN" sz="1200" kern="1200" dirty="0">
              <a:solidFill>
                <a:schemeClr val="tx1"/>
              </a:solidFill>
              <a:effectLst/>
              <a:latin typeface="Arial" pitchFamily="34" charset="0"/>
              <a:ea typeface="+mn-ea"/>
              <a:cs typeface="+mn-cs"/>
            </a:endParaRPr>
          </a:p>
          <a:p>
            <a:endParaRPr lang="en-US" altLang="zh-CN" sz="1200" b="0" i="0" kern="1200" dirty="0">
              <a:solidFill>
                <a:schemeClr val="tx1"/>
              </a:solidFill>
              <a:effectLst/>
              <a:latin typeface="Arial" pitchFamily="34" charset="0"/>
              <a:ea typeface="+mn-ea"/>
              <a:cs typeface="+mn-cs"/>
            </a:endParaRPr>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the last geometry component we’ve got is the nacelle. The nacelle protects the engine, reduces drag, and provides several additional capabilities. We define the Length of nacelle, inlet diameter, and the max diameter of nacelle, it should be wider than the inlet. And then set the airfoil of nacelle to decrease the drag. Here we use the </a:t>
            </a:r>
            <a:r>
              <a:rPr lang="en-US" altLang="zh-CN" sz="1200" kern="1200" dirty="0" err="1">
                <a:solidFill>
                  <a:schemeClr val="tx1"/>
                </a:solidFill>
                <a:effectLst/>
                <a:latin typeface="Arial" pitchFamily="34" charset="0"/>
                <a:ea typeface="+mn-ea"/>
                <a:cs typeface="+mn-cs"/>
              </a:rPr>
              <a:t>deepcopy</a:t>
            </a:r>
            <a:r>
              <a:rPr lang="en-US" altLang="zh-CN" sz="1200" kern="1200" dirty="0">
                <a:solidFill>
                  <a:schemeClr val="tx1"/>
                </a:solidFill>
                <a:effectLst/>
                <a:latin typeface="Arial" pitchFamily="34" charset="0"/>
                <a:ea typeface="+mn-ea"/>
                <a:cs typeface="+mn-cs"/>
              </a:rPr>
              <a:t> function to create the other one nacelle, to make sure both nacelles share the same parameters, then we just place the second one symmetrically.</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30084668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next up is the turbofan network. To be honest, I really wanted to simplify this whole part, since engine design isn’t my main research focus, and I don’t know much about it. But sadly, I totally failed at that. I don’t know how to simplify this part. In conceptual design sometimes we just need the Thrust and Fuel consumption. Maybe in other aircraft design research we just directly give the value of the two parameters. But SUAVE runs through a bunch of engineering formulas to calculate overall thrust and fuel consumption rate based on the engine cycle process. Anyway, since we can’t skip or simplify it, just copy the code as it is. I’ll try to explain those settings as possible as I can. And if anyone here knows more about engines, feel free to chime in and add extra info. So, well the first part we define the location of engineer, bypass ratio, number of engines, and work fluid is air of course. And the location and number of engines need to align with the nacelle settings.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20</a:t>
            </a:fld>
            <a:endParaRPr lang="de-DE" dirty="0"/>
          </a:p>
        </p:txBody>
      </p:sp>
    </p:spTree>
    <p:extLst>
      <p:ext uri="{BB962C8B-B14F-4D97-AF65-F5344CB8AC3E}">
        <p14:creationId xmlns:p14="http://schemas.microsoft.com/office/powerpoint/2010/main" val="27917471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moving on to the ram and inlet nozzle. The ram doesn’t have any extra parameters, and we just set the inlet polytropic efficiency and pressure ratio to 0.98. Basically, that means we use a pretty high-efficiency engine here.</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21</a:t>
            </a:fld>
            <a:endParaRPr lang="de-DE" dirty="0"/>
          </a:p>
        </p:txBody>
      </p:sp>
    </p:spTree>
    <p:extLst>
      <p:ext uri="{BB962C8B-B14F-4D97-AF65-F5344CB8AC3E}">
        <p14:creationId xmlns:p14="http://schemas.microsoft.com/office/powerpoint/2010/main" val="29375950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Next is the fan and low pressure compressor, create component, set parameters, add it into turbofan network.</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22</a:t>
            </a:fld>
            <a:endParaRPr lang="de-DE" dirty="0"/>
          </a:p>
        </p:txBody>
      </p:sp>
    </p:spTree>
    <p:extLst>
      <p:ext uri="{BB962C8B-B14F-4D97-AF65-F5344CB8AC3E}">
        <p14:creationId xmlns:p14="http://schemas.microsoft.com/office/powerpoint/2010/main" val="1737733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high pressure compressor, the setting are very similar.</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23</a:t>
            </a:fld>
            <a:endParaRPr lang="de-DE" dirty="0"/>
          </a:p>
        </p:txBody>
      </p:sp>
    </p:spTree>
    <p:extLst>
      <p:ext uri="{BB962C8B-B14F-4D97-AF65-F5344CB8AC3E}">
        <p14:creationId xmlns:p14="http://schemas.microsoft.com/office/powerpoint/2010/main" val="21211280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combustor. Ok here we can talk about several key parameters. First, **alpha c** stands for the combustion ratio. Normally, alpha c equals 1.0 means the air and fuel mixture is balanced. If there is more air and less fuel, this value will be greater than 1, combustion will be more complete and the engine will have higher efficiency. If there is less air and more fuel, the value will be lower than 1, that will increase engine power, but incomplete combustion may cause black smoke or even flameout. Next is the fuel setting. **</a:t>
            </a:r>
            <a:r>
              <a:rPr lang="en-US" altLang="zh-CN" sz="1200" kern="1200" dirty="0" err="1">
                <a:solidFill>
                  <a:schemeClr val="tx1"/>
                </a:solidFill>
                <a:effectLst/>
                <a:latin typeface="Arial" pitchFamily="34" charset="0"/>
                <a:ea typeface="+mn-ea"/>
                <a:cs typeface="+mn-cs"/>
              </a:rPr>
              <a:t>Jet_A</a:t>
            </a:r>
            <a:r>
              <a:rPr lang="en-US" altLang="zh-CN" sz="1200" kern="1200" dirty="0">
                <a:solidFill>
                  <a:schemeClr val="tx1"/>
                </a:solidFill>
                <a:effectLst/>
                <a:latin typeface="Arial" pitchFamily="34" charset="0"/>
                <a:ea typeface="+mn-ea"/>
                <a:cs typeface="+mn-cs"/>
              </a:rPr>
              <a:t>** refers to conventional aviation fuel we usually use it. If you are working on some aircraft which use other fuel, for example hydrogen-powered aircraft, simply replace </a:t>
            </a:r>
            <a:r>
              <a:rPr lang="en-US" altLang="zh-CN" sz="1200" kern="1200" dirty="0" err="1">
                <a:solidFill>
                  <a:schemeClr val="tx1"/>
                </a:solidFill>
                <a:effectLst/>
                <a:latin typeface="Arial" pitchFamily="34" charset="0"/>
                <a:ea typeface="+mn-ea"/>
                <a:cs typeface="+mn-cs"/>
              </a:rPr>
              <a:t>Jet_A</a:t>
            </a:r>
            <a:r>
              <a:rPr lang="en-US" altLang="zh-CN" sz="1200" kern="1200" dirty="0">
                <a:solidFill>
                  <a:schemeClr val="tx1"/>
                </a:solidFill>
                <a:effectLst/>
                <a:latin typeface="Arial" pitchFamily="34" charset="0"/>
                <a:ea typeface="+mn-ea"/>
                <a:cs typeface="+mn-cs"/>
              </a:rPr>
              <a:t> with liquid hydrogen. The corresponding fuel properties are already given in SUAVE source code.</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24</a:t>
            </a:fld>
            <a:endParaRPr lang="de-DE" dirty="0"/>
          </a:p>
        </p:txBody>
      </p:sp>
    </p:spTree>
    <p:extLst>
      <p:ext uri="{BB962C8B-B14F-4D97-AF65-F5344CB8AC3E}">
        <p14:creationId xmlns:p14="http://schemas.microsoft.com/office/powerpoint/2010/main" val="12294433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let’s continue, high pressure turbine and low pressure turbine, also similar setting.</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25</a:t>
            </a:fld>
            <a:endParaRPr lang="de-DE" dirty="0"/>
          </a:p>
        </p:txBody>
      </p:sp>
    </p:spTree>
    <p:extLst>
      <p:ext uri="{BB962C8B-B14F-4D97-AF65-F5344CB8AC3E}">
        <p14:creationId xmlns:p14="http://schemas.microsoft.com/office/powerpoint/2010/main" val="31122432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we move on to the core nozzle and fan nozzle. These two components work in parallel within the engine cycle. A turbofan engine has a core flow and a bypass flow, just like this. The bypass ratio refers to the mass flow ratio between these two streams.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26</a:t>
            </a:fld>
            <a:endParaRPr lang="de-DE" dirty="0"/>
          </a:p>
        </p:txBody>
      </p:sp>
    </p:spTree>
    <p:extLst>
      <p:ext uri="{BB962C8B-B14F-4D97-AF65-F5344CB8AC3E}">
        <p14:creationId xmlns:p14="http://schemas.microsoft.com/office/powerpoint/2010/main" val="399092541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Lastly, let’s talk about thrust. Here we set the engine’s design operating condition. However, in actual calculations, the engine won’t always run under design condition. The code will automatically compute the engine off-design performance, using the design conditions as its basis. Also, remember to add the turbofan network to your vehicle class.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27</a:t>
            </a:fld>
            <a:endParaRPr lang="de-DE" dirty="0"/>
          </a:p>
        </p:txBody>
      </p:sp>
    </p:spTree>
    <p:extLst>
      <p:ext uri="{BB962C8B-B14F-4D97-AF65-F5344CB8AC3E}">
        <p14:creationId xmlns:p14="http://schemas.microsoft.com/office/powerpoint/2010/main" val="691743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Alright, we’ve finally gotten through the turbofan network. We’ve now finished building all the core parts of the aircraft. We still have a few small things to do. We’ll use the </a:t>
            </a:r>
            <a:r>
              <a:rPr lang="en-US" altLang="zh-CN" sz="1200" kern="1200" dirty="0" err="1">
                <a:solidFill>
                  <a:schemeClr val="tx1"/>
                </a:solidFill>
                <a:effectLst/>
                <a:latin typeface="Arial" pitchFamily="34" charset="0"/>
                <a:ea typeface="+mn-ea"/>
                <a:cs typeface="+mn-cs"/>
              </a:rPr>
              <a:t>simple_sizing</a:t>
            </a:r>
            <a:r>
              <a:rPr lang="en-US" altLang="zh-CN" sz="1200" kern="1200" dirty="0">
                <a:solidFill>
                  <a:schemeClr val="tx1"/>
                </a:solidFill>
                <a:effectLst/>
                <a:latin typeface="Arial" pitchFamily="34" charset="0"/>
                <a:ea typeface="+mn-ea"/>
                <a:cs typeface="+mn-cs"/>
              </a:rPr>
              <a:t> function to add those aircraft parameters which are secondary but also critical for calculation. Of course, you can put all these settings directly inside the vehicle function. The </a:t>
            </a:r>
            <a:r>
              <a:rPr lang="en-US" altLang="zh-CN" sz="1200" kern="1200" dirty="0" err="1">
                <a:solidFill>
                  <a:schemeClr val="tx1"/>
                </a:solidFill>
                <a:effectLst/>
                <a:latin typeface="Arial" pitchFamily="34" charset="0"/>
                <a:ea typeface="+mn-ea"/>
                <a:cs typeface="+mn-cs"/>
              </a:rPr>
              <a:t>simple_sizing</a:t>
            </a:r>
            <a:r>
              <a:rPr lang="en-US" altLang="zh-CN" sz="1200" kern="1200" dirty="0">
                <a:solidFill>
                  <a:schemeClr val="tx1"/>
                </a:solidFill>
                <a:effectLst/>
                <a:latin typeface="Arial" pitchFamily="34" charset="0"/>
                <a:ea typeface="+mn-ea"/>
                <a:cs typeface="+mn-cs"/>
              </a:rPr>
              <a:t> function isn’t necessary, but it demonstrates modular thinking. We take these standard, well-established rules out separately, once define them, we will never change it. This way, we can stay focused on those most important parameters for our aircraft design.</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28</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Last up is plotting the results. SUAVE has some built-in plotting functions, and I completely copied this part from the Boeing 737 test case. You can also create your own plotting functions to make plot you need. And that’s it — we’ve finished writing our entire simple case! Now just run it!</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21493414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Congratulations! By now, we’ve basically figure out how SUAVE works, and we’ve built a simple case of our very own. Do anyone remember earlier when we were setting up the fuselage? I mentioned those geometry parameters in the code are pretty hard to picture in our mind. Now, we’re </a:t>
            </a:r>
            <a:r>
              <a:rPr lang="en-US" altLang="zh-CN" sz="1200" kern="1200" dirty="0" err="1">
                <a:solidFill>
                  <a:schemeClr val="tx1"/>
                </a:solidFill>
                <a:effectLst/>
                <a:latin typeface="Arial" pitchFamily="34" charset="0"/>
                <a:ea typeface="+mn-ea"/>
                <a:cs typeface="+mn-cs"/>
              </a:rPr>
              <a:t>gonna</a:t>
            </a:r>
            <a:r>
              <a:rPr lang="en-US" altLang="zh-CN" sz="1200" kern="1200" dirty="0">
                <a:solidFill>
                  <a:schemeClr val="tx1"/>
                </a:solidFill>
                <a:effectLst/>
                <a:latin typeface="Arial" pitchFamily="34" charset="0"/>
                <a:ea typeface="+mn-ea"/>
                <a:cs typeface="+mn-cs"/>
              </a:rPr>
              <a:t> import the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interface, so we can actually take a look at our aircraft. There is a python folder under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path, open the </a:t>
            </a:r>
            <a:r>
              <a:rPr lang="en-US" altLang="zh-CN" sz="1200" kern="1200" dirty="0" err="1">
                <a:solidFill>
                  <a:schemeClr val="tx1"/>
                </a:solidFill>
                <a:effectLst/>
                <a:latin typeface="Arial" pitchFamily="34" charset="0"/>
                <a:ea typeface="+mn-ea"/>
                <a:cs typeface="+mn-cs"/>
              </a:rPr>
              <a:t>cmd</a:t>
            </a:r>
            <a:r>
              <a:rPr lang="en-US" altLang="zh-CN" sz="1200" kern="1200" dirty="0">
                <a:solidFill>
                  <a:schemeClr val="tx1"/>
                </a:solidFill>
                <a:effectLst/>
                <a:latin typeface="Arial" pitchFamily="34" charset="0"/>
                <a:ea typeface="+mn-ea"/>
                <a:cs typeface="+mn-cs"/>
              </a:rPr>
              <a:t> terminal under the folder, and remember to activate your python environment for SUAVE in the </a:t>
            </a:r>
            <a:r>
              <a:rPr lang="en-US" altLang="zh-CN" sz="1200" kern="1200" dirty="0" err="1">
                <a:solidFill>
                  <a:schemeClr val="tx1"/>
                </a:solidFill>
                <a:effectLst/>
                <a:latin typeface="Arial" pitchFamily="34" charset="0"/>
                <a:ea typeface="+mn-ea"/>
                <a:cs typeface="+mn-cs"/>
              </a:rPr>
              <a:t>cmd</a:t>
            </a:r>
            <a:r>
              <a:rPr lang="en-US" altLang="zh-CN" sz="1200" kern="1200" dirty="0">
                <a:solidFill>
                  <a:schemeClr val="tx1"/>
                </a:solidFill>
                <a:effectLst/>
                <a:latin typeface="Arial" pitchFamily="34" charset="0"/>
                <a:ea typeface="+mn-ea"/>
                <a:cs typeface="+mn-cs"/>
              </a:rPr>
              <a:t>, then type pip install like I write in </a:t>
            </a:r>
            <a:r>
              <a:rPr lang="en-US" altLang="zh-CN" sz="1200" kern="1200" dirty="0" err="1">
                <a:solidFill>
                  <a:schemeClr val="tx1"/>
                </a:solidFill>
                <a:effectLst/>
                <a:latin typeface="Arial" pitchFamily="34" charset="0"/>
                <a:ea typeface="+mn-ea"/>
                <a:cs typeface="+mn-cs"/>
              </a:rPr>
              <a:t>powerpoint</a:t>
            </a:r>
            <a:r>
              <a:rPr lang="en-US" altLang="zh-CN" sz="1200" kern="1200" dirty="0">
                <a:solidFill>
                  <a:schemeClr val="tx1"/>
                </a:solidFill>
                <a:effectLst/>
                <a:latin typeface="Arial" pitchFamily="34" charset="0"/>
                <a:ea typeface="+mn-ea"/>
                <a:cs typeface="+mn-cs"/>
              </a:rPr>
              <a:t>. And then back to our code, import the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at the first of code, and add write(vehicle, ‘base’) in main function, now run the code again, a </a:t>
            </a:r>
            <a:r>
              <a:rPr lang="en-US" altLang="zh-CN" sz="1200" kern="1200" dirty="0" err="1">
                <a:solidFill>
                  <a:schemeClr val="tx1"/>
                </a:solidFill>
                <a:effectLst/>
                <a:latin typeface="Arial" pitchFamily="34" charset="0"/>
                <a:ea typeface="+mn-ea"/>
                <a:cs typeface="+mn-cs"/>
              </a:rPr>
              <a:t>vsp</a:t>
            </a:r>
            <a:r>
              <a:rPr lang="en-US" altLang="zh-CN" sz="1200" kern="1200" dirty="0">
                <a:solidFill>
                  <a:schemeClr val="tx1"/>
                </a:solidFill>
                <a:effectLst/>
                <a:latin typeface="Arial" pitchFamily="34" charset="0"/>
                <a:ea typeface="+mn-ea"/>
                <a:cs typeface="+mn-cs"/>
              </a:rPr>
              <a:t> file will be generated under your code directory. You can open the </a:t>
            </a:r>
            <a:r>
              <a:rPr lang="en-US" altLang="zh-CN" sz="1200" kern="1200" dirty="0" err="1">
                <a:solidFill>
                  <a:schemeClr val="tx1"/>
                </a:solidFill>
                <a:effectLst/>
                <a:latin typeface="Arial" pitchFamily="34" charset="0"/>
                <a:ea typeface="+mn-ea"/>
                <a:cs typeface="+mn-cs"/>
              </a:rPr>
              <a:t>vsp</a:t>
            </a:r>
            <a:r>
              <a:rPr lang="en-US" altLang="zh-CN" sz="1200" kern="1200" dirty="0">
                <a:solidFill>
                  <a:schemeClr val="tx1"/>
                </a:solidFill>
                <a:effectLst/>
                <a:latin typeface="Arial" pitchFamily="34" charset="0"/>
                <a:ea typeface="+mn-ea"/>
                <a:cs typeface="+mn-cs"/>
              </a:rPr>
              <a:t> file in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to check whether our model is correct and reasonable, we can get a clear 3D view of our aircraft.</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30</a:t>
            </a:fld>
            <a:endParaRPr lang="de-DE" dirty="0"/>
          </a:p>
        </p:txBody>
      </p:sp>
    </p:spTree>
    <p:extLst>
      <p:ext uri="{BB962C8B-B14F-4D97-AF65-F5344CB8AC3E}">
        <p14:creationId xmlns:p14="http://schemas.microsoft.com/office/powerpoint/2010/main" val="6985086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How our code turns into a real aircraft model? On the slide, you can see part of the SUAVE source code. This section is for creating a wing component. It converts the parameters we set in our code into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variables. Right here, it’s translating the XYZ coordinates, which means the location of each component.</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31</a:t>
            </a:fld>
            <a:endParaRPr lang="de-DE" dirty="0"/>
          </a:p>
        </p:txBody>
      </p:sp>
    </p:spTree>
    <p:extLst>
      <p:ext uri="{BB962C8B-B14F-4D97-AF65-F5344CB8AC3E}">
        <p14:creationId xmlns:p14="http://schemas.microsoft.com/office/powerpoint/2010/main" val="25873743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If you’re curious, you can open the VSP file with any text editor. You’ll see it’s structured in XML format like this. It stores every single aircraft parameter. You can easily find the values we defined in our code, but most of the content are auto-filled settings. As you might know, building a full geometry model requires way more data than basic overall analysis, and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will automatically fill in those extra details for us.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32</a:t>
            </a:fld>
            <a:endParaRPr lang="de-DE" dirty="0"/>
          </a:p>
        </p:txBody>
      </p:sp>
    </p:spTree>
    <p:extLst>
      <p:ext uri="{BB962C8B-B14F-4D97-AF65-F5344CB8AC3E}">
        <p14:creationId xmlns:p14="http://schemas.microsoft.com/office/powerpoint/2010/main" val="35316106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To keep our simple case as simple as possible, I only set up three mission segments: takeoff, cruise and descent. A more realistic flight mission should include more segments, takeoff, climb, climbing at different speeds, cruise, descent, descent at different speed, and final landing. The aircraft operates differently in each stage. For takeoff, we will change the flaps angle to generate extra lift, and the landing gear is retracted afterward. During landing, speed brakes are deployed and the landing gear is lowered. Real mission analysis is extremely complex, In this part I won’t go into further details, just give you a quick reminder.</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33</a:t>
            </a:fld>
            <a:endParaRPr lang="de-DE" dirty="0"/>
          </a:p>
        </p:txBody>
      </p:sp>
    </p:spTree>
    <p:extLst>
      <p:ext uri="{BB962C8B-B14F-4D97-AF65-F5344CB8AC3E}">
        <p14:creationId xmlns:p14="http://schemas.microsoft.com/office/powerpoint/2010/main" val="14629826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In our simple case, we’re using the most basic </a:t>
            </a:r>
            <a:r>
              <a:rPr lang="en-US" altLang="zh-CN" sz="1200" kern="1200" dirty="0" err="1">
                <a:solidFill>
                  <a:schemeClr val="tx1"/>
                </a:solidFill>
                <a:effectLst/>
                <a:latin typeface="Arial" pitchFamily="34" charset="0"/>
                <a:ea typeface="+mn-ea"/>
                <a:cs typeface="+mn-cs"/>
              </a:rPr>
              <a:t>Fidelity_Zero</a:t>
            </a:r>
            <a:r>
              <a:rPr lang="en-US" altLang="zh-CN" sz="1200" kern="1200" dirty="0">
                <a:solidFill>
                  <a:schemeClr val="tx1"/>
                </a:solidFill>
                <a:effectLst/>
                <a:latin typeface="Arial" pitchFamily="34" charset="0"/>
                <a:ea typeface="+mn-ea"/>
                <a:cs typeface="+mn-cs"/>
              </a:rPr>
              <a:t> module. This aerodynamic module is based on the vortex lattice method and is suitable for subsonic aircraft. If we need to analyze supersonic aircraft, we can use the </a:t>
            </a:r>
            <a:r>
              <a:rPr lang="en-US" altLang="zh-CN" sz="1200" kern="1200" dirty="0" err="1">
                <a:solidFill>
                  <a:schemeClr val="tx1"/>
                </a:solidFill>
                <a:effectLst/>
                <a:latin typeface="Arial" pitchFamily="34" charset="0"/>
                <a:ea typeface="+mn-ea"/>
                <a:cs typeface="+mn-cs"/>
              </a:rPr>
              <a:t>Supersonic_Zero</a:t>
            </a:r>
            <a:r>
              <a:rPr lang="en-US" altLang="zh-CN" sz="1200" kern="1200" dirty="0">
                <a:solidFill>
                  <a:schemeClr val="tx1"/>
                </a:solidFill>
                <a:effectLst/>
                <a:latin typeface="Arial" pitchFamily="34" charset="0"/>
                <a:ea typeface="+mn-ea"/>
                <a:cs typeface="+mn-cs"/>
              </a:rPr>
              <a:t> module, which is also based on the vortex lattice method. However, the basic vortex lattice method is not applicable to supersonic conditions, so this module uses some engineering formulas to correct the aerodynamic results for supersonic cases, and you can take a look at its source code if you’re interested. The AERODAS module is an engineering method developed by NASA for predicting lift and drag, and it’s also built into the code. In addition, SUAVE demonstrates how to use external solvers for aerodynamic analysis. In the SU2_Euler module, SUAVE first calls the </a:t>
            </a:r>
            <a:r>
              <a:rPr lang="en-US" altLang="zh-CN" sz="1200" kern="1200" dirty="0" err="1">
                <a:solidFill>
                  <a:schemeClr val="tx1"/>
                </a:solidFill>
                <a:effectLst/>
                <a:latin typeface="Arial" pitchFamily="34" charset="0"/>
                <a:ea typeface="+mn-ea"/>
                <a:cs typeface="+mn-cs"/>
              </a:rPr>
              <a:t>OpenVSP</a:t>
            </a:r>
            <a:r>
              <a:rPr lang="en-US" altLang="zh-CN" sz="1200" kern="1200" dirty="0">
                <a:solidFill>
                  <a:schemeClr val="tx1"/>
                </a:solidFill>
                <a:effectLst/>
                <a:latin typeface="Arial" pitchFamily="34" charset="0"/>
                <a:ea typeface="+mn-ea"/>
                <a:cs typeface="+mn-cs"/>
              </a:rPr>
              <a:t> interface to generate the aircraft surface mesh, then uses </a:t>
            </a:r>
            <a:r>
              <a:rPr lang="en-US" altLang="zh-CN" sz="1200" kern="1200" dirty="0" err="1">
                <a:solidFill>
                  <a:schemeClr val="tx1"/>
                </a:solidFill>
                <a:effectLst/>
                <a:latin typeface="Arial" pitchFamily="34" charset="0"/>
                <a:ea typeface="+mn-ea"/>
                <a:cs typeface="+mn-cs"/>
              </a:rPr>
              <a:t>Gmsh</a:t>
            </a:r>
            <a:r>
              <a:rPr lang="en-US" altLang="zh-CN" sz="1200" kern="1200" dirty="0">
                <a:solidFill>
                  <a:schemeClr val="tx1"/>
                </a:solidFill>
                <a:effectLst/>
                <a:latin typeface="Arial" pitchFamily="34" charset="0"/>
                <a:ea typeface="+mn-ea"/>
                <a:cs typeface="+mn-cs"/>
              </a:rPr>
              <a:t> to create the volume mesh, and finally generates the SU2 config file and runs SU2 to perform the aerodynamic analysis.</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34</a:t>
            </a:fld>
            <a:endParaRPr lang="de-DE" dirty="0"/>
          </a:p>
        </p:txBody>
      </p:sp>
    </p:spTree>
    <p:extLst>
      <p:ext uri="{BB962C8B-B14F-4D97-AF65-F5344CB8AC3E}">
        <p14:creationId xmlns:p14="http://schemas.microsoft.com/office/powerpoint/2010/main" val="6961084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Basically, that’s all for the main content of today’s class, and next we’ll cover some extra topics; the first example is building a simple optimization case, the key step in optimization is to convert our entire analysis process into an objective function that can be used by optimization algorithms, we won’t run the actual optimization today, we’ll just try to build a very basic objective function, first let’s see how to modify the aircraft using design variables, there’s only one line of code here: we take the vehicle, update the parameters, and return the new vehicle, next is how to extract the objective value, we use the updated aircraft to re-create and initialize all the analysis components, </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35</a:t>
            </a:fld>
            <a:endParaRPr lang="de-DE" dirty="0"/>
          </a:p>
        </p:txBody>
      </p:sp>
    </p:spTree>
    <p:extLst>
      <p:ext uri="{BB962C8B-B14F-4D97-AF65-F5344CB8AC3E}">
        <p14:creationId xmlns:p14="http://schemas.microsoft.com/office/powerpoint/2010/main" val="29591187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5F88F-4634-0315-20EC-23803FD257D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0B3BE4A-E4C2-5A04-0CE6-A915B5FF884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323A0CD-57F3-1662-50DB-5B422E521A8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kern="1200" dirty="0">
                <a:solidFill>
                  <a:schemeClr val="tx1"/>
                </a:solidFill>
                <a:effectLst/>
                <a:latin typeface="Arial" pitchFamily="34" charset="0"/>
                <a:ea typeface="+mn-ea"/>
                <a:cs typeface="+mn-cs"/>
              </a:rPr>
              <a:t>Then run the mission analysis again, finally we get the corresponding value from the mission results, in my setup, the objective is fuel consumption, so we take the initial weight and the final weight, and the difference between them is the fuel consumption.</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a:extLst>
              <a:ext uri="{FF2B5EF4-FFF2-40B4-BE49-F238E27FC236}">
                <a16:creationId xmlns:a16="http://schemas.microsoft.com/office/drawing/2014/main" id="{4B3362D4-C087-A916-62EC-7AFFD6096754}"/>
              </a:ext>
            </a:extLst>
          </p:cNvPr>
          <p:cNvSpPr>
            <a:spLocks noGrp="1"/>
          </p:cNvSpPr>
          <p:nvPr>
            <p:ph type="sldNum" sz="quarter" idx="5"/>
          </p:nvPr>
        </p:nvSpPr>
        <p:spPr/>
        <p:txBody>
          <a:bodyPr/>
          <a:lstStyle/>
          <a:p>
            <a:fld id="{DF1895BC-06EC-475A-97CA-BF53472F2E03}" type="slidenum">
              <a:rPr lang="de-DE" smtClean="0"/>
              <a:pPr/>
              <a:t>36</a:t>
            </a:fld>
            <a:endParaRPr lang="de-DE" dirty="0"/>
          </a:p>
        </p:txBody>
      </p:sp>
    </p:spTree>
    <p:extLst>
      <p:ext uri="{BB962C8B-B14F-4D97-AF65-F5344CB8AC3E}">
        <p14:creationId xmlns:p14="http://schemas.microsoft.com/office/powerpoint/2010/main" val="37141363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7624D-74D9-AF98-4DE2-B38978E25C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7AAE7DF-7E62-D3A9-519B-58F9F5E3B3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FD9772C-81A8-546A-5652-DE8829A3DFA8}"/>
              </a:ext>
            </a:extLst>
          </p:cNvPr>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In your future use, you can fully explore your creativity to further develop and customize the program. I will demonstrate a small tool I recently developed. It creates a vehicle object using segmented CST parameter lists. First, it generates standard normalized airfoil files based on the given CST parameters. Next, it calculates the dihedral and sweep angles of the segmented wing sections. Finally, it assigns all computed parameters to the corresponding vehicle attributes.</a:t>
            </a:r>
            <a:endParaRPr lang="zh-CN" altLang="zh-CN" sz="1200" kern="1200" dirty="0">
              <a:solidFill>
                <a:schemeClr val="tx1"/>
              </a:solidFill>
              <a:effectLst/>
              <a:latin typeface="Arial" pitchFamily="34" charset="0"/>
              <a:ea typeface="+mn-ea"/>
              <a:cs typeface="+mn-cs"/>
            </a:endParaRPr>
          </a:p>
          <a:p>
            <a:r>
              <a:rPr lang="en-US" altLang="zh-CN" sz="1200" kern="1200" dirty="0">
                <a:solidFill>
                  <a:schemeClr val="tx1"/>
                </a:solidFill>
                <a:effectLst/>
                <a:latin typeface="Arial" pitchFamily="34" charset="0"/>
                <a:ea typeface="+mn-ea"/>
                <a:cs typeface="+mn-cs"/>
              </a:rPr>
              <a:t>Let me briefly conclude today</a:t>
            </a:r>
            <a:r>
              <a:rPr lang="zh-CN" altLang="zh-CN" sz="1200" kern="1200" dirty="0">
                <a:solidFill>
                  <a:schemeClr val="tx1"/>
                </a:solidFill>
                <a:effectLst/>
                <a:latin typeface="Arial" pitchFamily="34" charset="0"/>
                <a:ea typeface="+mn-ea"/>
                <a:cs typeface="+mn-cs"/>
              </a:rPr>
              <a:t>’</a:t>
            </a:r>
            <a:r>
              <a:rPr lang="en-US" altLang="zh-CN" sz="1200" kern="1200" dirty="0">
                <a:solidFill>
                  <a:schemeClr val="tx1"/>
                </a:solidFill>
                <a:effectLst/>
                <a:latin typeface="Arial" pitchFamily="34" charset="0"/>
                <a:ea typeface="+mn-ea"/>
                <a:cs typeface="+mn-cs"/>
              </a:rPr>
              <a:t>s lecture. To be honest, SUAVE still has many imperfections. Its interpolation algorithms are relatively outdated, and the nested module structure is overly complicated. However, aircraft design works in a similar way. When you improve the lift-to-drag ratio, takeoff and landing performance may degradation. When you try to mitigate sonic boom, drag tends to increase instead.</a:t>
            </a:r>
            <a:endParaRPr lang="zh-CN" altLang="zh-CN" sz="1200" kern="1200" dirty="0">
              <a:solidFill>
                <a:schemeClr val="tx1"/>
              </a:solidFill>
              <a:effectLst/>
              <a:latin typeface="Arial" pitchFamily="34" charset="0"/>
              <a:ea typeface="+mn-ea"/>
              <a:cs typeface="+mn-cs"/>
            </a:endParaRPr>
          </a:p>
          <a:p>
            <a:r>
              <a:rPr lang="en-US" altLang="zh-CN" sz="1200" kern="1200" dirty="0">
                <a:solidFill>
                  <a:schemeClr val="tx1"/>
                </a:solidFill>
                <a:effectLst/>
                <a:latin typeface="Arial" pitchFamily="34" charset="0"/>
                <a:ea typeface="+mn-ea"/>
                <a:cs typeface="+mn-cs"/>
              </a:rPr>
              <a:t>In optimization theory, there is a core concept called Pareto optimality. It means that when you can no longer enhance one performance indicator without weakening others, the system reaches a Pareto optimal state. To me, it embodies the philosophy of balance.</a:t>
            </a:r>
            <a:endParaRPr lang="zh-CN" altLang="zh-CN" sz="1200" kern="1200" dirty="0">
              <a:solidFill>
                <a:schemeClr val="tx1"/>
              </a:solidFill>
              <a:effectLst/>
              <a:latin typeface="Arial" pitchFamily="34" charset="0"/>
              <a:ea typeface="+mn-ea"/>
              <a:cs typeface="+mn-cs"/>
            </a:endParaRPr>
          </a:p>
          <a:p>
            <a:r>
              <a:rPr lang="en-US" altLang="zh-CN" sz="1200" kern="1200" dirty="0">
                <a:solidFill>
                  <a:schemeClr val="tx1"/>
                </a:solidFill>
                <a:effectLst/>
                <a:latin typeface="Arial" pitchFamily="34" charset="0"/>
                <a:ea typeface="+mn-ea"/>
                <a:cs typeface="+mn-cs"/>
              </a:rPr>
              <a:t>The developers of SUAVE tried to strike a balance between usability and extensibility. In aircraft design, we balance cruise performance and takeoff-and-landing </a:t>
            </a:r>
            <a:r>
              <a:rPr lang="en-US" altLang="zh-CN" sz="1200" kern="1200" dirty="0" err="1">
                <a:solidFill>
                  <a:schemeClr val="tx1"/>
                </a:solidFill>
                <a:effectLst/>
                <a:latin typeface="Arial" pitchFamily="34" charset="0"/>
                <a:ea typeface="+mn-ea"/>
                <a:cs typeface="+mn-cs"/>
              </a:rPr>
              <a:t>preformance</a:t>
            </a:r>
            <a:r>
              <a:rPr lang="en-US" altLang="zh-CN" sz="1200" kern="1200" dirty="0">
                <a:solidFill>
                  <a:schemeClr val="tx1"/>
                </a:solidFill>
                <a:effectLst/>
                <a:latin typeface="Arial" pitchFamily="34" charset="0"/>
                <a:ea typeface="+mn-ea"/>
                <a:cs typeface="+mn-cs"/>
              </a:rPr>
              <a:t>. In daily life, we balance academic work and personal life. We have to realize that a perfect, all-round optimal solution rarely exists. What we can do is to seek the balance point.</a:t>
            </a:r>
            <a:endParaRPr lang="zh-CN" altLang="zh-CN" sz="1200" kern="1200" dirty="0">
              <a:solidFill>
                <a:schemeClr val="tx1"/>
              </a:solidFill>
              <a:effectLst/>
              <a:latin typeface="Arial" pitchFamily="34" charset="0"/>
              <a:ea typeface="+mn-ea"/>
              <a:cs typeface="+mn-cs"/>
            </a:endParaRPr>
          </a:p>
          <a:p>
            <a:r>
              <a:rPr lang="en-US" altLang="zh-CN" sz="1200" kern="1200" dirty="0">
                <a:solidFill>
                  <a:schemeClr val="tx1"/>
                </a:solidFill>
                <a:effectLst/>
                <a:latin typeface="Arial" pitchFamily="34" charset="0"/>
                <a:ea typeface="+mn-ea"/>
                <a:cs typeface="+mn-cs"/>
              </a:rPr>
              <a:t>Therefore, I wish all of you can find your own Pareto optimum in life.</a:t>
            </a:r>
            <a:endParaRPr lang="zh-CN" altLang="zh-CN" sz="1200" kern="1200" dirty="0">
              <a:solidFill>
                <a:schemeClr val="tx1"/>
              </a:solidFill>
              <a:effectLst/>
              <a:latin typeface="Arial" pitchFamily="34" charset="0"/>
              <a:ea typeface="+mn-ea"/>
              <a:cs typeface="+mn-cs"/>
            </a:endParaRPr>
          </a:p>
          <a:p>
            <a:endParaRPr lang="zh-CN" altLang="en-US" dirty="0"/>
          </a:p>
        </p:txBody>
      </p:sp>
      <p:sp>
        <p:nvSpPr>
          <p:cNvPr id="4" name="灯片编号占位符 3">
            <a:extLst>
              <a:ext uri="{FF2B5EF4-FFF2-40B4-BE49-F238E27FC236}">
                <a16:creationId xmlns:a16="http://schemas.microsoft.com/office/drawing/2014/main" id="{24C596F4-E94F-5111-7656-CD3B73C610B9}"/>
              </a:ext>
            </a:extLst>
          </p:cNvPr>
          <p:cNvSpPr>
            <a:spLocks noGrp="1"/>
          </p:cNvSpPr>
          <p:nvPr>
            <p:ph type="sldNum" sz="quarter" idx="5"/>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275005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r>
              <a:rPr lang="en-US" altLang="zh-CN" sz="1200" kern="1200" dirty="0">
                <a:solidFill>
                  <a:schemeClr val="tx1"/>
                </a:solidFill>
                <a:effectLst/>
                <a:latin typeface="Arial" pitchFamily="34" charset="0"/>
                <a:ea typeface="+mn-ea"/>
                <a:cs typeface="+mn-cs"/>
              </a:rPr>
              <a:t>Thank you for coming to my class today. </a:t>
            </a:r>
            <a:r>
              <a:rPr lang="en-US" altLang="zh-CN" sz="1200" kern="1200">
                <a:solidFill>
                  <a:schemeClr val="tx1"/>
                </a:solidFill>
                <a:effectLst/>
                <a:latin typeface="Arial" pitchFamily="34" charset="0"/>
                <a:ea typeface="+mn-ea"/>
                <a:cs typeface="+mn-cs"/>
              </a:rPr>
              <a:t>The holiday starts this Friday, so I wish you all a happy Labor Day!</a:t>
            </a:r>
            <a:endParaRPr lang="zh-CN" altLang="zh-CN" sz="1200" kern="1200">
              <a:solidFill>
                <a:schemeClr val="tx1"/>
              </a:solidFill>
              <a:effectLst/>
              <a:latin typeface="Arial" pitchFamily="34" charset="0"/>
              <a:ea typeface="+mn-ea"/>
              <a:cs typeface="+mn-cs"/>
            </a:endParaRPr>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38</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136818531"/>
              </p:ext>
            </p:extLst>
          </p:nvPr>
        </p:nvGraphicFramePr>
        <p:xfrm>
          <a:off x="7427138" y="1684813"/>
          <a:ext cx="4552978" cy="27432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4255387"/>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4624719"/>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mission_setup</a:t>
            </a:r>
            <a:r>
              <a:rPr lang="en-US" altLang="zh-CN" sz="1800" dirty="0">
                <a:solidFill>
                  <a:srgbClr val="002060"/>
                </a:solidFill>
              </a:rPr>
              <a:t>(</a:t>
            </a:r>
            <a:r>
              <a:rPr lang="en-US" altLang="zh-CN" sz="1800" dirty="0" err="1">
                <a:solidFill>
                  <a:srgbClr val="002060"/>
                </a:solidFill>
              </a:rPr>
              <a:t>configs_analyses</a:t>
            </a:r>
            <a:r>
              <a:rPr lang="en-US" altLang="zh-CN" sz="1800" dirty="0">
                <a:solidFill>
                  <a:srgbClr val="002060"/>
                </a:solidFill>
              </a:rPr>
              <a:t>)</a:t>
            </a: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080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822822"/>
            <a:ext cx="8808001"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a:t>
            </a:r>
          </a:p>
          <a:p>
            <a:r>
              <a:rPr lang="en-US" altLang="zh-CN" dirty="0"/>
              <a:t> </a:t>
            </a:r>
          </a:p>
          <a:p>
            <a:r>
              <a:rPr lang="en-US" altLang="zh-CN" dirty="0"/>
              <a:t>    </a:t>
            </a:r>
            <a:r>
              <a:rPr lang="en-US" altLang="zh-CN" dirty="0" err="1"/>
              <a:t>fuselage.heights.at_quarter_length</a:t>
            </a:r>
            <a:r>
              <a:rPr lang="en-US" altLang="zh-CN" dirty="0"/>
              <a:t>          = 3.74 * </a:t>
            </a:r>
            <a:r>
              <a:rPr lang="en-US" altLang="zh-CN" dirty="0" err="1"/>
              <a:t>Units.meter</a:t>
            </a:r>
            <a:endParaRPr lang="en-US" altLang="zh-CN" dirty="0"/>
          </a:p>
          <a:p>
            <a:r>
              <a:rPr lang="en-US" altLang="zh-CN" dirty="0"/>
              <a:t>    </a:t>
            </a:r>
            <a:r>
              <a:rPr lang="en-US" altLang="zh-CN" dirty="0" err="1"/>
              <a:t>fuselage.heights.at_three_quarters_length</a:t>
            </a:r>
            <a:r>
              <a:rPr lang="en-US" altLang="zh-CN" dirty="0"/>
              <a:t>   = 3.65 * </a:t>
            </a:r>
            <a:r>
              <a:rPr lang="en-US" altLang="zh-CN" dirty="0" err="1"/>
              <a:t>Units.meter</a:t>
            </a:r>
            <a:endParaRPr lang="en-US" altLang="zh-CN" dirty="0"/>
          </a:p>
          <a:p>
            <a:r>
              <a:rPr lang="en-US" altLang="zh-CN" dirty="0"/>
              <a:t>    </a:t>
            </a:r>
            <a:r>
              <a:rPr lang="en-US" altLang="zh-CN" dirty="0" err="1"/>
              <a:t>fuselage.heights.at_wing_root_quarter_chord</a:t>
            </a:r>
            <a:r>
              <a:rPr lang="en-US" altLang="zh-CN" dirty="0"/>
              <a:t> = 3.74 * </a:t>
            </a:r>
            <a:r>
              <a:rPr lang="en-US" altLang="zh-CN" dirty="0" err="1"/>
              <a:t>Units.meter</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3"/>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Fan</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Low Pressure Compressor</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endParaRPr lang="en-US" altLang="zh-CN" dirty="0"/>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3"/>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3"/>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3"/>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3">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1346425227"/>
              </p:ext>
            </p:extLst>
          </p:nvPr>
        </p:nvGraphicFramePr>
        <p:xfrm>
          <a:off x="628072" y="1983621"/>
          <a:ext cx="10935856" cy="4286760"/>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bl>
          </a:graphicData>
        </a:graphic>
      </p:graphicFrame>
      <p:sp>
        <p:nvSpPr>
          <p:cNvPr id="5" name="文本框 4">
            <a:extLst>
              <a:ext uri="{FF2B5EF4-FFF2-40B4-BE49-F238E27FC236}">
                <a16:creationId xmlns:a16="http://schemas.microsoft.com/office/drawing/2014/main" id="{09678422-CFC3-7E19-18E7-9506CFBC29E8}"/>
              </a:ext>
            </a:extLst>
          </p:cNvPr>
          <p:cNvSpPr txBox="1"/>
          <p:nvPr/>
        </p:nvSpPr>
        <p:spPr>
          <a:xfrm>
            <a:off x="628071" y="1289902"/>
            <a:ext cx="10935855" cy="523220"/>
          </a:xfrm>
          <a:prstGeom prst="rect">
            <a:avLst/>
          </a:prstGeom>
          <a:noFill/>
        </p:spPr>
        <p:txBody>
          <a:bodyPr wrap="square">
            <a:spAutoFit/>
          </a:bodyPr>
          <a:lstStyle/>
          <a:p>
            <a:pPr algn="ctr"/>
            <a:r>
              <a:rPr lang="en-US" altLang="zh-CN" sz="2800" b="1" dirty="0">
                <a:solidFill>
                  <a:srgbClr val="0F1115"/>
                </a:solidFill>
                <a:latin typeface="quote-cjk-patch"/>
              </a:rPr>
              <a:t>M</a:t>
            </a:r>
            <a:r>
              <a:rPr lang="en-US" altLang="zh-CN" sz="2800" b="1" i="0" dirty="0">
                <a:solidFill>
                  <a:srgbClr val="0F1115"/>
                </a:solidFill>
                <a:effectLst/>
                <a:latin typeface="quote-cjk-patch"/>
              </a:rPr>
              <a:t>ain aerodynamic analysis modules in the SUAVE</a:t>
            </a:r>
            <a:endParaRPr lang="zh-CN" altLang="en-US" sz="2800" dirty="0"/>
          </a:p>
        </p:txBody>
      </p:sp>
    </p:spTree>
    <p:extLst>
      <p:ext uri="{BB962C8B-B14F-4D97-AF65-F5344CB8AC3E}">
        <p14:creationId xmlns:p14="http://schemas.microsoft.com/office/powerpoint/2010/main" val="21968962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A097286-1B21-7298-35C6-E5D29277BC3C}"/>
              </a:ext>
            </a:extLst>
          </p:cNvPr>
          <p:cNvSpPr txBox="1"/>
          <p:nvPr/>
        </p:nvSpPr>
        <p:spPr>
          <a:xfrm>
            <a:off x="2690812" y="1239733"/>
            <a:ext cx="9501188" cy="507831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from </a:t>
            </a:r>
            <a:r>
              <a:rPr lang="en-US" altLang="zh-CN" dirty="0" err="1"/>
              <a:t>simple_case</a:t>
            </a:r>
            <a:r>
              <a:rPr lang="en-US" altLang="zh-CN" dirty="0"/>
              <a:t> import *</a:t>
            </a:r>
          </a:p>
          <a:p>
            <a:endParaRPr lang="en-US" altLang="zh-CN" dirty="0"/>
          </a:p>
          <a:p>
            <a:r>
              <a:rPr lang="en-US" altLang="zh-CN" dirty="0"/>
              <a:t>def </a:t>
            </a:r>
            <a:r>
              <a:rPr lang="en-US" altLang="zh-CN" dirty="0" err="1"/>
              <a:t>change_sweep</a:t>
            </a:r>
            <a:r>
              <a:rPr lang="en-US" altLang="zh-CN" dirty="0"/>
              <a:t>(vehicle, var):</a:t>
            </a:r>
          </a:p>
          <a:p>
            <a:r>
              <a:rPr lang="en-US" altLang="zh-CN" dirty="0"/>
              <a:t>    </a:t>
            </a:r>
            <a:r>
              <a:rPr lang="en-US" altLang="zh-CN" dirty="0" err="1"/>
              <a:t>vehicle.wings.main_wing.sweeps.quarter_chord</a:t>
            </a:r>
            <a:r>
              <a:rPr lang="en-US" altLang="zh-CN" dirty="0"/>
              <a:t> = (25 + var) * </a:t>
            </a:r>
            <a:r>
              <a:rPr lang="en-US" altLang="zh-CN" dirty="0" err="1"/>
              <a:t>Units.deg</a:t>
            </a:r>
            <a:endParaRPr lang="en-US" altLang="zh-CN" dirty="0"/>
          </a:p>
          <a:p>
            <a:r>
              <a:rPr lang="en-US" altLang="zh-CN" dirty="0"/>
              <a:t>    </a:t>
            </a:r>
          </a:p>
          <a:p>
            <a:r>
              <a:rPr lang="en-US" altLang="zh-CN" dirty="0"/>
              <a:t>    return vehicle</a:t>
            </a:r>
          </a:p>
          <a:p>
            <a:br>
              <a:rPr lang="en-US" altLang="zh-CN" dirty="0"/>
            </a:br>
            <a:endParaRPr lang="en-US" altLang="zh-CN" dirty="0"/>
          </a:p>
          <a:p>
            <a:r>
              <a:rPr lang="en-US" altLang="zh-CN" dirty="0"/>
              <a:t>def </a:t>
            </a:r>
            <a:r>
              <a:rPr lang="en-US" altLang="zh-CN" dirty="0" err="1"/>
              <a:t>opt_fun</a:t>
            </a:r>
            <a:r>
              <a:rPr lang="en-US" altLang="zh-CN" dirty="0"/>
              <a:t>(vehicle, var):</a:t>
            </a:r>
          </a:p>
          <a:p>
            <a:r>
              <a:rPr lang="en-US" altLang="zh-CN" dirty="0"/>
              <a:t>    vehicle = </a:t>
            </a:r>
            <a:r>
              <a:rPr lang="en-US" altLang="zh-CN" dirty="0" err="1"/>
              <a:t>change_sweep</a:t>
            </a:r>
            <a:r>
              <a:rPr lang="en-US" altLang="zh-CN" dirty="0"/>
              <a:t>(vehicle, var)</a:t>
            </a:r>
          </a:p>
          <a:p>
            <a:endParaRPr lang="en-US" altLang="zh-CN" dirty="0"/>
          </a:p>
          <a:p>
            <a:r>
              <a:rPr lang="en-US" altLang="zh-CN" dirty="0"/>
              <a:t>    configs  = </a:t>
            </a:r>
            <a:r>
              <a:rPr lang="en-US" altLang="zh-CN" dirty="0" err="1"/>
              <a:t>configs_setup</a:t>
            </a:r>
            <a:r>
              <a:rPr lang="en-US" altLang="zh-CN" dirty="0"/>
              <a:t>(vehicle)</a:t>
            </a:r>
          </a:p>
          <a:p>
            <a:r>
              <a:rPr lang="en-US" altLang="zh-CN" dirty="0"/>
              <a:t>    </a:t>
            </a:r>
            <a:r>
              <a:rPr lang="en-US" altLang="zh-CN" dirty="0" err="1"/>
              <a:t>configs_analyses</a:t>
            </a:r>
            <a:r>
              <a:rPr lang="en-US" altLang="zh-CN" dirty="0"/>
              <a:t> = </a:t>
            </a:r>
            <a:r>
              <a:rPr lang="en-US" altLang="zh-CN" dirty="0" err="1"/>
              <a:t>analyses_setup</a:t>
            </a:r>
            <a:r>
              <a:rPr lang="en-US" altLang="zh-CN" dirty="0"/>
              <a:t>(configs)</a:t>
            </a:r>
          </a:p>
          <a:p>
            <a:r>
              <a:rPr lang="en-US" altLang="zh-CN" dirty="0"/>
              <a:t>    analyses = </a:t>
            </a:r>
            <a:r>
              <a:rPr lang="en-US" altLang="zh-CN" dirty="0" err="1"/>
              <a:t>SUAVE.Analyses.Analysis.Container</a:t>
            </a:r>
            <a:r>
              <a:rPr lang="en-US" altLang="zh-CN" dirty="0"/>
              <a:t>()</a:t>
            </a:r>
          </a:p>
          <a:p>
            <a:r>
              <a:rPr lang="en-US" altLang="zh-CN" dirty="0"/>
              <a:t>    </a:t>
            </a:r>
            <a:r>
              <a:rPr lang="en-US" altLang="zh-CN" dirty="0" err="1"/>
              <a:t>analyses.configs</a:t>
            </a:r>
            <a:r>
              <a:rPr lang="en-US" altLang="zh-CN" dirty="0"/>
              <a:t>  = </a:t>
            </a:r>
            <a:r>
              <a:rPr lang="en-US" altLang="zh-CN" dirty="0" err="1"/>
              <a:t>configs_analyses</a:t>
            </a:r>
            <a:endParaRPr lang="en-US" altLang="zh-CN" dirty="0"/>
          </a:p>
          <a:p>
            <a:endParaRPr lang="en-US" altLang="zh-CN" dirty="0"/>
          </a:p>
          <a:p>
            <a:r>
              <a:rPr lang="en-US" altLang="zh-CN" dirty="0"/>
              <a:t>    </a:t>
            </a:r>
            <a:r>
              <a:rPr lang="en-US" altLang="zh-CN" dirty="0" err="1"/>
              <a:t>configs.finalize</a:t>
            </a:r>
            <a:r>
              <a:rPr lang="en-US" altLang="zh-CN" dirty="0"/>
              <a:t>()</a:t>
            </a:r>
          </a:p>
          <a:p>
            <a:r>
              <a:rPr lang="en-US" altLang="zh-CN" dirty="0"/>
              <a:t>    </a:t>
            </a:r>
            <a:r>
              <a:rPr lang="en-US" altLang="zh-CN" dirty="0" err="1"/>
              <a:t>analyses.finalize</a:t>
            </a:r>
            <a:r>
              <a:rPr lang="en-US" altLang="zh-CN" dirty="0"/>
              <a:t>()</a:t>
            </a:r>
          </a:p>
        </p:txBody>
      </p:sp>
      <p:sp>
        <p:nvSpPr>
          <p:cNvPr id="7" name="文本框 6">
            <a:extLst>
              <a:ext uri="{FF2B5EF4-FFF2-40B4-BE49-F238E27FC236}">
                <a16:creationId xmlns:a16="http://schemas.microsoft.com/office/drawing/2014/main" id="{63605A65-D423-0C82-154F-F73737B71210}"/>
              </a:ext>
            </a:extLst>
          </p:cNvPr>
          <p:cNvSpPr txBox="1"/>
          <p:nvPr/>
        </p:nvSpPr>
        <p:spPr>
          <a:xfrm>
            <a:off x="0" y="2190653"/>
            <a:ext cx="2478926" cy="615553"/>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Change sweep of </a:t>
            </a:r>
            <a:r>
              <a:rPr lang="en-US" altLang="zh-CN" sz="2000" b="1" dirty="0" err="1">
                <a:solidFill>
                  <a:srgbClr val="002060"/>
                </a:solidFill>
                <a:latin typeface="微软雅黑" panose="020B0503020204020204" pitchFamily="34" charset="-122"/>
                <a:ea typeface="微软雅黑" panose="020B0503020204020204" pitchFamily="34" charset="-122"/>
                <a:cs typeface="Arial" pitchFamily="34" charset="0"/>
              </a:rPr>
              <a:t>main_wing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箭头: 右 7">
            <a:extLst>
              <a:ext uri="{FF2B5EF4-FFF2-40B4-BE49-F238E27FC236}">
                <a16:creationId xmlns:a16="http://schemas.microsoft.com/office/drawing/2014/main" id="{32200AFD-27F7-0596-36E1-1BBB47BBB7FE}"/>
              </a:ext>
            </a:extLst>
          </p:cNvPr>
          <p:cNvSpPr/>
          <p:nvPr/>
        </p:nvSpPr>
        <p:spPr>
          <a:xfrm>
            <a:off x="2393156" y="2313763"/>
            <a:ext cx="457200" cy="369332"/>
          </a:xfrm>
          <a:prstGeom prst="rightArrow">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6F3F85E9-E868-E9FB-ADCF-3DEE6A86665B}"/>
              </a:ext>
            </a:extLst>
          </p:cNvPr>
          <p:cNvSpPr txBox="1"/>
          <p:nvPr/>
        </p:nvSpPr>
        <p:spPr>
          <a:xfrm>
            <a:off x="0" y="4614766"/>
            <a:ext cx="2478926" cy="923330"/>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Build analysis component with new vehicle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0" name="箭头: 右 9">
            <a:extLst>
              <a:ext uri="{FF2B5EF4-FFF2-40B4-BE49-F238E27FC236}">
                <a16:creationId xmlns:a16="http://schemas.microsoft.com/office/drawing/2014/main" id="{B9C8D6AB-57E2-791A-79C2-7388DF7FA26C}"/>
              </a:ext>
            </a:extLst>
          </p:cNvPr>
          <p:cNvSpPr/>
          <p:nvPr/>
        </p:nvSpPr>
        <p:spPr>
          <a:xfrm>
            <a:off x="2393156" y="4737876"/>
            <a:ext cx="457200" cy="369332"/>
          </a:xfrm>
          <a:prstGeom prst="rightArrow">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6945-4494-F103-377C-A034E7E369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2969391-842A-D338-3A95-E0A77AAC5BE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4EB03942-4F9E-F801-4C71-0B837D65CF9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9A5551F-D32D-5CD3-92C1-B85CA740D212}"/>
              </a:ext>
            </a:extLst>
          </p:cNvPr>
          <p:cNvSpPr txBox="1"/>
          <p:nvPr/>
        </p:nvSpPr>
        <p:spPr>
          <a:xfrm>
            <a:off x="2690812" y="1454047"/>
            <a:ext cx="9501188"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endParaRPr lang="en-US" altLang="zh-CN" dirty="0"/>
          </a:p>
          <a:p>
            <a:r>
              <a:rPr lang="en-US" altLang="zh-CN" dirty="0"/>
              <a:t>    mission  = </a:t>
            </a:r>
            <a:r>
              <a:rPr lang="en-US" altLang="zh-CN" dirty="0" err="1"/>
              <a:t>mission_setup</a:t>
            </a:r>
            <a:r>
              <a:rPr lang="en-US" altLang="zh-CN" dirty="0"/>
              <a:t>(</a:t>
            </a:r>
            <a:r>
              <a:rPr lang="en-US" altLang="zh-CN" dirty="0" err="1"/>
              <a:t>configs_analyses</a:t>
            </a:r>
            <a:r>
              <a:rPr lang="en-US" altLang="zh-CN" dirty="0"/>
              <a:t>)</a:t>
            </a:r>
          </a:p>
          <a:p>
            <a:r>
              <a:rPr lang="en-US" altLang="zh-CN" dirty="0"/>
              <a:t>    results = </a:t>
            </a:r>
            <a:r>
              <a:rPr lang="en-US" altLang="zh-CN" dirty="0" err="1"/>
              <a:t>mission.evaluate</a:t>
            </a:r>
            <a:r>
              <a:rPr lang="en-US" altLang="zh-CN" dirty="0"/>
              <a:t>()</a:t>
            </a:r>
            <a:br>
              <a:rPr lang="en-US" altLang="zh-CN" dirty="0"/>
            </a:br>
            <a:endParaRPr lang="en-US" altLang="zh-CN" dirty="0"/>
          </a:p>
          <a:p>
            <a:r>
              <a:rPr lang="en-US" altLang="zh-CN" dirty="0"/>
              <a:t>    </a:t>
            </a:r>
            <a:r>
              <a:rPr lang="en-US" altLang="zh-CN" dirty="0" err="1"/>
              <a:t>max_mass</a:t>
            </a:r>
            <a:r>
              <a:rPr lang="en-US" altLang="zh-CN" dirty="0"/>
              <a:t> = </a:t>
            </a:r>
            <a:r>
              <a:rPr lang="en-US" altLang="zh-CN" dirty="0" err="1"/>
              <a:t>configs.base.mass_properties.max_takeoff</a:t>
            </a:r>
            <a:endParaRPr lang="en-US" altLang="zh-CN" dirty="0"/>
          </a:p>
          <a:p>
            <a:r>
              <a:rPr lang="en-US" altLang="zh-CN" dirty="0"/>
              <a:t>    </a:t>
            </a:r>
            <a:r>
              <a:rPr lang="en-US" altLang="zh-CN" dirty="0" err="1"/>
              <a:t>last_segment</a:t>
            </a:r>
            <a:r>
              <a:rPr lang="en-US" altLang="zh-CN" dirty="0"/>
              <a:t> = </a:t>
            </a:r>
            <a:r>
              <a:rPr lang="en-US" altLang="zh-CN" dirty="0" err="1"/>
              <a:t>results.segments.values</a:t>
            </a:r>
            <a:r>
              <a:rPr lang="en-US" altLang="zh-CN" dirty="0"/>
              <a:t>()[-1]</a:t>
            </a:r>
          </a:p>
          <a:p>
            <a:r>
              <a:rPr lang="en-US" altLang="zh-CN" dirty="0"/>
              <a:t>    </a:t>
            </a:r>
            <a:r>
              <a:rPr lang="en-US" altLang="zh-CN" dirty="0" err="1"/>
              <a:t>final_mass</a:t>
            </a:r>
            <a:r>
              <a:rPr lang="en-US" altLang="zh-CN" dirty="0"/>
              <a:t>     = </a:t>
            </a:r>
            <a:r>
              <a:rPr lang="en-US" altLang="zh-CN" dirty="0" err="1"/>
              <a:t>last_segment.conditions.weights.total_mass</a:t>
            </a:r>
            <a:r>
              <a:rPr lang="en-US" altLang="zh-CN" dirty="0"/>
              <a:t>[-1, 0]</a:t>
            </a:r>
          </a:p>
          <a:p>
            <a:br>
              <a:rPr lang="en-US" altLang="zh-CN" dirty="0"/>
            </a:br>
            <a:endParaRPr lang="en-US" altLang="zh-CN" dirty="0"/>
          </a:p>
          <a:p>
            <a:r>
              <a:rPr lang="en-US" altLang="zh-CN" dirty="0"/>
              <a:t>    </a:t>
            </a:r>
            <a:r>
              <a:rPr lang="en-US" altLang="zh-CN" dirty="0" err="1"/>
              <a:t>fuel_mass</a:t>
            </a:r>
            <a:r>
              <a:rPr lang="en-US" altLang="zh-CN" dirty="0"/>
              <a:t> = </a:t>
            </a:r>
            <a:r>
              <a:rPr lang="en-US" altLang="zh-CN" dirty="0" err="1"/>
              <a:t>max_mass</a:t>
            </a:r>
            <a:r>
              <a:rPr lang="en-US" altLang="zh-CN" dirty="0"/>
              <a:t> - </a:t>
            </a:r>
            <a:r>
              <a:rPr lang="en-US" altLang="zh-CN" dirty="0" err="1"/>
              <a:t>final_mass</a:t>
            </a:r>
            <a:endParaRPr lang="en-US" altLang="zh-CN" dirty="0"/>
          </a:p>
          <a:p>
            <a:br>
              <a:rPr lang="en-US" altLang="zh-CN" dirty="0"/>
            </a:br>
            <a:endParaRPr lang="en-US" altLang="zh-CN" dirty="0"/>
          </a:p>
          <a:p>
            <a:r>
              <a:rPr lang="en-US" altLang="zh-CN" dirty="0"/>
              <a:t>    return </a:t>
            </a:r>
            <a:r>
              <a:rPr lang="en-US" altLang="zh-CN" dirty="0" err="1"/>
              <a:t>fuel_mass</a:t>
            </a:r>
            <a:endParaRPr lang="en-US" altLang="zh-CN" dirty="0"/>
          </a:p>
        </p:txBody>
      </p:sp>
      <p:sp>
        <p:nvSpPr>
          <p:cNvPr id="4" name="文本框 3">
            <a:extLst>
              <a:ext uri="{FF2B5EF4-FFF2-40B4-BE49-F238E27FC236}">
                <a16:creationId xmlns:a16="http://schemas.microsoft.com/office/drawing/2014/main" id="{F611578E-4502-760E-C3D0-A7E970C2FE2A}"/>
              </a:ext>
            </a:extLst>
          </p:cNvPr>
          <p:cNvSpPr txBox="1"/>
          <p:nvPr/>
        </p:nvSpPr>
        <p:spPr>
          <a:xfrm>
            <a:off x="211886" y="2500312"/>
            <a:ext cx="2814637" cy="1613070"/>
          </a:xfrm>
          <a:prstGeom prst="rect">
            <a:avLst/>
          </a:prstGeom>
          <a:noFill/>
        </p:spPr>
        <p:txBody>
          <a:bodyPr wrap="square" lIns="0" tIns="0" rIns="0" bIns="0" rtlCol="0">
            <a:spAutoFit/>
          </a:bodyPr>
          <a:lstStyle/>
          <a:p>
            <a:pPr>
              <a:lnSpc>
                <a:spcPct val="150000"/>
              </a:lnSpc>
            </a:pPr>
            <a:r>
              <a:rPr lang="en-US" altLang="zh-CN" b="1" dirty="0">
                <a:solidFill>
                  <a:srgbClr val="002060"/>
                </a:solidFill>
                <a:latin typeface="微软雅黑" panose="020B0503020204020204" pitchFamily="34" charset="-122"/>
                <a:ea typeface="微软雅黑" panose="020B0503020204020204" pitchFamily="34" charset="-122"/>
                <a:cs typeface="Arial" pitchFamily="34" charset="0"/>
              </a:rPr>
              <a:t>Analysis mission with new vehicle and extract the objective value we need</a:t>
            </a:r>
            <a:endParaRPr lang="zh-CN" altLang="en-US"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6811593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8F52-6B52-0DFB-24F0-879EEA285F9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53D0F5-ABB5-0420-497D-884097AB2A9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FD259330-0B18-6933-ED9E-67B23B6E0B58}"/>
              </a:ext>
            </a:extLst>
          </p:cNvPr>
          <p:cNvSpPr txBox="1"/>
          <p:nvPr/>
        </p:nvSpPr>
        <p:spPr>
          <a:xfrm>
            <a:off x="211885" y="870401"/>
            <a:ext cx="9582903"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Generate custom wings based on segmented CST parameters</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1B6C495-5D4B-B9D8-3A9E-80C76CD605DD}"/>
              </a:ext>
            </a:extLst>
          </p:cNvPr>
          <p:cNvSpPr txBox="1"/>
          <p:nvPr/>
        </p:nvSpPr>
        <p:spPr>
          <a:xfrm>
            <a:off x="-15240000" y="-12683103"/>
            <a:ext cx="15240000" cy="32224206"/>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cst_rec</a:t>
            </a:r>
            <a:r>
              <a:rPr lang="en-US" altLang="zh-CN" b="0" dirty="0">
                <a:solidFill>
                  <a:srgbClr val="002060"/>
                </a:solidFill>
                <a:effectLst/>
                <a:latin typeface="Consolas" panose="020B0609020204030204" pitchFamily="49" charset="0"/>
              </a:rPr>
              <a:t>(para, N1=0.5, N2=1,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=60, </a:t>
            </a:r>
            <a:r>
              <a:rPr lang="en-US" altLang="zh-CN" b="0" dirty="0" err="1">
                <a:solidFill>
                  <a:srgbClr val="002060"/>
                </a:solidFill>
                <a:effectLst/>
                <a:latin typeface="Consolas" panose="020B0609020204030204" pitchFamily="49" charset="0"/>
              </a:rPr>
              <a:t>psi_end</a:t>
            </a:r>
            <a:r>
              <a:rPr lang="en-US" altLang="zh-CN" b="0" dirty="0">
                <a:solidFill>
                  <a:srgbClr val="002060"/>
                </a:solidFill>
                <a:effectLst/>
                <a:latin typeface="Consolas" panose="020B0609020204030204" pitchFamily="49" charset="0"/>
              </a:rPr>
              <a:t>=1.0):</a:t>
            </a:r>
          </a:p>
          <a:p>
            <a:pPr>
              <a:buNone/>
            </a:pPr>
            <a:r>
              <a:rPr lang="en-US" altLang="zh-CN" b="0" dirty="0">
                <a:solidFill>
                  <a:srgbClr val="002060"/>
                </a:solidFill>
                <a:effectLst/>
                <a:latin typeface="Consolas" panose="020B0609020204030204" pitchFamily="49" charset="0"/>
              </a:rPr>
              <a:t>    ##</a:t>
            </a:r>
            <a:r>
              <a:rPr lang="zh-CN" altLang="en-US" b="0" dirty="0">
                <a:solidFill>
                  <a:srgbClr val="002060"/>
                </a:solidFill>
                <a:effectLst/>
                <a:latin typeface="Consolas" panose="020B0609020204030204" pitchFamily="49" charset="0"/>
              </a:rPr>
              <a:t>从参数列表提取参数赋值变量</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order = int((</a:t>
            </a:r>
            <a:r>
              <a:rPr lang="en-US" altLang="zh-CN" b="0" dirty="0" err="1">
                <a:solidFill>
                  <a:srgbClr val="002060"/>
                </a:solidFill>
                <a:effectLst/>
                <a:latin typeface="Consolas" panose="020B0609020204030204" pitchFamily="49" charset="0"/>
              </a:rPr>
              <a:t>len</a:t>
            </a:r>
            <a:r>
              <a:rPr lang="en-US" altLang="zh-CN" b="0" dirty="0">
                <a:solidFill>
                  <a:srgbClr val="002060"/>
                </a:solidFill>
                <a:effectLst/>
                <a:latin typeface="Consolas" panose="020B0609020204030204" pitchFamily="49" charset="0"/>
              </a:rPr>
              <a:t>(para) - 8)/2)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([para[1:order+2],para[order+2:(order+1)*2+1]])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dy_upper</a:t>
            </a:r>
            <a:r>
              <a:rPr lang="en-US" altLang="zh-CN" b="0" dirty="0">
                <a:solidFill>
                  <a:srgbClr val="002060"/>
                </a:solidFill>
                <a:effectLst/>
                <a:latin typeface="Consolas" panose="020B0609020204030204" pitchFamily="49" charset="0"/>
              </a:rPr>
              <a:t> = para[-2]; </a:t>
            </a:r>
            <a:r>
              <a:rPr lang="en-US" altLang="zh-CN" b="0" dirty="0" err="1">
                <a:solidFill>
                  <a:srgbClr val="002060"/>
                </a:solidFill>
                <a:effectLst/>
                <a:latin typeface="Consolas" panose="020B0609020204030204" pitchFamily="49" charset="0"/>
              </a:rPr>
              <a:t>dy_lower</a:t>
            </a:r>
            <a:r>
              <a:rPr lang="en-US" altLang="zh-CN" b="0" dirty="0">
                <a:solidFill>
                  <a:srgbClr val="002060"/>
                </a:solidFill>
                <a:effectLst/>
                <a:latin typeface="Consolas" panose="020B0609020204030204" pitchFamily="49" charset="0"/>
              </a:rPr>
              <a:t> = para[-1]</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psi = </a:t>
            </a:r>
            <a:r>
              <a:rPr lang="en-US" altLang="zh-CN" b="0" dirty="0" err="1">
                <a:solidFill>
                  <a:srgbClr val="002060"/>
                </a:solidFill>
                <a:effectLst/>
                <a:latin typeface="Consolas" panose="020B0609020204030204" pitchFamily="49" charset="0"/>
              </a:rPr>
              <a:t>np.linspace</a:t>
            </a:r>
            <a:r>
              <a:rPr lang="en-US" altLang="zh-CN" b="0" dirty="0">
                <a:solidFill>
                  <a:srgbClr val="002060"/>
                </a:solidFill>
                <a:effectLst/>
                <a:latin typeface="Consolas" panose="020B0609020204030204" pitchFamily="49" charset="0"/>
              </a:rPr>
              <a:t>(0, </a:t>
            </a:r>
            <a:r>
              <a:rPr lang="en-US" altLang="zh-CN" b="0" dirty="0" err="1">
                <a:solidFill>
                  <a:srgbClr val="002060"/>
                </a:solidFill>
                <a:effectLst/>
                <a:latin typeface="Consolas" panose="020B0609020204030204" pitchFamily="49" charset="0"/>
              </a:rPr>
              <a:t>psi_end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coeffs_upper</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coeffs_lower</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[1]</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a:t>
            </a:r>
            <a:r>
              <a:rPr lang="zh-CN" altLang="en-US" b="0" dirty="0">
                <a:solidFill>
                  <a:srgbClr val="002060"/>
                </a:solidFill>
                <a:effectLst/>
                <a:latin typeface="Consolas" panose="020B0609020204030204" pitchFamily="49" charset="0"/>
              </a:rPr>
              <a:t>生成</a:t>
            </a:r>
            <a:r>
              <a:rPr lang="en-US" altLang="zh-CN" b="0" dirty="0">
                <a:solidFill>
                  <a:srgbClr val="002060"/>
                </a:solidFill>
                <a:effectLst/>
                <a:latin typeface="Consolas" panose="020B0609020204030204" pitchFamily="49" charset="0"/>
              </a:rPr>
              <a:t>Bernstein</a:t>
            </a:r>
            <a:r>
              <a:rPr lang="zh-CN" altLang="en-US" b="0" dirty="0">
                <a:solidFill>
                  <a:srgbClr val="002060"/>
                </a:solidFill>
                <a:effectLst/>
                <a:latin typeface="Consolas" panose="020B0609020204030204" pitchFamily="49" charset="0"/>
              </a:rPr>
              <a:t>基函数</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B = </a:t>
            </a:r>
            <a:r>
              <a:rPr lang="en-US" altLang="zh-CN" b="0" dirty="0" err="1">
                <a:solidFill>
                  <a:srgbClr val="002060"/>
                </a:solidFill>
                <a:effectLst/>
                <a:latin typeface="Consolas" panose="020B0609020204030204" pitchFamily="49" charset="0"/>
              </a:rPr>
              <a:t>np.zeros</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 order+1))</a:t>
            </a: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in range(order+1):</a:t>
            </a:r>
          </a:p>
          <a:p>
            <a:pPr>
              <a:buNone/>
            </a:pPr>
            <a:r>
              <a:rPr lang="en-US" altLang="zh-CN" b="0" dirty="0">
                <a:solidFill>
                  <a:srgbClr val="002060"/>
                </a:solidFill>
                <a:effectLst/>
                <a:latin typeface="Consolas" panose="020B0609020204030204" pitchFamily="49" charset="0"/>
              </a:rPr>
              <a:t>        B[:,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comb(order,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(1 - psi)**(order-</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a:t>
            </a:r>
            <a:r>
              <a:rPr lang="zh-CN" altLang="en-US" b="0" dirty="0">
                <a:solidFill>
                  <a:srgbClr val="002060"/>
                </a:solidFill>
                <a:effectLst/>
                <a:latin typeface="Consolas" panose="020B0609020204030204" pitchFamily="49" charset="0"/>
              </a:rPr>
              <a:t>计算上下表面坐标</a:t>
            </a: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y_upper</a:t>
            </a:r>
            <a:r>
              <a:rPr lang="en-US" altLang="zh-CN" b="0" dirty="0">
                <a:solidFill>
                  <a:srgbClr val="002060"/>
                </a:solidFill>
                <a:effectLst/>
                <a:latin typeface="Consolas" panose="020B0609020204030204" pitchFamily="49" charset="0"/>
              </a:rPr>
              <a:t> = (psi**N1 * (1 - psi)**N2) * (B @ </a:t>
            </a:r>
            <a:r>
              <a:rPr lang="en-US" altLang="zh-CN" b="0" dirty="0" err="1">
                <a:solidFill>
                  <a:srgbClr val="002060"/>
                </a:solidFill>
                <a:effectLst/>
                <a:latin typeface="Consolas" panose="020B0609020204030204" pitchFamily="49" charset="0"/>
              </a:rPr>
              <a:t>coeffs_upper</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dy_upper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y_lower</a:t>
            </a:r>
            <a:r>
              <a:rPr lang="en-US" altLang="zh-CN" b="0" dirty="0">
                <a:solidFill>
                  <a:srgbClr val="002060"/>
                </a:solidFill>
                <a:effectLst/>
                <a:latin typeface="Consolas" panose="020B0609020204030204" pitchFamily="49" charset="0"/>
              </a:rPr>
              <a:t> = (psi**N1 * (1 - psi)**N2) * (B @ </a:t>
            </a:r>
            <a:r>
              <a:rPr lang="en-US" altLang="zh-CN" b="0" dirty="0" err="1">
                <a:solidFill>
                  <a:srgbClr val="002060"/>
                </a:solidFill>
                <a:effectLst/>
                <a:latin typeface="Consolas" panose="020B0609020204030204" pitchFamily="49" charset="0"/>
              </a:rPr>
              <a:t>coeffs_lower</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dy_lower</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([psi, </a:t>
            </a:r>
            <a:r>
              <a:rPr lang="en-US" altLang="zh-CN" b="0" dirty="0" err="1">
                <a:solidFill>
                  <a:srgbClr val="002060"/>
                </a:solidFill>
                <a:effectLst/>
                <a:latin typeface="Consolas" panose="020B0609020204030204" pitchFamily="49" charset="0"/>
              </a:rPr>
              <a:t>y_upper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([psi, </a:t>
            </a:r>
            <a:r>
              <a:rPr lang="en-US" altLang="zh-CN" b="0" dirty="0" err="1">
                <a:solidFill>
                  <a:srgbClr val="002060"/>
                </a:solidFill>
                <a:effectLst/>
                <a:latin typeface="Consolas" panose="020B0609020204030204" pitchFamily="49" charset="0"/>
              </a:rPr>
              <a:t>y_lower</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wing_from_para</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para_csv</a:t>
            </a:r>
            <a:r>
              <a:rPr lang="en-US" altLang="zh-CN" b="0" dirty="0">
                <a:solidFill>
                  <a:srgbClr val="002060"/>
                </a:solidFill>
                <a:effectLst/>
                <a:latin typeface="Consolas" panose="020B0609020204030204" pitchFamily="49" charset="0"/>
              </a:rPr>
              <a:t>: str = "6.64_simple.csv"):</a:t>
            </a:r>
          </a:p>
          <a:p>
            <a:pPr>
              <a:buNone/>
            </a:pPr>
            <a:r>
              <a:rPr lang="en-US" altLang="zh-CN" b="0" dirty="0">
                <a:solidFill>
                  <a:srgbClr val="002060"/>
                </a:solidFill>
                <a:effectLst/>
                <a:latin typeface="Consolas" panose="020B0609020204030204" pitchFamily="49" charset="0"/>
              </a:rPr>
              <a:t>    para = </a:t>
            </a:r>
            <a:r>
              <a:rPr lang="en-US" altLang="zh-CN" b="0" dirty="0" err="1">
                <a:solidFill>
                  <a:srgbClr val="002060"/>
                </a:solidFill>
                <a:effectLst/>
                <a:latin typeface="Consolas" panose="020B0609020204030204" pitchFamily="49" charset="0"/>
              </a:rPr>
              <a:t>pd.read_csv</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para_csv</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to_numpy</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n_sec</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para.shape</a:t>
            </a:r>
            <a:r>
              <a:rPr lang="en-US" altLang="zh-CN" b="0" dirty="0">
                <a:solidFill>
                  <a:srgbClr val="002060"/>
                </a:solidFill>
                <a:effectLst/>
                <a:latin typeface="Consolas" panose="020B0609020204030204" pitchFamily="49" charset="0"/>
              </a:rPr>
              <a:t>[0]; </a:t>
            </a:r>
            <a:r>
              <a:rPr lang="en-US" altLang="zh-CN" b="0" dirty="0" err="1">
                <a:solidFill>
                  <a:srgbClr val="002060"/>
                </a:solidFill>
                <a:effectLst/>
                <a:latin typeface="Consolas" panose="020B0609020204030204" pitchFamily="49" charset="0"/>
              </a:rPr>
              <a:t>cst_order</a:t>
            </a:r>
            <a:r>
              <a:rPr lang="en-US" altLang="zh-CN" b="0" dirty="0">
                <a:solidFill>
                  <a:srgbClr val="002060"/>
                </a:solidFill>
                <a:effectLst/>
                <a:latin typeface="Consolas" panose="020B0609020204030204" pitchFamily="49" charset="0"/>
              </a:rPr>
              <a:t> = int((</a:t>
            </a:r>
            <a:r>
              <a:rPr lang="en-US" altLang="zh-CN" b="0" dirty="0" err="1">
                <a:solidFill>
                  <a:srgbClr val="002060"/>
                </a:solidFill>
                <a:effectLst/>
                <a:latin typeface="Consolas" panose="020B0609020204030204" pitchFamily="49" charset="0"/>
              </a:rPr>
              <a:t>para.shape</a:t>
            </a:r>
            <a:r>
              <a:rPr lang="en-US" altLang="zh-CN" b="0" dirty="0">
                <a:solidFill>
                  <a:srgbClr val="002060"/>
                </a:solidFill>
                <a:effectLst/>
                <a:latin typeface="Consolas" panose="020B0609020204030204" pitchFamily="49" charset="0"/>
              </a:rPr>
              <a:t>[1] - 6)/2 - 1) ##6</a:t>
            </a:r>
            <a:r>
              <a:rPr lang="zh-CN" altLang="en-US" b="0" dirty="0">
                <a:solidFill>
                  <a:srgbClr val="002060"/>
                </a:solidFill>
                <a:effectLst/>
                <a:latin typeface="Consolas" panose="020B0609020204030204" pitchFamily="49" charset="0"/>
              </a:rPr>
              <a:t>个位置尺寸参数，其余为</a:t>
            </a:r>
            <a:r>
              <a:rPr lang="en-US" altLang="zh-CN" b="0" dirty="0" err="1">
                <a:solidFill>
                  <a:srgbClr val="002060"/>
                </a:solidFill>
                <a:effectLst/>
                <a:latin typeface="Consolas" panose="020B0609020204030204" pitchFamily="49" charset="0"/>
              </a:rPr>
              <a:t>cst</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chord_root</a:t>
            </a:r>
            <a:r>
              <a:rPr lang="en-US" altLang="zh-CN" b="0" dirty="0">
                <a:solidFill>
                  <a:srgbClr val="002060"/>
                </a:solidFill>
                <a:effectLst/>
                <a:latin typeface="Consolas" panose="020B0609020204030204" pitchFamily="49" charset="0"/>
              </a:rPr>
              <a:t> = (para[0, -4] - para[0, -5]) * </a:t>
            </a:r>
            <a:r>
              <a:rPr lang="en-US" altLang="zh-CN" b="0" dirty="0" err="1">
                <a:solidFill>
                  <a:srgbClr val="002060"/>
                </a:solidFill>
                <a:effectLst/>
                <a:latin typeface="Consolas" panose="020B0609020204030204" pitchFamily="49" charset="0"/>
              </a:rPr>
              <a:t>Units.meters</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chord_tip</a:t>
            </a:r>
            <a:r>
              <a:rPr lang="en-US" altLang="zh-CN" b="0" dirty="0">
                <a:solidFill>
                  <a:srgbClr val="002060"/>
                </a:solidFill>
                <a:effectLst/>
                <a:latin typeface="Consolas" panose="020B0609020204030204" pitchFamily="49" charset="0"/>
              </a:rPr>
              <a:t> = (para[-1, -4] - para[-1, -5]) * </a:t>
            </a:r>
            <a:r>
              <a:rPr lang="en-US" altLang="zh-CN" b="0" dirty="0" err="1">
                <a:solidFill>
                  <a:srgbClr val="002060"/>
                </a:solidFill>
                <a:effectLst/>
                <a:latin typeface="Consolas" panose="020B0609020204030204" pitchFamily="49" charset="0"/>
              </a:rPr>
              <a:t>Units.meters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span = 2*(para[-1, 0] - para[0, 0]) * </a:t>
            </a:r>
            <a:r>
              <a:rPr lang="en-US" altLang="zh-CN" b="0" dirty="0" err="1">
                <a:solidFill>
                  <a:srgbClr val="002060"/>
                </a:solidFill>
                <a:effectLst/>
                <a:latin typeface="Consolas" panose="020B0609020204030204" pitchFamily="49" charset="0"/>
              </a:rPr>
              <a:t>Units.meters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wing.total_length</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span</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chord_tip</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300.6 * </a:t>
            </a:r>
            <a:r>
              <a:rPr lang="en-US" altLang="zh-CN" b="0" dirty="0" err="1">
                <a:solidFill>
                  <a:srgbClr val="002060"/>
                </a:solidFill>
                <a:effectLst/>
                <a:latin typeface="Consolas" panose="020B0609020204030204" pitchFamily="49" charset="0"/>
              </a:rPr>
              <a:t>Units.meters</a:t>
            </a:r>
            <a:r>
              <a:rPr lang="en-US" altLang="zh-CN" b="0" dirty="0">
                <a:solidFill>
                  <a:srgbClr val="002060"/>
                </a:solidFill>
                <a:effectLst/>
                <a:latin typeface="Consolas" panose="020B0609020204030204" pitchFamily="49" charset="0"/>
              </a:rPr>
              <a:t>**2</a:t>
            </a: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33.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wing.dihedral</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[[0.,0.,0]]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wing.aerodynamic_center</a:t>
            </a:r>
            <a:r>
              <a:rPr lang="en-US" altLang="zh-CN" b="0" dirty="0">
                <a:solidFill>
                  <a:srgbClr val="002060"/>
                </a:solidFill>
                <a:effectLst/>
                <a:latin typeface="Consolas" panose="020B0609020204030204" pitchFamily="49" charset="0"/>
              </a:rPr>
              <a:t>      = [0,0,0]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wing.high_lift</a:t>
            </a:r>
            <a:r>
              <a:rPr lang="en-US" altLang="zh-CN" b="0" dirty="0">
                <a:solidFill>
                  <a:srgbClr val="002060"/>
                </a:solidFill>
                <a:effectLst/>
                <a:latin typeface="Consolas" panose="020B0609020204030204" pitchFamily="49" charset="0"/>
              </a:rPr>
              <a:t>               = True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wing.dynamic_pressure_ratio</a:t>
            </a:r>
            <a:r>
              <a:rPr lang="en-US" altLang="zh-CN" b="0" dirty="0">
                <a:solidFill>
                  <a:srgbClr val="002060"/>
                </a:solidFill>
                <a:effectLst/>
                <a:latin typeface="Consolas" panose="020B0609020204030204" pitchFamily="49" charset="0"/>
              </a:rPr>
              <a:t>  = 1.0</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dih_list</a:t>
            </a:r>
            <a:r>
              <a:rPr lang="en-US" altLang="zh-CN" b="0" dirty="0">
                <a:solidFill>
                  <a:srgbClr val="002060"/>
                </a:solidFill>
                <a:effectLst/>
                <a:latin typeface="Consolas" panose="020B0609020204030204" pitchFamily="49" charset="0"/>
              </a:rPr>
              <a:t> =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area = 0</a:t>
            </a: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in range(n_sec-1):</a:t>
            </a:r>
          </a:p>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SUAVE.Components.Wings.Segment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section_'+str</a:t>
            </a:r>
            <a:r>
              <a:rPr lang="en-US" altLang="zh-CN" b="0" dirty="0">
                <a:solidFill>
                  <a:srgbClr val="002060"/>
                </a:solidFill>
                <a:effectLst/>
                <a:latin typeface="Consolas" panose="020B0609020204030204" pitchFamily="49" charset="0"/>
              </a:rPr>
              <a:t>(i+1)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 = (para[i,0]/para[-1,0])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segment.twist</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a:t>
            </a:r>
            <a:r>
              <a:rPr lang="en-US" altLang="zh-CN" b="0" dirty="0">
                <a:solidFill>
                  <a:srgbClr val="002060"/>
                </a:solidFill>
                <a:effectLst/>
                <a:latin typeface="Consolas" panose="020B0609020204030204" pitchFamily="49" charset="0"/>
              </a:rPr>
              <a:t>                      ##</a:t>
            </a:r>
            <a:r>
              <a:rPr lang="zh-CN" altLang="en-US" b="0" dirty="0">
                <a:solidFill>
                  <a:srgbClr val="002060"/>
                </a:solidFill>
                <a:effectLst/>
                <a:latin typeface="Consolas" panose="020B0609020204030204" pitchFamily="49" charset="0"/>
              </a:rPr>
              <a:t>无扭转角</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root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-4]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-5]</a:t>
            </a:r>
          </a:p>
          <a:p>
            <a:pPr>
              <a:buNone/>
            </a:pPr>
            <a:r>
              <a:rPr lang="en-US" altLang="zh-CN" b="0" dirty="0">
                <a:solidFill>
                  <a:srgbClr val="002060"/>
                </a:solidFill>
                <a:effectLst/>
                <a:latin typeface="Consolas" panose="020B0609020204030204" pitchFamily="49" charset="0"/>
              </a:rPr>
              <a:t>        tip = para[i+1, -4] - para[i+1, -5]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segment.root_chord_percent</a:t>
            </a:r>
            <a:r>
              <a:rPr lang="en-US" altLang="zh-CN" b="0" dirty="0">
                <a:solidFill>
                  <a:srgbClr val="002060"/>
                </a:solidFill>
                <a:effectLst/>
                <a:latin typeface="Consolas" panose="020B0609020204030204" pitchFamily="49" charset="0"/>
              </a:rPr>
              <a:t> = root/</a:t>
            </a:r>
            <a:r>
              <a:rPr lang="en-US" altLang="zh-CN" b="0" dirty="0" err="1">
                <a:solidFill>
                  <a:srgbClr val="002060"/>
                </a:solidFill>
                <a:effectLst/>
                <a:latin typeface="Consolas" panose="020B0609020204030204" pitchFamily="49" charset="0"/>
              </a:rPr>
              <a:t>wing.chords.root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 float(</a:t>
            </a:r>
            <a:r>
              <a:rPr lang="en-US" altLang="zh-CN" b="0" dirty="0" err="1">
                <a:solidFill>
                  <a:srgbClr val="002060"/>
                </a:solidFill>
                <a:effectLst/>
                <a:latin typeface="Consolas" panose="020B0609020204030204" pitchFamily="49" charset="0"/>
              </a:rPr>
              <a:t>math.atan</a:t>
            </a:r>
            <a:r>
              <a:rPr lang="en-US" altLang="zh-CN" b="0" dirty="0">
                <a:solidFill>
                  <a:srgbClr val="002060"/>
                </a:solidFill>
                <a:effectLst/>
                <a:latin typeface="Consolas" panose="020B0609020204030204" pitchFamily="49" charset="0"/>
              </a:rPr>
              <a:t>((para[i+1,-3]-para[i,-3])/(para[i+1,0]-para[i,0]))*180/</a:t>
            </a:r>
            <a:r>
              <a:rPr lang="en-US" altLang="zh-CN" b="0" dirty="0" err="1">
                <a:solidFill>
                  <a:srgbClr val="002060"/>
                </a:solidFill>
                <a:effectLst/>
                <a:latin typeface="Consolas" panose="020B0609020204030204" pitchFamily="49" charset="0"/>
              </a:rPr>
              <a:t>math.pi</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dih_list.append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segment.dihedral_outboard</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Units.deg</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print(para[i,0], para[-1,0],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x00, x01, x10, x11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-5],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-4], para[i+1, -5], para[i+1, -4]</a:t>
            </a:r>
          </a:p>
          <a:p>
            <a:pPr>
              <a:buNone/>
            </a:pPr>
            <a:r>
              <a:rPr lang="en-US" altLang="zh-CN" b="0" dirty="0">
                <a:solidFill>
                  <a:srgbClr val="002060"/>
                </a:solidFill>
                <a:effectLst/>
                <a:latin typeface="Consolas" panose="020B0609020204030204" pitchFamily="49" charset="0"/>
              </a:rPr>
              <a:t>        x0 = x00 + 0.25 * (x01 - x00); x1 = x10 + 0.25 * (x11 - x10)</a:t>
            </a:r>
          </a:p>
          <a:p>
            <a:pPr>
              <a:buNone/>
            </a:pPr>
            <a:r>
              <a:rPr lang="en-US" altLang="zh-CN" b="0" dirty="0">
                <a:solidFill>
                  <a:srgbClr val="002060"/>
                </a:solidFill>
                <a:effectLst/>
                <a:latin typeface="Consolas" panose="020B0609020204030204" pitchFamily="49" charset="0"/>
              </a:rPr>
              <a:t>        y0, y1, z0, z1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0], para[i+1, 0],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-3], para[i+1, -3]</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 = (90 - </a:t>
            </a:r>
            <a:r>
              <a:rPr lang="en-US" altLang="zh-CN" b="0" dirty="0" err="1">
                <a:solidFill>
                  <a:srgbClr val="002060"/>
                </a:solidFill>
                <a:effectLst/>
                <a:latin typeface="Consolas" panose="020B0609020204030204" pitchFamily="49" charset="0"/>
              </a:rPr>
              <a:t>math.atan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math.sqrt</a:t>
            </a:r>
            <a:r>
              <a:rPr lang="en-US" altLang="zh-CN" b="0" dirty="0">
                <a:solidFill>
                  <a:srgbClr val="002060"/>
                </a:solidFill>
                <a:effectLst/>
                <a:latin typeface="Consolas" panose="020B0609020204030204" pitchFamily="49" charset="0"/>
              </a:rPr>
              <a:t>((y1 - y0)**2 + (z1 - z0)**2)</a:t>
            </a:r>
          </a:p>
          <a:p>
            <a:pPr>
              <a:buNone/>
            </a:pPr>
            <a:r>
              <a:rPr lang="en-US" altLang="zh-CN" b="0" dirty="0">
                <a:solidFill>
                  <a:srgbClr val="002060"/>
                </a:solidFill>
                <a:effectLst/>
                <a:latin typeface="Consolas" panose="020B0609020204030204" pitchFamily="49" charset="0"/>
              </a:rPr>
              <a:t>                                                       /(x1 - x0))*180/</a:t>
            </a:r>
            <a:r>
              <a:rPr lang="en-US" altLang="zh-CN" b="0" dirty="0" err="1">
                <a:solidFill>
                  <a:srgbClr val="002060"/>
                </a:solidFill>
                <a:effectLst/>
                <a:latin typeface="Consolas" panose="020B0609020204030204" pitchFamily="49" charset="0"/>
              </a:rPr>
              <a:t>math.pi</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print(</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area += 0.5 * (</a:t>
            </a:r>
            <a:r>
              <a:rPr lang="en-US" altLang="zh-CN" b="0" dirty="0" err="1">
                <a:solidFill>
                  <a:srgbClr val="002060"/>
                </a:solidFill>
                <a:effectLst/>
                <a:latin typeface="Consolas" panose="020B0609020204030204" pitchFamily="49" charset="0"/>
              </a:rPr>
              <a:t>root+tip</a:t>
            </a:r>
            <a:r>
              <a:rPr lang="en-US" altLang="zh-CN" b="0" dirty="0">
                <a:solidFill>
                  <a:srgbClr val="002060"/>
                </a:solidFill>
                <a:effectLst/>
                <a:latin typeface="Consolas" panose="020B0609020204030204" pitchFamily="49" charset="0"/>
              </a:rPr>
              <a:t>) * (y1-y0)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segment.airfoil_type</a:t>
            </a:r>
            <a:r>
              <a:rPr lang="en-US" altLang="zh-CN" b="0" dirty="0">
                <a:solidFill>
                  <a:srgbClr val="002060"/>
                </a:solidFill>
                <a:effectLst/>
                <a:latin typeface="Consolas" panose="020B0609020204030204" pitchFamily="49" charset="0"/>
              </a:rPr>
              <a:t> = "file"</a:t>
            </a:r>
          </a:p>
          <a:p>
            <a:pPr>
              <a:buNone/>
            </a:pPr>
            <a:r>
              <a:rPr lang="en-US" altLang="zh-CN" b="0" dirty="0">
                <a:solidFill>
                  <a:srgbClr val="002060"/>
                </a:solidFill>
                <a:effectLst/>
                <a:latin typeface="Consolas" panose="020B0609020204030204" pitchFamily="49" charset="0"/>
              </a:rPr>
              <a:t>        airfoil_data1 = Data()</a:t>
            </a:r>
          </a:p>
          <a:p>
            <a:pPr>
              <a:buNone/>
            </a:pPr>
            <a:r>
              <a:rPr lang="en-US" altLang="zh-CN" b="0" dirty="0">
                <a:solidFill>
                  <a:srgbClr val="002060"/>
                </a:solidFill>
                <a:effectLst/>
                <a:latin typeface="Consolas" panose="020B0609020204030204" pitchFamily="49" charset="0"/>
              </a:rPr>
              <a:t>        airfoil_data1.tag = 'airfoil' # </a:t>
            </a:r>
            <a:r>
              <a:rPr lang="zh-CN" altLang="en-US" b="0" dirty="0">
                <a:solidFill>
                  <a:srgbClr val="002060"/>
                </a:solidFill>
                <a:effectLst/>
                <a:latin typeface="Consolas" panose="020B0609020204030204" pitchFamily="49" charset="0"/>
              </a:rPr>
              <a:t>这个 </a:t>
            </a:r>
            <a:r>
              <a:rPr lang="en-US" altLang="zh-CN" b="0" dirty="0">
                <a:solidFill>
                  <a:srgbClr val="002060"/>
                </a:solidFill>
                <a:effectLst/>
                <a:latin typeface="Consolas" panose="020B0609020204030204" pitchFamily="49" charset="0"/>
              </a:rPr>
              <a:t>tag </a:t>
            </a:r>
            <a:r>
              <a:rPr lang="zh-CN" altLang="en-US" b="0" dirty="0">
                <a:solidFill>
                  <a:srgbClr val="002060"/>
                </a:solidFill>
                <a:effectLst/>
                <a:latin typeface="Consolas" panose="020B0609020204030204" pitchFamily="49" charset="0"/>
              </a:rPr>
              <a:t>很重要，它作为 </a:t>
            </a:r>
            <a:r>
              <a:rPr lang="en-US" altLang="zh-CN" b="0" dirty="0">
                <a:solidFill>
                  <a:srgbClr val="002060"/>
                </a:solidFill>
                <a:effectLst/>
                <a:latin typeface="Consolas" panose="020B0609020204030204" pitchFamily="49" charset="0"/>
              </a:rPr>
              <a:t>key </a:t>
            </a:r>
            <a:r>
              <a:rPr lang="zh-CN" altLang="en-US" b="0" dirty="0">
                <a:solidFill>
                  <a:srgbClr val="002060"/>
                </a:solidFill>
                <a:effectLst/>
                <a:latin typeface="Consolas" panose="020B0609020204030204" pitchFamily="49" charset="0"/>
              </a:rPr>
              <a:t>用于后续访问</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filename = </a:t>
            </a:r>
            <a:r>
              <a:rPr lang="en-US" altLang="zh-CN" b="0" dirty="0" err="1">
                <a:solidFill>
                  <a:srgbClr val="002060"/>
                </a:solidFill>
                <a:effectLst/>
                <a:latin typeface="Consolas" panose="020B0609020204030204" pitchFamily="49" charset="0"/>
              </a:rPr>
              <a:t>f"airfoil</a:t>
            </a:r>
            <a:r>
              <a:rPr lang="en-US" altLang="zh-CN" b="0" dirty="0">
                <a:solidFill>
                  <a:srgbClr val="002060"/>
                </a:solidFill>
                <a:effectLst/>
                <a:latin typeface="Consolas" panose="020B0609020204030204" pitchFamily="49" charset="0"/>
              </a:rPr>
              <a:t>\\{i+1}.</a:t>
            </a:r>
            <a:r>
              <a:rPr lang="en-US" altLang="zh-CN" b="0" dirty="0" err="1">
                <a:solidFill>
                  <a:srgbClr val="002060"/>
                </a:solidFill>
                <a:effectLst/>
                <a:latin typeface="Consolas" panose="020B0609020204030204" pitchFamily="49" charset="0"/>
              </a:rPr>
              <a:t>dat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cst_rec</a:t>
            </a:r>
            <a:r>
              <a:rPr lang="en-US" altLang="zh-CN" b="0" dirty="0">
                <a:solidFill>
                  <a:srgbClr val="002060"/>
                </a:solidFill>
                <a:effectLst/>
                <a:latin typeface="Consolas" panose="020B0609020204030204" pitchFamily="49" charset="0"/>
              </a:rPr>
              <a:t>(para[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=100)</a:t>
            </a:r>
          </a:p>
          <a:p>
            <a:pPr>
              <a:buNone/>
            </a:pPr>
            <a:r>
              <a:rPr lang="en-US" altLang="zh-CN" b="0" dirty="0">
                <a:solidFill>
                  <a:srgbClr val="002060"/>
                </a:solidFill>
                <a:effectLst/>
                <a:latin typeface="Consolas" panose="020B0609020204030204" pitchFamily="49" charset="0"/>
              </a:rPr>
              <a:t>        thick =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[1, :] -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[1, :]).max()</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segment.thickness_to_chord</a:t>
            </a:r>
            <a:r>
              <a:rPr lang="en-US" altLang="zh-CN" b="0" dirty="0">
                <a:solidFill>
                  <a:srgbClr val="002060"/>
                </a:solidFill>
                <a:effectLst/>
                <a:latin typeface="Consolas" panose="020B0609020204030204" pitchFamily="49" charset="0"/>
              </a:rPr>
              <a:t> = thick   ##</a:t>
            </a:r>
            <a:r>
              <a:rPr lang="zh-CN" altLang="en-US" b="0" dirty="0">
                <a:solidFill>
                  <a:srgbClr val="002060"/>
                </a:solidFill>
                <a:effectLst/>
                <a:latin typeface="Consolas" panose="020B0609020204030204" pitchFamily="49" charset="0"/>
              </a:rPr>
              <a:t>计算厚度弦长比</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if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thick</a:t>
            </a:r>
          </a:p>
          <a:p>
            <a:pPr>
              <a:buNone/>
            </a:pPr>
            <a:r>
              <a:rPr lang="en-US" altLang="zh-CN" b="0" dirty="0">
                <a:solidFill>
                  <a:srgbClr val="002060"/>
                </a:solidFill>
                <a:effectLst/>
                <a:latin typeface="Consolas" panose="020B0609020204030204" pitchFamily="49" charset="0"/>
              </a:rPr>
              <a:t>        coords = </a:t>
            </a:r>
            <a:r>
              <a:rPr lang="en-US" altLang="zh-CN" b="0" dirty="0" err="1">
                <a:solidFill>
                  <a:srgbClr val="002060"/>
                </a:solidFill>
                <a:effectLst/>
                <a:latin typeface="Consolas" panose="020B0609020204030204" pitchFamily="49" charset="0"/>
              </a:rPr>
              <a:t>np.concatenate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coord_l.T</a:t>
            </a:r>
            <a:r>
              <a:rPr lang="en-US" altLang="zh-CN" b="0" dirty="0">
                <a:solidFill>
                  <a:srgbClr val="002060"/>
                </a:solidFill>
                <a:effectLst/>
                <a:latin typeface="Consolas" panose="020B0609020204030204" pitchFamily="49" charset="0"/>
              </a:rPr>
              <a:t>[::-1], </a:t>
            </a:r>
            <a:r>
              <a:rPr lang="en-US" altLang="zh-CN" b="0" dirty="0" err="1">
                <a:solidFill>
                  <a:srgbClr val="002060"/>
                </a:solidFill>
                <a:effectLst/>
                <a:latin typeface="Consolas" panose="020B0609020204030204" pitchFamily="49" charset="0"/>
              </a:rPr>
              <a:t>coord_u.T</a:t>
            </a:r>
            <a:r>
              <a:rPr lang="en-US" altLang="zh-CN" b="0" dirty="0">
                <a:solidFill>
                  <a:srgbClr val="002060"/>
                </a:solidFill>
                <a:effectLst/>
                <a:latin typeface="Consolas" panose="020B0609020204030204" pitchFamily="49" charset="0"/>
              </a:rPr>
              <a:t>], axis=0)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np.savetxt</a:t>
            </a:r>
            <a:r>
              <a:rPr lang="en-US" altLang="zh-CN" b="0" dirty="0">
                <a:solidFill>
                  <a:srgbClr val="002060"/>
                </a:solidFill>
                <a:effectLst/>
                <a:latin typeface="Consolas" panose="020B0609020204030204" pitchFamily="49" charset="0"/>
              </a:rPr>
              <a:t>(filename, coords, '%.5f')</a:t>
            </a:r>
          </a:p>
          <a:p>
            <a:pPr>
              <a:buNone/>
            </a:pPr>
            <a:r>
              <a:rPr lang="en-US" altLang="zh-CN" b="0" dirty="0">
                <a:solidFill>
                  <a:srgbClr val="002060"/>
                </a:solidFill>
                <a:effectLst/>
                <a:latin typeface="Consolas" panose="020B0609020204030204" pitchFamily="49" charset="0"/>
              </a:rPr>
              <a:t>        airfoil_data1.coordinate_file = filename # </a:t>
            </a:r>
            <a:r>
              <a:rPr lang="zh-CN" altLang="en-US" b="0" dirty="0">
                <a:solidFill>
                  <a:srgbClr val="002060"/>
                </a:solidFill>
                <a:effectLst/>
                <a:latin typeface="Consolas" panose="020B0609020204030204" pitchFamily="49" charset="0"/>
              </a:rPr>
              <a:t>重要的坐标文件路径</a:t>
            </a: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segment.append_airfoil</a:t>
            </a:r>
            <a:r>
              <a:rPr lang="en-US" altLang="zh-CN" b="0" dirty="0">
                <a:solidFill>
                  <a:srgbClr val="002060"/>
                </a:solidFill>
                <a:effectLst/>
                <a:latin typeface="Consolas" panose="020B0609020204030204" pitchFamily="49" charset="0"/>
              </a:rPr>
              <a:t>(airfoil_data1)  # </a:t>
            </a:r>
            <a:r>
              <a:rPr lang="zh-CN" altLang="en-US" b="0" dirty="0">
                <a:solidFill>
                  <a:srgbClr val="002060"/>
                </a:solidFill>
                <a:effectLst/>
                <a:latin typeface="Consolas" panose="020B0609020204030204" pitchFamily="49" charset="0"/>
              </a:rPr>
              <a:t>添加 </a:t>
            </a:r>
            <a:r>
              <a:rPr lang="en-US" altLang="zh-CN" b="0" dirty="0">
                <a:solidFill>
                  <a:srgbClr val="002060"/>
                </a:solidFill>
                <a:effectLst/>
                <a:latin typeface="Consolas" panose="020B0609020204030204" pitchFamily="49" charset="0"/>
              </a:rPr>
              <a:t>airfoil </a:t>
            </a:r>
            <a:r>
              <a:rPr lang="zh-CN" altLang="en-US" b="0" dirty="0">
                <a:solidFill>
                  <a:srgbClr val="002060"/>
                </a:solidFill>
                <a:effectLst/>
                <a:latin typeface="Consolas" panose="020B0609020204030204" pitchFamily="49" charset="0"/>
              </a:rPr>
              <a:t>数据到 </a:t>
            </a:r>
            <a:r>
              <a:rPr lang="en-US" altLang="zh-CN" b="0" dirty="0">
                <a:solidFill>
                  <a:srgbClr val="002060"/>
                </a:solidFill>
                <a:effectLst/>
                <a:latin typeface="Consolas" panose="020B0609020204030204" pitchFamily="49" charset="0"/>
              </a:rPr>
              <a:t>segment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wing.Segments.append</a:t>
            </a:r>
            <a:r>
              <a:rPr lang="en-US" altLang="zh-CN" b="0" dirty="0">
                <a:solidFill>
                  <a:srgbClr val="002060"/>
                </a:solidFill>
                <a:effectLst/>
                <a:latin typeface="Consolas" panose="020B0609020204030204" pitchFamily="49" charset="0"/>
              </a:rPr>
              <a:t>(segment)    </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(0.5*span)**2/area</a:t>
            </a: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4.5</a:t>
            </a:r>
          </a:p>
          <a:p>
            <a:pPr>
              <a:buNone/>
            </a:pPr>
            <a:r>
              <a:rPr lang="en-US" altLang="zh-CN" b="0" dirty="0">
                <a:solidFill>
                  <a:srgbClr val="002060"/>
                </a:solidFill>
                <a:effectLst/>
                <a:latin typeface="Consolas" panose="020B0609020204030204" pitchFamily="49" charset="0"/>
              </a:rPr>
              <a:t>    print(</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SUAVE.Components.Wings.Segment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'tip'</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 = 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segment.twist</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segment.root_chord_percent</a:t>
            </a:r>
            <a:r>
              <a:rPr lang="en-US" altLang="zh-CN" b="0" dirty="0">
                <a:solidFill>
                  <a:srgbClr val="002060"/>
                </a:solidFill>
                <a:effectLst/>
                <a:latin typeface="Consolas" panose="020B0609020204030204" pitchFamily="49" charset="0"/>
              </a:rPr>
              <a:t>    = (para[-1, -4] - para[-1, -5])/(para[0, -4] - para[0, -5])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segment.dihedral_outboard</a:t>
            </a:r>
            <a:r>
              <a:rPr lang="en-US" altLang="zh-CN" b="0" dirty="0">
                <a:solidFill>
                  <a:srgbClr val="002060"/>
                </a:solidFill>
                <a:effectLst/>
                <a:latin typeface="Consolas" panose="020B0609020204030204" pitchFamily="49" charset="0"/>
              </a:rPr>
              <a:t>     = 20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sweep_list</a:t>
            </a:r>
            <a:r>
              <a:rPr lang="en-US" altLang="zh-CN" b="0" dirty="0">
                <a:solidFill>
                  <a:srgbClr val="002060"/>
                </a:solidFill>
                <a:effectLst/>
                <a:latin typeface="Consolas" panose="020B0609020204030204" pitchFamily="49" charset="0"/>
              </a:rPr>
              <a:t>[12]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segment.thickness_to_chord</a:t>
            </a:r>
            <a:r>
              <a:rPr lang="en-US" altLang="zh-CN" b="0" dirty="0">
                <a:solidFill>
                  <a:srgbClr val="002060"/>
                </a:solidFill>
                <a:effectLst/>
                <a:latin typeface="Consolas" panose="020B0609020204030204" pitchFamily="49" charset="0"/>
              </a:rPr>
              <a:t>    = 0.04</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wing.Segments.append</a:t>
            </a:r>
            <a:r>
              <a:rPr lang="en-US" altLang="zh-CN" b="0" dirty="0">
                <a:solidFill>
                  <a:srgbClr val="002060"/>
                </a:solidFill>
                <a:effectLst/>
                <a:latin typeface="Consolas" panose="020B0609020204030204" pitchFamily="49" charset="0"/>
              </a:rPr>
              <a:t>(segment)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Fill out more segment properties automatically</a:t>
            </a:r>
          </a:p>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segment_properties</a:t>
            </a:r>
            <a:r>
              <a:rPr lang="en-US" altLang="zh-CN" b="0" dirty="0">
                <a:solidFill>
                  <a:srgbClr val="002060"/>
                </a:solidFill>
                <a:effectLst/>
                <a:latin typeface="Consolas" panose="020B0609020204030204" pitchFamily="49" charset="0"/>
              </a:rPr>
              <a:t>(wing)</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wing</a:t>
            </a:r>
          </a:p>
        </p:txBody>
      </p:sp>
      <p:sp>
        <p:nvSpPr>
          <p:cNvPr id="8" name="矩形: 圆角 7">
            <a:extLst>
              <a:ext uri="{FF2B5EF4-FFF2-40B4-BE49-F238E27FC236}">
                <a16:creationId xmlns:a16="http://schemas.microsoft.com/office/drawing/2014/main" id="{A2D6AAE8-1320-7D19-9F11-BDCFC26CF5BA}"/>
              </a:ext>
            </a:extLst>
          </p:cNvPr>
          <p:cNvSpPr/>
          <p:nvPr/>
        </p:nvSpPr>
        <p:spPr>
          <a:xfrm>
            <a:off x="726235" y="2436585"/>
            <a:ext cx="2324100" cy="647700"/>
          </a:xfrm>
          <a:prstGeom prst="roundRect">
            <a:avLst/>
          </a:prstGeom>
          <a:solidFill>
            <a:schemeClr val="accent6">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err="1">
                <a:solidFill>
                  <a:schemeClr val="tx1"/>
                </a:solidFill>
                <a:latin typeface="Arial" pitchFamily="34" charset="0"/>
                <a:cs typeface="Arial" pitchFamily="34" charset="0"/>
              </a:rPr>
              <a:t>CST_Para</a:t>
            </a:r>
            <a:r>
              <a:rPr lang="en-US" altLang="zh-CN" dirty="0">
                <a:solidFill>
                  <a:schemeClr val="tx1"/>
                </a:solidFill>
                <a:latin typeface="Arial" pitchFamily="34" charset="0"/>
                <a:cs typeface="Arial" pitchFamily="34" charset="0"/>
              </a:rPr>
              <a:t> csv file</a:t>
            </a:r>
            <a:endParaRPr lang="zh-CN" altLang="en-US" dirty="0">
              <a:solidFill>
                <a:schemeClr val="tx1"/>
              </a:solidFill>
              <a:latin typeface="Arial" pitchFamily="34" charset="0"/>
              <a:cs typeface="Arial" pitchFamily="34" charset="0"/>
            </a:endParaRPr>
          </a:p>
        </p:txBody>
      </p:sp>
      <p:sp>
        <p:nvSpPr>
          <p:cNvPr id="12" name="矩形: 圆角 11">
            <a:extLst>
              <a:ext uri="{FF2B5EF4-FFF2-40B4-BE49-F238E27FC236}">
                <a16:creationId xmlns:a16="http://schemas.microsoft.com/office/drawing/2014/main" id="{834B9E78-AD1E-29D8-1F05-87140D3C08B0}"/>
              </a:ext>
            </a:extLst>
          </p:cNvPr>
          <p:cNvSpPr/>
          <p:nvPr/>
        </p:nvSpPr>
        <p:spPr>
          <a:xfrm>
            <a:off x="4933950" y="1466850"/>
            <a:ext cx="2324100" cy="647700"/>
          </a:xfrm>
          <a:prstGeom prst="roundRect">
            <a:avLst/>
          </a:prstGeom>
          <a:solidFill>
            <a:schemeClr val="accent2">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Generate airfoil file</a:t>
            </a:r>
            <a:endParaRPr lang="zh-CN" altLang="en-US" dirty="0">
              <a:solidFill>
                <a:schemeClr val="tx1"/>
              </a:solidFill>
              <a:latin typeface="Arial" pitchFamily="34" charset="0"/>
              <a:cs typeface="Arial" pitchFamily="34" charset="0"/>
            </a:endParaRPr>
          </a:p>
        </p:txBody>
      </p:sp>
      <p:sp>
        <p:nvSpPr>
          <p:cNvPr id="14" name="矩形: 圆角 13">
            <a:extLst>
              <a:ext uri="{FF2B5EF4-FFF2-40B4-BE49-F238E27FC236}">
                <a16:creationId xmlns:a16="http://schemas.microsoft.com/office/drawing/2014/main" id="{78692FF9-3FC9-11B3-8579-B8651CD8ECFD}"/>
              </a:ext>
            </a:extLst>
          </p:cNvPr>
          <p:cNvSpPr/>
          <p:nvPr/>
        </p:nvSpPr>
        <p:spPr>
          <a:xfrm>
            <a:off x="4933950" y="3332267"/>
            <a:ext cx="2324100" cy="977900"/>
          </a:xfrm>
          <a:prstGeom prst="roundRect">
            <a:avLst/>
          </a:prstGeom>
          <a:solidFill>
            <a:schemeClr val="accent2">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Calculate dihedral and sweep of each section</a:t>
            </a:r>
            <a:endParaRPr lang="zh-CN" altLang="en-US" dirty="0">
              <a:solidFill>
                <a:schemeClr val="tx1"/>
              </a:solidFill>
              <a:latin typeface="Arial" pitchFamily="34" charset="0"/>
              <a:cs typeface="Arial" pitchFamily="34" charset="0"/>
            </a:endParaRPr>
          </a:p>
        </p:txBody>
      </p:sp>
      <p:sp>
        <p:nvSpPr>
          <p:cNvPr id="15" name="矩形: 圆角 14">
            <a:extLst>
              <a:ext uri="{FF2B5EF4-FFF2-40B4-BE49-F238E27FC236}">
                <a16:creationId xmlns:a16="http://schemas.microsoft.com/office/drawing/2014/main" id="{F8015822-1A3E-315E-83BE-B669D23A596A}"/>
              </a:ext>
            </a:extLst>
          </p:cNvPr>
          <p:cNvSpPr/>
          <p:nvPr/>
        </p:nvSpPr>
        <p:spPr>
          <a:xfrm>
            <a:off x="9141665" y="2448376"/>
            <a:ext cx="2324100" cy="647700"/>
          </a:xfrm>
          <a:prstGeom prst="roundRect">
            <a:avLst/>
          </a:prstGeom>
          <a:solidFill>
            <a:schemeClr val="accent6">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Set para to wing component</a:t>
            </a:r>
            <a:endParaRPr lang="zh-CN" altLang="en-US" dirty="0">
              <a:solidFill>
                <a:schemeClr val="tx1"/>
              </a:solidFill>
              <a:latin typeface="Arial" pitchFamily="34" charset="0"/>
              <a:cs typeface="Arial" pitchFamily="34" charset="0"/>
            </a:endParaRPr>
          </a:p>
        </p:txBody>
      </p:sp>
      <p:cxnSp>
        <p:nvCxnSpPr>
          <p:cNvPr id="20" name="连接符: 肘形 19">
            <a:extLst>
              <a:ext uri="{FF2B5EF4-FFF2-40B4-BE49-F238E27FC236}">
                <a16:creationId xmlns:a16="http://schemas.microsoft.com/office/drawing/2014/main" id="{DD75EA69-64CF-1677-9B83-0E002574C661}"/>
              </a:ext>
            </a:extLst>
          </p:cNvPr>
          <p:cNvCxnSpPr>
            <a:stCxn id="8" idx="3"/>
            <a:endCxn id="12" idx="1"/>
          </p:cNvCxnSpPr>
          <p:nvPr/>
        </p:nvCxnSpPr>
        <p:spPr>
          <a:xfrm flipV="1">
            <a:off x="3050335" y="1790700"/>
            <a:ext cx="1883615" cy="96973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A22E564-D33B-E513-1A8F-7243BDFB91F4}"/>
              </a:ext>
            </a:extLst>
          </p:cNvPr>
          <p:cNvCxnSpPr>
            <a:stCxn id="8" idx="3"/>
            <a:endCxn id="14" idx="1"/>
          </p:cNvCxnSpPr>
          <p:nvPr/>
        </p:nvCxnSpPr>
        <p:spPr>
          <a:xfrm>
            <a:off x="3050335" y="2760435"/>
            <a:ext cx="1883615" cy="106078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0E5175F-2529-7AF4-2717-97E388186D80}"/>
              </a:ext>
            </a:extLst>
          </p:cNvPr>
          <p:cNvCxnSpPr>
            <a:stCxn id="12" idx="3"/>
            <a:endCxn id="15" idx="1"/>
          </p:cNvCxnSpPr>
          <p:nvPr/>
        </p:nvCxnSpPr>
        <p:spPr>
          <a:xfrm>
            <a:off x="7258050" y="1790700"/>
            <a:ext cx="1883615" cy="981526"/>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FCB3EDA1-C3B1-5C7D-58E6-A3E4F995BA9E}"/>
              </a:ext>
            </a:extLst>
          </p:cNvPr>
          <p:cNvCxnSpPr>
            <a:stCxn id="14" idx="3"/>
            <a:endCxn id="15" idx="1"/>
          </p:cNvCxnSpPr>
          <p:nvPr/>
        </p:nvCxnSpPr>
        <p:spPr>
          <a:xfrm flipV="1">
            <a:off x="7258050" y="2772226"/>
            <a:ext cx="1883615" cy="104899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7" name="图片 26">
            <a:extLst>
              <a:ext uri="{FF2B5EF4-FFF2-40B4-BE49-F238E27FC236}">
                <a16:creationId xmlns:a16="http://schemas.microsoft.com/office/drawing/2014/main" id="{124A85BA-F9B8-6640-4F1F-62525940692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626143" y="3619020"/>
            <a:ext cx="2839622" cy="2467726"/>
          </a:xfrm>
          <a:prstGeom prst="rect">
            <a:avLst/>
          </a:prstGeom>
        </p:spPr>
      </p:pic>
      <p:sp>
        <p:nvSpPr>
          <p:cNvPr id="28" name="任意多边形: 形状 27">
            <a:extLst>
              <a:ext uri="{FF2B5EF4-FFF2-40B4-BE49-F238E27FC236}">
                <a16:creationId xmlns:a16="http://schemas.microsoft.com/office/drawing/2014/main" id="{6753DB8F-C666-04DA-A488-D22D9B799ADF}"/>
              </a:ext>
            </a:extLst>
          </p:cNvPr>
          <p:cNvSpPr/>
          <p:nvPr/>
        </p:nvSpPr>
        <p:spPr>
          <a:xfrm>
            <a:off x="5078745" y="4790639"/>
            <a:ext cx="2329219" cy="532123"/>
          </a:xfrm>
          <a:custGeom>
            <a:avLst/>
            <a:gdLst>
              <a:gd name="connsiteX0" fmla="*/ 765 w 2762611"/>
              <a:gd name="connsiteY0" fmla="*/ 220353 h 532123"/>
              <a:gd name="connsiteX1" fmla="*/ 1432000 w 2762611"/>
              <a:gd name="connsiteY1" fmla="*/ 1692 h 532123"/>
              <a:gd name="connsiteX2" fmla="*/ 2614757 w 2762611"/>
              <a:gd name="connsiteY2" fmla="*/ 140839 h 532123"/>
              <a:gd name="connsiteX3" fmla="*/ 2594878 w 2762611"/>
              <a:gd name="connsiteY3" fmla="*/ 518526 h 532123"/>
              <a:gd name="connsiteX4" fmla="*/ 1253096 w 2762611"/>
              <a:gd name="connsiteY4" fmla="*/ 429074 h 532123"/>
              <a:gd name="connsiteX5" fmla="*/ 765 w 2762611"/>
              <a:gd name="connsiteY5" fmla="*/ 220353 h 532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2611" h="532123">
                <a:moveTo>
                  <a:pt x="765" y="220353"/>
                </a:moveTo>
                <a:cubicBezTo>
                  <a:pt x="30582" y="149123"/>
                  <a:pt x="996335" y="14944"/>
                  <a:pt x="1432000" y="1692"/>
                </a:cubicBezTo>
                <a:cubicBezTo>
                  <a:pt x="1867665" y="-11560"/>
                  <a:pt x="2420944" y="54700"/>
                  <a:pt x="2614757" y="140839"/>
                </a:cubicBezTo>
                <a:cubicBezTo>
                  <a:pt x="2808570" y="226978"/>
                  <a:pt x="2821822" y="470487"/>
                  <a:pt x="2594878" y="518526"/>
                </a:cubicBezTo>
                <a:cubicBezTo>
                  <a:pt x="2367935" y="566565"/>
                  <a:pt x="1687105" y="475457"/>
                  <a:pt x="1253096" y="429074"/>
                </a:cubicBezTo>
                <a:cubicBezTo>
                  <a:pt x="819087" y="382692"/>
                  <a:pt x="-29052" y="291583"/>
                  <a:pt x="765" y="220353"/>
                </a:cubicBezTo>
                <a:close/>
              </a:path>
            </a:pathLst>
          </a:custGeom>
          <a:solidFill>
            <a:schemeClr val="bg1"/>
          </a:solidFill>
          <a:ln w="1524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9" name="任意多边形: 形状 28">
            <a:extLst>
              <a:ext uri="{FF2B5EF4-FFF2-40B4-BE49-F238E27FC236}">
                <a16:creationId xmlns:a16="http://schemas.microsoft.com/office/drawing/2014/main" id="{B9756FD1-3D0B-F601-BD69-A0A9DF8DBDE0}"/>
              </a:ext>
            </a:extLst>
          </p:cNvPr>
          <p:cNvSpPr/>
          <p:nvPr/>
        </p:nvSpPr>
        <p:spPr>
          <a:xfrm>
            <a:off x="5078745" y="5647083"/>
            <a:ext cx="2329219" cy="550813"/>
          </a:xfrm>
          <a:custGeom>
            <a:avLst/>
            <a:gdLst>
              <a:gd name="connsiteX0" fmla="*/ 0 w 2555311"/>
              <a:gd name="connsiteY0" fmla="*/ 280934 h 552550"/>
              <a:gd name="connsiteX1" fmla="*/ 874643 w 2555311"/>
              <a:gd name="connsiteY1" fmla="*/ 42395 h 552550"/>
              <a:gd name="connsiteX2" fmla="*/ 1818861 w 2555311"/>
              <a:gd name="connsiteY2" fmla="*/ 12577 h 552550"/>
              <a:gd name="connsiteX3" fmla="*/ 2494722 w 2555311"/>
              <a:gd name="connsiteY3" fmla="*/ 181543 h 552550"/>
              <a:gd name="connsiteX4" fmla="*/ 2435087 w 2555311"/>
              <a:gd name="connsiteY4" fmla="*/ 539351 h 552550"/>
              <a:gd name="connsiteX5" fmla="*/ 1719469 w 2555311"/>
              <a:gd name="connsiteY5" fmla="*/ 459838 h 552550"/>
              <a:gd name="connsiteX6" fmla="*/ 874643 w 2555311"/>
              <a:gd name="connsiteY6" fmla="*/ 310751 h 552550"/>
              <a:gd name="connsiteX7" fmla="*/ 0 w 2555311"/>
              <a:gd name="connsiteY7" fmla="*/ 280934 h 55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55311" h="552550">
                <a:moveTo>
                  <a:pt x="0" y="280934"/>
                </a:moveTo>
                <a:cubicBezTo>
                  <a:pt x="0" y="236208"/>
                  <a:pt x="571500" y="87121"/>
                  <a:pt x="874643" y="42395"/>
                </a:cubicBezTo>
                <a:cubicBezTo>
                  <a:pt x="1177786" y="-2331"/>
                  <a:pt x="1548848" y="-10614"/>
                  <a:pt x="1818861" y="12577"/>
                </a:cubicBezTo>
                <a:cubicBezTo>
                  <a:pt x="2088874" y="35768"/>
                  <a:pt x="2392018" y="93747"/>
                  <a:pt x="2494722" y="181543"/>
                </a:cubicBezTo>
                <a:cubicBezTo>
                  <a:pt x="2597426" y="269339"/>
                  <a:pt x="2564296" y="492969"/>
                  <a:pt x="2435087" y="539351"/>
                </a:cubicBezTo>
                <a:cubicBezTo>
                  <a:pt x="2305878" y="585734"/>
                  <a:pt x="1979543" y="497938"/>
                  <a:pt x="1719469" y="459838"/>
                </a:cubicBezTo>
                <a:cubicBezTo>
                  <a:pt x="1459395" y="421738"/>
                  <a:pt x="1166191" y="342225"/>
                  <a:pt x="874643" y="310751"/>
                </a:cubicBezTo>
                <a:cubicBezTo>
                  <a:pt x="583095" y="279277"/>
                  <a:pt x="0" y="325660"/>
                  <a:pt x="0" y="280934"/>
                </a:cubicBezTo>
                <a:close/>
              </a:path>
            </a:pathLst>
          </a:custGeom>
          <a:solidFill>
            <a:schemeClr val="bg1"/>
          </a:solidFill>
          <a:ln w="1524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0" name="文本框 29">
            <a:extLst>
              <a:ext uri="{FF2B5EF4-FFF2-40B4-BE49-F238E27FC236}">
                <a16:creationId xmlns:a16="http://schemas.microsoft.com/office/drawing/2014/main" id="{68B09E21-E6EA-0E83-FFB3-F4704245D0B5}"/>
              </a:ext>
            </a:extLst>
          </p:cNvPr>
          <p:cNvSpPr txBox="1"/>
          <p:nvPr/>
        </p:nvSpPr>
        <p:spPr>
          <a:xfrm>
            <a:off x="4346713" y="4852883"/>
            <a:ext cx="566530"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y=0</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1" name="文本框 30">
            <a:extLst>
              <a:ext uri="{FF2B5EF4-FFF2-40B4-BE49-F238E27FC236}">
                <a16:creationId xmlns:a16="http://schemas.microsoft.com/office/drawing/2014/main" id="{F4671B26-4E49-FD9D-E064-C79F1843ABCB}"/>
              </a:ext>
            </a:extLst>
          </p:cNvPr>
          <p:cNvSpPr txBox="1"/>
          <p:nvPr/>
        </p:nvSpPr>
        <p:spPr>
          <a:xfrm>
            <a:off x="4346713" y="5736231"/>
            <a:ext cx="566530"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y=1</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6612480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202764</TotalTime>
  <Words>10619</Words>
  <Application>Microsoft Office PowerPoint</Application>
  <PresentationFormat>宽屏</PresentationFormat>
  <Paragraphs>753</Paragraphs>
  <Slides>38</Slides>
  <Notes>38</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38</vt:i4>
      </vt:variant>
    </vt:vector>
  </HeadingPairs>
  <TitlesOfParts>
    <vt:vector size="51" baseType="lpstr">
      <vt:lpstr>PingFang SC</vt:lpstr>
      <vt:lpstr>quote-cjk-patch</vt:lpstr>
      <vt:lpstr>ui-sans-serif</vt:lpstr>
      <vt:lpstr>黑体</vt:lpstr>
      <vt:lpstr>华文行楷</vt:lpstr>
      <vt:lpstr>宋体</vt:lpstr>
      <vt:lpstr>微软雅黑</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AMDOA506</cp:lastModifiedBy>
  <cp:revision>6209</cp:revision>
  <cp:lastPrinted>2022-06-11T09:17:01Z</cp:lastPrinted>
  <dcterms:created xsi:type="dcterms:W3CDTF">2012-06-19T06:51:55Z</dcterms:created>
  <dcterms:modified xsi:type="dcterms:W3CDTF">2026-04-28T11:17:55Z</dcterms:modified>
</cp:coreProperties>
</file>