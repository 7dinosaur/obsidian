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2"/>
  </p:sldMasterIdLst>
  <p:notesMasterIdLst>
    <p:notesMasterId r:id="rId40"/>
  </p:notesMasterIdLst>
  <p:handoutMasterIdLst>
    <p:handoutMasterId r:id="rId41"/>
  </p:handoutMasterIdLst>
  <p:sldIdLst>
    <p:sldId id="692" r:id="rId3"/>
    <p:sldId id="984" r:id="rId4"/>
    <p:sldId id="1051" r:id="rId5"/>
    <p:sldId id="1069" r:id="rId6"/>
    <p:sldId id="1085" r:id="rId7"/>
    <p:sldId id="1055" r:id="rId8"/>
    <p:sldId id="1052" r:id="rId9"/>
    <p:sldId id="1056" r:id="rId10"/>
    <p:sldId id="1060" r:id="rId11"/>
    <p:sldId id="1064" r:id="rId12"/>
    <p:sldId id="1062" r:id="rId13"/>
    <p:sldId id="1065" r:id="rId14"/>
    <p:sldId id="1066" r:id="rId15"/>
    <p:sldId id="1067" r:id="rId16"/>
    <p:sldId id="1063" r:id="rId17"/>
    <p:sldId id="1070" r:id="rId18"/>
    <p:sldId id="1071" r:id="rId19"/>
    <p:sldId id="1072" r:id="rId20"/>
    <p:sldId id="1076" r:id="rId21"/>
    <p:sldId id="1074" r:id="rId22"/>
    <p:sldId id="1075" r:id="rId23"/>
    <p:sldId id="1077" r:id="rId24"/>
    <p:sldId id="1078" r:id="rId25"/>
    <p:sldId id="1079" r:id="rId26"/>
    <p:sldId id="1080" r:id="rId27"/>
    <p:sldId id="1081" r:id="rId28"/>
    <p:sldId id="1082" r:id="rId29"/>
    <p:sldId id="1083" r:id="rId30"/>
    <p:sldId id="1084" r:id="rId31"/>
    <p:sldId id="1068" r:id="rId32"/>
    <p:sldId id="1053" r:id="rId33"/>
    <p:sldId id="1086" r:id="rId34"/>
    <p:sldId id="1087" r:id="rId35"/>
    <p:sldId id="1057" r:id="rId36"/>
    <p:sldId id="1058" r:id="rId37"/>
    <p:sldId id="1054" r:id="rId38"/>
    <p:sldId id="995" r:id="rId39"/>
  </p:sldIdLst>
  <p:sldSz cx="12192000" cy="6858000"/>
  <p:notesSz cx="6797675" cy="9929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8929DD4-62DA-47C3-B018-F0CAF9199128}">
          <p14:sldIdLst>
            <p14:sldId id="692"/>
            <p14:sldId id="984"/>
            <p14:sldId id="1051"/>
            <p14:sldId id="1069"/>
            <p14:sldId id="1085"/>
            <p14:sldId id="1055"/>
            <p14:sldId id="1052"/>
            <p14:sldId id="1056"/>
            <p14:sldId id="1060"/>
            <p14:sldId id="1064"/>
            <p14:sldId id="1062"/>
            <p14:sldId id="1065"/>
            <p14:sldId id="1066"/>
            <p14:sldId id="1067"/>
            <p14:sldId id="1063"/>
            <p14:sldId id="1070"/>
            <p14:sldId id="1071"/>
            <p14:sldId id="1072"/>
            <p14:sldId id="1076"/>
            <p14:sldId id="1074"/>
            <p14:sldId id="1075"/>
            <p14:sldId id="1077"/>
            <p14:sldId id="1078"/>
            <p14:sldId id="1079"/>
            <p14:sldId id="1080"/>
            <p14:sldId id="1081"/>
            <p14:sldId id="1082"/>
            <p14:sldId id="1083"/>
            <p14:sldId id="1084"/>
            <p14:sldId id="1068"/>
            <p14:sldId id="1053"/>
            <p14:sldId id="1086"/>
            <p14:sldId id="1087"/>
            <p14:sldId id="1057"/>
            <p14:sldId id="1058"/>
            <p14:sldId id="1054"/>
            <p14:sldId id="995"/>
          </p14:sldIdLst>
        </p14:section>
      </p14:sectionLst>
    </p:ext>
    <p:ext uri="{EFAFB233-063F-42B5-8137-9DF3F51BA10A}">
      <p15:sldGuideLst xmlns:p15="http://schemas.microsoft.com/office/powerpoint/2012/main">
        <p15:guide id="2" pos="3840" userDrawn="1">
          <p15:clr>
            <a:srgbClr val="A4A3A4"/>
          </p15:clr>
        </p15:guide>
        <p15:guide id="3" orient="horz" pos="2160" userDrawn="1">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 id="2" name="chen qi ng" initials="cq" lastIdx="3" clrIdx="1">
    <p:extLst>
      <p:ext uri="{19B8F6BF-5375-455C-9EA6-DF929625EA0E}">
        <p15:presenceInfo xmlns:p15="http://schemas.microsoft.com/office/powerpoint/2012/main" userId="a19ae72deed1ee5d" providerId="Windows Live"/>
      </p:ext>
    </p:extLst>
  </p:cmAuthor>
  <p:cmAuthor id="3" name="Jeo breeze" initials="Jb" lastIdx="2" clrIdx="2">
    <p:extLst>
      <p:ext uri="{19B8F6BF-5375-455C-9EA6-DF929625EA0E}">
        <p15:presenceInfo xmlns:p15="http://schemas.microsoft.com/office/powerpoint/2012/main" userId="01b110389eb1f9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3838FF"/>
    <a:srgbClr val="E67000"/>
    <a:srgbClr val="003366"/>
    <a:srgbClr val="2D2D30"/>
    <a:srgbClr val="FFFFFF"/>
    <a:srgbClr val="EDEDED"/>
    <a:srgbClr val="0E5FAF"/>
    <a:srgbClr val="B9B9B9"/>
    <a:srgbClr val="699D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54567" autoAdjust="0"/>
  </p:normalViewPr>
  <p:slideViewPr>
    <p:cSldViewPr snapToGrid="0">
      <p:cViewPr varScale="1">
        <p:scale>
          <a:sx n="49" d="100"/>
          <a:sy n="49" d="100"/>
        </p:scale>
        <p:origin x="1734" y="21"/>
      </p:cViewPr>
      <p:guideLst>
        <p:guide pos="3840"/>
        <p:guide orient="horz" pos="216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0" d="100"/>
          <a:sy n="80" d="100"/>
        </p:scale>
        <p:origin x="2946" y="102"/>
      </p:cViewPr>
      <p:guideLst>
        <p:guide orient="horz" pos="3128"/>
        <p:guide pos="2142"/>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sz="quarter" idx="1"/>
          </p:nvPr>
        </p:nvSpPr>
        <p:spPr>
          <a:xfrm>
            <a:off x="3850443" y="0"/>
            <a:ext cx="2945659" cy="496491"/>
          </a:xfrm>
          <a:prstGeom prst="rect">
            <a:avLst/>
          </a:prstGeom>
        </p:spPr>
        <p:txBody>
          <a:bodyPr vert="horz" lIns="91440" tIns="45720" rIns="91440" bIns="45720" rtlCol="0"/>
          <a:lstStyle>
            <a:lvl1pPr algn="r">
              <a:defRPr sz="1200"/>
            </a:lvl1pPr>
          </a:lstStyle>
          <a:p>
            <a:fld id="{D7F4AE8B-A150-4820-BC27-EE42D733F4B8}" type="datetimeFigureOut">
              <a:rPr lang="en-GB" smtClean="0"/>
              <a:pPr/>
              <a:t>25/04/2026</a:t>
            </a:fld>
            <a:endParaRPr lang="en-GB"/>
          </a:p>
        </p:txBody>
      </p:sp>
      <p:sp>
        <p:nvSpPr>
          <p:cNvPr id="4" name="Fußzeilenplatzhalter 3"/>
          <p:cNvSpPr>
            <a:spLocks noGrp="1"/>
          </p:cNvSpPr>
          <p:nvPr>
            <p:ph type="ftr" sz="quarter" idx="2"/>
          </p:nvPr>
        </p:nvSpPr>
        <p:spPr>
          <a:xfrm>
            <a:off x="0" y="9431599"/>
            <a:ext cx="2945659" cy="496491"/>
          </a:xfrm>
          <a:prstGeom prst="rect">
            <a:avLst/>
          </a:prstGeom>
        </p:spPr>
        <p:txBody>
          <a:bodyPr vert="horz" lIns="91440" tIns="45720" rIns="91440" bIns="45720" rtlCol="0" anchor="b"/>
          <a:lstStyle>
            <a:lvl1pPr algn="l">
              <a:defRPr sz="1200"/>
            </a:lvl1pPr>
          </a:lstStyle>
          <a:p>
            <a:endParaRPr lang="en-GB"/>
          </a:p>
        </p:txBody>
      </p:sp>
      <p:sp>
        <p:nvSpPr>
          <p:cNvPr id="5" name="Foliennummernplatzhalter 4"/>
          <p:cNvSpPr>
            <a:spLocks noGrp="1"/>
          </p:cNvSpPr>
          <p:nvPr>
            <p:ph type="sldNum" sz="quarter" idx="3"/>
          </p:nvPr>
        </p:nvSpPr>
        <p:spPr>
          <a:xfrm>
            <a:off x="3850443" y="9431599"/>
            <a:ext cx="2945659" cy="496491"/>
          </a:xfrm>
          <a:prstGeom prst="rect">
            <a:avLst/>
          </a:prstGeom>
        </p:spPr>
        <p:txBody>
          <a:bodyPr vert="horz" lIns="91440" tIns="45720" rIns="91440" bIns="45720" rtlCol="0" anchor="b"/>
          <a:lstStyle>
            <a:lvl1pPr algn="r">
              <a:defRPr sz="1200"/>
            </a:lvl1pPr>
          </a:lstStyle>
          <a:p>
            <a:fld id="{43F05C2D-D39A-48CE-B0EB-51A11E4633C9}" type="slidenum">
              <a:rPr lang="en-GB" smtClean="0"/>
              <a:pPr/>
              <a:t>‹#›</a:t>
            </a:fld>
            <a:endParaRPr lang="en-GB"/>
          </a:p>
        </p:txBody>
      </p:sp>
    </p:spTree>
    <p:extLst>
      <p:ext uri="{BB962C8B-B14F-4D97-AF65-F5344CB8AC3E}">
        <p14:creationId xmlns:p14="http://schemas.microsoft.com/office/powerpoint/2010/main" val="12694910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atin typeface="Arial" pitchFamily="34" charset="0"/>
              </a:defRPr>
            </a:lvl1pPr>
          </a:lstStyle>
          <a:p>
            <a:endParaRPr lang="de-DE" dirty="0"/>
          </a:p>
        </p:txBody>
      </p:sp>
      <p:sp>
        <p:nvSpPr>
          <p:cNvPr id="3" name="Datumsplatzhalter 2"/>
          <p:cNvSpPr>
            <a:spLocks noGrp="1"/>
          </p:cNvSpPr>
          <p:nvPr>
            <p:ph type="dt" idx="1"/>
          </p:nvPr>
        </p:nvSpPr>
        <p:spPr>
          <a:xfrm>
            <a:off x="3850443" y="0"/>
            <a:ext cx="2945659" cy="496491"/>
          </a:xfrm>
          <a:prstGeom prst="rect">
            <a:avLst/>
          </a:prstGeom>
        </p:spPr>
        <p:txBody>
          <a:bodyPr vert="horz" lIns="91440" tIns="45720" rIns="91440" bIns="45720" rtlCol="0"/>
          <a:lstStyle>
            <a:lvl1pPr algn="r">
              <a:defRPr sz="1200">
                <a:latin typeface="Arial" pitchFamily="34" charset="0"/>
              </a:defRPr>
            </a:lvl1pPr>
          </a:lstStyle>
          <a:p>
            <a:fld id="{45B75E70-762A-4375-AA7C-DE9BB7CC9339}" type="datetimeFigureOut">
              <a:rPr lang="de-DE" smtClean="0"/>
              <a:pPr/>
              <a:t>25.04.2026</a:t>
            </a:fld>
            <a:endParaRPr lang="de-DE" dirty="0"/>
          </a:p>
        </p:txBody>
      </p:sp>
      <p:sp>
        <p:nvSpPr>
          <p:cNvPr id="4" name="Folienbildplatzhalt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79768" y="4716662"/>
            <a:ext cx="5438140" cy="4468416"/>
          </a:xfrm>
          <a:prstGeom prst="rect">
            <a:avLst/>
          </a:prstGeom>
        </p:spPr>
        <p:txBody>
          <a:bodyPr vert="horz" lIns="91440" tIns="45720" rIns="91440" bIns="4572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9431599"/>
            <a:ext cx="2945659" cy="496491"/>
          </a:xfrm>
          <a:prstGeom prst="rect">
            <a:avLst/>
          </a:prstGeom>
        </p:spPr>
        <p:txBody>
          <a:bodyPr vert="horz" lIns="91440" tIns="45720" rIns="91440" bIns="45720" rtlCol="0" anchor="b"/>
          <a:lstStyle>
            <a:lvl1pPr algn="l">
              <a:defRPr sz="1200">
                <a:latin typeface="Arial" pitchFamily="34" charset="0"/>
              </a:defRPr>
            </a:lvl1pPr>
          </a:lstStyle>
          <a:p>
            <a:endParaRPr lang="de-DE" dirty="0"/>
          </a:p>
        </p:txBody>
      </p:sp>
      <p:sp>
        <p:nvSpPr>
          <p:cNvPr id="7" name="Foliennummernplatzhalter 6"/>
          <p:cNvSpPr>
            <a:spLocks noGrp="1"/>
          </p:cNvSpPr>
          <p:nvPr>
            <p:ph type="sldNum" sz="quarter" idx="5"/>
          </p:nvPr>
        </p:nvSpPr>
        <p:spPr>
          <a:xfrm>
            <a:off x="3850443" y="9431599"/>
            <a:ext cx="2945659" cy="496491"/>
          </a:xfrm>
          <a:prstGeom prst="rect">
            <a:avLst/>
          </a:prstGeom>
        </p:spPr>
        <p:txBody>
          <a:bodyPr vert="horz" lIns="91440" tIns="45720" rIns="91440" bIns="45720" rtlCol="0" anchor="b"/>
          <a:lstStyle>
            <a:lvl1pPr algn="r">
              <a:defRPr sz="1200">
                <a:latin typeface="Arial" pitchFamily="34" charset="0"/>
              </a:defRPr>
            </a:lvl1pPr>
          </a:lstStyle>
          <a:p>
            <a:fld id="{DF1895BC-06EC-475A-97CA-BF53472F2E03}" type="slidenum">
              <a:rPr lang="de-DE" smtClean="0"/>
              <a:pPr/>
              <a:t>‹#›</a:t>
            </a:fld>
            <a:endParaRPr lang="de-DE" dirty="0"/>
          </a:p>
        </p:txBody>
      </p:sp>
    </p:spTree>
    <p:extLst>
      <p:ext uri="{BB962C8B-B14F-4D97-AF65-F5344CB8AC3E}">
        <p14:creationId xmlns:p14="http://schemas.microsoft.com/office/powerpoint/2010/main" val="163683755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txBody>
          <a:bodyPr/>
          <a:lstStyle/>
          <a:p>
            <a:endParaRPr lang="zh-CN" altLang="en-US"/>
          </a:p>
        </p:txBody>
      </p:sp>
      <p:sp>
        <p:nvSpPr>
          <p:cNvPr id="3" name="备注占位符 2"/>
          <p:cNvSpPr>
            <a:spLocks noGrp="1"/>
          </p:cNvSpPr>
          <p:nvPr>
            <p:ph type="body" idx="1"/>
          </p:nvPr>
        </p:nvSpPr>
        <p:spPr/>
        <p:txBody>
          <a:bodyPr/>
          <a:lstStyle/>
          <a:p>
            <a:r>
              <a:rPr lang="en-US" altLang="zh-CN" dirty="0"/>
              <a:t>Hello every one</a:t>
            </a:r>
            <a:r>
              <a:rPr lang="zh-CN" altLang="en-US" dirty="0"/>
              <a:t>，</a:t>
            </a:r>
            <a:r>
              <a:rPr lang="en-US" altLang="zh-CN" dirty="0"/>
              <a:t>I’m Lin Yi.</a:t>
            </a:r>
            <a:r>
              <a:rPr lang="zh-CN" altLang="en-US" dirty="0"/>
              <a:t> </a:t>
            </a:r>
            <a:r>
              <a:rPr lang="en-US" altLang="zh-CN" dirty="0"/>
              <a:t>Today</a:t>
            </a:r>
            <a:r>
              <a:rPr lang="zh-CN" altLang="en-US" dirty="0"/>
              <a:t> </a:t>
            </a:r>
            <a:r>
              <a:rPr lang="en-US" altLang="zh-CN" dirty="0"/>
              <a:t>we will talk about how to design conceptual aircraft using SUAVE.</a:t>
            </a:r>
          </a:p>
          <a:p>
            <a:r>
              <a:rPr lang="en-US" altLang="zh-CN" dirty="0"/>
              <a:t>Aircraft design and SUAVE are both really complex. I can’t make you a SUAVE expert or an aircraft design expert just with this one class. It’s just impossible. So like I said, today we are just having a discussion. If you have any questions, or if you think I’ve said something wrong during class, just interrupt me any time.</a:t>
            </a:r>
          </a:p>
        </p:txBody>
      </p:sp>
      <p:sp>
        <p:nvSpPr>
          <p:cNvPr id="4" name="灯片编号占位符 3"/>
          <p:cNvSpPr>
            <a:spLocks noGrp="1"/>
          </p:cNvSpPr>
          <p:nvPr>
            <p:ph type="sldNum" sz="quarter" idx="10"/>
          </p:nvPr>
        </p:nvSpPr>
        <p:spPr/>
        <p:txBody>
          <a:bodyPr/>
          <a:lstStyle/>
          <a:p>
            <a:fld id="{DF1895BC-06EC-475A-97CA-BF53472F2E03}" type="slidenum">
              <a:rPr lang="de-DE" smtClean="0"/>
              <a:pPr/>
              <a:t>1</a:t>
            </a:fld>
            <a:endParaRPr lang="de-DE" dirty="0"/>
          </a:p>
        </p:txBody>
      </p:sp>
    </p:spTree>
    <p:extLst>
      <p:ext uri="{BB962C8B-B14F-4D97-AF65-F5344CB8AC3E}">
        <p14:creationId xmlns:p14="http://schemas.microsoft.com/office/powerpoint/2010/main" val="2833748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338D5-45E8-972D-9794-99403EEFD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C1D073-1A53-5885-D6E5-A0C47A8534BA}"/>
              </a:ext>
            </a:extLst>
          </p:cNvPr>
          <p:cNvSpPr>
            <a:spLocks noGrp="1" noRot="1" noChangeAspect="1"/>
          </p:cNvSpPr>
          <p:nvPr>
            <p:ph type="sldImg"/>
          </p:nvPr>
        </p:nvSpPr>
        <p:spPr>
          <a:xfrm>
            <a:off x="90488" y="744538"/>
            <a:ext cx="6616700" cy="3722687"/>
          </a:xfrm>
        </p:spPr>
        <p:txBody>
          <a:bodyPr/>
          <a:lstStyle/>
          <a:p>
            <a:endParaRPr lang="zh-CN" altLang="en-US"/>
          </a:p>
        </p:txBody>
      </p:sp>
      <p:sp>
        <p:nvSpPr>
          <p:cNvPr id="3" name="备注占位符 2">
            <a:extLst>
              <a:ext uri="{FF2B5EF4-FFF2-40B4-BE49-F238E27FC236}">
                <a16:creationId xmlns:a16="http://schemas.microsoft.com/office/drawing/2014/main" id="{8A325CD0-053A-EC03-8698-36246CD3E744}"/>
              </a:ext>
            </a:extLst>
          </p:cNvPr>
          <p:cNvSpPr>
            <a:spLocks noGrp="1"/>
          </p:cNvSpPr>
          <p:nvPr>
            <p:ph type="body" idx="1"/>
          </p:nvPr>
        </p:nvSpPr>
        <p:spPr/>
        <p:txBody>
          <a:bodyPr/>
          <a:lstStyle/>
          <a:p>
            <a:r>
              <a:rPr lang="en-US" altLang="zh-CN" dirty="0"/>
              <a:t>Here is what we’ll do today. We’ll start with a background of SUAVE, then I will help you install the suave, run a test case, and build your first case yourself. After that, I will introduce some main modules of SUAVE so that you can have a deeper insight into this code. If we have extra time, I will show some examples of how to create custom modules.</a:t>
            </a:r>
          </a:p>
        </p:txBody>
      </p:sp>
      <p:sp>
        <p:nvSpPr>
          <p:cNvPr id="4" name="灯片编号占位符 3">
            <a:extLst>
              <a:ext uri="{FF2B5EF4-FFF2-40B4-BE49-F238E27FC236}">
                <a16:creationId xmlns:a16="http://schemas.microsoft.com/office/drawing/2014/main" id="{F571905E-2373-7F9D-98D4-BA5088072294}"/>
              </a:ext>
            </a:extLst>
          </p:cNvPr>
          <p:cNvSpPr>
            <a:spLocks noGrp="1"/>
          </p:cNvSpPr>
          <p:nvPr>
            <p:ph type="sldNum" sz="quarter" idx="5"/>
          </p:nvPr>
        </p:nvSpPr>
        <p:spPr/>
        <p:txBody>
          <a:bodyPr/>
          <a:lstStyle/>
          <a:p>
            <a:fld id="{DF1895BC-06EC-475A-97CA-BF53472F2E03}" type="slidenum">
              <a:rPr lang="de-DE" smtClean="0"/>
              <a:pPr/>
              <a:t>2</a:t>
            </a:fld>
            <a:endParaRPr lang="de-DE" dirty="0"/>
          </a:p>
        </p:txBody>
      </p:sp>
    </p:spTree>
    <p:extLst>
      <p:ext uri="{BB962C8B-B14F-4D97-AF65-F5344CB8AC3E}">
        <p14:creationId xmlns:p14="http://schemas.microsoft.com/office/powerpoint/2010/main" val="1973395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let’s start with SUAVE’s background first. SUAVE is a conceptual level aircraft design environment built with the ability to analyze and optimize both conventional and unconventional designs, Blah blah blah. You have probably noticed this is the official intro from its website, so I’m not </a:t>
            </a:r>
            <a:r>
              <a:rPr lang="en-US" altLang="zh-CN" dirty="0" err="1"/>
              <a:t>gonna</a:t>
            </a:r>
            <a:r>
              <a:rPr lang="en-US" altLang="zh-CN" dirty="0"/>
              <a:t> read it word by word, just focus on this line, “SUAVE provides a framework”. To me, I’d rather call it a code style, a style to make code highly encapsulated and modularized. You can assemble these modules however you want, </a:t>
            </a:r>
            <a:r>
              <a:rPr lang="en-US" altLang="zh-CN" dirty="0" err="1"/>
              <a:t>modify’em</a:t>
            </a:r>
            <a:r>
              <a:rPr lang="en-US" altLang="zh-CN" dirty="0"/>
              <a:t>, </a:t>
            </a:r>
            <a:r>
              <a:rPr lang="en-US" altLang="zh-CN" dirty="0" err="1"/>
              <a:t>rewrite’em</a:t>
            </a:r>
            <a:r>
              <a:rPr lang="en-US" altLang="zh-CN" dirty="0"/>
              <a:t> or even create your own with your idea. Alright, sorry I went off track a bit. Anyway it’s a super customizable program. Let’s dive in.</a:t>
            </a:r>
          </a:p>
        </p:txBody>
      </p:sp>
      <p:sp>
        <p:nvSpPr>
          <p:cNvPr id="4" name="灯片编号占位符 3"/>
          <p:cNvSpPr>
            <a:spLocks noGrp="1"/>
          </p:cNvSpPr>
          <p:nvPr>
            <p:ph type="sldNum" sz="quarter" idx="5"/>
          </p:nvPr>
        </p:nvSpPr>
        <p:spPr/>
        <p:txBody>
          <a:bodyPr/>
          <a:lstStyle/>
          <a:p>
            <a:fld id="{DF1895BC-06EC-475A-97CA-BF53472F2E03}" type="slidenum">
              <a:rPr lang="de-DE" smtClean="0"/>
              <a:pPr/>
              <a:t>3</a:t>
            </a:fld>
            <a:endParaRPr lang="de-DE" dirty="0"/>
          </a:p>
        </p:txBody>
      </p:sp>
    </p:spTree>
    <p:extLst>
      <p:ext uri="{BB962C8B-B14F-4D97-AF65-F5344CB8AC3E}">
        <p14:creationId xmlns:p14="http://schemas.microsoft.com/office/powerpoint/2010/main" val="3136964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the first thing we should do is to install the python environment for SUAVE. I believe  you have downloaded the Anaconda before this class ok? That will make things more easy.</a:t>
            </a:r>
            <a:endParaRPr lang="zh-CN" altLang="en-US" dirty="0"/>
          </a:p>
        </p:txBody>
      </p:sp>
      <p:sp>
        <p:nvSpPr>
          <p:cNvPr id="4" name="灯片编号占位符 3"/>
          <p:cNvSpPr>
            <a:spLocks noGrp="1"/>
          </p:cNvSpPr>
          <p:nvPr>
            <p:ph type="sldNum" sz="quarter" idx="5"/>
          </p:nvPr>
        </p:nvSpPr>
        <p:spPr/>
        <p:txBody>
          <a:bodyPr/>
          <a:lstStyle/>
          <a:p>
            <a:fld id="{DF1895BC-06EC-475A-97CA-BF53472F2E03}" type="slidenum">
              <a:rPr lang="de-DE" smtClean="0"/>
              <a:pPr/>
              <a:t>4</a:t>
            </a:fld>
            <a:endParaRPr lang="de-DE" dirty="0"/>
          </a:p>
        </p:txBody>
      </p:sp>
    </p:spTree>
    <p:extLst>
      <p:ext uri="{BB962C8B-B14F-4D97-AF65-F5344CB8AC3E}">
        <p14:creationId xmlns:p14="http://schemas.microsoft.com/office/powerpoint/2010/main" val="1790316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Once we set up a working environment for SUAVE, we can download the code from the </a:t>
            </a:r>
            <a:r>
              <a:rPr lang="en-US" altLang="zh-CN" dirty="0" err="1"/>
              <a:t>github</a:t>
            </a:r>
            <a:r>
              <a:rPr lang="en-US" altLang="zh-CN" dirty="0"/>
              <a:t>. Maybe you can not use the git clone, just download the zip file. Then run a command</a:t>
            </a:r>
            <a:r>
              <a:rPr lang="zh-CN" altLang="en-US" dirty="0"/>
              <a:t> </a:t>
            </a:r>
            <a:r>
              <a:rPr lang="en-US" altLang="zh-CN" dirty="0"/>
              <a:t>to install it.</a:t>
            </a:r>
            <a:endParaRPr lang="zh-CN" altLang="en-US" dirty="0"/>
          </a:p>
        </p:txBody>
      </p:sp>
      <p:sp>
        <p:nvSpPr>
          <p:cNvPr id="4" name="灯片编号占位符 3"/>
          <p:cNvSpPr>
            <a:spLocks noGrp="1"/>
          </p:cNvSpPr>
          <p:nvPr>
            <p:ph type="sldNum" sz="quarter" idx="5"/>
          </p:nvPr>
        </p:nvSpPr>
        <p:spPr/>
        <p:txBody>
          <a:bodyPr/>
          <a:lstStyle/>
          <a:p>
            <a:fld id="{DF1895BC-06EC-475A-97CA-BF53472F2E03}" type="slidenum">
              <a:rPr lang="de-DE" smtClean="0"/>
              <a:pPr/>
              <a:t>5</a:t>
            </a:fld>
            <a:endParaRPr lang="de-DE" dirty="0"/>
          </a:p>
        </p:txBody>
      </p:sp>
    </p:spTree>
    <p:extLst>
      <p:ext uri="{BB962C8B-B14F-4D97-AF65-F5344CB8AC3E}">
        <p14:creationId xmlns:p14="http://schemas.microsoft.com/office/powerpoint/2010/main" val="1599348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Open the Tutorial folder, find the tut_mission_B737.py script, run it and just wait a minute — I think it’ll take about one minute. Then you’ll see lots of plots fill your whole screen! Like this, altitude, weight, lift, drag… all kinds of information will pop up right in front of you. don’t worry. We’ll go through these plots together later. this is just to check if you’ve installed SUAVE correctly. If you don’t see those plots, just let me know. Alright? Alright, we’ve got SUAVE installed.</a:t>
            </a:r>
          </a:p>
        </p:txBody>
      </p:sp>
      <p:sp>
        <p:nvSpPr>
          <p:cNvPr id="4" name="灯片编号占位符 3"/>
          <p:cNvSpPr>
            <a:spLocks noGrp="1"/>
          </p:cNvSpPr>
          <p:nvPr>
            <p:ph type="sldNum" sz="quarter" idx="5"/>
          </p:nvPr>
        </p:nvSpPr>
        <p:spPr/>
        <p:txBody>
          <a:bodyPr/>
          <a:lstStyle/>
          <a:p>
            <a:fld id="{DF1895BC-06EC-475A-97CA-BF53472F2E03}" type="slidenum">
              <a:rPr lang="de-DE" smtClean="0"/>
              <a:pPr/>
              <a:t>6</a:t>
            </a:fld>
            <a:endParaRPr lang="de-DE" dirty="0"/>
          </a:p>
        </p:txBody>
      </p:sp>
    </p:spTree>
    <p:extLst>
      <p:ext uri="{BB962C8B-B14F-4D97-AF65-F5344CB8AC3E}">
        <p14:creationId xmlns:p14="http://schemas.microsoft.com/office/powerpoint/2010/main" val="131057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we start working on our first SUAVE case, we first need to understand what conceptual aircraft design is, or more simply, what steps we need to go through. This is the overall conceptual design process; it’s not super formal, but it includes all the key steps. First, we need to figure out our aircraft requirements: whether we’re designing a fighter jet, helicopter or transport aircraft, how many missiles the fighter carries, if the helicopter is for rescue or combat missions, and what range the transport aircraft needs. These are all our basic requirements. Once we confirm the requirements, we define the whole flight mission, including takeoff, climb, cruise, descent, landing and other possible mission phases. After setting up the mission, we calculate initial aircraft parameters with standard formulas, such as maximum takeoff weight using the Breguet formula. Then we sketch out the aircraft layout. I mean sketch, not final design — at this point we don’t have any detailed aircraft data, the aircraft doesn’t even exist yet. We can model it in </a:t>
            </a:r>
            <a:r>
              <a:rPr lang="en-US" altLang="zh-CN" dirty="0" err="1"/>
              <a:t>OpenVSP</a:t>
            </a:r>
            <a:r>
              <a:rPr lang="en-US" altLang="zh-CN" dirty="0"/>
              <a:t>, or even just draw it on a napkin, and use our imagination to build our own aircraft. After that we do analyses like aerodynamics, weight updates and thrust analysis, and check if our aircraft can finish the mission. If not, we go back and adjust the design repeatedly until it meets the requirements. You’ve already learned all this aircraft design knowledge from Professor Zhang, so I won’t talk too much about it, and now let’s focus on how to use SUAVE in this whole design process.</a:t>
            </a:r>
          </a:p>
        </p:txBody>
      </p:sp>
      <p:sp>
        <p:nvSpPr>
          <p:cNvPr id="4" name="灯片编号占位符 3"/>
          <p:cNvSpPr>
            <a:spLocks noGrp="1"/>
          </p:cNvSpPr>
          <p:nvPr>
            <p:ph type="sldNum" sz="quarter" idx="5"/>
          </p:nvPr>
        </p:nvSpPr>
        <p:spPr/>
        <p:txBody>
          <a:bodyPr/>
          <a:lstStyle/>
          <a:p>
            <a:fld id="{DF1895BC-06EC-475A-97CA-BF53472F2E03}" type="slidenum">
              <a:rPr lang="de-DE" smtClean="0"/>
              <a:pPr/>
              <a:t>7</a:t>
            </a:fld>
            <a:endParaRPr lang="de-DE" dirty="0"/>
          </a:p>
        </p:txBody>
      </p:sp>
    </p:spTree>
    <p:extLst>
      <p:ext uri="{BB962C8B-B14F-4D97-AF65-F5344CB8AC3E}">
        <p14:creationId xmlns:p14="http://schemas.microsoft.com/office/powerpoint/2010/main" val="3477296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So we will firstly build the main function. And we can create several component functions to handle specific operation of the aircraft, like aerodynamic module, or vehicle setup function, maybe we</a:t>
            </a:r>
            <a:r>
              <a:rPr lang="zh-CN" altLang="en-US" dirty="0"/>
              <a:t> </a:t>
            </a:r>
            <a:r>
              <a:rPr lang="en-US" altLang="zh-CN" dirty="0"/>
              <a:t>will</a:t>
            </a:r>
            <a:r>
              <a:rPr lang="zh-CN" altLang="en-US" dirty="0"/>
              <a:t> </a:t>
            </a:r>
            <a:r>
              <a:rPr lang="en-US" altLang="zh-CN" dirty="0"/>
              <a:t>write some aircraft parameters in this function later. So in this stage we just create and type the “pass” in these component functions, just to make sure this script can be </a:t>
            </a:r>
            <a:r>
              <a:rPr lang="en-US" altLang="zh-CN" dirty="0" err="1"/>
              <a:t>runned</a:t>
            </a:r>
            <a:r>
              <a:rPr lang="en-US" altLang="zh-CN" dirty="0"/>
              <a:t> normally later.</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1895BC-06EC-475A-97CA-BF53472F2E03}" type="slidenum">
              <a:rPr lang="de-DE" smtClean="0"/>
              <a:pPr/>
              <a:t>8</a:t>
            </a:fld>
            <a:endParaRPr lang="de-DE" dirty="0"/>
          </a:p>
        </p:txBody>
      </p:sp>
    </p:spTree>
    <p:extLst>
      <p:ext uri="{BB962C8B-B14F-4D97-AF65-F5344CB8AC3E}">
        <p14:creationId xmlns:p14="http://schemas.microsoft.com/office/powerpoint/2010/main" val="2874908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Once we have finished the main function, the basic framework for aircraft design, the first module will be developed is the </a:t>
            </a:r>
            <a:r>
              <a:rPr lang="en-US" altLang="zh-CN" dirty="0" err="1"/>
              <a:t>base_analysis</a:t>
            </a:r>
            <a:r>
              <a:rPr lang="en-US" altLang="zh-CN" dirty="0"/>
              <a:t> function. To start we need to define the output of this function, we want this function can return a analyses module so that we can use it to analysis the aerodynamic character of our aircraft in other steps. We create a </a:t>
            </a:r>
            <a:r>
              <a:rPr lang="en-US" altLang="zh-CN" dirty="0" err="1"/>
              <a:t>a</a:t>
            </a:r>
            <a:r>
              <a:rPr lang="en-US" altLang="zh-CN" dirty="0"/>
              <a:t> class in the first line of this function. Then we add all of the necessary components in turns. The weight module will update the total weight during the flight mission, the second part for </a:t>
            </a:r>
            <a:r>
              <a:rPr lang="en-US" altLang="zh-CN" dirty="0" err="1"/>
              <a:t>base_analyses</a:t>
            </a:r>
            <a:r>
              <a:rPr lang="en-US" altLang="zh-CN" dirty="0"/>
              <a:t> function is most important, we choose the aerodynamic method in this part, in this case we just choose the </a:t>
            </a:r>
            <a:r>
              <a:rPr lang="en-US" altLang="zh-CN" dirty="0" err="1"/>
              <a:t>Fidelity_Zero</a:t>
            </a:r>
            <a:r>
              <a:rPr lang="en-US" altLang="zh-CN" dirty="0"/>
              <a:t>() module, because this module calculate quickly, is suitable for our class, you can just get results in several seconds. Now we add the energy module, the planet module and the atmosphere module into this function so that it can run correctly.</a:t>
            </a:r>
            <a:endParaRPr lang="zh-CN" altLang="en-US"/>
          </a:p>
          <a:p>
            <a:endParaRPr lang="zh-CN" altLang="en-US"/>
          </a:p>
        </p:txBody>
      </p:sp>
      <p:sp>
        <p:nvSpPr>
          <p:cNvPr id="4" name="灯片编号占位符 3"/>
          <p:cNvSpPr>
            <a:spLocks noGrp="1"/>
          </p:cNvSpPr>
          <p:nvPr>
            <p:ph type="sldNum" sz="quarter" idx="5"/>
          </p:nvPr>
        </p:nvSpPr>
        <p:spPr/>
        <p:txBody>
          <a:bodyPr/>
          <a:lstStyle/>
          <a:p>
            <a:fld id="{DF1895BC-06EC-475A-97CA-BF53472F2E03}" type="slidenum">
              <a:rPr lang="de-DE" smtClean="0"/>
              <a:pPr/>
              <a:t>9</a:t>
            </a:fld>
            <a:endParaRPr lang="de-DE" dirty="0"/>
          </a:p>
        </p:txBody>
      </p:sp>
    </p:spTree>
    <p:extLst>
      <p:ext uri="{BB962C8B-B14F-4D97-AF65-F5344CB8AC3E}">
        <p14:creationId xmlns:p14="http://schemas.microsoft.com/office/powerpoint/2010/main" val="2868601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1895BC-06EC-475A-97CA-BF53472F2E03}" type="slidenum">
              <a:rPr lang="de-DE" smtClean="0"/>
              <a:pPr/>
              <a:t>29</a:t>
            </a:fld>
            <a:endParaRPr lang="de-DE" dirty="0"/>
          </a:p>
        </p:txBody>
      </p:sp>
    </p:spTree>
    <p:extLst>
      <p:ext uri="{BB962C8B-B14F-4D97-AF65-F5344CB8AC3E}">
        <p14:creationId xmlns:p14="http://schemas.microsoft.com/office/powerpoint/2010/main" val="4186176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6FB09-97AA-7E29-A45A-775B0F9F90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80F85E-744A-3B8D-8811-4AD5135D7910}"/>
              </a:ext>
            </a:extLst>
          </p:cNvPr>
          <p:cNvSpPr>
            <a:spLocks noGrp="1" noRot="1" noChangeAspect="1"/>
          </p:cNvSpPr>
          <p:nvPr>
            <p:ph type="sldImg"/>
          </p:nvPr>
        </p:nvSpPr>
        <p:spPr>
          <a:xfrm>
            <a:off x="90488" y="744538"/>
            <a:ext cx="6616700" cy="3722687"/>
          </a:xfrm>
        </p:spPr>
        <p:txBody>
          <a:bodyPr/>
          <a:lstStyle/>
          <a:p>
            <a:endParaRPr lang="zh-CN" altLang="en-US"/>
          </a:p>
        </p:txBody>
      </p:sp>
      <p:sp>
        <p:nvSpPr>
          <p:cNvPr id="3" name="备注占位符 2">
            <a:extLst>
              <a:ext uri="{FF2B5EF4-FFF2-40B4-BE49-F238E27FC236}">
                <a16:creationId xmlns:a16="http://schemas.microsoft.com/office/drawing/2014/main" id="{2494A4A5-24CF-5C2C-B6A3-5DE10E41109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21127B-505F-3B1A-2AAA-65DF92B51E67}"/>
              </a:ext>
            </a:extLst>
          </p:cNvPr>
          <p:cNvSpPr>
            <a:spLocks noGrp="1"/>
          </p:cNvSpPr>
          <p:nvPr>
            <p:ph type="sldNum" sz="quarter" idx="10"/>
          </p:nvPr>
        </p:nvSpPr>
        <p:spPr/>
        <p:txBody>
          <a:bodyPr/>
          <a:lstStyle/>
          <a:p>
            <a:fld id="{DF1895BC-06EC-475A-97CA-BF53472F2E03}" type="slidenum">
              <a:rPr lang="de-DE" smtClean="0"/>
              <a:pPr/>
              <a:t>37</a:t>
            </a:fld>
            <a:endParaRPr lang="de-DE" dirty="0"/>
          </a:p>
        </p:txBody>
      </p:sp>
    </p:spTree>
    <p:extLst>
      <p:ext uri="{BB962C8B-B14F-4D97-AF65-F5344CB8AC3E}">
        <p14:creationId xmlns:p14="http://schemas.microsoft.com/office/powerpoint/2010/main" val="115794859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gradFill flip="none" rotWithShape="1">
          <a:gsLst>
            <a:gs pos="0">
              <a:schemeClr val="accent1">
                <a:lumMod val="5000"/>
                <a:lumOff val="95000"/>
                <a:alpha val="65000"/>
              </a:schemeClr>
            </a:gs>
            <a:gs pos="74000">
              <a:schemeClr val="bg1">
                <a:lumMod val="95000"/>
              </a:schemeClr>
            </a:gs>
            <a:gs pos="83000">
              <a:schemeClr val="bg1">
                <a:lumMod val="95000"/>
              </a:schemeClr>
            </a:gs>
            <a:gs pos="100000">
              <a:schemeClr val="bg1">
                <a:lumMod val="95000"/>
              </a:schemeClr>
            </a:gs>
          </a:gsLst>
          <a:lin ang="2700000" scaled="1"/>
          <a:tileRect/>
        </a:gradFill>
        <a:effectLst/>
      </p:bgPr>
    </p:bg>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85414A06-3DA3-791F-C0E4-B960E8E5D74C}"/>
              </a:ext>
            </a:extLst>
          </p:cNvPr>
          <p:cNvSpPr/>
          <p:nvPr userDrawn="1"/>
        </p:nvSpPr>
        <p:spPr>
          <a:xfrm>
            <a:off x="0" y="0"/>
            <a:ext cx="12192000" cy="1620728"/>
          </a:xfrm>
          <a:custGeom>
            <a:avLst/>
            <a:gdLst>
              <a:gd name="connsiteX0" fmla="*/ 0 w 12192000"/>
              <a:gd name="connsiteY0" fmla="*/ 0 h 3820891"/>
              <a:gd name="connsiteX1" fmla="*/ 12192000 w 12192000"/>
              <a:gd name="connsiteY1" fmla="*/ 0 h 3820891"/>
              <a:gd name="connsiteX2" fmla="*/ 12192000 w 12192000"/>
              <a:gd name="connsiteY2" fmla="*/ 2822842 h 3820891"/>
              <a:gd name="connsiteX3" fmla="*/ 11920340 w 12192000"/>
              <a:gd name="connsiteY3" fmla="*/ 2925857 h 3820891"/>
              <a:gd name="connsiteX4" fmla="*/ 6096000 w 12192000"/>
              <a:gd name="connsiteY4" fmla="*/ 3820891 h 3820891"/>
              <a:gd name="connsiteX5" fmla="*/ 271660 w 12192000"/>
              <a:gd name="connsiteY5" fmla="*/ 2925857 h 3820891"/>
              <a:gd name="connsiteX6" fmla="*/ 0 w 12192000"/>
              <a:gd name="connsiteY6" fmla="*/ 2822842 h 382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20891">
                <a:moveTo>
                  <a:pt x="0" y="0"/>
                </a:moveTo>
                <a:lnTo>
                  <a:pt x="12192000" y="0"/>
                </a:lnTo>
                <a:lnTo>
                  <a:pt x="12192000" y="2822842"/>
                </a:lnTo>
                <a:lnTo>
                  <a:pt x="11920340" y="2925857"/>
                </a:lnTo>
                <a:cubicBezTo>
                  <a:pt x="10382026" y="3481957"/>
                  <a:pt x="8338529" y="3820891"/>
                  <a:pt x="6096000" y="3820891"/>
                </a:cubicBezTo>
                <a:cubicBezTo>
                  <a:pt x="3853472" y="3820891"/>
                  <a:pt x="1809974" y="3481957"/>
                  <a:pt x="271660" y="2925857"/>
                </a:cubicBezTo>
                <a:lnTo>
                  <a:pt x="0" y="2822842"/>
                </a:lnTo>
                <a:close/>
              </a:path>
            </a:pathLst>
          </a:custGeom>
          <a:blipFill>
            <a:blip r:embed="rId2" cstate="print">
              <a:alphaModFix amt="80000"/>
              <a:extLst>
                <a:ext uri="{BEBA8EAE-BF5A-486C-A8C5-ECC9F3942E4B}">
                  <a14:imgProps xmlns:a14="http://schemas.microsoft.com/office/drawing/2010/main">
                    <a14:imgLayer r:embed="rId3">
                      <a14:imgEffect>
                        <a14:sharpenSoften amount="10000"/>
                      </a14:imgEffect>
                      <a14:imgEffect>
                        <a14:saturation sat="90000"/>
                      </a14:imgEffect>
                      <a14:imgEffect>
                        <a14:brightnessContrast contrast="-15000"/>
                      </a14:imgEffect>
                    </a14:imgLayer>
                  </a14:imgProps>
                </a:ext>
              </a:extLst>
            </a:blip>
            <a:stretch>
              <a:fillRect t="-157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任意多边形: 形状 2">
            <a:extLst>
              <a:ext uri="{FF2B5EF4-FFF2-40B4-BE49-F238E27FC236}">
                <a16:creationId xmlns:a16="http://schemas.microsoft.com/office/drawing/2014/main" id="{61D700EA-D704-0EF1-7FFD-68A29F5B2C4A}"/>
              </a:ext>
            </a:extLst>
          </p:cNvPr>
          <p:cNvSpPr/>
          <p:nvPr userDrawn="1"/>
        </p:nvSpPr>
        <p:spPr>
          <a:xfrm>
            <a:off x="0" y="-3338"/>
            <a:ext cx="12192000" cy="1620728"/>
          </a:xfrm>
          <a:custGeom>
            <a:avLst/>
            <a:gdLst>
              <a:gd name="connsiteX0" fmla="*/ 0 w 12192000"/>
              <a:gd name="connsiteY0" fmla="*/ 0 h 3820891"/>
              <a:gd name="connsiteX1" fmla="*/ 12192000 w 12192000"/>
              <a:gd name="connsiteY1" fmla="*/ 0 h 3820891"/>
              <a:gd name="connsiteX2" fmla="*/ 12192000 w 12192000"/>
              <a:gd name="connsiteY2" fmla="*/ 2822842 h 3820891"/>
              <a:gd name="connsiteX3" fmla="*/ 11920340 w 12192000"/>
              <a:gd name="connsiteY3" fmla="*/ 2925857 h 3820891"/>
              <a:gd name="connsiteX4" fmla="*/ 6096000 w 12192000"/>
              <a:gd name="connsiteY4" fmla="*/ 3820891 h 3820891"/>
              <a:gd name="connsiteX5" fmla="*/ 271660 w 12192000"/>
              <a:gd name="connsiteY5" fmla="*/ 2925857 h 3820891"/>
              <a:gd name="connsiteX6" fmla="*/ 0 w 12192000"/>
              <a:gd name="connsiteY6" fmla="*/ 2822842 h 382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20891">
                <a:moveTo>
                  <a:pt x="0" y="0"/>
                </a:moveTo>
                <a:lnTo>
                  <a:pt x="12192000" y="0"/>
                </a:lnTo>
                <a:lnTo>
                  <a:pt x="12192000" y="2822842"/>
                </a:lnTo>
                <a:lnTo>
                  <a:pt x="11920340" y="2925857"/>
                </a:lnTo>
                <a:cubicBezTo>
                  <a:pt x="10382026" y="3481957"/>
                  <a:pt x="8338529" y="3820891"/>
                  <a:pt x="6096000" y="3820891"/>
                </a:cubicBezTo>
                <a:cubicBezTo>
                  <a:pt x="3853472" y="3820891"/>
                  <a:pt x="1809974" y="3481957"/>
                  <a:pt x="271660" y="2925857"/>
                </a:cubicBezTo>
                <a:lnTo>
                  <a:pt x="0" y="2822842"/>
                </a:lnTo>
                <a:close/>
              </a:path>
            </a:pathLst>
          </a:custGeom>
          <a:gradFill>
            <a:gsLst>
              <a:gs pos="10000">
                <a:srgbClr val="002060">
                  <a:alpha val="80000"/>
                  <a:lumMod val="80000"/>
                </a:srgbClr>
              </a:gs>
              <a:gs pos="50000">
                <a:schemeClr val="accent1">
                  <a:lumMod val="60000"/>
                  <a:lumOff val="40000"/>
                  <a:alpha val="40000"/>
                </a:schemeClr>
              </a:gs>
              <a:gs pos="90000">
                <a:srgbClr val="002060">
                  <a:alpha val="80000"/>
                  <a:lumMod val="80000"/>
                </a:srgbClr>
              </a:gs>
            </a:gsLst>
            <a:lin ang="0" scaled="0"/>
          </a:gradFill>
          <a:ln>
            <a:noFill/>
          </a:ln>
        </p:spPr>
        <p:style>
          <a:lnRef idx="0">
            <a:scrgbClr r="0" g="0" b="0"/>
          </a:lnRef>
          <a:fillRef idx="0">
            <a:scrgbClr r="0" g="0" b="0"/>
          </a:fillRef>
          <a:effectRef idx="0">
            <a:scrgbClr r="0" g="0" b="0"/>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 name="TextBox 17">
            <a:extLst>
              <a:ext uri="{FF2B5EF4-FFF2-40B4-BE49-F238E27FC236}">
                <a16:creationId xmlns:a16="http://schemas.microsoft.com/office/drawing/2014/main" id="{E5B7A050-5462-6900-8FC7-CD0DC1ECF6AC}"/>
              </a:ext>
            </a:extLst>
          </p:cNvPr>
          <p:cNvSpPr txBox="1">
            <a:spLocks noChangeArrowheads="1"/>
          </p:cNvSpPr>
          <p:nvPr userDrawn="1"/>
        </p:nvSpPr>
        <p:spPr bwMode="auto">
          <a:xfrm>
            <a:off x="870384" y="413368"/>
            <a:ext cx="2393516" cy="421782"/>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ct val="150000"/>
              </a:lnSpc>
              <a:spcAft>
                <a:spcPts val="200"/>
              </a:spcAft>
              <a:defRPr/>
            </a:pPr>
            <a:r>
              <a:rPr kumimoji="0" lang="zh-CN" altLang="en-US" sz="1100" b="1" baseline="0" dirty="0">
                <a:solidFill>
                  <a:srgbClr val="FFFFFF"/>
                </a:solidFill>
                <a:latin typeface="微软雅黑" panose="020B0503020204020204" pitchFamily="34" charset="-122"/>
                <a:ea typeface="微软雅黑" panose="020B0503020204020204" pitchFamily="34" charset="-122"/>
              </a:rPr>
              <a:t> 飞行器基础布局全国重点实验室</a:t>
            </a:r>
            <a:endParaRPr kumimoji="0" lang="en-US" altLang="zh-CN" sz="1050" b="1" baseline="0" dirty="0">
              <a:solidFill>
                <a:srgbClr val="FFFFFF"/>
              </a:solidFill>
              <a:latin typeface="微软雅黑" panose="020B0503020204020204" pitchFamily="34" charset="-122"/>
              <a:ea typeface="微软雅黑" panose="020B0503020204020204" pitchFamily="34" charset="-122"/>
            </a:endParaRPr>
          </a:p>
          <a:p>
            <a:pPr algn="dist">
              <a:lnSpc>
                <a:spcPct val="150000"/>
              </a:lnSpc>
              <a:spcAft>
                <a:spcPts val="200"/>
              </a:spcAft>
              <a:defRPr/>
            </a:pPr>
            <a:r>
              <a:rPr kumimoji="1" lang="en-US" altLang="zh-CN" sz="700" b="1" kern="1200" baseline="0" dirty="0">
                <a:solidFill>
                  <a:srgbClr val="FFFFFF"/>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700" b="1"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National Key Laboratory of Aircraft Configuration Design</a:t>
            </a:r>
            <a:endParaRPr lang="zh-CN" altLang="en-US" sz="7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Picture 4" descr="国防logo">
            <a:extLst>
              <a:ext uri="{FF2B5EF4-FFF2-40B4-BE49-F238E27FC236}">
                <a16:creationId xmlns:a16="http://schemas.microsoft.com/office/drawing/2014/main" id="{9C282BA7-033B-29B1-F033-2ED0DE306EB0}"/>
              </a:ext>
            </a:extLst>
          </p:cNvPr>
          <p:cNvPicPr>
            <a:picLocks noChangeAspect="1" noChangeArrowheads="1"/>
          </p:cNvPicPr>
          <p:nvPr userDrawn="1"/>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61422" y="355997"/>
            <a:ext cx="668380" cy="598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7">
            <a:extLst>
              <a:ext uri="{FF2B5EF4-FFF2-40B4-BE49-F238E27FC236}">
                <a16:creationId xmlns:a16="http://schemas.microsoft.com/office/drawing/2014/main" id="{F1E381E7-913D-1276-8D2D-75569471A164}"/>
              </a:ext>
            </a:extLst>
          </p:cNvPr>
          <p:cNvSpPr txBox="1">
            <a:spLocks noChangeArrowheads="1"/>
          </p:cNvSpPr>
          <p:nvPr userDrawn="1"/>
        </p:nvSpPr>
        <p:spPr bwMode="auto">
          <a:xfrm>
            <a:off x="9169266" y="413368"/>
            <a:ext cx="2781000" cy="421782"/>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ct val="150000"/>
              </a:lnSpc>
              <a:spcAft>
                <a:spcPts val="200"/>
              </a:spcAft>
              <a:defRPr/>
            </a:pPr>
            <a:r>
              <a:rPr kumimoji="0" lang="zh-CN" altLang="en-US" sz="1100" b="1" baseline="0" dirty="0">
                <a:solidFill>
                  <a:srgbClr val="FFFFFF"/>
                </a:solidFill>
                <a:latin typeface="微软雅黑" panose="020B0503020204020204" pitchFamily="34" charset="-122"/>
                <a:ea typeface="微软雅黑" panose="020B0503020204020204" pitchFamily="34" charset="-122"/>
              </a:rPr>
              <a:t>气动与多学科优化设计研究所</a:t>
            </a:r>
            <a:endParaRPr kumimoji="0" lang="en-US" altLang="zh-CN" sz="1050" b="1" baseline="0" dirty="0">
              <a:solidFill>
                <a:srgbClr val="FFFFFF"/>
              </a:solidFill>
              <a:latin typeface="微软雅黑" panose="020B0503020204020204" pitchFamily="34" charset="-122"/>
              <a:ea typeface="微软雅黑" panose="020B0503020204020204" pitchFamily="34" charset="-122"/>
            </a:endParaRPr>
          </a:p>
          <a:p>
            <a:pPr algn="dist">
              <a:lnSpc>
                <a:spcPct val="150000"/>
              </a:lnSpc>
              <a:spcAft>
                <a:spcPts val="200"/>
              </a:spcAft>
              <a:defRPr/>
            </a:pPr>
            <a:r>
              <a:rPr kumimoji="1" lang="en-US" altLang="zh-CN" sz="700" b="1"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Institute of Aerodynamic and Multidisciplinary Design Optimization</a:t>
            </a:r>
            <a:endParaRPr kumimoji="1" lang="zh-CN" altLang="en-US" sz="700" b="1"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13ABC5EA-673A-55B3-EA42-507EA30A0024}"/>
              </a:ext>
            </a:extLst>
          </p:cNvPr>
          <p:cNvPicPr>
            <a:picLocks noChangeAspect="1"/>
          </p:cNvPicPr>
          <p:nvPr userDrawn="1"/>
        </p:nvPicPr>
        <p:blipFill rotWithShape="1">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artisticPhotocopy/>
                    </a14:imgEffect>
                  </a14:imgLayer>
                </a14:imgProps>
              </a:ext>
            </a:extLst>
          </a:blip>
          <a:srcRect r="79416"/>
          <a:stretch/>
        </p:blipFill>
        <p:spPr>
          <a:xfrm>
            <a:off x="8432216" y="381397"/>
            <a:ext cx="648000" cy="521857"/>
          </a:xfrm>
          <a:prstGeom prst="rect">
            <a:avLst/>
          </a:prstGeom>
        </p:spPr>
      </p:pic>
      <p:sp>
        <p:nvSpPr>
          <p:cNvPr id="15" name="矩形 14">
            <a:extLst>
              <a:ext uri="{FF2B5EF4-FFF2-40B4-BE49-F238E27FC236}">
                <a16:creationId xmlns:a16="http://schemas.microsoft.com/office/drawing/2014/main" id="{F0476199-2BAB-3C73-86A5-3D7AF1E0C9D9}"/>
              </a:ext>
            </a:extLst>
          </p:cNvPr>
          <p:cNvSpPr/>
          <p:nvPr userDrawn="1"/>
        </p:nvSpPr>
        <p:spPr>
          <a:xfrm>
            <a:off x="419100" y="6604000"/>
            <a:ext cx="11772900" cy="254000"/>
          </a:xfrm>
          <a:prstGeom prst="rect">
            <a:avLst/>
          </a:prstGeom>
          <a:solidFill>
            <a:srgbClr val="F3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672853707"/>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1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2" name="流程图: 过程 21">
            <a:extLst>
              <a:ext uri="{FF2B5EF4-FFF2-40B4-BE49-F238E27FC236}">
                <a16:creationId xmlns:a16="http://schemas.microsoft.com/office/drawing/2014/main" id="{7B6A2D70-5AC0-63C2-9CDA-36E6EFA93F86}"/>
              </a:ext>
            </a:extLst>
          </p:cNvPr>
          <p:cNvSpPr/>
          <p:nvPr userDrawn="1"/>
        </p:nvSpPr>
        <p:spPr>
          <a:xfrm>
            <a:off x="463552" y="6585727"/>
            <a:ext cx="11728449" cy="272274"/>
          </a:xfrm>
          <a:prstGeom prst="flowChartProcess">
            <a:avLst/>
          </a:prstGeom>
          <a:gradFill flip="none" rotWithShape="1">
            <a:gsLst>
              <a:gs pos="0">
                <a:schemeClr val="tx2">
                  <a:lumMod val="60000"/>
                  <a:lumOff val="40000"/>
                </a:schemeClr>
              </a:gs>
              <a:gs pos="6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b="0" dirty="0"/>
          </a:p>
        </p:txBody>
      </p:sp>
      <p:sp>
        <p:nvSpPr>
          <p:cNvPr id="23" name="文本框 22">
            <a:extLst>
              <a:ext uri="{FF2B5EF4-FFF2-40B4-BE49-F238E27FC236}">
                <a16:creationId xmlns:a16="http://schemas.microsoft.com/office/drawing/2014/main" id="{BFD73065-7196-4418-70F9-4F6B2BCF8416}"/>
              </a:ext>
            </a:extLst>
          </p:cNvPr>
          <p:cNvSpPr txBox="1">
            <a:spLocks noChangeArrowheads="1"/>
          </p:cNvSpPr>
          <p:nvPr userDrawn="1"/>
        </p:nvSpPr>
        <p:spPr bwMode="auto">
          <a:xfrm>
            <a:off x="11700474" y="6661150"/>
            <a:ext cx="2725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5169FF50-1D25-4263-B53B-ACA339EBE4E8}" type="slidenum">
              <a:rPr lang="en-GB" altLang="zh-CN" sz="1600" smtClean="0">
                <a:solidFill>
                  <a:srgbClr val="002060"/>
                </a:solidFill>
                <a:latin typeface="微软雅黑" panose="020B0503020204020204" pitchFamily="34" charset="-122"/>
                <a:ea typeface="微软雅黑" panose="020B0503020204020204" pitchFamily="34" charset="-122"/>
                <a:cs typeface="Arial" pitchFamily="34" charset="0"/>
              </a:rPr>
              <a:pPr eaLnBrk="1" hangingPunct="1"/>
              <a:t>‹#›</a:t>
            </a:fld>
            <a:endParaRPr lang="en-GB"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7" name="矩形 6">
            <a:extLst>
              <a:ext uri="{FF2B5EF4-FFF2-40B4-BE49-F238E27FC236}">
                <a16:creationId xmlns:a16="http://schemas.microsoft.com/office/drawing/2014/main" id="{73CC3651-9070-2544-3DE7-B1F5241D2CB4}"/>
              </a:ext>
            </a:extLst>
          </p:cNvPr>
          <p:cNvSpPr/>
          <p:nvPr userDrawn="1"/>
        </p:nvSpPr>
        <p:spPr>
          <a:xfrm>
            <a:off x="168777" y="6445251"/>
            <a:ext cx="12023223" cy="41274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8" name="文本框 7">
            <a:extLst>
              <a:ext uri="{FF2B5EF4-FFF2-40B4-BE49-F238E27FC236}">
                <a16:creationId xmlns:a16="http://schemas.microsoft.com/office/drawing/2014/main" id="{B6D5D583-3D83-213B-220B-2DADD92EDCFB}"/>
              </a:ext>
            </a:extLst>
          </p:cNvPr>
          <p:cNvSpPr txBox="1">
            <a:spLocks noChangeArrowheads="1"/>
          </p:cNvSpPr>
          <p:nvPr userDrawn="1"/>
        </p:nvSpPr>
        <p:spPr bwMode="auto">
          <a:xfrm>
            <a:off x="11700474" y="6515100"/>
            <a:ext cx="2725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5169FF50-1D25-4263-B53B-ACA339EBE4E8}" type="slidenum">
              <a:rPr lang="en-GB" altLang="zh-CN" sz="1600" smtClean="0">
                <a:solidFill>
                  <a:srgbClr val="002060"/>
                </a:solidFill>
                <a:latin typeface="微软雅黑" panose="020B0503020204020204" pitchFamily="34" charset="-122"/>
                <a:ea typeface="微软雅黑" panose="020B0503020204020204" pitchFamily="34" charset="-122"/>
                <a:cs typeface="Arial" pitchFamily="34" charset="0"/>
              </a:rPr>
              <a:pPr eaLnBrk="1" hangingPunct="1"/>
              <a:t>‹#›</a:t>
            </a:fld>
            <a:endParaRPr lang="en-GB"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075751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7" name="流程图: 过程 6">
            <a:extLst>
              <a:ext uri="{FF2B5EF4-FFF2-40B4-BE49-F238E27FC236}">
                <a16:creationId xmlns:a16="http://schemas.microsoft.com/office/drawing/2014/main" id="{DF5FE356-776E-EF39-4817-5A1CC6E3CE88}"/>
              </a:ext>
            </a:extLst>
          </p:cNvPr>
          <p:cNvSpPr/>
          <p:nvPr userDrawn="1"/>
        </p:nvSpPr>
        <p:spPr>
          <a:xfrm>
            <a:off x="463552" y="6585727"/>
            <a:ext cx="11728449" cy="272274"/>
          </a:xfrm>
          <a:prstGeom prst="flowChartProcess">
            <a:avLst/>
          </a:prstGeom>
          <a:gradFill flip="none" rotWithShape="1">
            <a:gsLst>
              <a:gs pos="0">
                <a:schemeClr val="tx2">
                  <a:lumMod val="60000"/>
                  <a:lumOff val="40000"/>
                </a:schemeClr>
              </a:gs>
              <a:gs pos="6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b="0" dirty="0"/>
          </a:p>
        </p:txBody>
      </p:sp>
      <p:sp>
        <p:nvSpPr>
          <p:cNvPr id="9" name="TextBox 17">
            <a:extLst>
              <a:ext uri="{FF2B5EF4-FFF2-40B4-BE49-F238E27FC236}">
                <a16:creationId xmlns:a16="http://schemas.microsoft.com/office/drawing/2014/main" id="{E56F08AC-0BC3-A45C-8629-5E778CA56A91}"/>
              </a:ext>
            </a:extLst>
          </p:cNvPr>
          <p:cNvSpPr txBox="1">
            <a:spLocks noChangeArrowheads="1"/>
          </p:cNvSpPr>
          <p:nvPr userDrawn="1"/>
        </p:nvSpPr>
        <p:spPr bwMode="auto">
          <a:xfrm>
            <a:off x="1846537" y="6585727"/>
            <a:ext cx="1983239" cy="243656"/>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ts val="533"/>
              </a:lnSpc>
              <a:spcAft>
                <a:spcPts val="200"/>
              </a:spcAft>
              <a:defRPr/>
            </a:pPr>
            <a:r>
              <a:rPr kumimoji="0" lang="zh-CN" altLang="en-US" sz="900" b="0" baseline="0" dirty="0">
                <a:solidFill>
                  <a:srgbClr val="004097"/>
                </a:solidFill>
                <a:latin typeface="华文行楷" panose="02010800040101010101" pitchFamily="2" charset="-122"/>
                <a:ea typeface="华文行楷" panose="02010800040101010101" pitchFamily="2" charset="-122"/>
              </a:rPr>
              <a:t>  </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0" lang="zh-CN" altLang="en-US" sz="1000" b="0" baseline="0" dirty="0">
                <a:solidFill>
                  <a:srgbClr val="004097"/>
                </a:solidFill>
                <a:latin typeface="华文行楷" panose="02010800040101010101" pitchFamily="2" charset="-122"/>
                <a:ea typeface="华文行楷" panose="02010800040101010101" pitchFamily="2" charset="-122"/>
              </a:rPr>
              <a:t>飞行器基础布局全国重点实验室</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1" lang="en-US" altLang="zh-CN" sz="533" b="1" kern="1200" baseline="0" dirty="0">
                <a:solidFill>
                  <a:srgbClr val="004097"/>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500" b="1" kern="1200"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rPr>
              <a:t>National Key Laboratory of Aircraft Configuration Design</a:t>
            </a:r>
            <a:endParaRPr lang="zh-CN" altLang="en-US" sz="533"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94FD8742-88EF-ABF4-3EC3-E00653652D37}"/>
              </a:ext>
            </a:extLst>
          </p:cNvPr>
          <p:cNvPicPr>
            <a:picLocks noChangeAspect="1"/>
          </p:cNvPicPr>
          <p:nvPr userDrawn="1"/>
        </p:nvPicPr>
        <p:blipFill rotWithShape="1">
          <a:blip r:embed="rId2" cstate="print"/>
          <a:srcRect r="79416"/>
          <a:stretch/>
        </p:blipFill>
        <p:spPr>
          <a:xfrm>
            <a:off x="4008867" y="6608049"/>
            <a:ext cx="305191" cy="220662"/>
          </a:xfrm>
          <a:prstGeom prst="rect">
            <a:avLst/>
          </a:prstGeom>
        </p:spPr>
      </p:pic>
      <p:sp>
        <p:nvSpPr>
          <p:cNvPr id="15" name="TextBox 17">
            <a:extLst>
              <a:ext uri="{FF2B5EF4-FFF2-40B4-BE49-F238E27FC236}">
                <a16:creationId xmlns:a16="http://schemas.microsoft.com/office/drawing/2014/main" id="{28FCC62F-29D7-422F-7CDB-28899C7EAEE0}"/>
              </a:ext>
            </a:extLst>
          </p:cNvPr>
          <p:cNvSpPr txBox="1">
            <a:spLocks noChangeArrowheads="1"/>
          </p:cNvSpPr>
          <p:nvPr userDrawn="1"/>
        </p:nvSpPr>
        <p:spPr bwMode="auto">
          <a:xfrm>
            <a:off x="4274591" y="6585727"/>
            <a:ext cx="1995866" cy="243656"/>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ts val="533"/>
              </a:lnSpc>
              <a:spcAft>
                <a:spcPts val="200"/>
              </a:spcAft>
              <a:defRPr/>
            </a:pPr>
            <a:r>
              <a:rPr kumimoji="0" lang="zh-CN" altLang="en-US" sz="900" b="0" baseline="0" dirty="0">
                <a:solidFill>
                  <a:srgbClr val="004097"/>
                </a:solidFill>
                <a:latin typeface="华文行楷" panose="02010800040101010101" pitchFamily="2" charset="-122"/>
                <a:ea typeface="华文行楷" panose="02010800040101010101" pitchFamily="2" charset="-122"/>
              </a:rPr>
              <a:t>       </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0" lang="zh-CN" altLang="en-US" sz="1000" b="0" baseline="0" dirty="0">
                <a:solidFill>
                  <a:srgbClr val="004097"/>
                </a:solidFill>
                <a:latin typeface="华文行楷" panose="02010800040101010101" pitchFamily="2" charset="-122"/>
                <a:ea typeface="华文行楷" panose="02010800040101010101" pitchFamily="2" charset="-122"/>
              </a:rPr>
              <a:t>气动与多学科优化设计研究所</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1" lang="en-US" altLang="zh-CN" sz="500" b="1" kern="1200"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rPr>
              <a:t> Institute of Aerodynamic and Multidisciplinary Design Optimization</a:t>
            </a:r>
            <a:endParaRPr kumimoji="1" lang="zh-CN" altLang="en-US" sz="500" b="1" kern="1200"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 name="图片 15" descr="徽标, 公司名称&#10;&#10;描述已自动生成">
            <a:extLst>
              <a:ext uri="{FF2B5EF4-FFF2-40B4-BE49-F238E27FC236}">
                <a16:creationId xmlns:a16="http://schemas.microsoft.com/office/drawing/2014/main" id="{348A36C4-3B0C-AC99-0452-2A4CBAB6B97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1200" t="34750" r="12986" b="38625"/>
          <a:stretch/>
        </p:blipFill>
        <p:spPr>
          <a:xfrm>
            <a:off x="168777" y="6597237"/>
            <a:ext cx="1237564" cy="231474"/>
          </a:xfrm>
          <a:prstGeom prst="rect">
            <a:avLst/>
          </a:prstGeom>
        </p:spPr>
      </p:pic>
      <p:pic>
        <p:nvPicPr>
          <p:cNvPr id="18" name="Picture 4" descr="国防logo">
            <a:extLst>
              <a:ext uri="{FF2B5EF4-FFF2-40B4-BE49-F238E27FC236}">
                <a16:creationId xmlns:a16="http://schemas.microsoft.com/office/drawing/2014/main" id="{19781FD9-F228-E798-7682-BEE431A63A00}"/>
              </a:ext>
            </a:extLst>
          </p:cNvPr>
          <p:cNvPicPr>
            <a:picLocks noChangeAspect="1" noChangeArrowheads="1"/>
          </p:cNvPicPr>
          <p:nvPr userDrawn="1"/>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603098" y="6597237"/>
            <a:ext cx="279589" cy="23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直接连接符 18">
            <a:extLst>
              <a:ext uri="{FF2B5EF4-FFF2-40B4-BE49-F238E27FC236}">
                <a16:creationId xmlns:a16="http://schemas.microsoft.com/office/drawing/2014/main" id="{AD799EF4-5209-6D9C-60DC-55BE69D7C3CF}"/>
              </a:ext>
            </a:extLst>
          </p:cNvPr>
          <p:cNvCxnSpPr>
            <a:cxnSpLocks/>
          </p:cNvCxnSpPr>
          <p:nvPr userDrawn="1"/>
        </p:nvCxnSpPr>
        <p:spPr>
          <a:xfrm>
            <a:off x="246000" y="747485"/>
            <a:ext cx="11700000" cy="0"/>
          </a:xfrm>
          <a:prstGeom prst="line">
            <a:avLst/>
          </a:prstGeom>
          <a:ln w="19050">
            <a:solidFill>
              <a:srgbClr val="002060"/>
            </a:solidFill>
            <a:tailEnd type="none"/>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E27817B-A09C-A614-A85A-2B87FBA3C94B}"/>
              </a:ext>
            </a:extLst>
          </p:cNvPr>
          <p:cNvSpPr/>
          <p:nvPr userDrawn="1"/>
        </p:nvSpPr>
        <p:spPr>
          <a:xfrm>
            <a:off x="168777" y="6445251"/>
            <a:ext cx="12023223" cy="41274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0875D557-BA29-4F2F-0E1A-1C68131D65BF}"/>
              </a:ext>
            </a:extLst>
          </p:cNvPr>
          <p:cNvSpPr txBox="1">
            <a:spLocks noChangeArrowheads="1"/>
          </p:cNvSpPr>
          <p:nvPr userDrawn="1"/>
        </p:nvSpPr>
        <p:spPr bwMode="auto">
          <a:xfrm>
            <a:off x="11700474" y="6515100"/>
            <a:ext cx="2725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5169FF50-1D25-4263-B53B-ACA339EBE4E8}" type="slidenum">
              <a:rPr lang="en-GB" altLang="zh-CN" sz="1600" smtClean="0">
                <a:solidFill>
                  <a:srgbClr val="002060"/>
                </a:solidFill>
                <a:latin typeface="微软雅黑" panose="020B0503020204020204" pitchFamily="34" charset="-122"/>
                <a:ea typeface="微软雅黑" panose="020B0503020204020204" pitchFamily="34" charset="-122"/>
                <a:cs typeface="Arial" pitchFamily="34" charset="0"/>
              </a:rPr>
              <a:pPr eaLnBrk="1" hangingPunct="1"/>
              <a:t>‹#›</a:t>
            </a:fld>
            <a:endParaRPr lang="en-GB"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439236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AF1924-1D13-8114-5EC0-DBDF9F4C7E1B}"/>
              </a:ext>
            </a:extLst>
          </p:cNvPr>
          <p:cNvSpPr/>
          <p:nvPr userDrawn="1"/>
        </p:nvSpPr>
        <p:spPr>
          <a:xfrm>
            <a:off x="419100" y="6604000"/>
            <a:ext cx="11772900" cy="254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2404087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流程图: 过程 11"/>
          <p:cNvSpPr/>
          <p:nvPr userDrawn="1"/>
        </p:nvSpPr>
        <p:spPr>
          <a:xfrm>
            <a:off x="463552" y="6637338"/>
            <a:ext cx="11728449" cy="220662"/>
          </a:xfrm>
          <a:prstGeom prst="flowChartProcess">
            <a:avLst/>
          </a:prstGeom>
          <a:gradFill flip="none" rotWithShape="1">
            <a:gsLst>
              <a:gs pos="0">
                <a:schemeClr val="tx2">
                  <a:lumMod val="60000"/>
                  <a:lumOff val="40000"/>
                </a:schemeClr>
              </a:gs>
              <a:gs pos="6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b="0"/>
          </a:p>
        </p:txBody>
      </p:sp>
      <p:sp>
        <p:nvSpPr>
          <p:cNvPr id="22" name="文本框 7"/>
          <p:cNvSpPr txBox="1">
            <a:spLocks noChangeArrowheads="1"/>
          </p:cNvSpPr>
          <p:nvPr/>
        </p:nvSpPr>
        <p:spPr bwMode="auto">
          <a:xfrm>
            <a:off x="11853144" y="6661150"/>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D5E0037A-9D1D-439F-950C-9A7AC256782F}" type="slidenum">
              <a:rPr lang="en-GB" altLang="zh-CN" sz="1200" smtClean="0">
                <a:solidFill>
                  <a:schemeClr val="bg1"/>
                </a:solidFill>
                <a:latin typeface="Arial" pitchFamily="34" charset="0"/>
                <a:cs typeface="Arial" pitchFamily="34" charset="0"/>
              </a:rPr>
              <a:pPr eaLnBrk="1" hangingPunct="1"/>
              <a:t>‹#›</a:t>
            </a:fld>
            <a:endParaRPr lang="en-GB" altLang="zh-CN" sz="1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318367548"/>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3" r:id="rId3"/>
    <p:sldLayoutId id="2147483664" r:id="rId4"/>
  </p:sldLayoutIdLst>
  <p:hf hdr="0" dt="0"/>
  <p:txStyles>
    <p:titleStyle>
      <a:lvl1pPr algn="l" defTabSz="914400" rtl="0" eaLnBrk="1" latinLnBrk="0" hangingPunct="1">
        <a:spcBef>
          <a:spcPct val="0"/>
        </a:spcBef>
        <a:buNone/>
        <a:defRPr sz="2800" b="1" kern="1200">
          <a:solidFill>
            <a:srgbClr val="686868"/>
          </a:solidFill>
          <a:latin typeface="黑体" pitchFamily="49" charset="-122"/>
          <a:ea typeface="黑体" pitchFamily="49" charset="-122"/>
          <a:cs typeface="Arial" pitchFamily="34" charset="0"/>
        </a:defRPr>
      </a:lvl1pPr>
    </p:titleStyle>
    <p:bodyStyle>
      <a:lvl1pPr marL="180000" indent="-180000" algn="l" defTabSz="914400" rtl="0" eaLnBrk="1" latinLnBrk="0" hangingPunct="1">
        <a:spcBef>
          <a:spcPts val="300"/>
        </a:spcBef>
        <a:spcAft>
          <a:spcPts val="0"/>
        </a:spcAft>
        <a:buFont typeface="Arial" pitchFamily="34" charset="0"/>
        <a:buChar char="•"/>
        <a:defRPr sz="2000" kern="1200">
          <a:solidFill>
            <a:schemeClr val="tx1"/>
          </a:solidFill>
          <a:latin typeface="宋体" pitchFamily="2" charset="-122"/>
          <a:ea typeface="宋体" pitchFamily="2" charset="-122"/>
          <a:cs typeface="Arial" pitchFamily="34" charset="0"/>
        </a:defRPr>
      </a:lvl1pPr>
      <a:lvl2pPr marL="6264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2pPr>
      <a:lvl3pPr marL="10764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3pPr>
      <a:lvl4pPr marL="15228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4pPr>
      <a:lvl5pPr marL="19692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uavecode/SUAVE"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github.com/suavecode/Tutorial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suavecode/SUAVE"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hyperlink" Target="https://github.com/suavecode/Tutorial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w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27AC507-31BA-ACC3-D74E-D1EF65417EDF}"/>
              </a:ext>
            </a:extLst>
          </p:cNvPr>
          <p:cNvPicPr>
            <a:picLocks noChangeAspect="1"/>
          </p:cNvPicPr>
          <p:nvPr/>
        </p:nvPicPr>
        <p:blipFill>
          <a:blip r:embed="rId3">
            <a:alphaModFix amt="15000"/>
          </a:blip>
          <a:stretch>
            <a:fillRect/>
          </a:stretch>
        </p:blipFill>
        <p:spPr>
          <a:xfrm>
            <a:off x="2252873" y="1712457"/>
            <a:ext cx="7686254" cy="5003802"/>
          </a:xfrm>
          <a:prstGeom prst="rect">
            <a:avLst/>
          </a:prstGeom>
        </p:spPr>
      </p:pic>
      <p:sp>
        <p:nvSpPr>
          <p:cNvPr id="12" name="标题 1"/>
          <p:cNvSpPr txBox="1">
            <a:spLocks/>
          </p:cNvSpPr>
          <p:nvPr/>
        </p:nvSpPr>
        <p:spPr bwMode="auto">
          <a:xfrm>
            <a:off x="1883532" y="2340799"/>
            <a:ext cx="8424936" cy="1863727"/>
          </a:xfrm>
          <a:prstGeom prst="rect">
            <a:avLst/>
          </a:prstGeom>
          <a:noFill/>
          <a:ln>
            <a:miter lim="800000"/>
            <a:headEnd/>
            <a:tailEnd/>
          </a:ln>
          <a:effectLst/>
        </p:spPr>
        <p:txBody>
          <a:bodyPr/>
          <a:lstStyle>
            <a:defPPr>
              <a:defRPr lang="zh-CN"/>
            </a:defPPr>
            <a:lvl1pPr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9pPr>
          </a:lstStyle>
          <a:p>
            <a:pPr algn="ctr" eaLnBrk="1" hangingPunct="1">
              <a:lnSpc>
                <a:spcPct val="120000"/>
              </a:lnSpc>
            </a:pPr>
            <a:r>
              <a:rPr lang="en-US" altLang="zh-CN" sz="5400" dirty="0">
                <a:solidFill>
                  <a:srgbClr val="002060"/>
                </a:solidFill>
              </a:rPr>
              <a:t>Design Conceptual Aircraft</a:t>
            </a:r>
          </a:p>
          <a:p>
            <a:pPr algn="ctr" eaLnBrk="1" hangingPunct="1">
              <a:lnSpc>
                <a:spcPct val="120000"/>
              </a:lnSpc>
            </a:pPr>
            <a:r>
              <a:rPr lang="en-US" altLang="zh-CN" sz="5400" dirty="0">
                <a:solidFill>
                  <a:srgbClr val="002060"/>
                </a:solidFill>
              </a:rPr>
              <a:t> via SUAVE</a:t>
            </a:r>
            <a:endParaRPr lang="en-US" altLang="zh-CN" sz="5400" dirty="0">
              <a:solidFill>
                <a:srgbClr val="002060"/>
              </a:solidFill>
              <a:latin typeface="微软雅黑" pitchFamily="34" charset="-122"/>
              <a:ea typeface="微软雅黑" pitchFamily="34" charset="-122"/>
            </a:endParaRPr>
          </a:p>
        </p:txBody>
      </p:sp>
      <p:sp>
        <p:nvSpPr>
          <p:cNvPr id="2" name="矩形 1">
            <a:extLst>
              <a:ext uri="{FF2B5EF4-FFF2-40B4-BE49-F238E27FC236}">
                <a16:creationId xmlns:a16="http://schemas.microsoft.com/office/drawing/2014/main" id="{D6D6EECA-F9F9-6DE6-A7FF-4935E3716634}"/>
              </a:ext>
            </a:extLst>
          </p:cNvPr>
          <p:cNvSpPr>
            <a:spLocks noChangeArrowheads="1"/>
          </p:cNvSpPr>
          <p:nvPr/>
        </p:nvSpPr>
        <p:spPr bwMode="auto">
          <a:xfrm>
            <a:off x="3314990" y="5127877"/>
            <a:ext cx="5562020" cy="1369799"/>
          </a:xfrm>
          <a:prstGeom prst="rect">
            <a:avLst/>
          </a:prstGeom>
          <a:noFill/>
          <a:ln w="9525">
            <a:noFill/>
            <a:miter lim="800000"/>
            <a:headEnd/>
            <a:tailEnd/>
          </a:ln>
          <a:effectLst>
            <a:outerShdw blurRad="50800" dist="12700" dir="6900000" sx="83000" sy="83000" algn="tl" rotWithShape="0">
              <a:prstClr val="black">
                <a:alpha val="54000"/>
              </a:prstClr>
            </a:outerShdw>
          </a:effectLst>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Student Lecturer: Lin Yi</a:t>
            </a:r>
          </a:p>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Date</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March 17, 2026</a:t>
            </a:r>
          </a:p>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Email</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linyi@mail.nwpu.edu.cn</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479985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0665-6601-DC53-2F95-0CEE7E67C39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F8DCF8C-B1F5-1A54-C237-A9A8B016EE15}"/>
              </a:ext>
            </a:extLst>
          </p:cNvPr>
          <p:cNvSpPr/>
          <p:nvPr/>
        </p:nvSpPr>
        <p:spPr>
          <a:xfrm>
            <a:off x="766676" y="241309"/>
            <a:ext cx="3240174" cy="678787"/>
          </a:xfrm>
          <a:prstGeom prst="rect">
            <a:avLst/>
          </a:prstGeom>
          <a:solidFill>
            <a:srgbClr val="002060"/>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cs typeface="Arial" pitchFamily="34" charset="0"/>
              </a:rPr>
              <a:t>content</a:t>
            </a:r>
            <a:endParaRPr lang="zh-CN" altLang="en-US" sz="2800" b="1"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4" name="文本框 3">
            <a:extLst>
              <a:ext uri="{FF2B5EF4-FFF2-40B4-BE49-F238E27FC236}">
                <a16:creationId xmlns:a16="http://schemas.microsoft.com/office/drawing/2014/main" id="{2AD5AD5A-F635-8C06-1061-FF2ED9685C2D}"/>
              </a:ext>
            </a:extLst>
          </p:cNvPr>
          <p:cNvSpPr txBox="1"/>
          <p:nvPr/>
        </p:nvSpPr>
        <p:spPr>
          <a:xfrm>
            <a:off x="5401757" y="1106211"/>
            <a:ext cx="6096000" cy="442903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Background Introduction</a:t>
            </a:r>
          </a:p>
          <a:p>
            <a:pPr marL="342900" indent="-342900">
              <a:lnSpc>
                <a:spcPct val="150000"/>
              </a:lnSpc>
              <a:buFont typeface="Arial" panose="020B0604020202020204" pitchFamily="34" charset="0"/>
              <a:buChar char="•"/>
            </a:pP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Prepare</a:t>
            </a:r>
          </a:p>
          <a:p>
            <a:pPr marL="342900" indent="-342900">
              <a:lnSpc>
                <a:spcPct val="150000"/>
              </a:lnSpc>
              <a:buFont typeface="Arial" panose="020B0604020202020204" pitchFamily="34" charset="0"/>
              <a:buChar char="•"/>
            </a:pP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Overall</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Design Process</a:t>
            </a:r>
          </a:p>
          <a:p>
            <a:pPr marL="800100" lvl="1" indent="-342900">
              <a:lnSpc>
                <a:spcPct val="150000"/>
              </a:lnSpc>
              <a:buFont typeface="Wingdings" panose="05000000000000000000" pitchFamily="2" charset="2"/>
              <a:buChar char="Ø"/>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Design Flowchart</a:t>
            </a:r>
          </a:p>
          <a:p>
            <a:pPr marL="800100" lvl="1" indent="-342900">
              <a:lnSpc>
                <a:spcPct val="150000"/>
              </a:lnSpc>
              <a:buFont typeface="Wingdings" panose="05000000000000000000" pitchFamily="2" charset="2"/>
              <a:buChar char="Ø"/>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Case Implementation</a:t>
            </a:r>
          </a:p>
          <a:p>
            <a:pPr marL="342900" indent="-342900">
              <a:lnSpc>
                <a:spcPct val="150000"/>
              </a:lnSpc>
              <a:buFont typeface="Arial" panose="020B0604020202020204" pitchFamily="34" charset="0"/>
              <a:buChar char="•"/>
            </a:pP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Main</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Modules</a:t>
            </a:r>
          </a:p>
          <a:p>
            <a:pPr marL="800100" lvl="1" indent="-342900">
              <a:lnSpc>
                <a:spcPct val="150000"/>
              </a:lnSpc>
              <a:buFont typeface="Wingdings" panose="05000000000000000000" pitchFamily="2" charset="2"/>
              <a:buChar char="Ø"/>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Vehicle</a:t>
            </a:r>
          </a:p>
          <a:p>
            <a:pPr marL="800100" lvl="1" indent="-342900">
              <a:lnSpc>
                <a:spcPct val="150000"/>
              </a:lnSpc>
              <a:buFont typeface="Wingdings" panose="05000000000000000000" pitchFamily="2" charset="2"/>
              <a:buChar char="Ø"/>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Mission</a:t>
            </a:r>
          </a:p>
          <a:p>
            <a:pPr marL="800100" lvl="1" indent="-342900">
              <a:lnSpc>
                <a:spcPct val="150000"/>
              </a:lnSpc>
              <a:buFont typeface="Wingdings" panose="05000000000000000000" pitchFamily="2" charset="2"/>
              <a:buChar char="Ø"/>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Aerodynamic Analysis</a:t>
            </a:r>
          </a:p>
          <a:p>
            <a:pPr marL="342900" indent="-342900">
              <a:lnSpc>
                <a:spcPct val="150000"/>
              </a:lnSpc>
              <a:buFont typeface="Arial" panose="020B0604020202020204" pitchFamily="34" charset="0"/>
              <a:buChar char="•"/>
            </a:pP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Customization &amp; Extension</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2271921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159C3-631B-37EE-E2B3-66D8074240F9}"/>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Background Introduction</a:t>
            </a:r>
            <a:endParaRPr lang="en-US" altLang="zh-CN" dirty="0">
              <a:solidFill>
                <a:srgbClr val="00206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CB4C85D-31E6-AC34-DE47-A78DCE091832}"/>
              </a:ext>
            </a:extLst>
          </p:cNvPr>
          <p:cNvPicPr>
            <a:picLocks noChangeAspect="1"/>
          </p:cNvPicPr>
          <p:nvPr/>
        </p:nvPicPr>
        <p:blipFill>
          <a:blip r:embed="rId3">
            <a:alphaModFix/>
          </a:blip>
          <a:stretch>
            <a:fillRect/>
          </a:stretch>
        </p:blipFill>
        <p:spPr>
          <a:xfrm>
            <a:off x="6096000" y="1682961"/>
            <a:ext cx="5721573" cy="3724782"/>
          </a:xfrm>
          <a:prstGeom prst="rect">
            <a:avLst/>
          </a:prstGeom>
        </p:spPr>
      </p:pic>
      <p:sp>
        <p:nvSpPr>
          <p:cNvPr id="5" name="文本框 4">
            <a:extLst>
              <a:ext uri="{FF2B5EF4-FFF2-40B4-BE49-F238E27FC236}">
                <a16:creationId xmlns:a16="http://schemas.microsoft.com/office/drawing/2014/main" id="{121939E5-6053-EC1A-5E0D-2F75783409D6}"/>
              </a:ext>
            </a:extLst>
          </p:cNvPr>
          <p:cNvSpPr txBox="1"/>
          <p:nvPr/>
        </p:nvSpPr>
        <p:spPr>
          <a:xfrm>
            <a:off x="211886" y="1682961"/>
            <a:ext cx="5539985" cy="3908762"/>
          </a:xfrm>
          <a:prstGeom prst="rect">
            <a:avLst/>
          </a:prstGeom>
          <a:noFill/>
        </p:spPr>
        <p:txBody>
          <a:bodyPr wrap="square">
            <a:spAutoFit/>
          </a:bodyPr>
          <a:lstStyle/>
          <a:p>
            <a:pPr algn="just"/>
            <a:r>
              <a:rPr lang="en-US" altLang="zh-CN" sz="2000" b="0" i="0" dirty="0">
                <a:solidFill>
                  <a:srgbClr val="002060"/>
                </a:solidFill>
                <a:effectLst/>
                <a:latin typeface="Times New Roman" panose="02020603050405020304" pitchFamily="18" charset="0"/>
                <a:cs typeface="Times New Roman" panose="02020603050405020304" pitchFamily="18" charset="0"/>
              </a:rPr>
              <a:t>SUAVE is a conceptual level aircraft design environment built with the ability to analyze and optimize both conventional and unconventional designs. This capability is achieved in part by allowing analysis information for aircraft to be drawn from multiple sources. Many other software tools for aircraft conceptual design rely on fixed empirical correlations and other handbook approximation. </a:t>
            </a:r>
            <a:r>
              <a:rPr lang="en-US" altLang="zh-CN" sz="2200" b="1" i="0" dirty="0">
                <a:solidFill>
                  <a:srgbClr val="C00000"/>
                </a:solidFill>
                <a:effectLst/>
                <a:latin typeface="Times New Roman" panose="02020603050405020304" pitchFamily="18" charset="0"/>
                <a:cs typeface="Times New Roman" panose="02020603050405020304" pitchFamily="18" charset="0"/>
              </a:rPr>
              <a:t>SUAVE instead provides a framework</a:t>
            </a:r>
            <a:r>
              <a:rPr lang="en-US" altLang="zh-CN" sz="2000" b="0" i="0" dirty="0">
                <a:solidFill>
                  <a:srgbClr val="002060"/>
                </a:solidFill>
                <a:effectLst/>
                <a:latin typeface="Times New Roman" panose="02020603050405020304" pitchFamily="18" charset="0"/>
                <a:cs typeface="Times New Roman" panose="02020603050405020304" pitchFamily="18" charset="0"/>
              </a:rPr>
              <a:t> that can be used to design aircraft featuring advanced technologies by augmenting relevant correlations with physics-based methods.</a:t>
            </a:r>
            <a:endParaRPr lang="zh-CN" alt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9718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CBD9D6-F49C-5670-E7AC-81830A47736C}"/>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lang="en-US" altLang="zh-CN" dirty="0">
                <a:solidFill>
                  <a:srgbClr val="002060"/>
                </a:solidFill>
                <a:latin typeface="Arial" panose="020B0604020202020204" pitchFamily="34" charset="0"/>
                <a:ea typeface="微软雅黑" panose="020B0503020204020204" pitchFamily="34" charset="-122"/>
                <a:sym typeface="Arial" panose="020B0604020202020204" pitchFamily="34" charset="0"/>
              </a:rPr>
              <a:t>2</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Prepare</a:t>
            </a:r>
            <a:endParaRPr lang="en-US" altLang="zh-CN" dirty="0">
              <a:solidFill>
                <a:srgbClr val="00206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91F18C2-6205-2767-2D0D-217823C0A545}"/>
              </a:ext>
            </a:extLst>
          </p:cNvPr>
          <p:cNvSpPr txBox="1"/>
          <p:nvPr/>
        </p:nvSpPr>
        <p:spPr>
          <a:xfrm>
            <a:off x="710649" y="1792729"/>
            <a:ext cx="6401351" cy="1021556"/>
          </a:xfrm>
          <a:prstGeom prst="roundRect">
            <a:avLst/>
          </a:prstGeom>
          <a:solidFill>
            <a:srgbClr val="2D2D30"/>
          </a:solidFill>
        </p:spPr>
        <p:txBody>
          <a:bodyPr wrap="square" lIns="0" tIns="0" rIns="0" bIns="0" rtlCol="0">
            <a:spAutoFit/>
          </a:bodyPr>
          <a:lstStyle/>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cmd</a:t>
            </a:r>
            <a:endParaRPr lang="en-US" altLang="zh-CN" sz="2000" dirty="0">
              <a:solidFill>
                <a:schemeClr val="bg1"/>
              </a:solidFill>
              <a:latin typeface="Consolas" panose="020B0609020204030204" pitchFamily="49" charset="0"/>
              <a:ea typeface="微软雅黑" panose="020B0503020204020204" pitchFamily="34" charset="-122"/>
              <a:cs typeface="Arial" pitchFamily="34" charset="0"/>
            </a:endParaRPr>
          </a:p>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conda</a:t>
            </a:r>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 create –n suave python = 3.60</a:t>
            </a:r>
          </a:p>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conda</a:t>
            </a:r>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 activate suave</a:t>
            </a:r>
            <a:endParaRPr lang="zh-CN" altLang="en-US" sz="2000" dirty="0">
              <a:solidFill>
                <a:schemeClr val="bg1"/>
              </a:solidFill>
              <a:latin typeface="Consolas" panose="020B0609020204030204" pitchFamily="49" charset="0"/>
              <a:ea typeface="微软雅黑" panose="020B0503020204020204" pitchFamily="34" charset="-122"/>
              <a:cs typeface="Arial" pitchFamily="34" charset="0"/>
            </a:endParaRPr>
          </a:p>
        </p:txBody>
      </p:sp>
      <p:graphicFrame>
        <p:nvGraphicFramePr>
          <p:cNvPr id="5" name="表格 4">
            <a:extLst>
              <a:ext uri="{FF2B5EF4-FFF2-40B4-BE49-F238E27FC236}">
                <a16:creationId xmlns:a16="http://schemas.microsoft.com/office/drawing/2014/main" id="{EBC8FB12-70F3-76B6-5E24-58C01430936E}"/>
              </a:ext>
            </a:extLst>
          </p:cNvPr>
          <p:cNvGraphicFramePr>
            <a:graphicFrameLocks noGrp="1"/>
          </p:cNvGraphicFramePr>
          <p:nvPr>
            <p:extLst>
              <p:ext uri="{D42A27DB-BD31-4B8C-83A1-F6EECF244321}">
                <p14:modId xmlns:p14="http://schemas.microsoft.com/office/powerpoint/2010/main" val="817240631"/>
              </p:ext>
            </p:extLst>
          </p:nvPr>
        </p:nvGraphicFramePr>
        <p:xfrm>
          <a:off x="7427138" y="1684813"/>
          <a:ext cx="4552978" cy="3200400"/>
        </p:xfrm>
        <a:graphic>
          <a:graphicData uri="http://schemas.openxmlformats.org/drawingml/2006/table">
            <a:tbl>
              <a:tblPr firstRow="1" bandRow="1">
                <a:tableStyleId>{5C22544A-7EE6-4342-B048-85BDC9FD1C3A}</a:tableStyleId>
              </a:tblPr>
              <a:tblGrid>
                <a:gridCol w="2276489">
                  <a:extLst>
                    <a:ext uri="{9D8B030D-6E8A-4147-A177-3AD203B41FA5}">
                      <a16:colId xmlns:a16="http://schemas.microsoft.com/office/drawing/2014/main" val="1207367569"/>
                    </a:ext>
                  </a:extLst>
                </a:gridCol>
                <a:gridCol w="2276489">
                  <a:extLst>
                    <a:ext uri="{9D8B030D-6E8A-4147-A177-3AD203B41FA5}">
                      <a16:colId xmlns:a16="http://schemas.microsoft.com/office/drawing/2014/main" val="4045598875"/>
                    </a:ext>
                  </a:extLst>
                </a:gridCol>
              </a:tblGrid>
              <a:tr h="456901">
                <a:tc>
                  <a:txBody>
                    <a:bodyPr/>
                    <a:lstStyle/>
                    <a:p>
                      <a:pPr algn="ctr"/>
                      <a:r>
                        <a:rPr lang="en-US" altLang="zh-CN" sz="2400" dirty="0">
                          <a:solidFill>
                            <a:schemeClr val="tx1"/>
                          </a:solidFill>
                          <a:latin typeface="Consolas" panose="020B0609020204030204" pitchFamily="49" charset="0"/>
                          <a:ea typeface="黑体" panose="02010609060101010101" pitchFamily="49" charset="-122"/>
                        </a:rPr>
                        <a:t>Libraries</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dirty="0">
                          <a:solidFill>
                            <a:schemeClr val="tx1"/>
                          </a:solidFill>
                          <a:latin typeface="Consolas" panose="020B0609020204030204" pitchFamily="49" charset="0"/>
                          <a:ea typeface="黑体" panose="02010609060101010101" pitchFamily="49" charset="-122"/>
                        </a:rPr>
                        <a:t>version</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2022383"/>
                  </a:ext>
                </a:extLst>
              </a:tr>
              <a:tr h="456901">
                <a:tc>
                  <a:txBody>
                    <a:bodyPr/>
                    <a:lstStyle/>
                    <a:p>
                      <a:pPr algn="ct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matplotlib</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3.3.4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62686602"/>
                  </a:ext>
                </a:extLst>
              </a:tr>
              <a:tr h="456901">
                <a:tc>
                  <a:txBody>
                    <a:bodyPr/>
                    <a:lstStyle/>
                    <a:p>
                      <a:pPr algn="ctr"/>
                      <a:r>
                        <a:rPr lang="en-US" altLang="zh-CN" sz="2400" dirty="0" err="1">
                          <a:solidFill>
                            <a:srgbClr val="002060"/>
                          </a:solidFill>
                          <a:latin typeface="Consolas" panose="020B0609020204030204" pitchFamily="49" charset="0"/>
                          <a:ea typeface="微软雅黑" panose="020B0503020204020204" pitchFamily="34" charset="-122"/>
                          <a:cs typeface="Arial" pitchFamily="34" charset="0"/>
                        </a:rPr>
                        <a:t>numpy</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1.16.6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54798316"/>
                  </a:ext>
                </a:extLst>
              </a:tr>
              <a:tr h="456901">
                <a:tc>
                  <a:txBody>
                    <a:bodyPr/>
                    <a:lstStyle/>
                    <a:p>
                      <a:pPr algn="ctr"/>
                      <a:r>
                        <a:rPr lang="en-US" altLang="zh-CN" sz="2400" dirty="0" err="1">
                          <a:solidFill>
                            <a:srgbClr val="002060"/>
                          </a:solidFill>
                          <a:latin typeface="Consolas" panose="020B0609020204030204" pitchFamily="49" charset="0"/>
                          <a:ea typeface="微软雅黑" panose="020B0503020204020204" pitchFamily="34" charset="-122"/>
                          <a:cs typeface="Arial" pitchFamily="34" charset="0"/>
                        </a:rPr>
                        <a:t>scipy</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1.2.3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6068009"/>
                  </a:ext>
                </a:extLst>
              </a:tr>
              <a:tr h="456901">
                <a:tc>
                  <a:txBody>
                    <a:bodyPr/>
                    <a:lstStyle/>
                    <a:p>
                      <a:pPr algn="ct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scikit-learn</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0.18.2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6324054"/>
                  </a:ext>
                </a:extLst>
              </a:tr>
              <a:tr h="456901">
                <a:tc>
                  <a:txBody>
                    <a:bodyPr/>
                    <a:lstStyle/>
                    <a:p>
                      <a:pPr algn="ctr"/>
                      <a:r>
                        <a:rPr lang="en-US" altLang="zh-CN" sz="2400" dirty="0" err="1">
                          <a:solidFill>
                            <a:srgbClr val="002060"/>
                          </a:solidFill>
                          <a:latin typeface="Consolas" panose="020B0609020204030204" pitchFamily="49" charset="0"/>
                          <a:ea typeface="微软雅黑" panose="020B0503020204020204" pitchFamily="34" charset="-122"/>
                          <a:cs typeface="Arial" pitchFamily="34" charset="0"/>
                        </a:rPr>
                        <a:t>plotly</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5.18.0</a:t>
                      </a:r>
                    </a:p>
                  </a:txBody>
                  <a:tcP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021117"/>
                  </a:ext>
                </a:extLst>
              </a:tr>
              <a:tr h="456901">
                <a:tc>
                  <a:txBody>
                    <a:bodyPr/>
                    <a:lstStyle/>
                    <a:p>
                      <a:pPr algn="ctr"/>
                      <a:r>
                        <a:rPr lang="en-US" altLang="zh-CN" sz="2400" dirty="0" err="1">
                          <a:solidFill>
                            <a:srgbClr val="002060"/>
                          </a:solidFill>
                          <a:latin typeface="Consolas" panose="020B0609020204030204" pitchFamily="49" charset="0"/>
                          <a:ea typeface="微软雅黑" panose="020B0503020204020204" pitchFamily="34" charset="-122"/>
                          <a:cs typeface="Arial" pitchFamily="34" charset="0"/>
                        </a:rPr>
                        <a:t>openvsp</a:t>
                      </a:r>
                      <a:endParaRPr lang="zh-CN" altLang="en-US" sz="2400" dirty="0">
                        <a:solidFill>
                          <a:schemeClr val="tx1"/>
                        </a:solidFill>
                        <a:latin typeface="Consolas" panose="020B0609020204030204" pitchFamily="49" charset="0"/>
                        <a:ea typeface="黑体" panose="02010609060101010101" pitchFamily="49" charset="-122"/>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02060"/>
                          </a:solidFill>
                          <a:latin typeface="Consolas" panose="020B0609020204030204" pitchFamily="49" charset="0"/>
                          <a:ea typeface="微软雅黑" panose="020B0503020204020204" pitchFamily="34" charset="-122"/>
                          <a:cs typeface="Arial" pitchFamily="34" charset="0"/>
                        </a:rPr>
                        <a:t>3.29.1</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6976210"/>
                  </a:ext>
                </a:extLst>
              </a:tr>
            </a:tbl>
          </a:graphicData>
        </a:graphic>
      </p:graphicFrame>
      <p:sp>
        <p:nvSpPr>
          <p:cNvPr id="6" name="文本框 5">
            <a:extLst>
              <a:ext uri="{FF2B5EF4-FFF2-40B4-BE49-F238E27FC236}">
                <a16:creationId xmlns:a16="http://schemas.microsoft.com/office/drawing/2014/main" id="{C51F52E6-4B67-274D-3151-E96DB7AAACC0}"/>
              </a:ext>
            </a:extLst>
          </p:cNvPr>
          <p:cNvSpPr txBox="1"/>
          <p:nvPr/>
        </p:nvSpPr>
        <p:spPr>
          <a:xfrm>
            <a:off x="211885" y="870401"/>
            <a:ext cx="4294909"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1</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Prepare the</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Anaconda</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7" name="文本框 6">
            <a:extLst>
              <a:ext uri="{FF2B5EF4-FFF2-40B4-BE49-F238E27FC236}">
                <a16:creationId xmlns:a16="http://schemas.microsoft.com/office/drawing/2014/main" id="{B0975CD1-7A86-8BB8-C1AD-BB830B191363}"/>
              </a:ext>
            </a:extLst>
          </p:cNvPr>
          <p:cNvSpPr txBox="1"/>
          <p:nvPr/>
        </p:nvSpPr>
        <p:spPr>
          <a:xfrm>
            <a:off x="211884" y="1280935"/>
            <a:ext cx="5791752"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2</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Create python environment</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8" name="文本框 7">
            <a:extLst>
              <a:ext uri="{FF2B5EF4-FFF2-40B4-BE49-F238E27FC236}">
                <a16:creationId xmlns:a16="http://schemas.microsoft.com/office/drawing/2014/main" id="{96FFE749-4F79-EEED-1C9F-9FB4684EAFCC}"/>
              </a:ext>
            </a:extLst>
          </p:cNvPr>
          <p:cNvSpPr txBox="1"/>
          <p:nvPr/>
        </p:nvSpPr>
        <p:spPr>
          <a:xfrm>
            <a:off x="211884" y="2915681"/>
            <a:ext cx="5791752"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3</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Install libraries the suave need</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9" name="文本框 8">
            <a:extLst>
              <a:ext uri="{FF2B5EF4-FFF2-40B4-BE49-F238E27FC236}">
                <a16:creationId xmlns:a16="http://schemas.microsoft.com/office/drawing/2014/main" id="{FE421041-5E9F-5607-3F04-ABE089FFFB6D}"/>
              </a:ext>
            </a:extLst>
          </p:cNvPr>
          <p:cNvSpPr txBox="1"/>
          <p:nvPr/>
        </p:nvSpPr>
        <p:spPr>
          <a:xfrm>
            <a:off x="710648" y="3380862"/>
            <a:ext cx="6401351" cy="681038"/>
          </a:xfrm>
          <a:prstGeom prst="roundRect">
            <a:avLst/>
          </a:prstGeom>
          <a:solidFill>
            <a:srgbClr val="2D2D30"/>
          </a:solidFill>
        </p:spPr>
        <p:txBody>
          <a:bodyPr wrap="square" lIns="0" tIns="0" rIns="0" bIns="0" rtlCol="0">
            <a:spAutoFit/>
          </a:bodyPr>
          <a:lstStyle/>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cmd</a:t>
            </a:r>
            <a:endParaRPr lang="en-US" altLang="zh-CN" sz="2000" dirty="0">
              <a:solidFill>
                <a:schemeClr val="bg1"/>
              </a:solidFill>
              <a:latin typeface="Consolas" panose="020B0609020204030204" pitchFamily="49" charset="0"/>
              <a:ea typeface="微软雅黑" panose="020B0503020204020204" pitchFamily="34" charset="-122"/>
              <a:cs typeface="Arial" pitchFamily="34" charset="0"/>
            </a:endParaRP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pip install –r requirement.txt</a:t>
            </a:r>
            <a:endParaRPr lang="zh-CN" altLang="en-US" sz="2000" dirty="0">
              <a:solidFill>
                <a:schemeClr val="bg1"/>
              </a:solidFill>
              <a:latin typeface="Consolas" panose="020B0609020204030204" pitchFamily="49" charset="0"/>
              <a:ea typeface="微软雅黑" panose="020B0503020204020204" pitchFamily="34" charset="-122"/>
              <a:cs typeface="Arial" pitchFamily="34" charset="0"/>
            </a:endParaRPr>
          </a:p>
        </p:txBody>
      </p:sp>
      <p:sp>
        <p:nvSpPr>
          <p:cNvPr id="10" name="文本框 9">
            <a:extLst>
              <a:ext uri="{FF2B5EF4-FFF2-40B4-BE49-F238E27FC236}">
                <a16:creationId xmlns:a16="http://schemas.microsoft.com/office/drawing/2014/main" id="{152359A8-A809-50F6-5A11-D460B9320C1C}"/>
              </a:ext>
            </a:extLst>
          </p:cNvPr>
          <p:cNvSpPr txBox="1"/>
          <p:nvPr/>
        </p:nvSpPr>
        <p:spPr>
          <a:xfrm>
            <a:off x="2973556" y="4059555"/>
            <a:ext cx="937767" cy="307777"/>
          </a:xfrm>
          <a:prstGeom prst="rect">
            <a:avLst/>
          </a:prstGeom>
          <a:noFill/>
        </p:spPr>
        <p:txBody>
          <a:bodyPr wrap="square" lIns="0" tIns="0" rIns="0" bIns="0" rtlCol="0">
            <a:spAutoFit/>
          </a:bodyPr>
          <a:lstStyle/>
          <a:p>
            <a:pPr algn="ct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or</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 name="文本框 10">
            <a:extLst>
              <a:ext uri="{FF2B5EF4-FFF2-40B4-BE49-F238E27FC236}">
                <a16:creationId xmlns:a16="http://schemas.microsoft.com/office/drawing/2014/main" id="{1CCE30A1-5730-D4FB-05B3-2E362135043E}"/>
              </a:ext>
            </a:extLst>
          </p:cNvPr>
          <p:cNvSpPr txBox="1"/>
          <p:nvPr/>
        </p:nvSpPr>
        <p:spPr>
          <a:xfrm>
            <a:off x="710648" y="4390992"/>
            <a:ext cx="6401351" cy="1021556"/>
          </a:xfrm>
          <a:prstGeom prst="roundRect">
            <a:avLst/>
          </a:prstGeom>
          <a:solidFill>
            <a:srgbClr val="2D2D30"/>
          </a:solidFill>
        </p:spPr>
        <p:txBody>
          <a:bodyPr wrap="square" lIns="0" tIns="0" rIns="0" bIns="0" rtlCol="0">
            <a:spAutoFit/>
          </a:bodyPr>
          <a:lstStyle/>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cmd</a:t>
            </a:r>
            <a:endParaRPr lang="en-US" altLang="zh-CN" sz="2000" dirty="0">
              <a:solidFill>
                <a:schemeClr val="bg1"/>
              </a:solidFill>
              <a:latin typeface="Consolas" panose="020B0609020204030204" pitchFamily="49" charset="0"/>
              <a:ea typeface="微软雅黑" panose="020B0503020204020204" pitchFamily="34" charset="-122"/>
              <a:cs typeface="Arial" pitchFamily="34" charset="0"/>
            </a:endParaRP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pip install </a:t>
            </a:r>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numpy</a:t>
            </a:r>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==1.16.6</a:t>
            </a: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a:t>
            </a:r>
            <a:endParaRPr lang="zh-CN" altLang="en-US" sz="2000" dirty="0">
              <a:solidFill>
                <a:schemeClr val="bg1"/>
              </a:solidFill>
              <a:latin typeface="Consolas" panose="020B0609020204030204" pitchFamily="49" charset="0"/>
              <a:ea typeface="微软雅黑" panose="020B0503020204020204" pitchFamily="34" charset="-122"/>
              <a:cs typeface="Arial" pitchFamily="34" charset="0"/>
            </a:endParaRPr>
          </a:p>
        </p:txBody>
      </p:sp>
      <p:sp>
        <p:nvSpPr>
          <p:cNvPr id="12" name="文本框 11">
            <a:extLst>
              <a:ext uri="{FF2B5EF4-FFF2-40B4-BE49-F238E27FC236}">
                <a16:creationId xmlns:a16="http://schemas.microsoft.com/office/drawing/2014/main" id="{69254791-27F6-023F-4FCA-74EF1BC5AD2B}"/>
              </a:ext>
            </a:extLst>
          </p:cNvPr>
          <p:cNvSpPr txBox="1"/>
          <p:nvPr/>
        </p:nvSpPr>
        <p:spPr>
          <a:xfrm>
            <a:off x="211884" y="5556974"/>
            <a:ext cx="5791752"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4</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Download suave</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16" name="文本框 15">
            <a:extLst>
              <a:ext uri="{FF2B5EF4-FFF2-40B4-BE49-F238E27FC236}">
                <a16:creationId xmlns:a16="http://schemas.microsoft.com/office/drawing/2014/main" id="{BC5613CA-5A67-9798-51FF-CBCA5C48213C}"/>
              </a:ext>
            </a:extLst>
          </p:cNvPr>
          <p:cNvSpPr txBox="1"/>
          <p:nvPr/>
        </p:nvSpPr>
        <p:spPr>
          <a:xfrm>
            <a:off x="710648" y="5926306"/>
            <a:ext cx="6096000" cy="646331"/>
          </a:xfrm>
          <a:prstGeom prst="rect">
            <a:avLst/>
          </a:prstGeom>
          <a:noFill/>
        </p:spPr>
        <p:txBody>
          <a:bodyPr wrap="square">
            <a:spAutoFit/>
          </a:bodyPr>
          <a:lstStyle/>
          <a:p>
            <a:r>
              <a:rPr lang="en-US" altLang="zh-CN" dirty="0" err="1">
                <a:hlinkClick r:id="rId3"/>
              </a:rPr>
              <a:t>suavecode</a:t>
            </a:r>
            <a:r>
              <a:rPr lang="en-US" altLang="zh-CN" dirty="0">
                <a:hlinkClick r:id="rId3"/>
              </a:rPr>
              <a:t>/SUAVE: An Aircraft Design Toolbox</a:t>
            </a:r>
            <a:endParaRPr lang="en-US" altLang="zh-CN" dirty="0"/>
          </a:p>
          <a:p>
            <a:r>
              <a:rPr lang="en-US" altLang="zh-CN" dirty="0" err="1">
                <a:hlinkClick r:id="rId4"/>
              </a:rPr>
              <a:t>suavecode</a:t>
            </a:r>
            <a:r>
              <a:rPr lang="en-US" altLang="zh-CN" dirty="0">
                <a:hlinkClick r:id="rId4"/>
              </a:rPr>
              <a:t>/Tutorials: This is where the tutorial scripts live</a:t>
            </a:r>
            <a:endParaRPr lang="en-US" altLang="zh-CN" dirty="0"/>
          </a:p>
        </p:txBody>
      </p:sp>
    </p:spTree>
    <p:extLst>
      <p:ext uri="{BB962C8B-B14F-4D97-AF65-F5344CB8AC3E}">
        <p14:creationId xmlns:p14="http://schemas.microsoft.com/office/powerpoint/2010/main" val="3968075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92E70-3C10-DE90-6115-99125C189D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4948798-5FF7-2EEA-F12C-951E2E528AED}"/>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lang="en-US" altLang="zh-CN" dirty="0">
                <a:solidFill>
                  <a:srgbClr val="002060"/>
                </a:solidFill>
                <a:latin typeface="Arial" panose="020B0604020202020204" pitchFamily="34" charset="0"/>
                <a:ea typeface="微软雅黑" panose="020B0503020204020204" pitchFamily="34" charset="-122"/>
                <a:sym typeface="Arial" panose="020B0604020202020204" pitchFamily="34" charset="0"/>
              </a:rPr>
              <a:t>2</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Prepare</a:t>
            </a:r>
            <a:endParaRPr lang="en-US" altLang="zh-CN" dirty="0">
              <a:solidFill>
                <a:srgbClr val="00206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188C2C5-D69E-7617-3F34-0F3E2F104D7D}"/>
              </a:ext>
            </a:extLst>
          </p:cNvPr>
          <p:cNvSpPr txBox="1"/>
          <p:nvPr/>
        </p:nvSpPr>
        <p:spPr>
          <a:xfrm>
            <a:off x="211884" y="927824"/>
            <a:ext cx="5791752"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4</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Download suave</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16" name="文本框 15">
            <a:extLst>
              <a:ext uri="{FF2B5EF4-FFF2-40B4-BE49-F238E27FC236}">
                <a16:creationId xmlns:a16="http://schemas.microsoft.com/office/drawing/2014/main" id="{AE2C0E0B-52C4-6746-5855-A52386F86161}"/>
              </a:ext>
            </a:extLst>
          </p:cNvPr>
          <p:cNvSpPr txBox="1"/>
          <p:nvPr/>
        </p:nvSpPr>
        <p:spPr>
          <a:xfrm>
            <a:off x="710648" y="1297156"/>
            <a:ext cx="6096000" cy="646331"/>
          </a:xfrm>
          <a:prstGeom prst="rect">
            <a:avLst/>
          </a:prstGeom>
          <a:noFill/>
        </p:spPr>
        <p:txBody>
          <a:bodyPr wrap="square">
            <a:spAutoFit/>
          </a:bodyPr>
          <a:lstStyle/>
          <a:p>
            <a:r>
              <a:rPr lang="en-US" altLang="zh-CN" dirty="0" err="1">
                <a:hlinkClick r:id="rId3"/>
              </a:rPr>
              <a:t>suavecode</a:t>
            </a:r>
            <a:r>
              <a:rPr lang="en-US" altLang="zh-CN" dirty="0">
                <a:hlinkClick r:id="rId3"/>
              </a:rPr>
              <a:t>/SUAVE: An Aircraft Design Toolbox</a:t>
            </a:r>
            <a:endParaRPr lang="en-US" altLang="zh-CN" dirty="0"/>
          </a:p>
          <a:p>
            <a:r>
              <a:rPr lang="en-US" altLang="zh-CN" dirty="0" err="1">
                <a:hlinkClick r:id="rId4"/>
              </a:rPr>
              <a:t>suavecode</a:t>
            </a:r>
            <a:r>
              <a:rPr lang="en-US" altLang="zh-CN" dirty="0">
                <a:hlinkClick r:id="rId4"/>
              </a:rPr>
              <a:t>/Tutorials: This is where the tutorial scripts live</a:t>
            </a:r>
            <a:endParaRPr lang="en-US" altLang="zh-CN" dirty="0"/>
          </a:p>
        </p:txBody>
      </p:sp>
      <p:pic>
        <p:nvPicPr>
          <p:cNvPr id="13" name="图片 12">
            <a:extLst>
              <a:ext uri="{FF2B5EF4-FFF2-40B4-BE49-F238E27FC236}">
                <a16:creationId xmlns:a16="http://schemas.microsoft.com/office/drawing/2014/main" id="{93F47FB9-93C4-6197-EA90-322354486143}"/>
              </a:ext>
            </a:extLst>
          </p:cNvPr>
          <p:cNvPicPr>
            <a:picLocks noChangeAspect="1"/>
          </p:cNvPicPr>
          <p:nvPr/>
        </p:nvPicPr>
        <p:blipFill>
          <a:blip r:embed="rId5"/>
          <a:stretch>
            <a:fillRect/>
          </a:stretch>
        </p:blipFill>
        <p:spPr>
          <a:xfrm>
            <a:off x="7728239" y="927824"/>
            <a:ext cx="4185693" cy="2918548"/>
          </a:xfrm>
          <a:prstGeom prst="rect">
            <a:avLst/>
          </a:prstGeom>
        </p:spPr>
      </p:pic>
      <p:sp>
        <p:nvSpPr>
          <p:cNvPr id="14" name="文本框 13">
            <a:extLst>
              <a:ext uri="{FF2B5EF4-FFF2-40B4-BE49-F238E27FC236}">
                <a16:creationId xmlns:a16="http://schemas.microsoft.com/office/drawing/2014/main" id="{F1169113-BE4E-7450-5420-87A155468DD1}"/>
              </a:ext>
            </a:extLst>
          </p:cNvPr>
          <p:cNvSpPr txBox="1"/>
          <p:nvPr/>
        </p:nvSpPr>
        <p:spPr>
          <a:xfrm>
            <a:off x="211884" y="2020560"/>
            <a:ext cx="7017591" cy="681038"/>
          </a:xfrm>
          <a:prstGeom prst="roundRect">
            <a:avLst/>
          </a:prstGeom>
          <a:solidFill>
            <a:srgbClr val="2D2D30"/>
          </a:solidFill>
        </p:spPr>
        <p:txBody>
          <a:bodyPr wrap="square" lIns="0" tIns="0" rIns="0" bIns="0" rtlCol="0">
            <a:spAutoFit/>
          </a:bodyPr>
          <a:lstStyle/>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Git bash</a:t>
            </a: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git clone https://github.com/suavecode/SUAVE.git</a:t>
            </a:r>
            <a:endParaRPr lang="zh-CN" altLang="en-US" sz="2000" dirty="0">
              <a:solidFill>
                <a:schemeClr val="bg1"/>
              </a:solidFill>
              <a:latin typeface="Consolas" panose="020B0609020204030204" pitchFamily="49" charset="0"/>
              <a:ea typeface="微软雅黑" panose="020B0503020204020204" pitchFamily="34" charset="-122"/>
              <a:cs typeface="Arial" pitchFamily="34" charset="0"/>
            </a:endParaRPr>
          </a:p>
        </p:txBody>
      </p:sp>
      <p:sp>
        <p:nvSpPr>
          <p:cNvPr id="15" name="文本框 14">
            <a:extLst>
              <a:ext uri="{FF2B5EF4-FFF2-40B4-BE49-F238E27FC236}">
                <a16:creationId xmlns:a16="http://schemas.microsoft.com/office/drawing/2014/main" id="{13FE6F99-C10A-DA22-22FA-AA49B58DE433}"/>
              </a:ext>
            </a:extLst>
          </p:cNvPr>
          <p:cNvSpPr txBox="1"/>
          <p:nvPr/>
        </p:nvSpPr>
        <p:spPr>
          <a:xfrm>
            <a:off x="3289764" y="2701598"/>
            <a:ext cx="937767" cy="307777"/>
          </a:xfrm>
          <a:prstGeom prst="rect">
            <a:avLst/>
          </a:prstGeom>
          <a:noFill/>
        </p:spPr>
        <p:txBody>
          <a:bodyPr wrap="square" lIns="0" tIns="0" rIns="0" bIns="0" rtlCol="0">
            <a:spAutoFit/>
          </a:bodyPr>
          <a:lstStyle/>
          <a:p>
            <a:pPr algn="ct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or</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7" name="文本框 16">
            <a:extLst>
              <a:ext uri="{FF2B5EF4-FFF2-40B4-BE49-F238E27FC236}">
                <a16:creationId xmlns:a16="http://schemas.microsoft.com/office/drawing/2014/main" id="{3C603ADC-C036-057F-4D00-2730F0FB0DA5}"/>
              </a:ext>
            </a:extLst>
          </p:cNvPr>
          <p:cNvSpPr txBox="1"/>
          <p:nvPr/>
        </p:nvSpPr>
        <p:spPr>
          <a:xfrm>
            <a:off x="1385479" y="3120202"/>
            <a:ext cx="4746336" cy="307777"/>
          </a:xfrm>
          <a:prstGeom prst="rect">
            <a:avLst/>
          </a:prstGeom>
          <a:noFill/>
        </p:spPr>
        <p:txBody>
          <a:bodyPr wrap="square" lIns="0" tIns="0" rIns="0" bIns="0" rtlCol="0">
            <a:spAutoFit/>
          </a:bodyPr>
          <a:lstStyle/>
          <a:p>
            <a:pPr algn="ct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Download the zip from release directly</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8" name="文本框 17">
            <a:extLst>
              <a:ext uri="{FF2B5EF4-FFF2-40B4-BE49-F238E27FC236}">
                <a16:creationId xmlns:a16="http://schemas.microsoft.com/office/drawing/2014/main" id="{08229FF5-5A08-2D52-AF33-B84268B60C1D}"/>
              </a:ext>
            </a:extLst>
          </p:cNvPr>
          <p:cNvSpPr txBox="1"/>
          <p:nvPr/>
        </p:nvSpPr>
        <p:spPr>
          <a:xfrm>
            <a:off x="211884" y="3765436"/>
            <a:ext cx="5791752"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5</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Install suave</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20" name="文本框 19">
            <a:extLst>
              <a:ext uri="{FF2B5EF4-FFF2-40B4-BE49-F238E27FC236}">
                <a16:creationId xmlns:a16="http://schemas.microsoft.com/office/drawing/2014/main" id="{A201334D-C4A0-F4BE-C8A6-4CABC0EBE700}"/>
              </a:ext>
            </a:extLst>
          </p:cNvPr>
          <p:cNvSpPr txBox="1"/>
          <p:nvPr/>
        </p:nvSpPr>
        <p:spPr>
          <a:xfrm>
            <a:off x="8731112" y="3846372"/>
            <a:ext cx="2162175" cy="369332"/>
          </a:xfrm>
          <a:prstGeom prst="rect">
            <a:avLst/>
          </a:prstGeom>
          <a:noFill/>
        </p:spPr>
        <p:txBody>
          <a:bodyPr wrap="square">
            <a:spAutoFit/>
          </a:bodyPr>
          <a:lstStyle/>
          <a:p>
            <a:pPr algn="ctr"/>
            <a:r>
              <a:rPr lang="en-US" altLang="zh-CN" b="0" i="0" dirty="0">
                <a:solidFill>
                  <a:srgbClr val="000000"/>
                </a:solidFill>
                <a:effectLst/>
                <a:latin typeface="PingFang SC"/>
              </a:rPr>
              <a:t>GitHub repository</a:t>
            </a:r>
            <a:endParaRPr lang="zh-CN" altLang="en-US" dirty="0"/>
          </a:p>
        </p:txBody>
      </p:sp>
      <p:sp>
        <p:nvSpPr>
          <p:cNvPr id="23" name="文本框 22">
            <a:extLst>
              <a:ext uri="{FF2B5EF4-FFF2-40B4-BE49-F238E27FC236}">
                <a16:creationId xmlns:a16="http://schemas.microsoft.com/office/drawing/2014/main" id="{F35D7AD8-B110-582F-3DA4-3AD8AE7193ED}"/>
              </a:ext>
            </a:extLst>
          </p:cNvPr>
          <p:cNvSpPr txBox="1"/>
          <p:nvPr/>
        </p:nvSpPr>
        <p:spPr>
          <a:xfrm>
            <a:off x="211883" y="4301429"/>
            <a:ext cx="7017591" cy="1021556"/>
          </a:xfrm>
          <a:prstGeom prst="roundRect">
            <a:avLst/>
          </a:prstGeom>
          <a:solidFill>
            <a:srgbClr val="2D2D30"/>
          </a:solidFill>
        </p:spPr>
        <p:txBody>
          <a:bodyPr wrap="square" lIns="0" tIns="0" rIns="0" bIns="0" rtlCol="0">
            <a:spAutoFit/>
          </a:bodyPr>
          <a:lstStyle/>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cmd</a:t>
            </a:r>
            <a:endParaRPr lang="en-US" altLang="zh-CN" sz="2000" dirty="0">
              <a:solidFill>
                <a:schemeClr val="bg1"/>
              </a:solidFill>
              <a:latin typeface="Consolas" panose="020B0609020204030204" pitchFamily="49" charset="0"/>
              <a:ea typeface="微软雅黑" panose="020B0503020204020204" pitchFamily="34" charset="-122"/>
              <a:cs typeface="Arial" pitchFamily="34" charset="0"/>
            </a:endParaRP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cd D:\SUAVE-2.5.2\trunk        </a:t>
            </a:r>
            <a:r>
              <a:rPr lang="en-US" altLang="zh-CN" sz="2000" dirty="0">
                <a:solidFill>
                  <a:schemeClr val="accent6">
                    <a:lumMod val="20000"/>
                    <a:lumOff val="80000"/>
                  </a:schemeClr>
                </a:solidFill>
                <a:latin typeface="Consolas" panose="020B0609020204030204" pitchFamily="49" charset="0"/>
                <a:ea typeface="微软雅黑" panose="020B0503020204020204" pitchFamily="34" charset="-122"/>
                <a:cs typeface="Arial" pitchFamily="34" charset="0"/>
              </a:rPr>
              <a:t>##change the path</a:t>
            </a: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python3 setup.py install</a:t>
            </a:r>
          </a:p>
        </p:txBody>
      </p:sp>
    </p:spTree>
    <p:extLst>
      <p:ext uri="{BB962C8B-B14F-4D97-AF65-F5344CB8AC3E}">
        <p14:creationId xmlns:p14="http://schemas.microsoft.com/office/powerpoint/2010/main" val="4253380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55D5A-7803-7383-609D-71AD1CC5A37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DE28BFD-D88F-056D-A3F5-9216D6B5BF73}"/>
              </a:ext>
            </a:extLst>
          </p:cNvPr>
          <p:cNvSpPr txBox="1"/>
          <p:nvPr/>
        </p:nvSpPr>
        <p:spPr>
          <a:xfrm>
            <a:off x="-286327" y="768072"/>
            <a:ext cx="6096000" cy="458908"/>
          </a:xfrm>
          <a:prstGeom prst="rect">
            <a:avLst/>
          </a:prstGeom>
          <a:noFill/>
        </p:spPr>
        <p:txBody>
          <a:bodyPr wrap="square">
            <a:spAutoFit/>
          </a:bodyPr>
          <a:lstStyle/>
          <a:p>
            <a:pPr marL="800100" lvl="1" indent="-342900">
              <a:lnSpc>
                <a:spcPct val="150000"/>
              </a:lnSpc>
              <a:buFont typeface="Wingdings" panose="05000000000000000000" pitchFamily="2" charset="2"/>
              <a:buChar char="Ø"/>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Test if you setup SUAVE successfully</a:t>
            </a:r>
          </a:p>
        </p:txBody>
      </p:sp>
      <p:pic>
        <p:nvPicPr>
          <p:cNvPr id="7" name="图片 6">
            <a:extLst>
              <a:ext uri="{FF2B5EF4-FFF2-40B4-BE49-F238E27FC236}">
                <a16:creationId xmlns:a16="http://schemas.microsoft.com/office/drawing/2014/main" id="{8EE278D3-C7DC-9249-9F15-11C9B567348A}"/>
              </a:ext>
            </a:extLst>
          </p:cNvPr>
          <p:cNvPicPr>
            <a:picLocks noChangeAspect="1"/>
          </p:cNvPicPr>
          <p:nvPr/>
        </p:nvPicPr>
        <p:blipFill>
          <a:blip r:embed="rId3"/>
          <a:stretch>
            <a:fillRect/>
          </a:stretch>
        </p:blipFill>
        <p:spPr>
          <a:xfrm>
            <a:off x="211886" y="1626622"/>
            <a:ext cx="4107229" cy="2497701"/>
          </a:xfrm>
          <a:prstGeom prst="rect">
            <a:avLst/>
          </a:prstGeom>
        </p:spPr>
      </p:pic>
      <p:pic>
        <p:nvPicPr>
          <p:cNvPr id="8" name="图片 7">
            <a:extLst>
              <a:ext uri="{FF2B5EF4-FFF2-40B4-BE49-F238E27FC236}">
                <a16:creationId xmlns:a16="http://schemas.microsoft.com/office/drawing/2014/main" id="{9D56324F-9CB1-55AA-74C5-7BE1CCB0A8F1}"/>
              </a:ext>
            </a:extLst>
          </p:cNvPr>
          <p:cNvPicPr>
            <a:picLocks noChangeAspect="1"/>
          </p:cNvPicPr>
          <p:nvPr/>
        </p:nvPicPr>
        <p:blipFill>
          <a:blip r:embed="rId4"/>
          <a:stretch>
            <a:fillRect/>
          </a:stretch>
        </p:blipFill>
        <p:spPr>
          <a:xfrm>
            <a:off x="4470622" y="2845709"/>
            <a:ext cx="3709070" cy="2967257"/>
          </a:xfrm>
          <a:prstGeom prst="rect">
            <a:avLst/>
          </a:prstGeom>
        </p:spPr>
      </p:pic>
      <p:pic>
        <p:nvPicPr>
          <p:cNvPr id="9" name="图片 8">
            <a:extLst>
              <a:ext uri="{FF2B5EF4-FFF2-40B4-BE49-F238E27FC236}">
                <a16:creationId xmlns:a16="http://schemas.microsoft.com/office/drawing/2014/main" id="{8E436A8C-08B7-2108-2D25-647ADBA27CF7}"/>
              </a:ext>
            </a:extLst>
          </p:cNvPr>
          <p:cNvPicPr>
            <a:picLocks noChangeAspect="1"/>
          </p:cNvPicPr>
          <p:nvPr/>
        </p:nvPicPr>
        <p:blipFill>
          <a:blip r:embed="rId5"/>
          <a:stretch>
            <a:fillRect/>
          </a:stretch>
        </p:blipFill>
        <p:spPr>
          <a:xfrm>
            <a:off x="4624775" y="897325"/>
            <a:ext cx="7109833" cy="1819131"/>
          </a:xfrm>
          <a:prstGeom prst="rect">
            <a:avLst/>
          </a:prstGeom>
        </p:spPr>
      </p:pic>
      <p:pic>
        <p:nvPicPr>
          <p:cNvPr id="10" name="图片 9">
            <a:extLst>
              <a:ext uri="{FF2B5EF4-FFF2-40B4-BE49-F238E27FC236}">
                <a16:creationId xmlns:a16="http://schemas.microsoft.com/office/drawing/2014/main" id="{215C0207-609B-0C12-3530-2981D5387F3E}"/>
              </a:ext>
            </a:extLst>
          </p:cNvPr>
          <p:cNvPicPr>
            <a:picLocks noChangeAspect="1"/>
          </p:cNvPicPr>
          <p:nvPr/>
        </p:nvPicPr>
        <p:blipFill>
          <a:blip r:embed="rId6"/>
          <a:stretch>
            <a:fillRect/>
          </a:stretch>
        </p:blipFill>
        <p:spPr>
          <a:xfrm>
            <a:off x="8331200" y="2875472"/>
            <a:ext cx="3501732" cy="2990852"/>
          </a:xfrm>
          <a:prstGeom prst="rect">
            <a:avLst/>
          </a:prstGeom>
        </p:spPr>
      </p:pic>
      <p:sp>
        <p:nvSpPr>
          <p:cNvPr id="4" name="文本框 3">
            <a:extLst>
              <a:ext uri="{FF2B5EF4-FFF2-40B4-BE49-F238E27FC236}">
                <a16:creationId xmlns:a16="http://schemas.microsoft.com/office/drawing/2014/main" id="{97D3194B-4FF3-610A-23D4-AA30251DA57D}"/>
              </a:ext>
            </a:extLst>
          </p:cNvPr>
          <p:cNvSpPr txBox="1"/>
          <p:nvPr/>
        </p:nvSpPr>
        <p:spPr>
          <a:xfrm>
            <a:off x="994345" y="4186232"/>
            <a:ext cx="2542309" cy="369332"/>
          </a:xfrm>
          <a:prstGeom prst="rect">
            <a:avLst/>
          </a:prstGeom>
          <a:noFill/>
        </p:spPr>
        <p:txBody>
          <a:bodyPr wrap="square">
            <a:spAutoFit/>
          </a:bodyPr>
          <a:lstStyle/>
          <a:p>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B737-800 in </a:t>
            </a:r>
            <a:r>
              <a:rPr lang="en-US" altLang="zh-CN" dirty="0" err="1">
                <a:solidFill>
                  <a:srgbClr val="002060"/>
                </a:solidFill>
                <a:latin typeface="微软雅黑" panose="020B0503020204020204" pitchFamily="34" charset="-122"/>
                <a:ea typeface="微软雅黑" panose="020B0503020204020204" pitchFamily="34" charset="-122"/>
                <a:cs typeface="Arial" pitchFamily="34" charset="0"/>
              </a:rPr>
              <a:t>openvsp</a:t>
            </a:r>
            <a:endParaRPr lang="zh-CN" altLang="en-US" dirty="0"/>
          </a:p>
        </p:txBody>
      </p:sp>
      <p:sp>
        <p:nvSpPr>
          <p:cNvPr id="5" name="文本框 4">
            <a:extLst>
              <a:ext uri="{FF2B5EF4-FFF2-40B4-BE49-F238E27FC236}">
                <a16:creationId xmlns:a16="http://schemas.microsoft.com/office/drawing/2014/main" id="{174DC26E-991C-92C0-507B-1788C281A9B8}"/>
              </a:ext>
            </a:extLst>
          </p:cNvPr>
          <p:cNvSpPr txBox="1"/>
          <p:nvPr/>
        </p:nvSpPr>
        <p:spPr>
          <a:xfrm>
            <a:off x="1540720" y="6089928"/>
            <a:ext cx="9568873" cy="307777"/>
          </a:xfrm>
          <a:prstGeom prst="rect">
            <a:avLst/>
          </a:prstGeom>
          <a:noFill/>
        </p:spPr>
        <p:txBody>
          <a:bodyPr wrap="square" lIns="0" tIns="0" rIns="0" bIns="0" rtlCol="0">
            <a:spAutoFit/>
          </a:bodyPr>
          <a:lstStyle/>
          <a:p>
            <a:pPr algn="ct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Run the </a:t>
            </a:r>
            <a:r>
              <a:rPr lang="en-US" altLang="zh-CN" sz="2000" dirty="0">
                <a:solidFill>
                  <a:srgbClr val="C00000"/>
                </a:solidFill>
                <a:latin typeface="Consolas" panose="020B0609020204030204" pitchFamily="49" charset="0"/>
                <a:ea typeface="微软雅黑" panose="020B0503020204020204" pitchFamily="34" charset="-122"/>
                <a:cs typeface="Arial" pitchFamily="34" charset="0"/>
              </a:rPr>
              <a:t>tut_mission_B737.py </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to see these pictures as shown above</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 name="标题 1">
            <a:extLst>
              <a:ext uri="{FF2B5EF4-FFF2-40B4-BE49-F238E27FC236}">
                <a16:creationId xmlns:a16="http://schemas.microsoft.com/office/drawing/2014/main" id="{EDFCA70B-CCAE-AC38-FC5C-1D3D82E5C326}"/>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lang="en-US" altLang="zh-CN" dirty="0">
                <a:solidFill>
                  <a:srgbClr val="002060"/>
                </a:solidFill>
                <a:latin typeface="Arial" panose="020B0604020202020204" pitchFamily="34" charset="0"/>
                <a:ea typeface="微软雅黑" panose="020B0503020204020204" pitchFamily="34" charset="-122"/>
                <a:sym typeface="Arial" panose="020B0604020202020204" pitchFamily="34" charset="0"/>
              </a:rPr>
              <a:t>2</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Prepare</a:t>
            </a:r>
            <a:endParaRPr lang="en-US" altLang="zh-CN"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9823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152AE-7401-620B-DFD6-D90602ED36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CAF901-878E-CCA3-C552-A64B8DAA9729}"/>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a:t>
            </a:r>
            <a:endParaRPr lang="en-US" altLang="zh-CN" dirty="0">
              <a:solidFill>
                <a:srgbClr val="00206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32EDF5-910B-B93D-6BB0-923F4B7EB388}"/>
              </a:ext>
            </a:extLst>
          </p:cNvPr>
          <p:cNvSpPr txBox="1"/>
          <p:nvPr/>
        </p:nvSpPr>
        <p:spPr>
          <a:xfrm>
            <a:off x="240146" y="1385697"/>
            <a:ext cx="5332678" cy="307777"/>
          </a:xfrm>
          <a:prstGeom prst="rect">
            <a:avLst/>
          </a:prstGeom>
          <a:noFill/>
        </p:spPr>
        <p:txBody>
          <a:bodyPr wrap="none" lIns="0" tIns="0" rIns="0" bIns="0" rtlCol="0">
            <a:spAutoFit/>
          </a:bodyPr>
          <a:lstStyle/>
          <a:p>
            <a:pPr algn="ctr"/>
            <a:r>
              <a:rPr lang="en-US" altLang="zh-CN" sz="2000" dirty="0">
                <a:solidFill>
                  <a:srgbClr val="002060"/>
                </a:solidFill>
                <a:latin typeface="微软雅黑" panose="020B0503020204020204" pitchFamily="34" charset="-122"/>
                <a:ea typeface="微软雅黑" panose="020B0503020204020204" pitchFamily="34" charset="-122"/>
              </a:rPr>
              <a:t>What do we need to design for an aircraft?</a:t>
            </a:r>
            <a:endPar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9" name="矩形: 圆角 8">
            <a:extLst>
              <a:ext uri="{FF2B5EF4-FFF2-40B4-BE49-F238E27FC236}">
                <a16:creationId xmlns:a16="http://schemas.microsoft.com/office/drawing/2014/main" id="{9C814DEF-829E-B4D9-FDAE-C2FC1181F340}"/>
              </a:ext>
            </a:extLst>
          </p:cNvPr>
          <p:cNvSpPr/>
          <p:nvPr/>
        </p:nvSpPr>
        <p:spPr>
          <a:xfrm>
            <a:off x="240146" y="3308930"/>
            <a:ext cx="1717963" cy="665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Requirements</a:t>
            </a:r>
            <a:endParaRPr lang="zh-CN" altLang="en-US" dirty="0">
              <a:solidFill>
                <a:schemeClr val="tx1"/>
              </a:solidFill>
              <a:latin typeface="Arial" pitchFamily="34" charset="0"/>
              <a:cs typeface="Arial" pitchFamily="34" charset="0"/>
            </a:endParaRPr>
          </a:p>
        </p:txBody>
      </p:sp>
      <p:cxnSp>
        <p:nvCxnSpPr>
          <p:cNvPr id="11" name="直接箭头连接符 10">
            <a:extLst>
              <a:ext uri="{FF2B5EF4-FFF2-40B4-BE49-F238E27FC236}">
                <a16:creationId xmlns:a16="http://schemas.microsoft.com/office/drawing/2014/main" id="{5F9DF3F6-6BA7-FF4F-CC38-83BA25DEE746}"/>
              </a:ext>
            </a:extLst>
          </p:cNvPr>
          <p:cNvCxnSpPr>
            <a:cxnSpLocks/>
            <a:stCxn id="9" idx="3"/>
            <a:endCxn id="13" idx="1"/>
          </p:cNvCxnSpPr>
          <p:nvPr/>
        </p:nvCxnSpPr>
        <p:spPr>
          <a:xfrm>
            <a:off x="1958109" y="3641439"/>
            <a:ext cx="7050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6A36986E-0D31-1644-F117-5059B2768C53}"/>
              </a:ext>
            </a:extLst>
          </p:cNvPr>
          <p:cNvSpPr/>
          <p:nvPr/>
        </p:nvSpPr>
        <p:spPr>
          <a:xfrm>
            <a:off x="2663153" y="3308930"/>
            <a:ext cx="1717963" cy="665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Mission</a:t>
            </a:r>
            <a:endParaRPr lang="zh-CN" altLang="en-US" dirty="0">
              <a:solidFill>
                <a:schemeClr val="tx1"/>
              </a:solidFill>
              <a:latin typeface="Arial" pitchFamily="34" charset="0"/>
              <a:cs typeface="Arial" pitchFamily="34" charset="0"/>
            </a:endParaRPr>
          </a:p>
        </p:txBody>
      </p:sp>
      <p:cxnSp>
        <p:nvCxnSpPr>
          <p:cNvPr id="14" name="直接箭头连接符 13">
            <a:extLst>
              <a:ext uri="{FF2B5EF4-FFF2-40B4-BE49-F238E27FC236}">
                <a16:creationId xmlns:a16="http://schemas.microsoft.com/office/drawing/2014/main" id="{93F4E3C1-39B5-FA12-C81D-14215A816F1D}"/>
              </a:ext>
            </a:extLst>
          </p:cNvPr>
          <p:cNvCxnSpPr>
            <a:cxnSpLocks/>
            <a:stCxn id="13" idx="3"/>
            <a:endCxn id="15" idx="1"/>
          </p:cNvCxnSpPr>
          <p:nvPr/>
        </p:nvCxnSpPr>
        <p:spPr>
          <a:xfrm>
            <a:off x="4381116" y="3641439"/>
            <a:ext cx="7050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F522472D-9750-A4DA-F87F-FFA9F38AFCB1}"/>
              </a:ext>
            </a:extLst>
          </p:cNvPr>
          <p:cNvSpPr/>
          <p:nvPr/>
        </p:nvSpPr>
        <p:spPr>
          <a:xfrm>
            <a:off x="5086160" y="3308930"/>
            <a:ext cx="1717963" cy="665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Configuration</a:t>
            </a:r>
          </a:p>
        </p:txBody>
      </p:sp>
      <p:sp>
        <p:nvSpPr>
          <p:cNvPr id="16" name="矩形: 圆角 15">
            <a:extLst>
              <a:ext uri="{FF2B5EF4-FFF2-40B4-BE49-F238E27FC236}">
                <a16:creationId xmlns:a16="http://schemas.microsoft.com/office/drawing/2014/main" id="{85B86636-A106-0F56-7570-AB999B0D8D98}"/>
              </a:ext>
            </a:extLst>
          </p:cNvPr>
          <p:cNvSpPr/>
          <p:nvPr/>
        </p:nvSpPr>
        <p:spPr>
          <a:xfrm>
            <a:off x="7509166" y="3308930"/>
            <a:ext cx="1717963" cy="665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Analysis</a:t>
            </a:r>
          </a:p>
        </p:txBody>
      </p:sp>
      <p:cxnSp>
        <p:nvCxnSpPr>
          <p:cNvPr id="20" name="直接箭头连接符 19">
            <a:extLst>
              <a:ext uri="{FF2B5EF4-FFF2-40B4-BE49-F238E27FC236}">
                <a16:creationId xmlns:a16="http://schemas.microsoft.com/office/drawing/2014/main" id="{5B631C2A-0114-0708-7A2B-5D332BB3400E}"/>
              </a:ext>
            </a:extLst>
          </p:cNvPr>
          <p:cNvCxnSpPr>
            <a:cxnSpLocks/>
            <a:stCxn id="15" idx="3"/>
            <a:endCxn id="16" idx="1"/>
          </p:cNvCxnSpPr>
          <p:nvPr/>
        </p:nvCxnSpPr>
        <p:spPr>
          <a:xfrm>
            <a:off x="6804123" y="3641439"/>
            <a:ext cx="7050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E8113C85-B229-1127-F96C-CE0AB9A5AC93}"/>
              </a:ext>
            </a:extLst>
          </p:cNvPr>
          <p:cNvSpPr/>
          <p:nvPr/>
        </p:nvSpPr>
        <p:spPr>
          <a:xfrm>
            <a:off x="9832113" y="1470892"/>
            <a:ext cx="1717963" cy="665018"/>
          </a:xfrm>
          <a:prstGeom prst="roundRect">
            <a:avLst/>
          </a:prstGeom>
          <a:solidFill>
            <a:schemeClr val="accent3">
              <a:lumMod val="20000"/>
              <a:lumOff val="80000"/>
            </a:schemeClr>
          </a:solidFill>
          <a:ln w="1524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Aerodynamic</a:t>
            </a:r>
          </a:p>
        </p:txBody>
      </p:sp>
      <p:cxnSp>
        <p:nvCxnSpPr>
          <p:cNvPr id="30" name="连接符: 肘形 29">
            <a:extLst>
              <a:ext uri="{FF2B5EF4-FFF2-40B4-BE49-F238E27FC236}">
                <a16:creationId xmlns:a16="http://schemas.microsoft.com/office/drawing/2014/main" id="{E3A571DD-04A3-55FB-71CB-028C54969C32}"/>
              </a:ext>
            </a:extLst>
          </p:cNvPr>
          <p:cNvCxnSpPr>
            <a:cxnSpLocks/>
            <a:stCxn id="16" idx="0"/>
            <a:endCxn id="13" idx="0"/>
          </p:cNvCxnSpPr>
          <p:nvPr/>
        </p:nvCxnSpPr>
        <p:spPr>
          <a:xfrm rot="16200000" flipV="1">
            <a:off x="5945142" y="885923"/>
            <a:ext cx="12700" cy="484601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23150C1C-7864-ACC6-CAFD-1F8C9C69161A}"/>
              </a:ext>
            </a:extLst>
          </p:cNvPr>
          <p:cNvSpPr/>
          <p:nvPr/>
        </p:nvSpPr>
        <p:spPr>
          <a:xfrm>
            <a:off x="9832113" y="2385292"/>
            <a:ext cx="1717963" cy="665018"/>
          </a:xfrm>
          <a:prstGeom prst="roundRect">
            <a:avLst/>
          </a:prstGeom>
          <a:solidFill>
            <a:schemeClr val="accent3">
              <a:lumMod val="20000"/>
              <a:lumOff val="80000"/>
            </a:schemeClr>
          </a:solidFill>
          <a:ln w="1524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Weight</a:t>
            </a:r>
          </a:p>
        </p:txBody>
      </p:sp>
      <p:sp>
        <p:nvSpPr>
          <p:cNvPr id="33" name="矩形: 圆角 32">
            <a:extLst>
              <a:ext uri="{FF2B5EF4-FFF2-40B4-BE49-F238E27FC236}">
                <a16:creationId xmlns:a16="http://schemas.microsoft.com/office/drawing/2014/main" id="{CD2A5BC1-3DFA-1430-69A0-D7154EEE1A88}"/>
              </a:ext>
            </a:extLst>
          </p:cNvPr>
          <p:cNvSpPr/>
          <p:nvPr/>
        </p:nvSpPr>
        <p:spPr>
          <a:xfrm>
            <a:off x="9832113" y="3308928"/>
            <a:ext cx="1717963" cy="665018"/>
          </a:xfrm>
          <a:prstGeom prst="roundRect">
            <a:avLst/>
          </a:prstGeom>
          <a:solidFill>
            <a:schemeClr val="accent3">
              <a:lumMod val="20000"/>
              <a:lumOff val="80000"/>
            </a:schemeClr>
          </a:solidFill>
          <a:ln w="1524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Thrust</a:t>
            </a:r>
          </a:p>
        </p:txBody>
      </p:sp>
      <p:sp>
        <p:nvSpPr>
          <p:cNvPr id="34" name="矩形: 圆角 33">
            <a:extLst>
              <a:ext uri="{FF2B5EF4-FFF2-40B4-BE49-F238E27FC236}">
                <a16:creationId xmlns:a16="http://schemas.microsoft.com/office/drawing/2014/main" id="{241588F0-5B7D-1700-7068-7F81C6150A54}"/>
              </a:ext>
            </a:extLst>
          </p:cNvPr>
          <p:cNvSpPr/>
          <p:nvPr/>
        </p:nvSpPr>
        <p:spPr>
          <a:xfrm>
            <a:off x="9832113" y="4214092"/>
            <a:ext cx="1717963" cy="665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Stability</a:t>
            </a:r>
          </a:p>
        </p:txBody>
      </p:sp>
      <p:sp>
        <p:nvSpPr>
          <p:cNvPr id="35" name="矩形: 圆角 34">
            <a:extLst>
              <a:ext uri="{FF2B5EF4-FFF2-40B4-BE49-F238E27FC236}">
                <a16:creationId xmlns:a16="http://schemas.microsoft.com/office/drawing/2014/main" id="{1A49ED38-BF62-A715-7BEE-2D0D92EF27FE}"/>
              </a:ext>
            </a:extLst>
          </p:cNvPr>
          <p:cNvSpPr/>
          <p:nvPr/>
        </p:nvSpPr>
        <p:spPr>
          <a:xfrm>
            <a:off x="9832113" y="5128491"/>
            <a:ext cx="1717963" cy="665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dirty="0">
                <a:solidFill>
                  <a:schemeClr val="tx1"/>
                </a:solidFill>
                <a:latin typeface="Arial" pitchFamily="34" charset="0"/>
                <a:cs typeface="Arial" pitchFamily="34" charset="0"/>
              </a:rPr>
              <a:t>…</a:t>
            </a:r>
          </a:p>
        </p:txBody>
      </p:sp>
      <p:cxnSp>
        <p:nvCxnSpPr>
          <p:cNvPr id="43" name="连接符: 肘形 42">
            <a:extLst>
              <a:ext uri="{FF2B5EF4-FFF2-40B4-BE49-F238E27FC236}">
                <a16:creationId xmlns:a16="http://schemas.microsoft.com/office/drawing/2014/main" id="{8AE11732-9EC3-680B-4AB4-14BBFEC92BD3}"/>
              </a:ext>
            </a:extLst>
          </p:cNvPr>
          <p:cNvCxnSpPr>
            <a:stCxn id="16" idx="3"/>
            <a:endCxn id="23" idx="1"/>
          </p:cNvCxnSpPr>
          <p:nvPr/>
        </p:nvCxnSpPr>
        <p:spPr>
          <a:xfrm flipV="1">
            <a:off x="9227129" y="1803401"/>
            <a:ext cx="604984" cy="183803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CEFE6722-EB7C-0600-2CD9-24DE7B55D660}"/>
              </a:ext>
            </a:extLst>
          </p:cNvPr>
          <p:cNvCxnSpPr>
            <a:cxnSpLocks/>
            <a:stCxn id="16" idx="3"/>
            <a:endCxn id="32" idx="1"/>
          </p:cNvCxnSpPr>
          <p:nvPr/>
        </p:nvCxnSpPr>
        <p:spPr>
          <a:xfrm flipV="1">
            <a:off x="9227129" y="2717801"/>
            <a:ext cx="604984" cy="92363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33462A38-FAFE-7A18-0BE7-386612166D2D}"/>
              </a:ext>
            </a:extLst>
          </p:cNvPr>
          <p:cNvCxnSpPr>
            <a:cxnSpLocks/>
            <a:stCxn id="16" idx="3"/>
            <a:endCxn id="33" idx="1"/>
          </p:cNvCxnSpPr>
          <p:nvPr/>
        </p:nvCxnSpPr>
        <p:spPr>
          <a:xfrm flipV="1">
            <a:off x="9227129" y="3641437"/>
            <a:ext cx="604984" cy="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392C6C41-7176-BB9D-1D83-1E117B531084}"/>
              </a:ext>
            </a:extLst>
          </p:cNvPr>
          <p:cNvCxnSpPr>
            <a:cxnSpLocks/>
            <a:stCxn id="16" idx="3"/>
            <a:endCxn id="34" idx="1"/>
          </p:cNvCxnSpPr>
          <p:nvPr/>
        </p:nvCxnSpPr>
        <p:spPr>
          <a:xfrm>
            <a:off x="9227129" y="3641439"/>
            <a:ext cx="604984" cy="90516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955D01AB-91CD-2429-D393-8A0E4F5DD44B}"/>
              </a:ext>
            </a:extLst>
          </p:cNvPr>
          <p:cNvCxnSpPr>
            <a:cxnSpLocks/>
            <a:stCxn id="16" idx="3"/>
            <a:endCxn id="35" idx="1"/>
          </p:cNvCxnSpPr>
          <p:nvPr/>
        </p:nvCxnSpPr>
        <p:spPr>
          <a:xfrm>
            <a:off x="9227129" y="3641439"/>
            <a:ext cx="604984" cy="181956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441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E874F-819C-9139-F186-C360D06EF4C2}"/>
            </a:ext>
          </a:extLst>
        </p:cNvPr>
        <p:cNvGrpSpPr/>
        <p:nvPr/>
      </p:nvGrpSpPr>
      <p:grpSpPr>
        <a:xfrm>
          <a:off x="0" y="0"/>
          <a:ext cx="0" cy="0"/>
          <a:chOff x="0" y="0"/>
          <a:chExt cx="0" cy="0"/>
        </a:xfrm>
      </p:grpSpPr>
      <p:sp>
        <p:nvSpPr>
          <p:cNvPr id="26" name="文本框 25">
            <a:extLst>
              <a:ext uri="{FF2B5EF4-FFF2-40B4-BE49-F238E27FC236}">
                <a16:creationId xmlns:a16="http://schemas.microsoft.com/office/drawing/2014/main" id="{B26C28F2-A309-0599-4013-3900CE4202C6}"/>
              </a:ext>
            </a:extLst>
          </p:cNvPr>
          <p:cNvSpPr txBox="1"/>
          <p:nvPr/>
        </p:nvSpPr>
        <p:spPr>
          <a:xfrm>
            <a:off x="5616678" y="966920"/>
            <a:ext cx="6566499" cy="4985980"/>
          </a:xfrm>
          <a:prstGeom prst="rect">
            <a:avLst/>
          </a:prstGeom>
          <a:noFill/>
        </p:spPr>
        <p:txBody>
          <a:bodyPr wrap="square" lIns="0" tIns="0" rIns="0" bIns="0" rtlCol="0" anchor="t">
            <a:spAutoFit/>
          </a:bodyPr>
          <a:lstStyle>
            <a:defPPr>
              <a:defRPr lang="de-DE"/>
            </a:defPPr>
            <a:lvl1pPr marL="108000">
              <a:defRPr sz="2000">
                <a:solidFill>
                  <a:schemeClr val="bg1"/>
                </a:solidFill>
                <a:latin typeface="Consolas" panose="020B0609020204030204" pitchFamily="49" charset="0"/>
                <a:ea typeface="微软雅黑" panose="020B0503020204020204" pitchFamily="34" charset="-122"/>
                <a:cs typeface="Arial" pitchFamily="34" charset="0"/>
              </a:defRPr>
            </a:lvl1pPr>
          </a:lstStyle>
          <a:p>
            <a:r>
              <a:rPr lang="en-US" altLang="zh-CN" sz="1800" dirty="0">
                <a:solidFill>
                  <a:srgbClr val="002060"/>
                </a:solidFill>
              </a:rPr>
              <a:t>def main():</a:t>
            </a:r>
          </a:p>
          <a:p>
            <a:r>
              <a:rPr lang="en-US" altLang="zh-CN" sz="1800" dirty="0">
                <a:solidFill>
                  <a:srgbClr val="002060"/>
                </a:solidFill>
              </a:rPr>
              <a:t>    vehicle  = vehicle_setup()</a:t>
            </a:r>
          </a:p>
          <a:p>
            <a:endParaRPr lang="en-US" altLang="zh-CN" sz="1800" dirty="0">
              <a:solidFill>
                <a:srgbClr val="002060"/>
              </a:solidFill>
            </a:endParaRPr>
          </a:p>
          <a:p>
            <a:r>
              <a:rPr lang="en-US" altLang="zh-CN" sz="1800" dirty="0">
                <a:solidFill>
                  <a:srgbClr val="002060"/>
                </a:solidFill>
              </a:rPr>
              <a:t>    configs  = </a:t>
            </a:r>
            <a:r>
              <a:rPr lang="en-US" altLang="zh-CN" sz="1800" dirty="0" err="1">
                <a:solidFill>
                  <a:srgbClr val="002060"/>
                </a:solidFill>
              </a:rPr>
              <a:t>configs_setup</a:t>
            </a:r>
            <a:r>
              <a:rPr lang="en-US" altLang="zh-CN" sz="1800" dirty="0">
                <a:solidFill>
                  <a:srgbClr val="002060"/>
                </a:solidFill>
              </a:rPr>
              <a:t>(vehicle)</a:t>
            </a:r>
          </a:p>
          <a:p>
            <a:r>
              <a:rPr lang="en-US" altLang="zh-CN" sz="1800" dirty="0">
                <a:solidFill>
                  <a:srgbClr val="002060"/>
                </a:solidFill>
              </a:rPr>
              <a:t>    configs_analyses = </a:t>
            </a:r>
            <a:r>
              <a:rPr lang="en-US" altLang="zh-CN" sz="1800" dirty="0" err="1">
                <a:solidFill>
                  <a:srgbClr val="002060"/>
                </a:solidFill>
              </a:rPr>
              <a:t>analyses_setup</a:t>
            </a:r>
            <a:r>
              <a:rPr lang="en-US" altLang="zh-CN" sz="1800" dirty="0">
                <a:solidFill>
                  <a:srgbClr val="002060"/>
                </a:solidFill>
              </a:rPr>
              <a:t>(configs)</a:t>
            </a:r>
          </a:p>
          <a:p>
            <a:r>
              <a:rPr lang="en-US" altLang="zh-CN" sz="1800" dirty="0">
                <a:solidFill>
                  <a:srgbClr val="002060"/>
                </a:solidFill>
              </a:rPr>
              <a:t>    analyses = </a:t>
            </a:r>
            <a:r>
              <a:rPr lang="en-US" altLang="zh-CN" sz="1800" dirty="0" err="1">
                <a:solidFill>
                  <a:srgbClr val="002060"/>
                </a:solidFill>
              </a:rPr>
              <a:t>SUAVE.Analyses.Analysis.Container</a:t>
            </a:r>
            <a:r>
              <a:rPr lang="en-US" altLang="zh-CN" sz="1800" dirty="0">
                <a:solidFill>
                  <a:srgbClr val="002060"/>
                </a:solidFill>
              </a:rPr>
              <a:t>()</a:t>
            </a:r>
          </a:p>
          <a:p>
            <a:r>
              <a:rPr lang="en-US" altLang="zh-CN" sz="1800" dirty="0">
                <a:solidFill>
                  <a:srgbClr val="002060"/>
                </a:solidFill>
              </a:rPr>
              <a:t>    </a:t>
            </a:r>
            <a:r>
              <a:rPr lang="en-US" altLang="zh-CN" sz="1800" dirty="0" err="1">
                <a:solidFill>
                  <a:srgbClr val="002060"/>
                </a:solidFill>
              </a:rPr>
              <a:t>analyses.configs</a:t>
            </a:r>
            <a:r>
              <a:rPr lang="en-US" altLang="zh-CN" sz="1800" dirty="0">
                <a:solidFill>
                  <a:srgbClr val="002060"/>
                </a:solidFill>
              </a:rPr>
              <a:t>  = configs_analyses</a:t>
            </a:r>
          </a:p>
          <a:p>
            <a:endParaRPr lang="en-US" altLang="zh-CN" sz="1800" dirty="0">
              <a:solidFill>
                <a:srgbClr val="002060"/>
              </a:solidFill>
            </a:endParaRPr>
          </a:p>
          <a:p>
            <a:r>
              <a:rPr lang="en-US" altLang="zh-CN" sz="1800" dirty="0">
                <a:solidFill>
                  <a:srgbClr val="002060"/>
                </a:solidFill>
              </a:rPr>
              <a:t>    </a:t>
            </a:r>
            <a:r>
              <a:rPr lang="en-US" altLang="zh-CN" sz="1800" dirty="0" err="1">
                <a:solidFill>
                  <a:srgbClr val="002060"/>
                </a:solidFill>
              </a:rPr>
              <a:t>simple_sizing</a:t>
            </a:r>
            <a:r>
              <a:rPr lang="en-US" altLang="zh-CN" sz="1800" dirty="0">
                <a:solidFill>
                  <a:srgbClr val="002060"/>
                </a:solidFill>
              </a:rPr>
              <a:t>(configs)</a:t>
            </a:r>
          </a:p>
          <a:p>
            <a:endParaRPr lang="en-US" altLang="zh-CN" sz="1800" dirty="0">
              <a:solidFill>
                <a:srgbClr val="002060"/>
              </a:solidFill>
            </a:endParaRPr>
          </a:p>
          <a:p>
            <a:r>
              <a:rPr lang="en-US" altLang="zh-CN" sz="1800" dirty="0">
                <a:solidFill>
                  <a:srgbClr val="002060"/>
                </a:solidFill>
              </a:rPr>
              <a:t>    </a:t>
            </a:r>
            <a:r>
              <a:rPr lang="en-US" altLang="zh-CN" sz="1800" dirty="0" err="1">
                <a:solidFill>
                  <a:srgbClr val="002060"/>
                </a:solidFill>
              </a:rPr>
              <a:t>configs.finalize</a:t>
            </a:r>
            <a:r>
              <a:rPr lang="en-US" altLang="zh-CN" sz="1800" dirty="0">
                <a:solidFill>
                  <a:srgbClr val="002060"/>
                </a:solidFill>
              </a:rPr>
              <a:t>()</a:t>
            </a:r>
          </a:p>
          <a:p>
            <a:r>
              <a:rPr lang="en-US" altLang="zh-CN" sz="1800" dirty="0">
                <a:solidFill>
                  <a:srgbClr val="002060"/>
                </a:solidFill>
              </a:rPr>
              <a:t>    </a:t>
            </a:r>
            <a:r>
              <a:rPr lang="en-US" altLang="zh-CN" sz="1800" dirty="0" err="1">
                <a:solidFill>
                  <a:srgbClr val="002060"/>
                </a:solidFill>
              </a:rPr>
              <a:t>analyses.finalize</a:t>
            </a:r>
            <a:r>
              <a:rPr lang="en-US" altLang="zh-CN" sz="1800" dirty="0">
                <a:solidFill>
                  <a:srgbClr val="002060"/>
                </a:solidFill>
              </a:rPr>
              <a:t>()</a:t>
            </a:r>
          </a:p>
          <a:p>
            <a:br>
              <a:rPr lang="en-US" altLang="zh-CN" sz="1800" dirty="0">
                <a:solidFill>
                  <a:srgbClr val="002060"/>
                </a:solidFill>
              </a:rPr>
            </a:br>
            <a:r>
              <a:rPr lang="en-US" altLang="zh-CN" sz="1800" dirty="0">
                <a:solidFill>
                  <a:srgbClr val="002060"/>
                </a:solidFill>
              </a:rPr>
              <a:t>    mission = </a:t>
            </a:r>
            <a:r>
              <a:rPr lang="en-US" altLang="zh-CN" sz="1800" dirty="0" err="1">
                <a:solidFill>
                  <a:srgbClr val="002060"/>
                </a:solidFill>
              </a:rPr>
              <a:t>analyses.mission</a:t>
            </a:r>
            <a:endParaRPr lang="en-US" altLang="zh-CN" sz="1800" dirty="0">
              <a:solidFill>
                <a:srgbClr val="002060"/>
              </a:solidFill>
            </a:endParaRPr>
          </a:p>
          <a:p>
            <a:r>
              <a:rPr lang="en-US" altLang="zh-CN" sz="1800" dirty="0">
                <a:solidFill>
                  <a:srgbClr val="002060"/>
                </a:solidFill>
              </a:rPr>
              <a:t>    results = </a:t>
            </a:r>
            <a:r>
              <a:rPr lang="en-US" altLang="zh-CN" sz="1800" dirty="0" err="1">
                <a:solidFill>
                  <a:srgbClr val="002060"/>
                </a:solidFill>
              </a:rPr>
              <a:t>mission.evaluate</a:t>
            </a:r>
            <a:r>
              <a:rPr lang="en-US" altLang="zh-CN" sz="1800" dirty="0">
                <a:solidFill>
                  <a:srgbClr val="002060"/>
                </a:solidFill>
              </a:rPr>
              <a:t>()</a:t>
            </a:r>
            <a:br>
              <a:rPr lang="en-US" altLang="zh-CN" sz="1800" dirty="0">
                <a:solidFill>
                  <a:srgbClr val="002060"/>
                </a:solidFill>
              </a:rPr>
            </a:br>
            <a:r>
              <a:rPr lang="en-US" altLang="zh-CN" sz="1800" dirty="0">
                <a:solidFill>
                  <a:srgbClr val="002060"/>
                </a:solidFill>
              </a:rPr>
              <a:t>    </a:t>
            </a:r>
            <a:r>
              <a:rPr lang="en-US" altLang="zh-CN" sz="1800" dirty="0" err="1">
                <a:solidFill>
                  <a:srgbClr val="002060"/>
                </a:solidFill>
              </a:rPr>
              <a:t>plot_mission</a:t>
            </a:r>
            <a:r>
              <a:rPr lang="en-US" altLang="zh-CN" sz="1800" dirty="0">
                <a:solidFill>
                  <a:srgbClr val="002060"/>
                </a:solidFill>
              </a:rPr>
              <a:t>(results)</a:t>
            </a:r>
            <a:br>
              <a:rPr lang="en-US" altLang="zh-CN" sz="1800" dirty="0">
                <a:solidFill>
                  <a:srgbClr val="002060"/>
                </a:solidFill>
              </a:rPr>
            </a:br>
            <a:endParaRPr lang="en-US" altLang="zh-CN" sz="1800" dirty="0">
              <a:solidFill>
                <a:srgbClr val="002060"/>
              </a:solidFill>
            </a:endParaRPr>
          </a:p>
          <a:p>
            <a:r>
              <a:rPr lang="en-US" altLang="zh-CN" sz="1800" dirty="0">
                <a:solidFill>
                  <a:srgbClr val="002060"/>
                </a:solidFill>
              </a:rPr>
              <a:t>    return</a:t>
            </a:r>
          </a:p>
        </p:txBody>
      </p:sp>
      <p:sp>
        <p:nvSpPr>
          <p:cNvPr id="2" name="标题 1">
            <a:extLst>
              <a:ext uri="{FF2B5EF4-FFF2-40B4-BE49-F238E27FC236}">
                <a16:creationId xmlns:a16="http://schemas.microsoft.com/office/drawing/2014/main" id="{F9E11E51-1744-4F24-A3F9-9D47EF5F5F68}"/>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rPr>
              <a:t>Build the main function</a:t>
            </a:r>
            <a:endParaRPr lang="zh-CN" altLang="en-US" sz="3200"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13" name="文本框 12">
            <a:extLst>
              <a:ext uri="{FF2B5EF4-FFF2-40B4-BE49-F238E27FC236}">
                <a16:creationId xmlns:a16="http://schemas.microsoft.com/office/drawing/2014/main" id="{E7F410DB-5448-8CC1-1602-6A193FE89404}"/>
              </a:ext>
            </a:extLst>
          </p:cNvPr>
          <p:cNvSpPr txBox="1"/>
          <p:nvPr/>
        </p:nvSpPr>
        <p:spPr>
          <a:xfrm>
            <a:off x="3315748" y="2042108"/>
            <a:ext cx="2236838" cy="646331"/>
          </a:xfrm>
          <a:prstGeom prst="rect">
            <a:avLst/>
          </a:prstGeom>
          <a:noFill/>
        </p:spPr>
        <p:txBody>
          <a:bodyPr wrap="square">
            <a:spAutoFit/>
          </a:bodyPr>
          <a:lstStyle/>
          <a:p>
            <a:pPr>
              <a:buNone/>
            </a:pPr>
            <a:r>
              <a:rPr lang="zh-CN" altLang="en-US" dirty="0"/>
              <a:t>🛠️ </a:t>
            </a:r>
            <a:r>
              <a:rPr lang="en-US" altLang="zh-CN" b="1" dirty="0">
                <a:solidFill>
                  <a:srgbClr val="000000"/>
                </a:solidFill>
                <a:effectLst/>
                <a:latin typeface="ui-sans-serif"/>
              </a:rPr>
              <a:t>Config Setup</a:t>
            </a:r>
            <a:endParaRPr lang="en-US" altLang="zh-CN" dirty="0"/>
          </a:p>
          <a:p>
            <a:pPr>
              <a:buNone/>
            </a:pPr>
            <a:r>
              <a:rPr lang="en-US" altLang="zh-CN" dirty="0"/>
              <a:t>Create analysis config</a:t>
            </a:r>
            <a:endParaRPr lang="zh-CN" altLang="en-US" dirty="0"/>
          </a:p>
        </p:txBody>
      </p:sp>
      <p:sp>
        <p:nvSpPr>
          <p:cNvPr id="19" name="文本框 18">
            <a:extLst>
              <a:ext uri="{FF2B5EF4-FFF2-40B4-BE49-F238E27FC236}">
                <a16:creationId xmlns:a16="http://schemas.microsoft.com/office/drawing/2014/main" id="{9B8E6BCA-13D3-30A8-87E7-1581A0BCA153}"/>
              </a:ext>
            </a:extLst>
          </p:cNvPr>
          <p:cNvSpPr txBox="1"/>
          <p:nvPr/>
        </p:nvSpPr>
        <p:spPr>
          <a:xfrm>
            <a:off x="254901" y="966920"/>
            <a:ext cx="5018877" cy="782074"/>
          </a:xfrm>
          <a:prstGeom prst="rect">
            <a:avLst/>
          </a:prstGeom>
          <a:noFill/>
        </p:spPr>
        <p:txBody>
          <a:bodyPr wrap="square" lIns="0" tIns="0" rIns="0" bIns="0" rtlCol="0">
            <a:spAutoFit/>
          </a:bodyPr>
          <a:lstStyle/>
          <a:p>
            <a:pPr>
              <a:lnSpc>
                <a:spcPct val="150000"/>
              </a:lnSpc>
            </a:pPr>
            <a:r>
              <a:rPr lang="en-US" altLang="zh-CN" dirty="0">
                <a:solidFill>
                  <a:srgbClr val="002060"/>
                </a:solidFill>
                <a:latin typeface="微软雅黑" panose="020B0503020204020204" pitchFamily="34" charset="-122"/>
                <a:ea typeface="微软雅黑" panose="020B0503020204020204" pitchFamily="34" charset="-122"/>
              </a:rPr>
              <a:t>Main function: encapsulates aircraft, analysis, mission, and post-processing modules.</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2" name="左大括号 21">
            <a:extLst>
              <a:ext uri="{FF2B5EF4-FFF2-40B4-BE49-F238E27FC236}">
                <a16:creationId xmlns:a16="http://schemas.microsoft.com/office/drawing/2014/main" id="{15B474C6-7485-D8C3-E47B-73D4306D19DF}"/>
              </a:ext>
            </a:extLst>
          </p:cNvPr>
          <p:cNvSpPr/>
          <p:nvPr/>
        </p:nvSpPr>
        <p:spPr>
          <a:xfrm>
            <a:off x="5638683" y="1865212"/>
            <a:ext cx="272594" cy="1000125"/>
          </a:xfrm>
          <a:prstGeom prst="leftBrace">
            <a:avLst>
              <a:gd name="adj1" fmla="val 8333"/>
              <a:gd name="adj2" fmla="val 4619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左大括号 22">
            <a:extLst>
              <a:ext uri="{FF2B5EF4-FFF2-40B4-BE49-F238E27FC236}">
                <a16:creationId xmlns:a16="http://schemas.microsoft.com/office/drawing/2014/main" id="{7DD90A5F-B570-9C82-77D4-1BE6E369F165}"/>
              </a:ext>
            </a:extLst>
          </p:cNvPr>
          <p:cNvSpPr/>
          <p:nvPr/>
        </p:nvSpPr>
        <p:spPr>
          <a:xfrm>
            <a:off x="5638683" y="4598888"/>
            <a:ext cx="272594" cy="763688"/>
          </a:xfrm>
          <a:prstGeom prst="leftBrace">
            <a:avLst>
              <a:gd name="adj1" fmla="val 8333"/>
              <a:gd name="adj2" fmla="val 4619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EF450A86-F052-82A7-C6EA-50AEFA73C326}"/>
              </a:ext>
            </a:extLst>
          </p:cNvPr>
          <p:cNvSpPr txBox="1"/>
          <p:nvPr/>
        </p:nvSpPr>
        <p:spPr>
          <a:xfrm>
            <a:off x="3315748" y="4598888"/>
            <a:ext cx="2236838" cy="923330"/>
          </a:xfrm>
          <a:prstGeom prst="rect">
            <a:avLst/>
          </a:prstGeom>
          <a:noFill/>
        </p:spPr>
        <p:txBody>
          <a:bodyPr wrap="square">
            <a:spAutoFit/>
          </a:bodyPr>
          <a:lstStyle/>
          <a:p>
            <a:pPr>
              <a:buNone/>
            </a:pPr>
            <a:r>
              <a:rPr lang="zh-CN" altLang="en-US" dirty="0"/>
              <a:t>🧮</a:t>
            </a:r>
            <a:r>
              <a:rPr lang="en-US" altLang="zh-CN" b="1" dirty="0">
                <a:solidFill>
                  <a:srgbClr val="000000"/>
                </a:solidFill>
                <a:latin typeface="ui-sans-serif"/>
              </a:rPr>
              <a:t> Mission</a:t>
            </a:r>
            <a:r>
              <a:rPr lang="en-US" altLang="zh-CN" b="1" dirty="0">
                <a:solidFill>
                  <a:srgbClr val="000000"/>
                </a:solidFill>
                <a:effectLst/>
                <a:latin typeface="ui-sans-serif"/>
              </a:rPr>
              <a:t> </a:t>
            </a:r>
            <a:r>
              <a:rPr lang="en-US" altLang="zh-CN" b="1" dirty="0">
                <a:solidFill>
                  <a:srgbClr val="000000"/>
                </a:solidFill>
                <a:latin typeface="ui-sans-serif"/>
              </a:rPr>
              <a:t>C</a:t>
            </a:r>
            <a:r>
              <a:rPr lang="en-US" altLang="zh-CN" b="1" dirty="0">
                <a:solidFill>
                  <a:srgbClr val="000000"/>
                </a:solidFill>
                <a:effectLst/>
                <a:latin typeface="ui-sans-serif"/>
              </a:rPr>
              <a:t>alculate</a:t>
            </a:r>
            <a:endParaRPr lang="en-US" altLang="zh-CN" dirty="0"/>
          </a:p>
          <a:p>
            <a:pPr>
              <a:buNone/>
            </a:pPr>
            <a:r>
              <a:rPr lang="en-US" altLang="zh-CN" dirty="0"/>
              <a:t>Run the mission and plot the result</a:t>
            </a:r>
            <a:endParaRPr lang="zh-CN" altLang="en-US" dirty="0"/>
          </a:p>
        </p:txBody>
      </p:sp>
      <p:sp>
        <p:nvSpPr>
          <p:cNvPr id="25" name="文本框 24">
            <a:extLst>
              <a:ext uri="{FF2B5EF4-FFF2-40B4-BE49-F238E27FC236}">
                <a16:creationId xmlns:a16="http://schemas.microsoft.com/office/drawing/2014/main" id="{6922895D-7F66-2CCF-9337-CEFF4962B26A}"/>
              </a:ext>
            </a:extLst>
          </p:cNvPr>
          <p:cNvSpPr txBox="1"/>
          <p:nvPr/>
        </p:nvSpPr>
        <p:spPr>
          <a:xfrm>
            <a:off x="2117497" y="3013112"/>
            <a:ext cx="3657483" cy="646331"/>
          </a:xfrm>
          <a:prstGeom prst="rect">
            <a:avLst/>
          </a:prstGeom>
          <a:noFill/>
        </p:spPr>
        <p:txBody>
          <a:bodyPr wrap="square">
            <a:spAutoFit/>
          </a:bodyPr>
          <a:lstStyle/>
          <a:p>
            <a:pPr algn="ctr">
              <a:buNone/>
            </a:pPr>
            <a:r>
              <a:rPr lang="zh-CN" altLang="en-US" dirty="0"/>
              <a:t>✈️</a:t>
            </a:r>
            <a:r>
              <a:rPr lang="en-US" altLang="zh-CN" b="1" dirty="0">
                <a:solidFill>
                  <a:srgbClr val="000000"/>
                </a:solidFill>
                <a:latin typeface="ui-sans-serif"/>
              </a:rPr>
              <a:t> Simple sizing</a:t>
            </a:r>
            <a:endParaRPr lang="en-US" altLang="zh-CN" dirty="0"/>
          </a:p>
          <a:p>
            <a:pPr algn="ctr">
              <a:buNone/>
            </a:pPr>
            <a:r>
              <a:rPr lang="en-US" altLang="zh-CN" dirty="0"/>
              <a:t>Complete basic settings of vehicle</a:t>
            </a:r>
            <a:endParaRPr lang="zh-CN" altLang="en-US" dirty="0"/>
          </a:p>
        </p:txBody>
      </p:sp>
      <p:sp>
        <p:nvSpPr>
          <p:cNvPr id="27" name="左大括号 26">
            <a:extLst>
              <a:ext uri="{FF2B5EF4-FFF2-40B4-BE49-F238E27FC236}">
                <a16:creationId xmlns:a16="http://schemas.microsoft.com/office/drawing/2014/main" id="{D9970863-E6B6-1317-481A-BDFAD2EC49EB}"/>
              </a:ext>
            </a:extLst>
          </p:cNvPr>
          <p:cNvSpPr/>
          <p:nvPr/>
        </p:nvSpPr>
        <p:spPr>
          <a:xfrm>
            <a:off x="5638683" y="3129040"/>
            <a:ext cx="272594" cy="423785"/>
          </a:xfrm>
          <a:prstGeom prst="leftBrace">
            <a:avLst>
              <a:gd name="adj1" fmla="val 8333"/>
              <a:gd name="adj2" fmla="val 4619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705081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2C578-5173-7A7F-523B-FBE1AB323D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6DC0D2-4714-C198-0C80-74852F8C2FEE}"/>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rPr>
              <a:t>Define the Analyses</a:t>
            </a:r>
            <a:endParaRPr lang="zh-CN" altLang="en-US" sz="3200"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6" name="文本框 5">
            <a:extLst>
              <a:ext uri="{FF2B5EF4-FFF2-40B4-BE49-F238E27FC236}">
                <a16:creationId xmlns:a16="http://schemas.microsoft.com/office/drawing/2014/main" id="{BF5DC9EA-AC19-B19F-B6D4-970D25276303}"/>
              </a:ext>
            </a:extLst>
          </p:cNvPr>
          <p:cNvSpPr txBox="1"/>
          <p:nvPr/>
        </p:nvSpPr>
        <p:spPr>
          <a:xfrm>
            <a:off x="4756784" y="794708"/>
            <a:ext cx="7423355" cy="6186309"/>
          </a:xfrm>
          <a:prstGeom prst="rect">
            <a:avLst/>
          </a:prstGeom>
          <a:noFill/>
        </p:spPr>
        <p:txBody>
          <a:bodyPr wrap="square">
            <a:spAutoFit/>
          </a:bodyPr>
          <a:lstStyle/>
          <a:p>
            <a:pPr>
              <a:buNone/>
            </a:pPr>
            <a:r>
              <a:rPr lang="en-US" altLang="zh-CN" sz="1600" b="0" dirty="0">
                <a:solidFill>
                  <a:srgbClr val="002060"/>
                </a:solidFill>
                <a:effectLst/>
                <a:latin typeface="Consolas" panose="020B0609020204030204" pitchFamily="49" charset="0"/>
              </a:rPr>
              <a:t>def </a:t>
            </a:r>
            <a:r>
              <a:rPr lang="en-US" altLang="zh-CN" sz="1600" b="0" dirty="0" err="1">
                <a:solidFill>
                  <a:srgbClr val="002060"/>
                </a:solidFill>
                <a:effectLst/>
                <a:latin typeface="Consolas" panose="020B0609020204030204" pitchFamily="49" charset="0"/>
              </a:rPr>
              <a:t>base_analysis</a:t>
            </a:r>
            <a:r>
              <a:rPr lang="en-US" altLang="zh-CN" sz="1600" b="0" dirty="0">
                <a:solidFill>
                  <a:srgbClr val="002060"/>
                </a:solidFill>
                <a:effectLst/>
                <a:latin typeface="Consolas" panose="020B0609020204030204" pitchFamily="49" charset="0"/>
              </a:rPr>
              <a:t>(vehicle):</a:t>
            </a:r>
            <a:br>
              <a:rPr lang="en-US" altLang="zh-CN" sz="1600" b="0" dirty="0">
                <a:solidFill>
                  <a:srgbClr val="002060"/>
                </a:solidFill>
                <a:effectLst/>
                <a:latin typeface="Consolas" panose="020B0609020204030204" pitchFamily="49" charset="0"/>
              </a:rPr>
            </a:b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analyses = </a:t>
            </a:r>
            <a:r>
              <a:rPr lang="en-US" altLang="zh-CN" sz="1600" b="0" dirty="0" err="1">
                <a:solidFill>
                  <a:srgbClr val="002060"/>
                </a:solidFill>
                <a:effectLst/>
                <a:latin typeface="Consolas" panose="020B0609020204030204" pitchFamily="49" charset="0"/>
              </a:rPr>
              <a:t>SUAVE.Analyses.Vehicle</a:t>
            </a:r>
            <a:r>
              <a:rPr lang="en-US" altLang="zh-CN" sz="1600" b="0" dirty="0">
                <a:solidFill>
                  <a:srgbClr val="002060"/>
                </a:solidFill>
                <a:effectLst/>
                <a:latin typeface="Consolas" panose="020B0609020204030204" pitchFamily="49" charset="0"/>
              </a:rPr>
              <a:t>()</a:t>
            </a:r>
          </a:p>
          <a:p>
            <a:pPr>
              <a:buNone/>
            </a:pP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weights = </a:t>
            </a:r>
            <a:r>
              <a:rPr lang="en-US" altLang="zh-CN" sz="1600" b="0" dirty="0" err="1">
                <a:solidFill>
                  <a:srgbClr val="002060"/>
                </a:solidFill>
                <a:effectLst/>
                <a:latin typeface="Consolas" panose="020B0609020204030204" pitchFamily="49" charset="0"/>
              </a:rPr>
              <a:t>SUAVE.Analyses.Weights.Weights_Transport</a:t>
            </a:r>
            <a:r>
              <a:rPr lang="en-US" altLang="zh-CN" sz="1600" b="0" dirty="0">
                <a:solidFill>
                  <a:srgbClr val="002060"/>
                </a:solidFill>
                <a:effectLst/>
                <a:latin typeface="Consolas" panose="020B0609020204030204" pitchFamily="49" charset="0"/>
              </a:rPr>
              <a:t>()</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weights.vehicle</a:t>
            </a:r>
            <a:r>
              <a:rPr lang="en-US" altLang="zh-CN" sz="1600" b="0" dirty="0">
                <a:solidFill>
                  <a:srgbClr val="002060"/>
                </a:solidFill>
                <a:effectLst/>
                <a:latin typeface="Consolas" panose="020B0609020204030204" pitchFamily="49" charset="0"/>
              </a:rPr>
              <a:t> = vehicle</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analyses.append</a:t>
            </a:r>
            <a:r>
              <a:rPr lang="en-US" altLang="zh-CN" sz="1600" b="0" dirty="0">
                <a:solidFill>
                  <a:srgbClr val="002060"/>
                </a:solidFill>
                <a:effectLst/>
                <a:latin typeface="Consolas" panose="020B0609020204030204" pitchFamily="49" charset="0"/>
              </a:rPr>
              <a:t>(weights)</a:t>
            </a:r>
          </a:p>
          <a:p>
            <a:pPr>
              <a:buNone/>
            </a:pP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aerodynamics = </a:t>
            </a:r>
            <a:r>
              <a:rPr lang="en-US" altLang="zh-CN" sz="1600" b="0" dirty="0" err="1">
                <a:solidFill>
                  <a:srgbClr val="002060"/>
                </a:solidFill>
                <a:effectLst/>
                <a:latin typeface="Consolas" panose="020B0609020204030204" pitchFamily="49" charset="0"/>
              </a:rPr>
              <a:t>SUAVE.Analyses.Aerodynamics.Fidelity_Zero</a:t>
            </a:r>
            <a:r>
              <a:rPr lang="en-US" altLang="zh-CN" sz="1600" b="0" dirty="0">
                <a:solidFill>
                  <a:srgbClr val="002060"/>
                </a:solidFill>
                <a:effectLst/>
                <a:latin typeface="Consolas" panose="020B0609020204030204" pitchFamily="49" charset="0"/>
              </a:rPr>
              <a:t>()</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aerodynamics.geometry</a:t>
            </a:r>
            <a:r>
              <a:rPr lang="en-US" altLang="zh-CN" sz="1600" b="0" dirty="0">
                <a:solidFill>
                  <a:srgbClr val="002060"/>
                </a:solidFill>
                <a:effectLst/>
                <a:latin typeface="Consolas" panose="020B0609020204030204" pitchFamily="49" charset="0"/>
              </a:rPr>
              <a:t> = vehicle</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analyses.append</a:t>
            </a:r>
            <a:r>
              <a:rPr lang="en-US" altLang="zh-CN" sz="1600" b="0" dirty="0">
                <a:solidFill>
                  <a:srgbClr val="002060"/>
                </a:solidFill>
                <a:effectLst/>
                <a:latin typeface="Consolas" panose="020B0609020204030204" pitchFamily="49" charset="0"/>
              </a:rPr>
              <a:t>(aerodynamics)</a:t>
            </a:r>
          </a:p>
          <a:p>
            <a:pPr>
              <a:buNone/>
            </a:pP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energy = </a:t>
            </a:r>
            <a:r>
              <a:rPr lang="en-US" altLang="zh-CN" sz="1600" b="0" dirty="0" err="1">
                <a:solidFill>
                  <a:srgbClr val="002060"/>
                </a:solidFill>
                <a:effectLst/>
                <a:latin typeface="Consolas" panose="020B0609020204030204" pitchFamily="49" charset="0"/>
              </a:rPr>
              <a:t>SUAVE.Analyses.Energy.Energy</a:t>
            </a:r>
            <a:r>
              <a:rPr lang="en-US" altLang="zh-CN" sz="1600" b="0" dirty="0">
                <a:solidFill>
                  <a:srgbClr val="002060"/>
                </a:solidFill>
                <a:effectLst/>
                <a:latin typeface="Consolas" panose="020B0609020204030204" pitchFamily="49" charset="0"/>
              </a:rPr>
              <a:t>()</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energy.network</a:t>
            </a:r>
            <a:r>
              <a:rPr lang="en-US" altLang="zh-CN" sz="1600" b="0" dirty="0">
                <a:solidFill>
                  <a:srgbClr val="002060"/>
                </a:solidFill>
                <a:effectLst/>
                <a:latin typeface="Consolas" panose="020B0609020204030204" pitchFamily="49" charset="0"/>
              </a:rPr>
              <a:t> = </a:t>
            </a:r>
            <a:r>
              <a:rPr lang="en-US" altLang="zh-CN" sz="1600" b="0" dirty="0" err="1">
                <a:solidFill>
                  <a:srgbClr val="002060"/>
                </a:solidFill>
                <a:effectLst/>
                <a:latin typeface="Consolas" panose="020B0609020204030204" pitchFamily="49" charset="0"/>
              </a:rPr>
              <a:t>vehicle.networks</a:t>
            </a: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analyses.append</a:t>
            </a:r>
            <a:r>
              <a:rPr lang="en-US" altLang="zh-CN" sz="1600" b="0" dirty="0">
                <a:solidFill>
                  <a:srgbClr val="002060"/>
                </a:solidFill>
                <a:effectLst/>
                <a:latin typeface="Consolas" panose="020B0609020204030204" pitchFamily="49" charset="0"/>
              </a:rPr>
              <a:t>(energy)</a:t>
            </a:r>
          </a:p>
          <a:p>
            <a:pPr>
              <a:buNone/>
            </a:pP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planet = </a:t>
            </a:r>
            <a:r>
              <a:rPr lang="en-US" altLang="zh-CN" sz="1600" b="0" dirty="0" err="1">
                <a:solidFill>
                  <a:srgbClr val="002060"/>
                </a:solidFill>
                <a:effectLst/>
                <a:latin typeface="Consolas" panose="020B0609020204030204" pitchFamily="49" charset="0"/>
              </a:rPr>
              <a:t>SUAVE.Analyses.Planets.Planet</a:t>
            </a:r>
            <a:r>
              <a:rPr lang="en-US" altLang="zh-CN" sz="1600" b="0" dirty="0">
                <a:solidFill>
                  <a:srgbClr val="002060"/>
                </a:solidFill>
                <a:effectLst/>
                <a:latin typeface="Consolas" panose="020B0609020204030204" pitchFamily="49" charset="0"/>
              </a:rPr>
              <a:t>()</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analyses.append</a:t>
            </a:r>
            <a:r>
              <a:rPr lang="en-US" altLang="zh-CN" sz="1600" b="0" dirty="0">
                <a:solidFill>
                  <a:srgbClr val="002060"/>
                </a:solidFill>
                <a:effectLst/>
                <a:latin typeface="Consolas" panose="020B0609020204030204" pitchFamily="49" charset="0"/>
              </a:rPr>
              <a:t>(planet)</a:t>
            </a:r>
          </a:p>
          <a:p>
            <a:pPr>
              <a:buNone/>
            </a:pP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atmosphere = SUAVE.Analyses.Atmospheric.US_Standard_1976()</a:t>
            </a: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atmosphere.features.planet</a:t>
            </a:r>
            <a:r>
              <a:rPr lang="en-US" altLang="zh-CN" sz="1600" b="0" dirty="0">
                <a:solidFill>
                  <a:srgbClr val="002060"/>
                </a:solidFill>
                <a:effectLst/>
                <a:latin typeface="Consolas" panose="020B0609020204030204" pitchFamily="49" charset="0"/>
              </a:rPr>
              <a:t> = </a:t>
            </a:r>
            <a:r>
              <a:rPr lang="en-US" altLang="zh-CN" sz="1600" b="0" dirty="0" err="1">
                <a:solidFill>
                  <a:srgbClr val="002060"/>
                </a:solidFill>
                <a:effectLst/>
                <a:latin typeface="Consolas" panose="020B0609020204030204" pitchFamily="49" charset="0"/>
              </a:rPr>
              <a:t>planet.features</a:t>
            </a: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a:t>
            </a:r>
            <a:r>
              <a:rPr lang="en-US" altLang="zh-CN" sz="1600" b="0" dirty="0" err="1">
                <a:solidFill>
                  <a:srgbClr val="002060"/>
                </a:solidFill>
                <a:effectLst/>
                <a:latin typeface="Consolas" panose="020B0609020204030204" pitchFamily="49" charset="0"/>
              </a:rPr>
              <a:t>analyses.append</a:t>
            </a:r>
            <a:r>
              <a:rPr lang="en-US" altLang="zh-CN" sz="1600" b="0" dirty="0">
                <a:solidFill>
                  <a:srgbClr val="002060"/>
                </a:solidFill>
                <a:effectLst/>
                <a:latin typeface="Consolas" panose="020B0609020204030204" pitchFamily="49" charset="0"/>
              </a:rPr>
              <a:t>(atmosphere)   </a:t>
            </a:r>
          </a:p>
          <a:p>
            <a:pPr>
              <a:buNone/>
            </a:pPr>
            <a:endParaRPr lang="en-US" altLang="zh-CN" sz="1600" b="0" dirty="0">
              <a:solidFill>
                <a:srgbClr val="002060"/>
              </a:solidFill>
              <a:effectLst/>
              <a:latin typeface="Consolas" panose="020B0609020204030204" pitchFamily="49" charset="0"/>
            </a:endParaRPr>
          </a:p>
          <a:p>
            <a:pPr>
              <a:buNone/>
            </a:pPr>
            <a:r>
              <a:rPr lang="en-US" altLang="zh-CN" sz="1600" b="0" dirty="0">
                <a:solidFill>
                  <a:srgbClr val="002060"/>
                </a:solidFill>
                <a:effectLst/>
                <a:latin typeface="Consolas" panose="020B0609020204030204" pitchFamily="49" charset="0"/>
              </a:rPr>
              <a:t>    return analyses   </a:t>
            </a:r>
          </a:p>
        </p:txBody>
      </p:sp>
      <p:sp>
        <p:nvSpPr>
          <p:cNvPr id="5" name="文本框 4">
            <a:extLst>
              <a:ext uri="{FF2B5EF4-FFF2-40B4-BE49-F238E27FC236}">
                <a16:creationId xmlns:a16="http://schemas.microsoft.com/office/drawing/2014/main" id="{D2367A30-B66F-CAA6-41F4-FD63A47E23A9}"/>
              </a:ext>
            </a:extLst>
          </p:cNvPr>
          <p:cNvSpPr txBox="1"/>
          <p:nvPr/>
        </p:nvSpPr>
        <p:spPr>
          <a:xfrm>
            <a:off x="211886" y="794708"/>
            <a:ext cx="4459973" cy="782074"/>
          </a:xfrm>
          <a:prstGeom prst="rect">
            <a:avLst/>
          </a:prstGeom>
          <a:noFill/>
        </p:spPr>
        <p:txBody>
          <a:bodyPr wrap="square" lIns="0" tIns="0" rIns="0" bIns="0" rtlCol="0">
            <a:spAutoFit/>
          </a:bodyPr>
          <a:lstStyle/>
          <a:p>
            <a:pPr>
              <a:lnSpc>
                <a:spcPct val="150000"/>
              </a:lnSpc>
            </a:pPr>
            <a:r>
              <a:rPr lang="en-US" altLang="zh-CN" dirty="0">
                <a:solidFill>
                  <a:srgbClr val="002060"/>
                </a:solidFill>
                <a:latin typeface="微软雅黑" panose="020B0503020204020204" pitchFamily="34" charset="-122"/>
                <a:ea typeface="微软雅黑" panose="020B0503020204020204" pitchFamily="34" charset="-122"/>
              </a:rPr>
              <a:t>Base analysis: create analysis component and set aerodynamic solver.</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7" name="左大括号 6">
            <a:extLst>
              <a:ext uri="{FF2B5EF4-FFF2-40B4-BE49-F238E27FC236}">
                <a16:creationId xmlns:a16="http://schemas.microsoft.com/office/drawing/2014/main" id="{741378DC-AC63-207B-8499-EAE9FB46205F}"/>
              </a:ext>
            </a:extLst>
          </p:cNvPr>
          <p:cNvSpPr/>
          <p:nvPr/>
        </p:nvSpPr>
        <p:spPr>
          <a:xfrm>
            <a:off x="4686300" y="3868812"/>
            <a:ext cx="400050" cy="2370063"/>
          </a:xfrm>
          <a:prstGeom prst="leftBrac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B530680-7B9A-F2CB-1BDF-FC9EB38CF217}"/>
              </a:ext>
            </a:extLst>
          </p:cNvPr>
          <p:cNvSpPr txBox="1"/>
          <p:nvPr/>
        </p:nvSpPr>
        <p:spPr>
          <a:xfrm>
            <a:off x="1967866" y="4730677"/>
            <a:ext cx="2718434" cy="646331"/>
          </a:xfrm>
          <a:prstGeom prst="rect">
            <a:avLst/>
          </a:prstGeom>
          <a:noFill/>
        </p:spPr>
        <p:txBody>
          <a:bodyPr wrap="square">
            <a:spAutoFit/>
          </a:bodyPr>
          <a:lstStyle/>
          <a:p>
            <a:pPr algn="ctr">
              <a:buNone/>
            </a:pPr>
            <a:r>
              <a:rPr lang="zh-CN" altLang="en-US" dirty="0"/>
              <a:t>🛠️ </a:t>
            </a:r>
            <a:r>
              <a:rPr lang="en-US" altLang="zh-CN" b="1" dirty="0">
                <a:solidFill>
                  <a:srgbClr val="000000"/>
                </a:solidFill>
                <a:effectLst/>
                <a:latin typeface="ui-sans-serif"/>
              </a:rPr>
              <a:t>Basic setting</a:t>
            </a:r>
            <a:endParaRPr lang="en-US" altLang="zh-CN" dirty="0"/>
          </a:p>
          <a:p>
            <a:pPr>
              <a:buNone/>
            </a:pPr>
            <a:r>
              <a:rPr lang="en-US" altLang="zh-CN" dirty="0"/>
              <a:t>No need to modify usually</a:t>
            </a:r>
            <a:endParaRPr lang="zh-CN" altLang="en-US" dirty="0"/>
          </a:p>
        </p:txBody>
      </p:sp>
      <p:sp>
        <p:nvSpPr>
          <p:cNvPr id="9" name="左大括号 8">
            <a:extLst>
              <a:ext uri="{FF2B5EF4-FFF2-40B4-BE49-F238E27FC236}">
                <a16:creationId xmlns:a16="http://schemas.microsoft.com/office/drawing/2014/main" id="{47FD0979-4336-EBDC-175E-12D9E1CA9E27}"/>
              </a:ext>
            </a:extLst>
          </p:cNvPr>
          <p:cNvSpPr/>
          <p:nvPr/>
        </p:nvSpPr>
        <p:spPr>
          <a:xfrm>
            <a:off x="4686299" y="2869859"/>
            <a:ext cx="400050" cy="646332"/>
          </a:xfrm>
          <a:prstGeom prst="leftBrac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F49E66B-AAD7-A9B8-2D0A-3AF59B5F0F1F}"/>
              </a:ext>
            </a:extLst>
          </p:cNvPr>
          <p:cNvSpPr txBox="1"/>
          <p:nvPr/>
        </p:nvSpPr>
        <p:spPr>
          <a:xfrm>
            <a:off x="1967866" y="2869859"/>
            <a:ext cx="2718434" cy="646331"/>
          </a:xfrm>
          <a:prstGeom prst="rect">
            <a:avLst/>
          </a:prstGeom>
          <a:noFill/>
        </p:spPr>
        <p:txBody>
          <a:bodyPr wrap="square">
            <a:spAutoFit/>
          </a:bodyPr>
          <a:lstStyle/>
          <a:p>
            <a:pPr algn="ctr">
              <a:buNone/>
            </a:pPr>
            <a:r>
              <a:rPr lang="zh-CN" altLang="en-US" dirty="0"/>
              <a:t>🔍</a:t>
            </a:r>
            <a:r>
              <a:rPr lang="en-US" altLang="zh-CN" b="1" dirty="0">
                <a:solidFill>
                  <a:srgbClr val="000000"/>
                </a:solidFill>
                <a:effectLst/>
                <a:latin typeface="ui-sans-serif"/>
              </a:rPr>
              <a:t>Aerodynamic solver</a:t>
            </a:r>
            <a:endParaRPr lang="en-US" altLang="zh-CN" dirty="0"/>
          </a:p>
          <a:p>
            <a:pPr>
              <a:buNone/>
            </a:pPr>
            <a:r>
              <a:rPr lang="en-US" altLang="zh-CN" dirty="0"/>
              <a:t>This cases uses vortex</a:t>
            </a:r>
            <a:endParaRPr lang="zh-CN" altLang="en-US" dirty="0"/>
          </a:p>
        </p:txBody>
      </p:sp>
      <p:sp>
        <p:nvSpPr>
          <p:cNvPr id="11" name="文本框 10">
            <a:extLst>
              <a:ext uri="{FF2B5EF4-FFF2-40B4-BE49-F238E27FC236}">
                <a16:creationId xmlns:a16="http://schemas.microsoft.com/office/drawing/2014/main" id="{5583E148-1555-E1CC-7268-F84883605F22}"/>
              </a:ext>
            </a:extLst>
          </p:cNvPr>
          <p:cNvSpPr txBox="1"/>
          <p:nvPr/>
        </p:nvSpPr>
        <p:spPr>
          <a:xfrm>
            <a:off x="1504950" y="1900155"/>
            <a:ext cx="3181350" cy="646331"/>
          </a:xfrm>
          <a:prstGeom prst="rect">
            <a:avLst/>
          </a:prstGeom>
          <a:noFill/>
        </p:spPr>
        <p:txBody>
          <a:bodyPr wrap="square">
            <a:spAutoFit/>
          </a:bodyPr>
          <a:lstStyle/>
          <a:p>
            <a:pPr algn="ctr">
              <a:buNone/>
            </a:pPr>
            <a:r>
              <a:rPr lang="zh-CN" altLang="en-US" dirty="0"/>
              <a:t>🔍</a:t>
            </a:r>
            <a:r>
              <a:rPr lang="en-US" altLang="zh-CN" b="1" dirty="0">
                <a:solidFill>
                  <a:srgbClr val="000000"/>
                </a:solidFill>
                <a:effectLst/>
                <a:latin typeface="ui-sans-serif"/>
              </a:rPr>
              <a:t>Weights module</a:t>
            </a:r>
            <a:endParaRPr lang="en-US" altLang="zh-CN" dirty="0"/>
          </a:p>
          <a:p>
            <a:pPr>
              <a:buNone/>
            </a:pPr>
            <a:r>
              <a:rPr lang="en-US" altLang="zh-CN" dirty="0"/>
              <a:t>Calculate weight change by fuel</a:t>
            </a:r>
            <a:endParaRPr lang="zh-CN" altLang="en-US" dirty="0"/>
          </a:p>
        </p:txBody>
      </p:sp>
      <p:sp>
        <p:nvSpPr>
          <p:cNvPr id="12" name="左大括号 11">
            <a:extLst>
              <a:ext uri="{FF2B5EF4-FFF2-40B4-BE49-F238E27FC236}">
                <a16:creationId xmlns:a16="http://schemas.microsoft.com/office/drawing/2014/main" id="{F9ACD3DE-9524-7048-C610-04035274170C}"/>
              </a:ext>
            </a:extLst>
          </p:cNvPr>
          <p:cNvSpPr/>
          <p:nvPr/>
        </p:nvSpPr>
        <p:spPr>
          <a:xfrm>
            <a:off x="4686299" y="1900155"/>
            <a:ext cx="400050" cy="646332"/>
          </a:xfrm>
          <a:prstGeom prst="leftBrac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249285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74DA3-079A-6C08-4E1E-55C30694E321}"/>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00D134E2-E861-F630-990F-69FBF4533034}"/>
              </a:ext>
            </a:extLst>
          </p:cNvPr>
          <p:cNvSpPr txBox="1"/>
          <p:nvPr/>
        </p:nvSpPr>
        <p:spPr>
          <a:xfrm>
            <a:off x="4476749" y="979374"/>
            <a:ext cx="7477565" cy="2585323"/>
          </a:xfrm>
          <a:prstGeom prst="rect">
            <a:avLst/>
          </a:prstGeom>
          <a:noFill/>
          <a:ln w="15240">
            <a:solidFill>
              <a:srgbClr val="C00000"/>
            </a:solidFill>
            <a:prstDash val="dash"/>
          </a:ln>
        </p:spPr>
        <p:txBody>
          <a:bodyPr wrap="square">
            <a:spAutoFit/>
          </a:bodyPr>
          <a:lstStyle/>
          <a:p>
            <a:pPr>
              <a:buNone/>
            </a:pPr>
            <a:r>
              <a:rPr lang="en-US" altLang="zh-CN" b="0" dirty="0">
                <a:solidFill>
                  <a:srgbClr val="002060"/>
                </a:solidFill>
                <a:effectLst/>
                <a:latin typeface="Consolas" panose="020B0609020204030204" pitchFamily="49" charset="0"/>
              </a:rPr>
              <a:t>def analyses_setup(configs):</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analyses = SUAVE.Analyses.Analysis.Container()</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for </a:t>
            </a:r>
            <a:r>
              <a:rPr lang="en-US" altLang="zh-CN" b="0" dirty="0" err="1">
                <a:solidFill>
                  <a:srgbClr val="002060"/>
                </a:solidFill>
                <a:effectLst/>
                <a:latin typeface="Consolas" panose="020B0609020204030204" pitchFamily="49" charset="0"/>
              </a:rPr>
              <a:t>tag,config</a:t>
            </a:r>
            <a:r>
              <a:rPr lang="en-US" altLang="zh-CN" b="0" dirty="0">
                <a:solidFill>
                  <a:srgbClr val="002060"/>
                </a:solidFill>
                <a:effectLst/>
                <a:latin typeface="Consolas" panose="020B0609020204030204" pitchFamily="49" charset="0"/>
              </a:rPr>
              <a:t> in </a:t>
            </a:r>
            <a:r>
              <a:rPr lang="en-US" altLang="zh-CN" b="0" dirty="0" err="1">
                <a:solidFill>
                  <a:srgbClr val="002060"/>
                </a:solidFill>
                <a:effectLst/>
                <a:latin typeface="Consolas" panose="020B0609020204030204" pitchFamily="49" charset="0"/>
              </a:rPr>
              <a:t>configs.items</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analysis = </a:t>
            </a:r>
            <a:r>
              <a:rPr lang="en-US" altLang="zh-CN" b="0" dirty="0" err="1">
                <a:solidFill>
                  <a:srgbClr val="002060"/>
                </a:solidFill>
                <a:effectLst/>
                <a:latin typeface="Consolas" panose="020B0609020204030204" pitchFamily="49" charset="0"/>
              </a:rPr>
              <a:t>base_analysis</a:t>
            </a:r>
            <a:r>
              <a:rPr lang="en-US" altLang="zh-CN" b="0" dirty="0">
                <a:solidFill>
                  <a:srgbClr val="002060"/>
                </a:solidFill>
                <a:effectLst/>
                <a:latin typeface="Consolas" panose="020B0609020204030204" pitchFamily="49" charset="0"/>
              </a:rPr>
              <a:t>(config)</a:t>
            </a:r>
          </a:p>
          <a:p>
            <a:pPr>
              <a:buNone/>
            </a:pPr>
            <a:r>
              <a:rPr lang="en-US" altLang="zh-CN" b="0" dirty="0">
                <a:solidFill>
                  <a:srgbClr val="002060"/>
                </a:solidFill>
                <a:effectLst/>
                <a:latin typeface="Consolas" panose="020B0609020204030204" pitchFamily="49" charset="0"/>
              </a:rPr>
              <a:t>    analyses[tag] = analysis</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return analyses</a:t>
            </a:r>
          </a:p>
        </p:txBody>
      </p:sp>
      <p:sp>
        <p:nvSpPr>
          <p:cNvPr id="10" name="文本框 9">
            <a:extLst>
              <a:ext uri="{FF2B5EF4-FFF2-40B4-BE49-F238E27FC236}">
                <a16:creationId xmlns:a16="http://schemas.microsoft.com/office/drawing/2014/main" id="{A0EAAD8C-9195-2653-F12B-05482DDFFF58}"/>
              </a:ext>
            </a:extLst>
          </p:cNvPr>
          <p:cNvSpPr txBox="1"/>
          <p:nvPr/>
        </p:nvSpPr>
        <p:spPr>
          <a:xfrm>
            <a:off x="4476750" y="3790839"/>
            <a:ext cx="7477565" cy="2585323"/>
          </a:xfrm>
          <a:prstGeom prst="rect">
            <a:avLst/>
          </a:prstGeom>
          <a:noFill/>
          <a:ln w="15240">
            <a:solidFill>
              <a:srgbClr val="C00000"/>
            </a:solidFill>
            <a:prstDash val="dash"/>
          </a:ln>
        </p:spPr>
        <p:txBody>
          <a:bodyPr wrap="square">
            <a:spAutoFit/>
          </a:bodyPr>
          <a:lstStyle/>
          <a:p>
            <a:pPr>
              <a:buNone/>
            </a:pPr>
            <a:r>
              <a:rPr lang="en-US" altLang="zh-CN" b="0" dirty="0">
                <a:solidFill>
                  <a:srgbClr val="002060"/>
                </a:solidFill>
                <a:effectLst/>
                <a:latin typeface="Consolas" panose="020B0609020204030204" pitchFamily="49" charset="0"/>
              </a:rPr>
              <a:t>def configs_setup(vehicle):</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configs = </a:t>
            </a:r>
            <a:r>
              <a:rPr lang="en-US" altLang="zh-CN" b="0" dirty="0" err="1">
                <a:solidFill>
                  <a:srgbClr val="002060"/>
                </a:solidFill>
                <a:effectLst/>
                <a:latin typeface="Consolas" panose="020B0609020204030204" pitchFamily="49" charset="0"/>
              </a:rPr>
              <a:t>SUAVE.Components.Configs.Config.Container</a:t>
            </a:r>
            <a:r>
              <a:rPr lang="en-US" altLang="zh-CN" b="0" dirty="0">
                <a:solidFill>
                  <a:srgbClr val="002060"/>
                </a:solidFill>
                <a:effectLst/>
                <a:latin typeface="Consolas" panose="020B0609020204030204" pitchFamily="49" charset="0"/>
              </a:rPr>
              <a:t>()</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base_config</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SUAVE.Components.Configs.Config</a:t>
            </a:r>
            <a:r>
              <a:rPr lang="en-US" altLang="zh-CN" b="0" dirty="0">
                <a:solidFill>
                  <a:srgbClr val="002060"/>
                </a:solidFill>
                <a:effectLst/>
                <a:latin typeface="Consolas" panose="020B0609020204030204" pitchFamily="49" charset="0"/>
              </a:rPr>
              <a:t>(vehicle)</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base_config.tag</a:t>
            </a:r>
            <a:r>
              <a:rPr lang="en-US" altLang="zh-CN" b="0" dirty="0">
                <a:solidFill>
                  <a:srgbClr val="002060"/>
                </a:solidFill>
                <a:effectLst/>
                <a:latin typeface="Consolas" panose="020B0609020204030204" pitchFamily="49" charset="0"/>
              </a:rPr>
              <a:t> = 'base'</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configs.append</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base_config</a:t>
            </a:r>
            <a:r>
              <a:rPr lang="en-US" altLang="zh-CN" b="0" dirty="0">
                <a:solidFill>
                  <a:srgbClr val="002060"/>
                </a:solidFill>
                <a:effectLst/>
                <a:latin typeface="Consolas" panose="020B0609020204030204" pitchFamily="49" charset="0"/>
              </a:rPr>
              <a:t>)</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return configs</a:t>
            </a:r>
          </a:p>
        </p:txBody>
      </p:sp>
      <p:sp>
        <p:nvSpPr>
          <p:cNvPr id="6" name="标题 1">
            <a:extLst>
              <a:ext uri="{FF2B5EF4-FFF2-40B4-BE49-F238E27FC236}">
                <a16:creationId xmlns:a16="http://schemas.microsoft.com/office/drawing/2014/main" id="{1B1B08ED-E845-19E5-16CB-AF68C10AA9E2}"/>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rPr>
              <a:t>Define the Analyses</a:t>
            </a:r>
            <a:endParaRPr lang="zh-CN" altLang="en-US" sz="3200"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7" name="文本框 6">
            <a:extLst>
              <a:ext uri="{FF2B5EF4-FFF2-40B4-BE49-F238E27FC236}">
                <a16:creationId xmlns:a16="http://schemas.microsoft.com/office/drawing/2014/main" id="{84952298-7B5A-54E3-394A-5732A81F1255}"/>
              </a:ext>
            </a:extLst>
          </p:cNvPr>
          <p:cNvSpPr txBox="1"/>
          <p:nvPr/>
        </p:nvSpPr>
        <p:spPr>
          <a:xfrm>
            <a:off x="211886" y="979374"/>
            <a:ext cx="3998163" cy="2028569"/>
          </a:xfrm>
          <a:prstGeom prst="rect">
            <a:avLst/>
          </a:prstGeom>
          <a:noFill/>
        </p:spPr>
        <p:txBody>
          <a:bodyPr wrap="square" lIns="0" tIns="0" rIns="0" bIns="0" rtlCol="0">
            <a:spAutoFit/>
          </a:bodyPr>
          <a:lstStyle/>
          <a:p>
            <a:pPr algn="just">
              <a:lnSpc>
                <a:spcPct val="150000"/>
              </a:lnSpc>
            </a:pPr>
            <a:r>
              <a:rPr lang="en-US" altLang="zh-CN" dirty="0" err="1">
                <a:solidFill>
                  <a:srgbClr val="002060"/>
                </a:solidFill>
                <a:latin typeface="微软雅黑" panose="020B0503020204020204" pitchFamily="34" charset="-122"/>
                <a:ea typeface="微软雅黑" panose="020B0503020204020204" pitchFamily="34" charset="-122"/>
              </a:rPr>
              <a:t>Analyses_setup</a:t>
            </a:r>
            <a:r>
              <a:rPr lang="en-US" altLang="zh-CN" dirty="0">
                <a:solidFill>
                  <a:srgbClr val="002060"/>
                </a:solidFill>
                <a:latin typeface="微软雅黑" panose="020B0503020204020204" pitchFamily="34" charset="-122"/>
                <a:ea typeface="微软雅黑" panose="020B0503020204020204" pitchFamily="34" charset="-122"/>
              </a:rPr>
              <a:t> and </a:t>
            </a:r>
            <a:r>
              <a:rPr lang="en-US" altLang="zh-CN" dirty="0" err="1">
                <a:solidFill>
                  <a:srgbClr val="002060"/>
                </a:solidFill>
                <a:latin typeface="微软雅黑" panose="020B0503020204020204" pitchFamily="34" charset="-122"/>
                <a:ea typeface="微软雅黑" panose="020B0503020204020204" pitchFamily="34" charset="-122"/>
              </a:rPr>
              <a:t>configs_setup</a:t>
            </a:r>
            <a:r>
              <a:rPr lang="en-US" altLang="zh-CN" dirty="0">
                <a:solidFill>
                  <a:srgbClr val="002060"/>
                </a:solidFill>
                <a:latin typeface="微软雅黑" panose="020B0503020204020204" pitchFamily="34" charset="-122"/>
                <a:ea typeface="微软雅黑" panose="020B0503020204020204" pitchFamily="34" charset="-122"/>
              </a:rPr>
              <a:t>: </a:t>
            </a:r>
          </a:p>
          <a:p>
            <a:pPr algn="just">
              <a:lnSpc>
                <a:spcPct val="150000"/>
              </a:lnSpc>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Set tag for analysis component,</a:t>
            </a:r>
          </a:p>
          <a:p>
            <a:pPr algn="just">
              <a:lnSpc>
                <a:spcPct val="150000"/>
              </a:lnSpc>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if you have more than one analysis component you can call them by different tags.</a:t>
            </a:r>
          </a:p>
        </p:txBody>
      </p:sp>
      <p:sp>
        <p:nvSpPr>
          <p:cNvPr id="9" name="文本框 8">
            <a:extLst>
              <a:ext uri="{FF2B5EF4-FFF2-40B4-BE49-F238E27FC236}">
                <a16:creationId xmlns:a16="http://schemas.microsoft.com/office/drawing/2014/main" id="{1519B822-8352-BDFA-F2BF-880F236228D6}"/>
              </a:ext>
            </a:extLst>
          </p:cNvPr>
          <p:cNvSpPr txBox="1"/>
          <p:nvPr/>
        </p:nvSpPr>
        <p:spPr>
          <a:xfrm>
            <a:off x="552450" y="5083500"/>
            <a:ext cx="3819525" cy="646331"/>
          </a:xfrm>
          <a:prstGeom prst="rect">
            <a:avLst/>
          </a:prstGeom>
          <a:noFill/>
        </p:spPr>
        <p:txBody>
          <a:bodyPr wrap="square">
            <a:spAutoFit/>
          </a:bodyPr>
          <a:lstStyle/>
          <a:p>
            <a:pPr algn="ctr">
              <a:buNone/>
            </a:pPr>
            <a:r>
              <a:rPr lang="zh-CN" altLang="en-US" dirty="0"/>
              <a:t>🛠️ </a:t>
            </a:r>
            <a:r>
              <a:rPr lang="en-US" altLang="zh-CN" b="1" dirty="0">
                <a:solidFill>
                  <a:srgbClr val="000000"/>
                </a:solidFill>
                <a:effectLst/>
                <a:latin typeface="ui-sans-serif"/>
              </a:rPr>
              <a:t>Basic setting</a:t>
            </a:r>
            <a:endParaRPr lang="en-US" altLang="zh-CN" dirty="0"/>
          </a:p>
          <a:p>
            <a:pPr>
              <a:buNone/>
            </a:pPr>
            <a:r>
              <a:rPr lang="en-US" altLang="zh-CN" dirty="0"/>
              <a:t>Transfer vehicle to analysis component</a:t>
            </a:r>
            <a:endParaRPr lang="zh-CN" altLang="en-US" dirty="0"/>
          </a:p>
        </p:txBody>
      </p:sp>
      <p:sp>
        <p:nvSpPr>
          <p:cNvPr id="11" name="左大括号 10">
            <a:extLst>
              <a:ext uri="{FF2B5EF4-FFF2-40B4-BE49-F238E27FC236}">
                <a16:creationId xmlns:a16="http://schemas.microsoft.com/office/drawing/2014/main" id="{3EABD554-E337-F772-DE2B-522E88C9AA14}"/>
              </a:ext>
            </a:extLst>
          </p:cNvPr>
          <p:cNvSpPr/>
          <p:nvPr/>
        </p:nvSpPr>
        <p:spPr>
          <a:xfrm>
            <a:off x="4371975" y="4983633"/>
            <a:ext cx="400050" cy="846063"/>
          </a:xfrm>
          <a:prstGeom prst="leftBrac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52868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C8EA-570D-D3A1-9C4C-637FE8EAB6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D45F14-12ED-4317-AF9D-9C69DA8F80C5}"/>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a:t>
            </a:r>
            <a:r>
              <a:rPr lang="en-US" altLang="zh-CN"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Define the mission</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6" name="文本框 5">
            <a:extLst>
              <a:ext uri="{FF2B5EF4-FFF2-40B4-BE49-F238E27FC236}">
                <a16:creationId xmlns:a16="http://schemas.microsoft.com/office/drawing/2014/main" id="{A086CC66-2115-4A68-B3BB-59E69B947E30}"/>
              </a:ext>
            </a:extLst>
          </p:cNvPr>
          <p:cNvSpPr txBox="1"/>
          <p:nvPr/>
        </p:nvSpPr>
        <p:spPr>
          <a:xfrm>
            <a:off x="4474414" y="2176946"/>
            <a:ext cx="7505700" cy="3139321"/>
          </a:xfrm>
          <a:prstGeom prst="rect">
            <a:avLst/>
          </a:prstGeom>
          <a:noFill/>
          <a:ln w="15875">
            <a:solidFill>
              <a:srgbClr val="C00000"/>
            </a:solidFill>
            <a:prstDash val="dash"/>
            <a:extLst>
              <a:ext uri="{C807C97D-BFC1-408E-A445-0C87EB9F89A2}">
                <ask:lineSketchStyleProps xmlns:ask="http://schemas.microsoft.com/office/drawing/2018/sketchyshapes" sd="1219033472">
                  <a:custGeom>
                    <a:avLst/>
                    <a:gdLst>
                      <a:gd name="csX0" fmla="*/ 0 w 7505700"/>
                      <a:gd name="csY0" fmla="*/ 0 h 3416320"/>
                      <a:gd name="csX1" fmla="*/ 502305 w 7505700"/>
                      <a:gd name="csY1" fmla="*/ 0 h 3416320"/>
                      <a:gd name="csX2" fmla="*/ 854495 w 7505700"/>
                      <a:gd name="csY2" fmla="*/ 0 h 3416320"/>
                      <a:gd name="csX3" fmla="*/ 1581971 w 7505700"/>
                      <a:gd name="csY3" fmla="*/ 0 h 3416320"/>
                      <a:gd name="csX4" fmla="*/ 2084275 w 7505700"/>
                      <a:gd name="csY4" fmla="*/ 0 h 3416320"/>
                      <a:gd name="csX5" fmla="*/ 2586580 w 7505700"/>
                      <a:gd name="csY5" fmla="*/ 0 h 3416320"/>
                      <a:gd name="csX6" fmla="*/ 3314055 w 7505700"/>
                      <a:gd name="csY6" fmla="*/ 0 h 3416320"/>
                      <a:gd name="csX7" fmla="*/ 3741303 w 7505700"/>
                      <a:gd name="csY7" fmla="*/ 0 h 3416320"/>
                      <a:gd name="csX8" fmla="*/ 4468778 w 7505700"/>
                      <a:gd name="csY8" fmla="*/ 0 h 3416320"/>
                      <a:gd name="csX9" fmla="*/ 5196254 w 7505700"/>
                      <a:gd name="csY9" fmla="*/ 0 h 3416320"/>
                      <a:gd name="csX10" fmla="*/ 5773615 w 7505700"/>
                      <a:gd name="csY10" fmla="*/ 0 h 3416320"/>
                      <a:gd name="csX11" fmla="*/ 6501091 w 7505700"/>
                      <a:gd name="csY11" fmla="*/ 0 h 3416320"/>
                      <a:gd name="csX12" fmla="*/ 7003395 w 7505700"/>
                      <a:gd name="csY12" fmla="*/ 0 h 3416320"/>
                      <a:gd name="csX13" fmla="*/ 7505700 w 7505700"/>
                      <a:gd name="csY13" fmla="*/ 0 h 3416320"/>
                      <a:gd name="csX14" fmla="*/ 7505700 w 7505700"/>
                      <a:gd name="csY14" fmla="*/ 603550 h 3416320"/>
                      <a:gd name="csX15" fmla="*/ 7505700 w 7505700"/>
                      <a:gd name="csY15" fmla="*/ 1172937 h 3416320"/>
                      <a:gd name="csX16" fmla="*/ 7505700 w 7505700"/>
                      <a:gd name="csY16" fmla="*/ 1742323 h 3416320"/>
                      <a:gd name="csX17" fmla="*/ 7505700 w 7505700"/>
                      <a:gd name="csY17" fmla="*/ 2345873 h 3416320"/>
                      <a:gd name="csX18" fmla="*/ 7505700 w 7505700"/>
                      <a:gd name="csY18" fmla="*/ 3416320 h 3416320"/>
                      <a:gd name="csX19" fmla="*/ 6853281 w 7505700"/>
                      <a:gd name="csY19" fmla="*/ 3416320 h 3416320"/>
                      <a:gd name="csX20" fmla="*/ 6426034 w 7505700"/>
                      <a:gd name="csY20" fmla="*/ 3416320 h 3416320"/>
                      <a:gd name="csX21" fmla="*/ 5698558 w 7505700"/>
                      <a:gd name="csY21" fmla="*/ 3416320 h 3416320"/>
                      <a:gd name="csX22" fmla="*/ 5121197 w 7505700"/>
                      <a:gd name="csY22" fmla="*/ 3416320 h 3416320"/>
                      <a:gd name="csX23" fmla="*/ 4693949 w 7505700"/>
                      <a:gd name="csY23" fmla="*/ 3416320 h 3416320"/>
                      <a:gd name="csX24" fmla="*/ 4116588 w 7505700"/>
                      <a:gd name="csY24" fmla="*/ 3416320 h 3416320"/>
                      <a:gd name="csX25" fmla="*/ 3764397 w 7505700"/>
                      <a:gd name="csY25" fmla="*/ 3416320 h 3416320"/>
                      <a:gd name="csX26" fmla="*/ 3412207 w 7505700"/>
                      <a:gd name="csY26" fmla="*/ 3416320 h 3416320"/>
                      <a:gd name="csX27" fmla="*/ 2834845 w 7505700"/>
                      <a:gd name="csY27" fmla="*/ 3416320 h 3416320"/>
                      <a:gd name="csX28" fmla="*/ 2407598 w 7505700"/>
                      <a:gd name="csY28" fmla="*/ 3416320 h 3416320"/>
                      <a:gd name="csX29" fmla="*/ 1755179 w 7505700"/>
                      <a:gd name="csY29" fmla="*/ 3416320 h 3416320"/>
                      <a:gd name="csX30" fmla="*/ 1327932 w 7505700"/>
                      <a:gd name="csY30" fmla="*/ 3416320 h 3416320"/>
                      <a:gd name="csX31" fmla="*/ 675513 w 7505700"/>
                      <a:gd name="csY31" fmla="*/ 3416320 h 3416320"/>
                      <a:gd name="csX32" fmla="*/ 0 w 7505700"/>
                      <a:gd name="csY32" fmla="*/ 3416320 h 3416320"/>
                      <a:gd name="csX33" fmla="*/ 0 w 7505700"/>
                      <a:gd name="csY33" fmla="*/ 2812770 h 3416320"/>
                      <a:gd name="csX34" fmla="*/ 0 w 7505700"/>
                      <a:gd name="csY34" fmla="*/ 2209220 h 3416320"/>
                      <a:gd name="csX35" fmla="*/ 0 w 7505700"/>
                      <a:gd name="csY35" fmla="*/ 1571507 h 3416320"/>
                      <a:gd name="csX36" fmla="*/ 0 w 7505700"/>
                      <a:gd name="csY36" fmla="*/ 1036284 h 3416320"/>
                      <a:gd name="csX37" fmla="*/ 0 w 7505700"/>
                      <a:gd name="csY37" fmla="*/ 0 h 3416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7505700" h="3416320" extrusionOk="0">
                        <a:moveTo>
                          <a:pt x="0" y="0"/>
                        </a:moveTo>
                        <a:cubicBezTo>
                          <a:pt x="115206" y="-17194"/>
                          <a:pt x="310407" y="55893"/>
                          <a:pt x="502305" y="0"/>
                        </a:cubicBezTo>
                        <a:cubicBezTo>
                          <a:pt x="694203" y="-55893"/>
                          <a:pt x="738491" y="32658"/>
                          <a:pt x="854495" y="0"/>
                        </a:cubicBezTo>
                        <a:cubicBezTo>
                          <a:pt x="970499" y="-32658"/>
                          <a:pt x="1389864" y="62721"/>
                          <a:pt x="1581971" y="0"/>
                        </a:cubicBezTo>
                        <a:cubicBezTo>
                          <a:pt x="1774078" y="-62721"/>
                          <a:pt x="1871535" y="20876"/>
                          <a:pt x="2084275" y="0"/>
                        </a:cubicBezTo>
                        <a:cubicBezTo>
                          <a:pt x="2297015" y="-20876"/>
                          <a:pt x="2469875" y="35721"/>
                          <a:pt x="2586580" y="0"/>
                        </a:cubicBezTo>
                        <a:cubicBezTo>
                          <a:pt x="2703285" y="-35721"/>
                          <a:pt x="3036511" y="50296"/>
                          <a:pt x="3314055" y="0"/>
                        </a:cubicBezTo>
                        <a:cubicBezTo>
                          <a:pt x="3591600" y="-50296"/>
                          <a:pt x="3651431" y="13125"/>
                          <a:pt x="3741303" y="0"/>
                        </a:cubicBezTo>
                        <a:cubicBezTo>
                          <a:pt x="3831175" y="-13125"/>
                          <a:pt x="4152275" y="2412"/>
                          <a:pt x="4468778" y="0"/>
                        </a:cubicBezTo>
                        <a:cubicBezTo>
                          <a:pt x="4785281" y="-2412"/>
                          <a:pt x="5022678" y="19074"/>
                          <a:pt x="5196254" y="0"/>
                        </a:cubicBezTo>
                        <a:cubicBezTo>
                          <a:pt x="5369830" y="-19074"/>
                          <a:pt x="5641454" y="29978"/>
                          <a:pt x="5773615" y="0"/>
                        </a:cubicBezTo>
                        <a:cubicBezTo>
                          <a:pt x="5905776" y="-29978"/>
                          <a:pt x="6212118" y="40579"/>
                          <a:pt x="6501091" y="0"/>
                        </a:cubicBezTo>
                        <a:cubicBezTo>
                          <a:pt x="6790064" y="-40579"/>
                          <a:pt x="6807243" y="35590"/>
                          <a:pt x="7003395" y="0"/>
                        </a:cubicBezTo>
                        <a:cubicBezTo>
                          <a:pt x="7199547" y="-35590"/>
                          <a:pt x="7255712" y="17399"/>
                          <a:pt x="7505700" y="0"/>
                        </a:cubicBezTo>
                        <a:cubicBezTo>
                          <a:pt x="7513809" y="163765"/>
                          <a:pt x="7463689" y="356425"/>
                          <a:pt x="7505700" y="603550"/>
                        </a:cubicBezTo>
                        <a:cubicBezTo>
                          <a:pt x="7547711" y="850675"/>
                          <a:pt x="7503728" y="919127"/>
                          <a:pt x="7505700" y="1172937"/>
                        </a:cubicBezTo>
                        <a:cubicBezTo>
                          <a:pt x="7507672" y="1426747"/>
                          <a:pt x="7485059" y="1569889"/>
                          <a:pt x="7505700" y="1742323"/>
                        </a:cubicBezTo>
                        <a:cubicBezTo>
                          <a:pt x="7526341" y="1914757"/>
                          <a:pt x="7497049" y="2188175"/>
                          <a:pt x="7505700" y="2345873"/>
                        </a:cubicBezTo>
                        <a:cubicBezTo>
                          <a:pt x="7514351" y="2503571"/>
                          <a:pt x="7452470" y="2908247"/>
                          <a:pt x="7505700" y="3416320"/>
                        </a:cubicBezTo>
                        <a:cubicBezTo>
                          <a:pt x="7227452" y="3447608"/>
                          <a:pt x="7053036" y="3355831"/>
                          <a:pt x="6853281" y="3416320"/>
                        </a:cubicBezTo>
                        <a:cubicBezTo>
                          <a:pt x="6653526" y="3476809"/>
                          <a:pt x="6533909" y="3415967"/>
                          <a:pt x="6426034" y="3416320"/>
                        </a:cubicBezTo>
                        <a:cubicBezTo>
                          <a:pt x="6318159" y="3416673"/>
                          <a:pt x="6000212" y="3359845"/>
                          <a:pt x="5698558" y="3416320"/>
                        </a:cubicBezTo>
                        <a:cubicBezTo>
                          <a:pt x="5396904" y="3472795"/>
                          <a:pt x="5395653" y="3360157"/>
                          <a:pt x="5121197" y="3416320"/>
                        </a:cubicBezTo>
                        <a:cubicBezTo>
                          <a:pt x="4846741" y="3472483"/>
                          <a:pt x="4788901" y="3401385"/>
                          <a:pt x="4693949" y="3416320"/>
                        </a:cubicBezTo>
                        <a:cubicBezTo>
                          <a:pt x="4598997" y="3431255"/>
                          <a:pt x="4323583" y="3388534"/>
                          <a:pt x="4116588" y="3416320"/>
                        </a:cubicBezTo>
                        <a:cubicBezTo>
                          <a:pt x="3909593" y="3444106"/>
                          <a:pt x="3933326" y="3376426"/>
                          <a:pt x="3764397" y="3416320"/>
                        </a:cubicBezTo>
                        <a:cubicBezTo>
                          <a:pt x="3595468" y="3456214"/>
                          <a:pt x="3550015" y="3405653"/>
                          <a:pt x="3412207" y="3416320"/>
                        </a:cubicBezTo>
                        <a:cubicBezTo>
                          <a:pt x="3274399" y="3426987"/>
                          <a:pt x="3085138" y="3364694"/>
                          <a:pt x="2834845" y="3416320"/>
                        </a:cubicBezTo>
                        <a:cubicBezTo>
                          <a:pt x="2584552" y="3467946"/>
                          <a:pt x="2499410" y="3377957"/>
                          <a:pt x="2407598" y="3416320"/>
                        </a:cubicBezTo>
                        <a:cubicBezTo>
                          <a:pt x="2315786" y="3454683"/>
                          <a:pt x="1896555" y="3403188"/>
                          <a:pt x="1755179" y="3416320"/>
                        </a:cubicBezTo>
                        <a:cubicBezTo>
                          <a:pt x="1613803" y="3429452"/>
                          <a:pt x="1536670" y="3376973"/>
                          <a:pt x="1327932" y="3416320"/>
                        </a:cubicBezTo>
                        <a:cubicBezTo>
                          <a:pt x="1119194" y="3455667"/>
                          <a:pt x="844763" y="3351586"/>
                          <a:pt x="675513" y="3416320"/>
                        </a:cubicBezTo>
                        <a:cubicBezTo>
                          <a:pt x="506263" y="3481054"/>
                          <a:pt x="244544" y="3366772"/>
                          <a:pt x="0" y="3416320"/>
                        </a:cubicBezTo>
                        <a:cubicBezTo>
                          <a:pt x="-67907" y="3274680"/>
                          <a:pt x="60050" y="3005570"/>
                          <a:pt x="0" y="2812770"/>
                        </a:cubicBezTo>
                        <a:cubicBezTo>
                          <a:pt x="-60050" y="2619970"/>
                          <a:pt x="29205" y="2482003"/>
                          <a:pt x="0" y="2209220"/>
                        </a:cubicBezTo>
                        <a:cubicBezTo>
                          <a:pt x="-29205" y="1936437"/>
                          <a:pt x="67910" y="1726675"/>
                          <a:pt x="0" y="1571507"/>
                        </a:cubicBezTo>
                        <a:cubicBezTo>
                          <a:pt x="-67910" y="1416339"/>
                          <a:pt x="57187" y="1285430"/>
                          <a:pt x="0" y="1036284"/>
                        </a:cubicBezTo>
                        <a:cubicBezTo>
                          <a:pt x="-57187" y="787138"/>
                          <a:pt x="51933" y="208732"/>
                          <a:pt x="0" y="0"/>
                        </a:cubicBezTo>
                        <a:close/>
                      </a:path>
                    </a:pathLst>
                  </a:custGeom>
                  <ask:type>
                    <ask:lineSketchNone/>
                  </ask:type>
                </ask:lineSketchStyleProps>
              </a:ext>
            </a:extLst>
          </a:ln>
        </p:spPr>
        <p:txBody>
          <a:bodyPr wrap="square">
            <a:spAutoFit/>
          </a:bodyPr>
          <a:lstStyle/>
          <a:p>
            <a:pPr>
              <a:buNone/>
            </a:pPr>
            <a:r>
              <a:rPr lang="en-US" altLang="zh-CN" b="0" dirty="0">
                <a:solidFill>
                  <a:srgbClr val="002060"/>
                </a:solidFill>
                <a:effectLst/>
                <a:latin typeface="Consolas" panose="020B0609020204030204" pitchFamily="49" charset="0"/>
              </a:rPr>
              <a:t>def </a:t>
            </a:r>
            <a:r>
              <a:rPr lang="en-US" altLang="zh-CN" b="0" dirty="0" err="1">
                <a:solidFill>
                  <a:srgbClr val="002060"/>
                </a:solidFill>
                <a:effectLst/>
                <a:latin typeface="Consolas" panose="020B0609020204030204" pitchFamily="49" charset="0"/>
              </a:rPr>
              <a:t>mission_setup</a:t>
            </a:r>
            <a:r>
              <a:rPr lang="en-US" altLang="zh-CN" b="0" dirty="0">
                <a:solidFill>
                  <a:srgbClr val="002060"/>
                </a:solidFill>
                <a:effectLst/>
                <a:latin typeface="Consolas" panose="020B0609020204030204" pitchFamily="49" charset="0"/>
              </a:rPr>
              <a:t>(analyses):</a:t>
            </a:r>
            <a:endParaRPr lang="zh-CN" altLang="en-US" b="0" dirty="0">
              <a:solidFill>
                <a:srgbClr val="002060"/>
              </a:solidFill>
              <a:effectLst/>
              <a:latin typeface="Consolas" panose="020B0609020204030204" pitchFamily="49" charset="0"/>
            </a:endParaRPr>
          </a:p>
          <a:p>
            <a:pPr>
              <a:buNone/>
            </a:pPr>
            <a:r>
              <a:rPr lang="zh-CN" altLang="en-US" b="0" dirty="0">
                <a:solidFill>
                  <a:srgbClr val="002060"/>
                </a:solidFill>
                <a:effectLst/>
                <a:latin typeface="Consolas" panose="020B0609020204030204" pitchFamily="49" charset="0"/>
              </a:rPr>
              <a:t>    </a:t>
            </a:r>
            <a:r>
              <a:rPr lang="en-US" altLang="zh-CN" b="0" dirty="0">
                <a:solidFill>
                  <a:srgbClr val="002060"/>
                </a:solidFill>
                <a:effectLst/>
                <a:latin typeface="Consolas" panose="020B0609020204030204" pitchFamily="49" charset="0"/>
              </a:rPr>
              <a:t>mission = </a:t>
            </a:r>
            <a:r>
              <a:rPr lang="en-US" altLang="zh-CN" b="0" dirty="0" err="1">
                <a:solidFill>
                  <a:srgbClr val="002060"/>
                </a:solidFill>
                <a:effectLst/>
                <a:latin typeface="Consolas" panose="020B0609020204030204" pitchFamily="49" charset="0"/>
              </a:rPr>
              <a:t>SUAVE.Analyses.Mission.Sequential_Segments</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mission.tag</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simple_mission</a:t>
            </a:r>
            <a:r>
              <a:rPr lang="en-US" altLang="zh-CN" b="0" dirty="0">
                <a:solidFill>
                  <a:srgbClr val="002060"/>
                </a:solidFill>
                <a:effectLst/>
                <a:latin typeface="Consolas" panose="020B0609020204030204" pitchFamily="49" charset="0"/>
              </a:rPr>
              <a:t>'</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airport = </a:t>
            </a:r>
            <a:r>
              <a:rPr lang="en-US" altLang="zh-CN" b="0" dirty="0" err="1">
                <a:solidFill>
                  <a:srgbClr val="002060"/>
                </a:solidFill>
                <a:effectLst/>
                <a:latin typeface="Consolas" panose="020B0609020204030204" pitchFamily="49" charset="0"/>
              </a:rPr>
              <a:t>SUAVE.Attributes.Airports.Airport</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airport.altitude</a:t>
            </a:r>
            <a:r>
              <a:rPr lang="en-US" altLang="zh-CN" b="0" dirty="0">
                <a:solidFill>
                  <a:srgbClr val="002060"/>
                </a:solidFill>
                <a:effectLst/>
                <a:latin typeface="Consolas" panose="020B0609020204030204" pitchFamily="49" charset="0"/>
              </a:rPr>
              <a:t>   =  0.0  * Units.</a:t>
            </a:r>
            <a:r>
              <a:rPr lang="en-US" altLang="zh-CN" dirty="0">
                <a:solidFill>
                  <a:srgbClr val="002060"/>
                </a:solidFill>
                <a:latin typeface="Consolas" panose="020B0609020204030204" pitchFamily="49" charset="0"/>
              </a:rPr>
              <a:t>km</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airport.delta_isa</a:t>
            </a:r>
            <a:r>
              <a:rPr lang="en-US" altLang="zh-CN" b="0" dirty="0">
                <a:solidFill>
                  <a:srgbClr val="002060"/>
                </a:solidFill>
                <a:effectLst/>
                <a:latin typeface="Consolas" panose="020B0609020204030204" pitchFamily="49" charset="0"/>
              </a:rPr>
              <a:t>  =  0.0</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airport.atmosphere</a:t>
            </a:r>
            <a:r>
              <a:rPr lang="en-US" altLang="zh-CN" b="0" dirty="0">
                <a:solidFill>
                  <a:srgbClr val="002060"/>
                </a:solidFill>
                <a:effectLst/>
                <a:latin typeface="Consolas" panose="020B0609020204030204" pitchFamily="49" charset="0"/>
              </a:rPr>
              <a:t> = </a:t>
            </a:r>
          </a:p>
          <a:p>
            <a:pPr>
              <a:buNone/>
            </a:pPr>
            <a:r>
              <a:rPr lang="en-US" altLang="zh-CN" dirty="0">
                <a:solidFill>
                  <a:srgbClr val="002060"/>
                </a:solidFill>
                <a:latin typeface="Consolas" panose="020B0609020204030204" pitchFamily="49" charset="0"/>
              </a:rPr>
              <a:t>     </a:t>
            </a:r>
            <a:r>
              <a:rPr lang="en-US" altLang="zh-CN" b="0" dirty="0">
                <a:solidFill>
                  <a:srgbClr val="002060"/>
                </a:solidFill>
                <a:effectLst/>
                <a:latin typeface="Consolas" panose="020B0609020204030204" pitchFamily="49" charset="0"/>
              </a:rPr>
              <a:t>SUAVE.Attributes.Atmospheres.Earth.US_Standard_1976()</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mission.airport</a:t>
            </a:r>
            <a:r>
              <a:rPr lang="en-US" altLang="zh-CN" b="0" dirty="0">
                <a:solidFill>
                  <a:srgbClr val="002060"/>
                </a:solidFill>
                <a:effectLst/>
                <a:latin typeface="Consolas" panose="020B0609020204030204" pitchFamily="49" charset="0"/>
              </a:rPr>
              <a:t> = airport    </a:t>
            </a:r>
          </a:p>
        </p:txBody>
      </p:sp>
      <p:sp>
        <p:nvSpPr>
          <p:cNvPr id="5" name="文本框 4">
            <a:extLst>
              <a:ext uri="{FF2B5EF4-FFF2-40B4-BE49-F238E27FC236}">
                <a16:creationId xmlns:a16="http://schemas.microsoft.com/office/drawing/2014/main" id="{219DDFF1-B901-27E3-69BE-D6DF6E934B43}"/>
              </a:ext>
            </a:extLst>
          </p:cNvPr>
          <p:cNvSpPr txBox="1"/>
          <p:nvPr/>
        </p:nvSpPr>
        <p:spPr>
          <a:xfrm>
            <a:off x="211886" y="979374"/>
            <a:ext cx="3902914" cy="1197572"/>
          </a:xfrm>
          <a:prstGeom prst="rect">
            <a:avLst/>
          </a:prstGeom>
          <a:noFill/>
        </p:spPr>
        <p:txBody>
          <a:bodyPr wrap="square" lIns="0" tIns="0" rIns="0" bIns="0" rtlCol="0">
            <a:spAutoFit/>
          </a:bodyPr>
          <a:lstStyle/>
          <a:p>
            <a:pPr algn="just">
              <a:lnSpc>
                <a:spcPct val="150000"/>
              </a:lnSpc>
            </a:pPr>
            <a:r>
              <a:rPr lang="en-US" altLang="zh-CN" dirty="0" err="1">
                <a:solidFill>
                  <a:srgbClr val="002060"/>
                </a:solidFill>
                <a:latin typeface="微软雅黑" panose="020B0503020204020204" pitchFamily="34" charset="-122"/>
                <a:ea typeface="微软雅黑" panose="020B0503020204020204" pitchFamily="34" charset="-122"/>
                <a:cs typeface="Arial" pitchFamily="34" charset="0"/>
              </a:rPr>
              <a:t>Mission_setup</a:t>
            </a: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a:t>
            </a:r>
          </a:p>
          <a:p>
            <a:pPr algn="just">
              <a:lnSpc>
                <a:spcPct val="150000"/>
              </a:lnSpc>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Define the flight mission, including takeoff, climb, cruise, descent, land</a:t>
            </a:r>
          </a:p>
        </p:txBody>
      </p:sp>
      <p:sp>
        <p:nvSpPr>
          <p:cNvPr id="8" name="文本框 7">
            <a:extLst>
              <a:ext uri="{FF2B5EF4-FFF2-40B4-BE49-F238E27FC236}">
                <a16:creationId xmlns:a16="http://schemas.microsoft.com/office/drawing/2014/main" id="{891672D9-218E-2D99-8ACB-9BC3EDB2CB37}"/>
              </a:ext>
            </a:extLst>
          </p:cNvPr>
          <p:cNvSpPr txBox="1"/>
          <p:nvPr/>
        </p:nvSpPr>
        <p:spPr>
          <a:xfrm>
            <a:off x="1314450" y="3562647"/>
            <a:ext cx="3159964" cy="923330"/>
          </a:xfrm>
          <a:prstGeom prst="rect">
            <a:avLst/>
          </a:prstGeom>
          <a:noFill/>
        </p:spPr>
        <p:txBody>
          <a:bodyPr wrap="square">
            <a:spAutoFit/>
          </a:bodyPr>
          <a:lstStyle/>
          <a:p>
            <a:pPr algn="ctr">
              <a:buNone/>
            </a:pPr>
            <a:r>
              <a:rPr lang="zh-CN" altLang="en-US" dirty="0"/>
              <a:t>🔍</a:t>
            </a:r>
            <a:r>
              <a:rPr lang="en-US" altLang="zh-CN" b="1" dirty="0">
                <a:solidFill>
                  <a:srgbClr val="000000"/>
                </a:solidFill>
                <a:effectLst/>
                <a:latin typeface="ui-sans-serif"/>
              </a:rPr>
              <a:t>Airport setting</a:t>
            </a:r>
            <a:endParaRPr lang="en-US" altLang="zh-CN" dirty="0"/>
          </a:p>
          <a:p>
            <a:pPr>
              <a:buNone/>
            </a:pPr>
            <a:r>
              <a:rPr lang="en-US" altLang="zh-CN" dirty="0"/>
              <a:t>Sometime will need to modify, like takeoff from plateau</a:t>
            </a:r>
            <a:endParaRPr lang="zh-CN" altLang="en-US" dirty="0"/>
          </a:p>
        </p:txBody>
      </p:sp>
      <p:sp>
        <p:nvSpPr>
          <p:cNvPr id="10" name="左大括号 9">
            <a:extLst>
              <a:ext uri="{FF2B5EF4-FFF2-40B4-BE49-F238E27FC236}">
                <a16:creationId xmlns:a16="http://schemas.microsoft.com/office/drawing/2014/main" id="{5537D2F5-C3CD-EFA9-B08E-EF10257B0A6C}"/>
              </a:ext>
            </a:extLst>
          </p:cNvPr>
          <p:cNvSpPr/>
          <p:nvPr/>
        </p:nvSpPr>
        <p:spPr>
          <a:xfrm>
            <a:off x="4433978" y="3429000"/>
            <a:ext cx="400050" cy="1190625"/>
          </a:xfrm>
          <a:prstGeom prst="leftBrac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778541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5B83A-7704-0F5F-A3DC-9D180669A550}"/>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80C1A37-9A78-4CFC-06CC-E0D3EE7B9615}"/>
              </a:ext>
            </a:extLst>
          </p:cNvPr>
          <p:cNvSpPr txBox="1"/>
          <p:nvPr/>
        </p:nvSpPr>
        <p:spPr>
          <a:xfrm>
            <a:off x="6096000" y="1284227"/>
            <a:ext cx="5555226" cy="646331"/>
          </a:xfrm>
          <a:prstGeom prst="rect">
            <a:avLst/>
          </a:prstGeom>
          <a:noFill/>
          <a:ln w="19050">
            <a:solidFill>
              <a:srgbClr val="C00000"/>
            </a:solidFill>
            <a:prstDash val="dash"/>
          </a:ln>
        </p:spPr>
        <p:txBody>
          <a:bodyPr wrap="square">
            <a:spAutoFit/>
          </a:bodyPr>
          <a:lstStyle/>
          <a:p>
            <a:pPr>
              <a:buNone/>
            </a:pPr>
            <a:r>
              <a:rPr lang="en-US" altLang="zh-CN" b="0" dirty="0">
                <a:solidFill>
                  <a:srgbClr val="002060"/>
                </a:solidFill>
                <a:effectLst/>
                <a:latin typeface="Consolas" panose="020B0609020204030204" pitchFamily="49" charset="0"/>
              </a:rPr>
              <a:t>Segments = </a:t>
            </a:r>
            <a:r>
              <a:rPr lang="en-US" altLang="zh-CN" b="0" dirty="0" err="1">
                <a:solidFill>
                  <a:srgbClr val="002060"/>
                </a:solidFill>
                <a:effectLst/>
                <a:latin typeface="Consolas" panose="020B0609020204030204" pitchFamily="49" charset="0"/>
              </a:rPr>
              <a:t>SUAVE.Analyses.Mission.Segments</a:t>
            </a:r>
            <a:endParaRPr lang="en-US" altLang="zh-CN" b="0" dirty="0">
              <a:solidFill>
                <a:srgbClr val="002060"/>
              </a:solidFill>
              <a:effectLst/>
              <a:latin typeface="Consolas" panose="020B0609020204030204" pitchFamily="49" charset="0"/>
            </a:endParaRPr>
          </a:p>
          <a:p>
            <a:pPr>
              <a:buNone/>
            </a:pPr>
            <a:r>
              <a:rPr lang="en-US" altLang="zh-CN" b="0" dirty="0" err="1">
                <a:solidFill>
                  <a:srgbClr val="002060"/>
                </a:solidFill>
                <a:effectLst/>
                <a:latin typeface="Consolas" panose="020B0609020204030204" pitchFamily="49" charset="0"/>
              </a:rPr>
              <a:t>base_segment</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Segments.Segment</a:t>
            </a:r>
            <a:r>
              <a:rPr lang="en-US" altLang="zh-CN" b="0" dirty="0">
                <a:solidFill>
                  <a:srgbClr val="002060"/>
                </a:solidFill>
                <a:effectLst/>
                <a:latin typeface="Consolas" panose="020B0609020204030204" pitchFamily="49" charset="0"/>
              </a:rPr>
              <a:t>()</a:t>
            </a:r>
            <a:endParaRPr lang="zh-CN" altLang="en-US" dirty="0"/>
          </a:p>
        </p:txBody>
      </p:sp>
      <p:sp>
        <p:nvSpPr>
          <p:cNvPr id="10" name="文本框 9">
            <a:extLst>
              <a:ext uri="{FF2B5EF4-FFF2-40B4-BE49-F238E27FC236}">
                <a16:creationId xmlns:a16="http://schemas.microsoft.com/office/drawing/2014/main" id="{129ABA12-D145-1A86-897D-0792AEEED42F}"/>
              </a:ext>
            </a:extLst>
          </p:cNvPr>
          <p:cNvSpPr txBox="1"/>
          <p:nvPr/>
        </p:nvSpPr>
        <p:spPr>
          <a:xfrm>
            <a:off x="2500800" y="2935173"/>
            <a:ext cx="9150426" cy="3139321"/>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    segment = </a:t>
            </a:r>
            <a:r>
              <a:rPr lang="en-US" altLang="zh-CN" b="0" dirty="0" err="1">
                <a:solidFill>
                  <a:srgbClr val="002060"/>
                </a:solidFill>
                <a:effectLst/>
                <a:latin typeface="Consolas" panose="020B0609020204030204" pitchFamily="49" charset="0"/>
              </a:rPr>
              <a:t>Segments.Climb.Constant_Speed_Constant_Rate</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base_segment</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segment.tag</a:t>
            </a:r>
            <a:r>
              <a:rPr lang="en-US" altLang="zh-CN" b="0" dirty="0">
                <a:solidFill>
                  <a:srgbClr val="002060"/>
                </a:solidFill>
                <a:effectLst/>
                <a:latin typeface="Consolas" panose="020B0609020204030204" pitchFamily="49" charset="0"/>
              </a:rPr>
              <a:t> = "climb"</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segment.analyses.extend</a:t>
            </a: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analyses.base</a:t>
            </a:r>
            <a:r>
              <a:rPr lang="en-US" altLang="zh-CN" b="0" dirty="0">
                <a:solidFill>
                  <a:srgbClr val="002060"/>
                </a:solidFill>
                <a:effectLst/>
                <a:latin typeface="Consolas" panose="020B0609020204030204" pitchFamily="49" charset="0"/>
              </a:rPr>
              <a:t> )</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segment.altitude_start</a:t>
            </a:r>
            <a:r>
              <a:rPr lang="en-US" altLang="zh-CN" b="0" dirty="0">
                <a:solidFill>
                  <a:srgbClr val="002060"/>
                </a:solidFill>
                <a:effectLst/>
                <a:latin typeface="Consolas" panose="020B0609020204030204" pitchFamily="49" charset="0"/>
              </a:rPr>
              <a:t> = 0.0   * Units.km</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segment.altitude_end</a:t>
            </a:r>
            <a:r>
              <a:rPr lang="en-US" altLang="zh-CN" b="0" dirty="0">
                <a:solidFill>
                  <a:srgbClr val="002060"/>
                </a:solidFill>
                <a:effectLst/>
                <a:latin typeface="Consolas" panose="020B0609020204030204" pitchFamily="49" charset="0"/>
              </a:rPr>
              <a:t>   = 10.668   * Units.km</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segment.air_speed</a:t>
            </a:r>
            <a:r>
              <a:rPr lang="en-US" altLang="zh-CN" b="0" dirty="0">
                <a:solidFill>
                  <a:srgbClr val="002060"/>
                </a:solidFill>
                <a:effectLst/>
                <a:latin typeface="Consolas" panose="020B0609020204030204" pitchFamily="49" charset="0"/>
              </a:rPr>
              <a:t>      = 160.0 * Units['m/s']</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segment.climb_rate</a:t>
            </a:r>
            <a:r>
              <a:rPr lang="en-US" altLang="zh-CN" b="0" dirty="0">
                <a:solidFill>
                  <a:srgbClr val="002060"/>
                </a:solidFill>
                <a:effectLst/>
                <a:latin typeface="Consolas" panose="020B0609020204030204" pitchFamily="49" charset="0"/>
              </a:rPr>
              <a:t>     = 6.0   * Units['m/s’]</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mission.append_segment</a:t>
            </a:r>
            <a:r>
              <a:rPr lang="en-US" altLang="zh-CN" b="0" dirty="0">
                <a:solidFill>
                  <a:srgbClr val="002060"/>
                </a:solidFill>
                <a:effectLst/>
                <a:latin typeface="Consolas" panose="020B0609020204030204" pitchFamily="49" charset="0"/>
              </a:rPr>
              <a:t>(segment)</a:t>
            </a:r>
          </a:p>
        </p:txBody>
      </p:sp>
      <p:sp>
        <p:nvSpPr>
          <p:cNvPr id="4" name="标题 1">
            <a:extLst>
              <a:ext uri="{FF2B5EF4-FFF2-40B4-BE49-F238E27FC236}">
                <a16:creationId xmlns:a16="http://schemas.microsoft.com/office/drawing/2014/main" id="{40A6516F-252A-917E-CD40-8EC4207F6F00}"/>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a:t>
            </a:r>
            <a:r>
              <a:rPr lang="en-US" altLang="zh-CN"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Define the mission</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5" name="文本框 4">
            <a:extLst>
              <a:ext uri="{FF2B5EF4-FFF2-40B4-BE49-F238E27FC236}">
                <a16:creationId xmlns:a16="http://schemas.microsoft.com/office/drawing/2014/main" id="{158DC038-ADFC-1D8D-B39A-A7918AA448A0}"/>
              </a:ext>
            </a:extLst>
          </p:cNvPr>
          <p:cNvSpPr txBox="1"/>
          <p:nvPr/>
        </p:nvSpPr>
        <p:spPr>
          <a:xfrm>
            <a:off x="7259126" y="914818"/>
            <a:ext cx="3228975" cy="307777"/>
          </a:xfrm>
          <a:prstGeom prst="rect">
            <a:avLst/>
          </a:prstGeom>
          <a:noFill/>
        </p:spPr>
        <p:txBody>
          <a:bodyPr wrap="square" lIns="0" tIns="0" rIns="0" bIns="0" rtlCol="0">
            <a:spAutoFit/>
          </a:bodyPr>
          <a:lstStyle/>
          <a:p>
            <a:pPr algn="ctr"/>
            <a:r>
              <a:rPr lang="zh-CN" altLang="en-US" sz="2000" dirty="0">
                <a:solidFill>
                  <a:srgbClr val="E67000"/>
                </a:solidFill>
              </a:rPr>
              <a:t>🛠️</a:t>
            </a:r>
            <a:r>
              <a:rPr lang="en-US" altLang="zh-CN" sz="2000" dirty="0">
                <a:solidFill>
                  <a:srgbClr val="E67000"/>
                </a:solidFill>
                <a:latin typeface="微软雅黑" panose="020B0503020204020204" pitchFamily="34" charset="-122"/>
                <a:ea typeface="微软雅黑" panose="020B0503020204020204" pitchFamily="34" charset="-122"/>
                <a:cs typeface="Arial" pitchFamily="34" charset="0"/>
              </a:rPr>
              <a:t>Basic segments class</a:t>
            </a:r>
            <a:endParaRPr lang="zh-CN" altLang="en-US" sz="2000" dirty="0">
              <a:solidFill>
                <a:srgbClr val="E67000"/>
              </a:solidFill>
              <a:latin typeface="微软雅黑" panose="020B0503020204020204" pitchFamily="34" charset="-122"/>
              <a:ea typeface="微软雅黑" panose="020B0503020204020204" pitchFamily="34" charset="-122"/>
              <a:cs typeface="Arial" pitchFamily="34" charset="0"/>
            </a:endParaRPr>
          </a:p>
        </p:txBody>
      </p:sp>
      <p:sp>
        <p:nvSpPr>
          <p:cNvPr id="6" name="箭头: 上 5">
            <a:extLst>
              <a:ext uri="{FF2B5EF4-FFF2-40B4-BE49-F238E27FC236}">
                <a16:creationId xmlns:a16="http://schemas.microsoft.com/office/drawing/2014/main" id="{B433DAEB-EDE2-6BA6-CF2E-90163B3511AA}"/>
              </a:ext>
            </a:extLst>
          </p:cNvPr>
          <p:cNvSpPr/>
          <p:nvPr/>
        </p:nvSpPr>
        <p:spPr>
          <a:xfrm>
            <a:off x="10344150" y="2109700"/>
            <a:ext cx="476250" cy="646331"/>
          </a:xfrm>
          <a:prstGeom prst="upArrow">
            <a:avLst/>
          </a:prstGeom>
          <a:solidFill>
            <a:srgbClr val="E67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8" name="矩形 7">
            <a:extLst>
              <a:ext uri="{FF2B5EF4-FFF2-40B4-BE49-F238E27FC236}">
                <a16:creationId xmlns:a16="http://schemas.microsoft.com/office/drawing/2014/main" id="{ED544FED-5157-F723-CC3D-80F9A8B2CDF1}"/>
              </a:ext>
            </a:extLst>
          </p:cNvPr>
          <p:cNvSpPr/>
          <p:nvPr/>
        </p:nvSpPr>
        <p:spPr>
          <a:xfrm>
            <a:off x="9757875" y="2944698"/>
            <a:ext cx="1719750" cy="379527"/>
          </a:xfrm>
          <a:prstGeom prst="rect">
            <a:avLst/>
          </a:prstGeom>
          <a:noFill/>
          <a:ln w="25400">
            <a:solidFill>
              <a:srgbClr val="E67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9" name="文本框 8">
            <a:extLst>
              <a:ext uri="{FF2B5EF4-FFF2-40B4-BE49-F238E27FC236}">
                <a16:creationId xmlns:a16="http://schemas.microsoft.com/office/drawing/2014/main" id="{45121A1A-0907-5A2E-D6FF-13392A24CFC2}"/>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Define the takeoff</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grpSp>
        <p:nvGrpSpPr>
          <p:cNvPr id="41" name="组合 40">
            <a:extLst>
              <a:ext uri="{FF2B5EF4-FFF2-40B4-BE49-F238E27FC236}">
                <a16:creationId xmlns:a16="http://schemas.microsoft.com/office/drawing/2014/main" id="{D19A4852-5D3A-CF5A-DE24-F3C80B58C139}"/>
              </a:ext>
            </a:extLst>
          </p:cNvPr>
          <p:cNvGrpSpPr/>
          <p:nvPr/>
        </p:nvGrpSpPr>
        <p:grpSpPr>
          <a:xfrm>
            <a:off x="233301" y="1382356"/>
            <a:ext cx="3283789" cy="1292917"/>
            <a:chOff x="233301" y="1382356"/>
            <a:chExt cx="3283789" cy="1292917"/>
          </a:xfrm>
        </p:grpSpPr>
        <p:grpSp>
          <p:nvGrpSpPr>
            <p:cNvPr id="12" name="组合 11">
              <a:extLst>
                <a:ext uri="{FF2B5EF4-FFF2-40B4-BE49-F238E27FC236}">
                  <a16:creationId xmlns:a16="http://schemas.microsoft.com/office/drawing/2014/main" id="{F1049FEA-6660-00BD-D876-27A32C28DE25}"/>
                </a:ext>
              </a:extLst>
            </p:cNvPr>
            <p:cNvGrpSpPr/>
            <p:nvPr/>
          </p:nvGrpSpPr>
          <p:grpSpPr>
            <a:xfrm rot="20760269" flipH="1">
              <a:off x="549672" y="1746580"/>
              <a:ext cx="1650425" cy="276167"/>
              <a:chOff x="10354859" y="107628"/>
              <a:chExt cx="945165" cy="120228"/>
            </a:xfrm>
          </p:grpSpPr>
          <p:sp>
            <p:nvSpPr>
              <p:cNvPr id="14" name="Freeform 31">
                <a:extLst>
                  <a:ext uri="{FF2B5EF4-FFF2-40B4-BE49-F238E27FC236}">
                    <a16:creationId xmlns:a16="http://schemas.microsoft.com/office/drawing/2014/main" id="{019B594B-2D1B-98CE-C35D-0DEEB2FDC7AD}"/>
                  </a:ext>
                </a:extLst>
              </p:cNvPr>
              <p:cNvSpPr>
                <a:spLocks/>
              </p:cNvSpPr>
              <p:nvPr/>
            </p:nvSpPr>
            <p:spPr bwMode="auto">
              <a:xfrm>
                <a:off x="10354859" y="173291"/>
                <a:ext cx="736548" cy="38843"/>
              </a:xfrm>
              <a:custGeom>
                <a:avLst/>
                <a:gdLst/>
                <a:ahLst/>
                <a:cxnLst>
                  <a:cxn ang="0">
                    <a:pos x="66" y="29"/>
                  </a:cxn>
                  <a:cxn ang="0">
                    <a:pos x="134" y="19"/>
                  </a:cxn>
                  <a:cxn ang="0">
                    <a:pos x="195" y="13"/>
                  </a:cxn>
                  <a:cxn ang="0">
                    <a:pos x="229" y="9"/>
                  </a:cxn>
                  <a:cxn ang="0">
                    <a:pos x="274" y="6"/>
                  </a:cxn>
                  <a:cxn ang="0">
                    <a:pos x="314" y="4"/>
                  </a:cxn>
                  <a:cxn ang="0">
                    <a:pos x="344" y="3"/>
                  </a:cxn>
                  <a:cxn ang="0">
                    <a:pos x="371" y="2"/>
                  </a:cxn>
                  <a:cxn ang="0">
                    <a:pos x="401" y="1"/>
                  </a:cxn>
                  <a:cxn ang="0">
                    <a:pos x="419" y="1"/>
                  </a:cxn>
                  <a:cxn ang="0">
                    <a:pos x="454" y="1"/>
                  </a:cxn>
                  <a:cxn ang="0">
                    <a:pos x="504" y="0"/>
                  </a:cxn>
                  <a:cxn ang="0">
                    <a:pos x="559" y="0"/>
                  </a:cxn>
                  <a:cxn ang="0">
                    <a:pos x="637" y="0"/>
                  </a:cxn>
                  <a:cxn ang="0">
                    <a:pos x="694" y="0"/>
                  </a:cxn>
                  <a:cxn ang="0">
                    <a:pos x="748" y="1"/>
                  </a:cxn>
                  <a:cxn ang="0">
                    <a:pos x="795" y="1"/>
                  </a:cxn>
                  <a:cxn ang="0">
                    <a:pos x="815" y="1"/>
                  </a:cxn>
                  <a:cxn ang="0">
                    <a:pos x="832" y="1"/>
                  </a:cxn>
                  <a:cxn ang="0">
                    <a:pos x="846" y="1"/>
                  </a:cxn>
                  <a:cxn ang="0">
                    <a:pos x="856" y="1"/>
                  </a:cxn>
                  <a:cxn ang="0">
                    <a:pos x="862" y="1"/>
                  </a:cxn>
                  <a:cxn ang="0">
                    <a:pos x="865" y="1"/>
                  </a:cxn>
                  <a:cxn ang="0">
                    <a:pos x="864" y="4"/>
                  </a:cxn>
                  <a:cxn ang="0">
                    <a:pos x="859" y="4"/>
                  </a:cxn>
                  <a:cxn ang="0">
                    <a:pos x="849" y="4"/>
                  </a:cxn>
                  <a:cxn ang="0">
                    <a:pos x="837" y="4"/>
                  </a:cxn>
                  <a:cxn ang="0">
                    <a:pos x="821" y="4"/>
                  </a:cxn>
                  <a:cxn ang="0">
                    <a:pos x="802" y="4"/>
                  </a:cxn>
                  <a:cxn ang="0">
                    <a:pos x="764" y="4"/>
                  </a:cxn>
                  <a:cxn ang="0">
                    <a:pos x="713" y="4"/>
                  </a:cxn>
                  <a:cxn ang="0">
                    <a:pos x="656" y="3"/>
                  </a:cxn>
                  <a:cxn ang="0">
                    <a:pos x="578" y="3"/>
                  </a:cxn>
                  <a:cxn ang="0">
                    <a:pos x="522" y="3"/>
                  </a:cxn>
                  <a:cxn ang="0">
                    <a:pos x="470" y="4"/>
                  </a:cxn>
                  <a:cxn ang="0">
                    <a:pos x="425" y="4"/>
                  </a:cxn>
                  <a:cxn ang="0">
                    <a:pos x="407" y="4"/>
                  </a:cxn>
                  <a:cxn ang="0">
                    <a:pos x="381" y="5"/>
                  </a:cxn>
                  <a:cxn ang="0">
                    <a:pos x="353" y="5"/>
                  </a:cxn>
                  <a:cxn ang="0">
                    <a:pos x="329" y="6"/>
                  </a:cxn>
                  <a:cxn ang="0">
                    <a:pos x="287" y="8"/>
                  </a:cxn>
                  <a:cxn ang="0">
                    <a:pos x="252" y="11"/>
                  </a:cxn>
                  <a:cxn ang="0">
                    <a:pos x="207" y="15"/>
                  </a:cxn>
                  <a:cxn ang="0">
                    <a:pos x="159" y="19"/>
                  </a:cxn>
                  <a:cxn ang="0">
                    <a:pos x="89" y="28"/>
                  </a:cxn>
                  <a:cxn ang="0">
                    <a:pos x="2" y="42"/>
                  </a:cxn>
                </a:cxnLst>
                <a:rect l="0" t="0" r="r" b="b"/>
                <a:pathLst>
                  <a:path w="865" h="42">
                    <a:moveTo>
                      <a:pt x="0" y="39"/>
                    </a:moveTo>
                    <a:lnTo>
                      <a:pt x="44" y="32"/>
                    </a:lnTo>
                    <a:lnTo>
                      <a:pt x="66" y="29"/>
                    </a:lnTo>
                    <a:lnTo>
                      <a:pt x="88" y="25"/>
                    </a:lnTo>
                    <a:lnTo>
                      <a:pt x="111" y="22"/>
                    </a:lnTo>
                    <a:lnTo>
                      <a:pt x="134" y="19"/>
                    </a:lnTo>
                    <a:lnTo>
                      <a:pt x="158" y="16"/>
                    </a:lnTo>
                    <a:lnTo>
                      <a:pt x="183" y="14"/>
                    </a:lnTo>
                    <a:lnTo>
                      <a:pt x="195" y="13"/>
                    </a:lnTo>
                    <a:lnTo>
                      <a:pt x="207" y="12"/>
                    </a:lnTo>
                    <a:lnTo>
                      <a:pt x="218" y="10"/>
                    </a:lnTo>
                    <a:lnTo>
                      <a:pt x="229" y="9"/>
                    </a:lnTo>
                    <a:lnTo>
                      <a:pt x="251" y="8"/>
                    </a:lnTo>
                    <a:lnTo>
                      <a:pt x="263" y="7"/>
                    </a:lnTo>
                    <a:lnTo>
                      <a:pt x="274" y="6"/>
                    </a:lnTo>
                    <a:lnTo>
                      <a:pt x="287" y="5"/>
                    </a:lnTo>
                    <a:lnTo>
                      <a:pt x="300" y="5"/>
                    </a:lnTo>
                    <a:lnTo>
                      <a:pt x="314" y="4"/>
                    </a:lnTo>
                    <a:lnTo>
                      <a:pt x="328" y="3"/>
                    </a:lnTo>
                    <a:lnTo>
                      <a:pt x="336" y="3"/>
                    </a:lnTo>
                    <a:lnTo>
                      <a:pt x="344" y="3"/>
                    </a:lnTo>
                    <a:lnTo>
                      <a:pt x="353" y="2"/>
                    </a:lnTo>
                    <a:lnTo>
                      <a:pt x="362" y="2"/>
                    </a:lnTo>
                    <a:lnTo>
                      <a:pt x="371" y="2"/>
                    </a:lnTo>
                    <a:lnTo>
                      <a:pt x="381" y="2"/>
                    </a:lnTo>
                    <a:lnTo>
                      <a:pt x="391" y="1"/>
                    </a:lnTo>
                    <a:lnTo>
                      <a:pt x="401" y="1"/>
                    </a:lnTo>
                    <a:lnTo>
                      <a:pt x="407" y="1"/>
                    </a:lnTo>
                    <a:lnTo>
                      <a:pt x="412" y="1"/>
                    </a:lnTo>
                    <a:lnTo>
                      <a:pt x="419" y="1"/>
                    </a:lnTo>
                    <a:lnTo>
                      <a:pt x="425" y="1"/>
                    </a:lnTo>
                    <a:lnTo>
                      <a:pt x="439" y="1"/>
                    </a:lnTo>
                    <a:lnTo>
                      <a:pt x="454" y="1"/>
                    </a:lnTo>
                    <a:lnTo>
                      <a:pt x="469" y="1"/>
                    </a:lnTo>
                    <a:lnTo>
                      <a:pt x="486" y="0"/>
                    </a:lnTo>
                    <a:lnTo>
                      <a:pt x="504" y="0"/>
                    </a:lnTo>
                    <a:lnTo>
                      <a:pt x="521" y="0"/>
                    </a:lnTo>
                    <a:lnTo>
                      <a:pt x="540" y="0"/>
                    </a:lnTo>
                    <a:lnTo>
                      <a:pt x="559" y="0"/>
                    </a:lnTo>
                    <a:lnTo>
                      <a:pt x="578" y="0"/>
                    </a:lnTo>
                    <a:lnTo>
                      <a:pt x="598" y="0"/>
                    </a:lnTo>
                    <a:lnTo>
                      <a:pt x="637" y="0"/>
                    </a:lnTo>
                    <a:lnTo>
                      <a:pt x="656" y="0"/>
                    </a:lnTo>
                    <a:lnTo>
                      <a:pt x="676" y="0"/>
                    </a:lnTo>
                    <a:lnTo>
                      <a:pt x="694" y="0"/>
                    </a:lnTo>
                    <a:lnTo>
                      <a:pt x="713" y="1"/>
                    </a:lnTo>
                    <a:lnTo>
                      <a:pt x="731" y="1"/>
                    </a:lnTo>
                    <a:lnTo>
                      <a:pt x="748" y="1"/>
                    </a:lnTo>
                    <a:lnTo>
                      <a:pt x="764" y="1"/>
                    </a:lnTo>
                    <a:lnTo>
                      <a:pt x="780" y="1"/>
                    </a:lnTo>
                    <a:lnTo>
                      <a:pt x="795" y="1"/>
                    </a:lnTo>
                    <a:lnTo>
                      <a:pt x="802" y="1"/>
                    </a:lnTo>
                    <a:lnTo>
                      <a:pt x="808" y="1"/>
                    </a:lnTo>
                    <a:lnTo>
                      <a:pt x="815" y="1"/>
                    </a:lnTo>
                    <a:lnTo>
                      <a:pt x="821" y="1"/>
                    </a:lnTo>
                    <a:lnTo>
                      <a:pt x="826" y="1"/>
                    </a:lnTo>
                    <a:lnTo>
                      <a:pt x="832" y="1"/>
                    </a:lnTo>
                    <a:lnTo>
                      <a:pt x="837" y="1"/>
                    </a:lnTo>
                    <a:lnTo>
                      <a:pt x="841" y="1"/>
                    </a:lnTo>
                    <a:lnTo>
                      <a:pt x="846" y="1"/>
                    </a:lnTo>
                    <a:lnTo>
                      <a:pt x="849" y="1"/>
                    </a:lnTo>
                    <a:lnTo>
                      <a:pt x="853" y="1"/>
                    </a:lnTo>
                    <a:lnTo>
                      <a:pt x="856" y="1"/>
                    </a:lnTo>
                    <a:lnTo>
                      <a:pt x="859" y="1"/>
                    </a:lnTo>
                    <a:lnTo>
                      <a:pt x="861" y="1"/>
                    </a:lnTo>
                    <a:lnTo>
                      <a:pt x="862" y="1"/>
                    </a:lnTo>
                    <a:lnTo>
                      <a:pt x="864" y="1"/>
                    </a:lnTo>
                    <a:lnTo>
                      <a:pt x="864" y="1"/>
                    </a:lnTo>
                    <a:lnTo>
                      <a:pt x="865" y="1"/>
                    </a:lnTo>
                    <a:lnTo>
                      <a:pt x="865" y="4"/>
                    </a:lnTo>
                    <a:lnTo>
                      <a:pt x="864" y="4"/>
                    </a:lnTo>
                    <a:lnTo>
                      <a:pt x="864" y="4"/>
                    </a:lnTo>
                    <a:lnTo>
                      <a:pt x="862" y="4"/>
                    </a:lnTo>
                    <a:lnTo>
                      <a:pt x="861" y="4"/>
                    </a:lnTo>
                    <a:lnTo>
                      <a:pt x="859" y="4"/>
                    </a:lnTo>
                    <a:lnTo>
                      <a:pt x="856" y="4"/>
                    </a:lnTo>
                    <a:lnTo>
                      <a:pt x="853" y="4"/>
                    </a:lnTo>
                    <a:lnTo>
                      <a:pt x="849" y="4"/>
                    </a:lnTo>
                    <a:lnTo>
                      <a:pt x="845" y="4"/>
                    </a:lnTo>
                    <a:lnTo>
                      <a:pt x="841" y="4"/>
                    </a:lnTo>
                    <a:lnTo>
                      <a:pt x="837" y="4"/>
                    </a:lnTo>
                    <a:lnTo>
                      <a:pt x="832" y="4"/>
                    </a:lnTo>
                    <a:lnTo>
                      <a:pt x="826" y="4"/>
                    </a:lnTo>
                    <a:lnTo>
                      <a:pt x="821" y="4"/>
                    </a:lnTo>
                    <a:lnTo>
                      <a:pt x="815" y="4"/>
                    </a:lnTo>
                    <a:lnTo>
                      <a:pt x="808" y="4"/>
                    </a:lnTo>
                    <a:lnTo>
                      <a:pt x="802" y="4"/>
                    </a:lnTo>
                    <a:lnTo>
                      <a:pt x="795" y="4"/>
                    </a:lnTo>
                    <a:lnTo>
                      <a:pt x="780" y="4"/>
                    </a:lnTo>
                    <a:lnTo>
                      <a:pt x="764" y="4"/>
                    </a:lnTo>
                    <a:lnTo>
                      <a:pt x="748" y="4"/>
                    </a:lnTo>
                    <a:lnTo>
                      <a:pt x="731" y="4"/>
                    </a:lnTo>
                    <a:lnTo>
                      <a:pt x="713" y="4"/>
                    </a:lnTo>
                    <a:lnTo>
                      <a:pt x="694" y="3"/>
                    </a:lnTo>
                    <a:lnTo>
                      <a:pt x="676" y="3"/>
                    </a:lnTo>
                    <a:lnTo>
                      <a:pt x="656" y="3"/>
                    </a:lnTo>
                    <a:lnTo>
                      <a:pt x="637" y="3"/>
                    </a:lnTo>
                    <a:lnTo>
                      <a:pt x="598" y="3"/>
                    </a:lnTo>
                    <a:lnTo>
                      <a:pt x="578" y="3"/>
                    </a:lnTo>
                    <a:lnTo>
                      <a:pt x="559" y="3"/>
                    </a:lnTo>
                    <a:lnTo>
                      <a:pt x="540" y="3"/>
                    </a:lnTo>
                    <a:lnTo>
                      <a:pt x="522" y="3"/>
                    </a:lnTo>
                    <a:lnTo>
                      <a:pt x="504" y="3"/>
                    </a:lnTo>
                    <a:lnTo>
                      <a:pt x="486" y="3"/>
                    </a:lnTo>
                    <a:lnTo>
                      <a:pt x="470" y="4"/>
                    </a:lnTo>
                    <a:lnTo>
                      <a:pt x="454" y="4"/>
                    </a:lnTo>
                    <a:lnTo>
                      <a:pt x="439" y="4"/>
                    </a:lnTo>
                    <a:lnTo>
                      <a:pt x="425" y="4"/>
                    </a:lnTo>
                    <a:lnTo>
                      <a:pt x="419" y="4"/>
                    </a:lnTo>
                    <a:lnTo>
                      <a:pt x="413" y="4"/>
                    </a:lnTo>
                    <a:lnTo>
                      <a:pt x="407" y="4"/>
                    </a:lnTo>
                    <a:lnTo>
                      <a:pt x="401" y="4"/>
                    </a:lnTo>
                    <a:lnTo>
                      <a:pt x="391" y="4"/>
                    </a:lnTo>
                    <a:lnTo>
                      <a:pt x="381" y="5"/>
                    </a:lnTo>
                    <a:lnTo>
                      <a:pt x="371" y="5"/>
                    </a:lnTo>
                    <a:lnTo>
                      <a:pt x="362" y="5"/>
                    </a:lnTo>
                    <a:lnTo>
                      <a:pt x="353" y="5"/>
                    </a:lnTo>
                    <a:lnTo>
                      <a:pt x="345" y="6"/>
                    </a:lnTo>
                    <a:lnTo>
                      <a:pt x="337" y="6"/>
                    </a:lnTo>
                    <a:lnTo>
                      <a:pt x="329" y="6"/>
                    </a:lnTo>
                    <a:lnTo>
                      <a:pt x="314" y="7"/>
                    </a:lnTo>
                    <a:lnTo>
                      <a:pt x="300" y="7"/>
                    </a:lnTo>
                    <a:lnTo>
                      <a:pt x="287" y="8"/>
                    </a:lnTo>
                    <a:lnTo>
                      <a:pt x="275" y="9"/>
                    </a:lnTo>
                    <a:lnTo>
                      <a:pt x="263" y="10"/>
                    </a:lnTo>
                    <a:lnTo>
                      <a:pt x="252" y="11"/>
                    </a:lnTo>
                    <a:lnTo>
                      <a:pt x="230" y="12"/>
                    </a:lnTo>
                    <a:lnTo>
                      <a:pt x="219" y="13"/>
                    </a:lnTo>
                    <a:lnTo>
                      <a:pt x="207" y="15"/>
                    </a:lnTo>
                    <a:lnTo>
                      <a:pt x="196" y="16"/>
                    </a:lnTo>
                    <a:lnTo>
                      <a:pt x="184" y="17"/>
                    </a:lnTo>
                    <a:lnTo>
                      <a:pt x="159" y="19"/>
                    </a:lnTo>
                    <a:lnTo>
                      <a:pt x="135" y="22"/>
                    </a:lnTo>
                    <a:lnTo>
                      <a:pt x="112" y="25"/>
                    </a:lnTo>
                    <a:lnTo>
                      <a:pt x="89" y="28"/>
                    </a:lnTo>
                    <a:lnTo>
                      <a:pt x="67" y="31"/>
                    </a:lnTo>
                    <a:lnTo>
                      <a:pt x="45" y="35"/>
                    </a:lnTo>
                    <a:lnTo>
                      <a:pt x="2" y="42"/>
                    </a:lnTo>
                    <a:lnTo>
                      <a:pt x="0" y="3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5" name="Freeform 32">
                <a:extLst>
                  <a:ext uri="{FF2B5EF4-FFF2-40B4-BE49-F238E27FC236}">
                    <a16:creationId xmlns:a16="http://schemas.microsoft.com/office/drawing/2014/main" id="{49FCE6A3-22ED-0397-A704-23898ECC00BA}"/>
                  </a:ext>
                </a:extLst>
              </p:cNvPr>
              <p:cNvSpPr>
                <a:spLocks/>
              </p:cNvSpPr>
              <p:nvPr/>
            </p:nvSpPr>
            <p:spPr bwMode="auto">
              <a:xfrm>
                <a:off x="11090556" y="108553"/>
                <a:ext cx="137092" cy="66588"/>
              </a:xfrm>
              <a:custGeom>
                <a:avLst/>
                <a:gdLst/>
                <a:ahLst/>
                <a:cxnLst>
                  <a:cxn ang="0">
                    <a:pos x="0" y="69"/>
                  </a:cxn>
                  <a:cxn ang="0">
                    <a:pos x="21" y="65"/>
                  </a:cxn>
                  <a:cxn ang="0">
                    <a:pos x="32" y="63"/>
                  </a:cxn>
                  <a:cxn ang="0">
                    <a:pos x="42" y="60"/>
                  </a:cxn>
                  <a:cxn ang="0">
                    <a:pos x="53" y="58"/>
                  </a:cxn>
                  <a:cxn ang="0">
                    <a:pos x="63" y="54"/>
                  </a:cxn>
                  <a:cxn ang="0">
                    <a:pos x="73" y="51"/>
                  </a:cxn>
                  <a:cxn ang="0">
                    <a:pos x="83" y="47"/>
                  </a:cxn>
                  <a:cxn ang="0">
                    <a:pos x="88" y="45"/>
                  </a:cxn>
                  <a:cxn ang="0">
                    <a:pos x="93" y="42"/>
                  </a:cxn>
                  <a:cxn ang="0">
                    <a:pos x="99" y="38"/>
                  </a:cxn>
                  <a:cxn ang="0">
                    <a:pos x="105" y="35"/>
                  </a:cxn>
                  <a:cxn ang="0">
                    <a:pos x="111" y="31"/>
                  </a:cxn>
                  <a:cxn ang="0">
                    <a:pos x="118" y="27"/>
                  </a:cxn>
                  <a:cxn ang="0">
                    <a:pos x="124" y="23"/>
                  </a:cxn>
                  <a:cxn ang="0">
                    <a:pos x="130" y="19"/>
                  </a:cxn>
                  <a:cxn ang="0">
                    <a:pos x="135" y="15"/>
                  </a:cxn>
                  <a:cxn ang="0">
                    <a:pos x="141" y="12"/>
                  </a:cxn>
                  <a:cxn ang="0">
                    <a:pos x="145" y="8"/>
                  </a:cxn>
                  <a:cxn ang="0">
                    <a:pos x="149" y="6"/>
                  </a:cxn>
                  <a:cxn ang="0">
                    <a:pos x="153" y="3"/>
                  </a:cxn>
                  <a:cxn ang="0">
                    <a:pos x="155" y="1"/>
                  </a:cxn>
                  <a:cxn ang="0">
                    <a:pos x="156" y="1"/>
                  </a:cxn>
                  <a:cxn ang="0">
                    <a:pos x="157" y="0"/>
                  </a:cxn>
                  <a:cxn ang="0">
                    <a:pos x="157" y="0"/>
                  </a:cxn>
                  <a:cxn ang="0">
                    <a:pos x="158" y="0"/>
                  </a:cxn>
                  <a:cxn ang="0">
                    <a:pos x="161" y="2"/>
                  </a:cxn>
                  <a:cxn ang="0">
                    <a:pos x="161" y="2"/>
                  </a:cxn>
                  <a:cxn ang="0">
                    <a:pos x="160" y="2"/>
                  </a:cxn>
                  <a:cxn ang="0">
                    <a:pos x="160" y="3"/>
                  </a:cxn>
                  <a:cxn ang="0">
                    <a:pos x="159" y="3"/>
                  </a:cxn>
                  <a:cxn ang="0">
                    <a:pos x="156" y="5"/>
                  </a:cxn>
                  <a:cxn ang="0">
                    <a:pos x="153" y="8"/>
                  </a:cxn>
                  <a:cxn ang="0">
                    <a:pos x="149" y="10"/>
                  </a:cxn>
                  <a:cxn ang="0">
                    <a:pos x="144" y="14"/>
                  </a:cxn>
                  <a:cxn ang="0">
                    <a:pos x="139" y="17"/>
                  </a:cxn>
                  <a:cxn ang="0">
                    <a:pos x="133" y="21"/>
                  </a:cxn>
                  <a:cxn ang="0">
                    <a:pos x="127" y="25"/>
                  </a:cxn>
                  <a:cxn ang="0">
                    <a:pos x="121" y="29"/>
                  </a:cxn>
                  <a:cxn ang="0">
                    <a:pos x="115" y="33"/>
                  </a:cxn>
                  <a:cxn ang="0">
                    <a:pos x="108" y="37"/>
                  </a:cxn>
                  <a:cxn ang="0">
                    <a:pos x="102" y="41"/>
                  </a:cxn>
                  <a:cxn ang="0">
                    <a:pos x="96" y="44"/>
                  </a:cxn>
                  <a:cxn ang="0">
                    <a:pos x="91" y="47"/>
                  </a:cxn>
                  <a:cxn ang="0">
                    <a:pos x="85" y="49"/>
                  </a:cxn>
                  <a:cxn ang="0">
                    <a:pos x="75" y="54"/>
                  </a:cxn>
                  <a:cxn ang="0">
                    <a:pos x="65" y="57"/>
                  </a:cxn>
                  <a:cxn ang="0">
                    <a:pos x="55" y="60"/>
                  </a:cxn>
                  <a:cxn ang="0">
                    <a:pos x="44" y="63"/>
                  </a:cxn>
                  <a:cxn ang="0">
                    <a:pos x="33" y="66"/>
                  </a:cxn>
                  <a:cxn ang="0">
                    <a:pos x="23" y="68"/>
                  </a:cxn>
                  <a:cxn ang="0">
                    <a:pos x="2" y="72"/>
                  </a:cxn>
                  <a:cxn ang="0">
                    <a:pos x="0" y="69"/>
                  </a:cxn>
                </a:cxnLst>
                <a:rect l="0" t="0" r="r" b="b"/>
                <a:pathLst>
                  <a:path w="161" h="72">
                    <a:moveTo>
                      <a:pt x="0" y="69"/>
                    </a:moveTo>
                    <a:lnTo>
                      <a:pt x="21" y="65"/>
                    </a:lnTo>
                    <a:lnTo>
                      <a:pt x="32" y="63"/>
                    </a:lnTo>
                    <a:lnTo>
                      <a:pt x="42" y="60"/>
                    </a:lnTo>
                    <a:lnTo>
                      <a:pt x="53" y="58"/>
                    </a:lnTo>
                    <a:lnTo>
                      <a:pt x="63" y="54"/>
                    </a:lnTo>
                    <a:lnTo>
                      <a:pt x="73" y="51"/>
                    </a:lnTo>
                    <a:lnTo>
                      <a:pt x="83" y="47"/>
                    </a:lnTo>
                    <a:lnTo>
                      <a:pt x="88" y="45"/>
                    </a:lnTo>
                    <a:lnTo>
                      <a:pt x="93" y="42"/>
                    </a:lnTo>
                    <a:lnTo>
                      <a:pt x="99" y="38"/>
                    </a:lnTo>
                    <a:lnTo>
                      <a:pt x="105" y="35"/>
                    </a:lnTo>
                    <a:lnTo>
                      <a:pt x="111" y="31"/>
                    </a:lnTo>
                    <a:lnTo>
                      <a:pt x="118" y="27"/>
                    </a:lnTo>
                    <a:lnTo>
                      <a:pt x="124" y="23"/>
                    </a:lnTo>
                    <a:lnTo>
                      <a:pt x="130" y="19"/>
                    </a:lnTo>
                    <a:lnTo>
                      <a:pt x="135" y="15"/>
                    </a:lnTo>
                    <a:lnTo>
                      <a:pt x="141" y="12"/>
                    </a:lnTo>
                    <a:lnTo>
                      <a:pt x="145" y="8"/>
                    </a:lnTo>
                    <a:lnTo>
                      <a:pt x="149" y="6"/>
                    </a:lnTo>
                    <a:lnTo>
                      <a:pt x="153" y="3"/>
                    </a:lnTo>
                    <a:lnTo>
                      <a:pt x="155" y="1"/>
                    </a:lnTo>
                    <a:lnTo>
                      <a:pt x="156" y="1"/>
                    </a:lnTo>
                    <a:lnTo>
                      <a:pt x="157" y="0"/>
                    </a:lnTo>
                    <a:lnTo>
                      <a:pt x="157" y="0"/>
                    </a:lnTo>
                    <a:lnTo>
                      <a:pt x="158" y="0"/>
                    </a:lnTo>
                    <a:lnTo>
                      <a:pt x="161" y="2"/>
                    </a:lnTo>
                    <a:lnTo>
                      <a:pt x="161" y="2"/>
                    </a:lnTo>
                    <a:lnTo>
                      <a:pt x="160" y="2"/>
                    </a:lnTo>
                    <a:lnTo>
                      <a:pt x="160" y="3"/>
                    </a:lnTo>
                    <a:lnTo>
                      <a:pt x="159" y="3"/>
                    </a:lnTo>
                    <a:lnTo>
                      <a:pt x="156" y="5"/>
                    </a:lnTo>
                    <a:lnTo>
                      <a:pt x="153" y="8"/>
                    </a:lnTo>
                    <a:lnTo>
                      <a:pt x="149" y="10"/>
                    </a:lnTo>
                    <a:lnTo>
                      <a:pt x="144" y="14"/>
                    </a:lnTo>
                    <a:lnTo>
                      <a:pt x="139" y="17"/>
                    </a:lnTo>
                    <a:lnTo>
                      <a:pt x="133" y="21"/>
                    </a:lnTo>
                    <a:lnTo>
                      <a:pt x="127" y="25"/>
                    </a:lnTo>
                    <a:lnTo>
                      <a:pt x="121" y="29"/>
                    </a:lnTo>
                    <a:lnTo>
                      <a:pt x="115" y="33"/>
                    </a:lnTo>
                    <a:lnTo>
                      <a:pt x="108" y="37"/>
                    </a:lnTo>
                    <a:lnTo>
                      <a:pt x="102" y="41"/>
                    </a:lnTo>
                    <a:lnTo>
                      <a:pt x="96" y="44"/>
                    </a:lnTo>
                    <a:lnTo>
                      <a:pt x="91" y="47"/>
                    </a:lnTo>
                    <a:lnTo>
                      <a:pt x="85" y="49"/>
                    </a:lnTo>
                    <a:lnTo>
                      <a:pt x="75" y="54"/>
                    </a:lnTo>
                    <a:lnTo>
                      <a:pt x="65" y="57"/>
                    </a:lnTo>
                    <a:lnTo>
                      <a:pt x="55" y="60"/>
                    </a:lnTo>
                    <a:lnTo>
                      <a:pt x="44" y="63"/>
                    </a:lnTo>
                    <a:lnTo>
                      <a:pt x="33" y="66"/>
                    </a:lnTo>
                    <a:lnTo>
                      <a:pt x="23" y="68"/>
                    </a:lnTo>
                    <a:lnTo>
                      <a:pt x="2" y="72"/>
                    </a:lnTo>
                    <a:lnTo>
                      <a:pt x="0" y="6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6" name="Freeform 33">
                <a:extLst>
                  <a:ext uri="{FF2B5EF4-FFF2-40B4-BE49-F238E27FC236}">
                    <a16:creationId xmlns:a16="http://schemas.microsoft.com/office/drawing/2014/main" id="{E62C441C-2317-93D0-76DA-15870A0BADE6}"/>
                  </a:ext>
                </a:extLst>
              </p:cNvPr>
              <p:cNvSpPr>
                <a:spLocks/>
              </p:cNvSpPr>
              <p:nvPr/>
            </p:nvSpPr>
            <p:spPr bwMode="auto">
              <a:xfrm>
                <a:off x="11225944" y="107628"/>
                <a:ext cx="61308" cy="7399"/>
              </a:xfrm>
              <a:custGeom>
                <a:avLst/>
                <a:gdLst/>
                <a:ahLst/>
                <a:cxnLst>
                  <a:cxn ang="0">
                    <a:pos x="1" y="0"/>
                  </a:cxn>
                  <a:cxn ang="0">
                    <a:pos x="72" y="5"/>
                  </a:cxn>
                  <a:cxn ang="0">
                    <a:pos x="71" y="8"/>
                  </a:cxn>
                  <a:cxn ang="0">
                    <a:pos x="0" y="3"/>
                  </a:cxn>
                  <a:cxn ang="0">
                    <a:pos x="1" y="0"/>
                  </a:cxn>
                </a:cxnLst>
                <a:rect l="0" t="0" r="r" b="b"/>
                <a:pathLst>
                  <a:path w="72" h="8">
                    <a:moveTo>
                      <a:pt x="1" y="0"/>
                    </a:moveTo>
                    <a:lnTo>
                      <a:pt x="72" y="5"/>
                    </a:lnTo>
                    <a:lnTo>
                      <a:pt x="71" y="8"/>
                    </a:lnTo>
                    <a:lnTo>
                      <a:pt x="0" y="3"/>
                    </a:lnTo>
                    <a:lnTo>
                      <a:pt x="1"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7" name="Freeform 34">
                <a:extLst>
                  <a:ext uri="{FF2B5EF4-FFF2-40B4-BE49-F238E27FC236}">
                    <a16:creationId xmlns:a16="http://schemas.microsoft.com/office/drawing/2014/main" id="{A269A174-3214-AF43-44EC-130E23F30BFE}"/>
                  </a:ext>
                </a:extLst>
              </p:cNvPr>
              <p:cNvSpPr>
                <a:spLocks/>
              </p:cNvSpPr>
              <p:nvPr/>
            </p:nvSpPr>
            <p:spPr bwMode="auto">
              <a:xfrm>
                <a:off x="10358264" y="206585"/>
                <a:ext cx="915364" cy="21271"/>
              </a:xfrm>
              <a:custGeom>
                <a:avLst/>
                <a:gdLst/>
                <a:ahLst/>
                <a:cxnLst>
                  <a:cxn ang="0">
                    <a:pos x="27" y="6"/>
                  </a:cxn>
                  <a:cxn ang="0">
                    <a:pos x="56" y="10"/>
                  </a:cxn>
                  <a:cxn ang="0">
                    <a:pos x="86" y="12"/>
                  </a:cxn>
                  <a:cxn ang="0">
                    <a:pos x="107" y="14"/>
                  </a:cxn>
                  <a:cxn ang="0">
                    <a:pos x="131" y="15"/>
                  </a:cxn>
                  <a:cxn ang="0">
                    <a:pos x="159" y="16"/>
                  </a:cxn>
                  <a:cxn ang="0">
                    <a:pos x="191" y="17"/>
                  </a:cxn>
                  <a:cxn ang="0">
                    <a:pos x="227" y="18"/>
                  </a:cxn>
                  <a:cxn ang="0">
                    <a:pos x="270" y="19"/>
                  </a:cxn>
                  <a:cxn ang="0">
                    <a:pos x="322" y="19"/>
                  </a:cxn>
                  <a:cxn ang="0">
                    <a:pos x="379" y="19"/>
                  </a:cxn>
                  <a:cxn ang="0">
                    <a:pos x="441" y="20"/>
                  </a:cxn>
                  <a:cxn ang="0">
                    <a:pos x="570" y="20"/>
                  </a:cxn>
                  <a:cxn ang="0">
                    <a:pos x="655" y="20"/>
                  </a:cxn>
                  <a:cxn ang="0">
                    <a:pos x="713" y="19"/>
                  </a:cxn>
                  <a:cxn ang="0">
                    <a:pos x="767" y="19"/>
                  </a:cxn>
                  <a:cxn ang="0">
                    <a:pos x="812" y="18"/>
                  </a:cxn>
                  <a:cxn ang="0">
                    <a:pos x="849" y="17"/>
                  </a:cxn>
                  <a:cxn ang="0">
                    <a:pos x="881" y="16"/>
                  </a:cxn>
                  <a:cxn ang="0">
                    <a:pos x="908" y="15"/>
                  </a:cxn>
                  <a:cxn ang="0">
                    <a:pos x="931" y="13"/>
                  </a:cxn>
                  <a:cxn ang="0">
                    <a:pos x="951" y="12"/>
                  </a:cxn>
                  <a:cxn ang="0">
                    <a:pos x="973" y="9"/>
                  </a:cxn>
                  <a:cxn ang="0">
                    <a:pos x="1000" y="6"/>
                  </a:cxn>
                  <a:cxn ang="0">
                    <a:pos x="1031" y="3"/>
                  </a:cxn>
                  <a:cxn ang="0">
                    <a:pos x="1050" y="2"/>
                  </a:cxn>
                  <a:cxn ang="0">
                    <a:pos x="1063" y="1"/>
                  </a:cxn>
                  <a:cxn ang="0">
                    <a:pos x="1070" y="1"/>
                  </a:cxn>
                  <a:cxn ang="0">
                    <a:pos x="1074" y="0"/>
                  </a:cxn>
                  <a:cxn ang="0">
                    <a:pos x="1075" y="3"/>
                  </a:cxn>
                  <a:cxn ang="0">
                    <a:pos x="1073" y="3"/>
                  </a:cxn>
                  <a:cxn ang="0">
                    <a:pos x="1069" y="4"/>
                  </a:cxn>
                  <a:cxn ang="0">
                    <a:pos x="1060" y="4"/>
                  </a:cxn>
                  <a:cxn ang="0">
                    <a:pos x="1045" y="5"/>
                  </a:cxn>
                  <a:cxn ang="0">
                    <a:pos x="1016" y="7"/>
                  </a:cxn>
                  <a:cxn ang="0">
                    <a:pos x="992" y="10"/>
                  </a:cxn>
                  <a:cxn ang="0">
                    <a:pos x="963" y="14"/>
                  </a:cxn>
                  <a:cxn ang="0">
                    <a:pos x="945" y="15"/>
                  </a:cxn>
                  <a:cxn ang="0">
                    <a:pos x="924" y="17"/>
                  </a:cxn>
                  <a:cxn ang="0">
                    <a:pos x="900" y="18"/>
                  </a:cxn>
                  <a:cxn ang="0">
                    <a:pos x="871" y="20"/>
                  </a:cxn>
                  <a:cxn ang="0">
                    <a:pos x="837" y="21"/>
                  </a:cxn>
                  <a:cxn ang="0">
                    <a:pos x="798" y="21"/>
                  </a:cxn>
                  <a:cxn ang="0">
                    <a:pos x="750" y="22"/>
                  </a:cxn>
                  <a:cxn ang="0">
                    <a:pos x="694" y="22"/>
                  </a:cxn>
                  <a:cxn ang="0">
                    <a:pos x="634" y="23"/>
                  </a:cxn>
                  <a:cxn ang="0">
                    <a:pos x="527" y="23"/>
                  </a:cxn>
                  <a:cxn ang="0">
                    <a:pos x="420" y="23"/>
                  </a:cxn>
                  <a:cxn ang="0">
                    <a:pos x="359" y="22"/>
                  </a:cxn>
                  <a:cxn ang="0">
                    <a:pos x="304" y="22"/>
                  </a:cxn>
                  <a:cxn ang="0">
                    <a:pos x="255" y="21"/>
                  </a:cxn>
                  <a:cxn ang="0">
                    <a:pos x="214" y="21"/>
                  </a:cxn>
                  <a:cxn ang="0">
                    <a:pos x="179" y="20"/>
                  </a:cxn>
                  <a:cxn ang="0">
                    <a:pos x="149" y="19"/>
                  </a:cxn>
                  <a:cxn ang="0">
                    <a:pos x="122" y="18"/>
                  </a:cxn>
                  <a:cxn ang="0">
                    <a:pos x="99" y="16"/>
                  </a:cxn>
                  <a:cxn ang="0">
                    <a:pos x="79" y="15"/>
                  </a:cxn>
                  <a:cxn ang="0">
                    <a:pos x="45" y="12"/>
                  </a:cxn>
                  <a:cxn ang="0">
                    <a:pos x="17" y="8"/>
                  </a:cxn>
                </a:cxnLst>
                <a:rect l="0" t="0" r="r" b="b"/>
                <a:pathLst>
                  <a:path w="1075" h="23">
                    <a:moveTo>
                      <a:pt x="2" y="3"/>
                    </a:moveTo>
                    <a:lnTo>
                      <a:pt x="18" y="5"/>
                    </a:lnTo>
                    <a:lnTo>
                      <a:pt x="27" y="6"/>
                    </a:lnTo>
                    <a:lnTo>
                      <a:pt x="36" y="8"/>
                    </a:lnTo>
                    <a:lnTo>
                      <a:pt x="46" y="9"/>
                    </a:lnTo>
                    <a:lnTo>
                      <a:pt x="56" y="10"/>
                    </a:lnTo>
                    <a:lnTo>
                      <a:pt x="67" y="11"/>
                    </a:lnTo>
                    <a:lnTo>
                      <a:pt x="79" y="12"/>
                    </a:lnTo>
                    <a:lnTo>
                      <a:pt x="86" y="12"/>
                    </a:lnTo>
                    <a:lnTo>
                      <a:pt x="92" y="13"/>
                    </a:lnTo>
                    <a:lnTo>
                      <a:pt x="99" y="13"/>
                    </a:lnTo>
                    <a:lnTo>
                      <a:pt x="107" y="14"/>
                    </a:lnTo>
                    <a:lnTo>
                      <a:pt x="115" y="14"/>
                    </a:lnTo>
                    <a:lnTo>
                      <a:pt x="123" y="15"/>
                    </a:lnTo>
                    <a:lnTo>
                      <a:pt x="131" y="15"/>
                    </a:lnTo>
                    <a:lnTo>
                      <a:pt x="140" y="15"/>
                    </a:lnTo>
                    <a:lnTo>
                      <a:pt x="149" y="16"/>
                    </a:lnTo>
                    <a:lnTo>
                      <a:pt x="159" y="16"/>
                    </a:lnTo>
                    <a:lnTo>
                      <a:pt x="169" y="17"/>
                    </a:lnTo>
                    <a:lnTo>
                      <a:pt x="180" y="17"/>
                    </a:lnTo>
                    <a:lnTo>
                      <a:pt x="191" y="17"/>
                    </a:lnTo>
                    <a:lnTo>
                      <a:pt x="202" y="17"/>
                    </a:lnTo>
                    <a:lnTo>
                      <a:pt x="214" y="18"/>
                    </a:lnTo>
                    <a:lnTo>
                      <a:pt x="227" y="18"/>
                    </a:lnTo>
                    <a:lnTo>
                      <a:pt x="240" y="18"/>
                    </a:lnTo>
                    <a:lnTo>
                      <a:pt x="255" y="18"/>
                    </a:lnTo>
                    <a:lnTo>
                      <a:pt x="270" y="19"/>
                    </a:lnTo>
                    <a:lnTo>
                      <a:pt x="286" y="19"/>
                    </a:lnTo>
                    <a:lnTo>
                      <a:pt x="304" y="19"/>
                    </a:lnTo>
                    <a:lnTo>
                      <a:pt x="322" y="19"/>
                    </a:lnTo>
                    <a:lnTo>
                      <a:pt x="340" y="19"/>
                    </a:lnTo>
                    <a:lnTo>
                      <a:pt x="359" y="19"/>
                    </a:lnTo>
                    <a:lnTo>
                      <a:pt x="379" y="19"/>
                    </a:lnTo>
                    <a:lnTo>
                      <a:pt x="400" y="20"/>
                    </a:lnTo>
                    <a:lnTo>
                      <a:pt x="420" y="20"/>
                    </a:lnTo>
                    <a:lnTo>
                      <a:pt x="441" y="20"/>
                    </a:lnTo>
                    <a:lnTo>
                      <a:pt x="484" y="20"/>
                    </a:lnTo>
                    <a:lnTo>
                      <a:pt x="527" y="20"/>
                    </a:lnTo>
                    <a:lnTo>
                      <a:pt x="570" y="20"/>
                    </a:lnTo>
                    <a:lnTo>
                      <a:pt x="613" y="20"/>
                    </a:lnTo>
                    <a:lnTo>
                      <a:pt x="634" y="20"/>
                    </a:lnTo>
                    <a:lnTo>
                      <a:pt x="655" y="20"/>
                    </a:lnTo>
                    <a:lnTo>
                      <a:pt x="675" y="19"/>
                    </a:lnTo>
                    <a:lnTo>
                      <a:pt x="694" y="19"/>
                    </a:lnTo>
                    <a:lnTo>
                      <a:pt x="713" y="19"/>
                    </a:lnTo>
                    <a:lnTo>
                      <a:pt x="732" y="19"/>
                    </a:lnTo>
                    <a:lnTo>
                      <a:pt x="750" y="19"/>
                    </a:lnTo>
                    <a:lnTo>
                      <a:pt x="767" y="19"/>
                    </a:lnTo>
                    <a:lnTo>
                      <a:pt x="783" y="19"/>
                    </a:lnTo>
                    <a:lnTo>
                      <a:pt x="798" y="18"/>
                    </a:lnTo>
                    <a:lnTo>
                      <a:pt x="812" y="18"/>
                    </a:lnTo>
                    <a:lnTo>
                      <a:pt x="825" y="18"/>
                    </a:lnTo>
                    <a:lnTo>
                      <a:pt x="837" y="18"/>
                    </a:lnTo>
                    <a:lnTo>
                      <a:pt x="849" y="17"/>
                    </a:lnTo>
                    <a:lnTo>
                      <a:pt x="860" y="17"/>
                    </a:lnTo>
                    <a:lnTo>
                      <a:pt x="871" y="17"/>
                    </a:lnTo>
                    <a:lnTo>
                      <a:pt x="881" y="16"/>
                    </a:lnTo>
                    <a:lnTo>
                      <a:pt x="890" y="16"/>
                    </a:lnTo>
                    <a:lnTo>
                      <a:pt x="899" y="15"/>
                    </a:lnTo>
                    <a:lnTo>
                      <a:pt x="908" y="15"/>
                    </a:lnTo>
                    <a:lnTo>
                      <a:pt x="916" y="14"/>
                    </a:lnTo>
                    <a:lnTo>
                      <a:pt x="924" y="14"/>
                    </a:lnTo>
                    <a:lnTo>
                      <a:pt x="931" y="13"/>
                    </a:lnTo>
                    <a:lnTo>
                      <a:pt x="938" y="13"/>
                    </a:lnTo>
                    <a:lnTo>
                      <a:pt x="945" y="12"/>
                    </a:lnTo>
                    <a:lnTo>
                      <a:pt x="951" y="12"/>
                    </a:lnTo>
                    <a:lnTo>
                      <a:pt x="957" y="11"/>
                    </a:lnTo>
                    <a:lnTo>
                      <a:pt x="962" y="11"/>
                    </a:lnTo>
                    <a:lnTo>
                      <a:pt x="973" y="9"/>
                    </a:lnTo>
                    <a:lnTo>
                      <a:pt x="983" y="8"/>
                    </a:lnTo>
                    <a:lnTo>
                      <a:pt x="991" y="7"/>
                    </a:lnTo>
                    <a:lnTo>
                      <a:pt x="1000" y="6"/>
                    </a:lnTo>
                    <a:lnTo>
                      <a:pt x="1008" y="5"/>
                    </a:lnTo>
                    <a:lnTo>
                      <a:pt x="1015" y="4"/>
                    </a:lnTo>
                    <a:lnTo>
                      <a:pt x="1031" y="3"/>
                    </a:lnTo>
                    <a:lnTo>
                      <a:pt x="1038" y="2"/>
                    </a:lnTo>
                    <a:lnTo>
                      <a:pt x="1045" y="2"/>
                    </a:lnTo>
                    <a:lnTo>
                      <a:pt x="1050" y="2"/>
                    </a:lnTo>
                    <a:lnTo>
                      <a:pt x="1055" y="1"/>
                    </a:lnTo>
                    <a:lnTo>
                      <a:pt x="1059" y="1"/>
                    </a:lnTo>
                    <a:lnTo>
                      <a:pt x="1063" y="1"/>
                    </a:lnTo>
                    <a:lnTo>
                      <a:pt x="1066" y="1"/>
                    </a:lnTo>
                    <a:lnTo>
                      <a:pt x="1068" y="1"/>
                    </a:lnTo>
                    <a:lnTo>
                      <a:pt x="1070" y="1"/>
                    </a:lnTo>
                    <a:lnTo>
                      <a:pt x="1072" y="0"/>
                    </a:lnTo>
                    <a:lnTo>
                      <a:pt x="1073" y="0"/>
                    </a:lnTo>
                    <a:lnTo>
                      <a:pt x="1074" y="0"/>
                    </a:lnTo>
                    <a:lnTo>
                      <a:pt x="1075" y="0"/>
                    </a:lnTo>
                    <a:lnTo>
                      <a:pt x="1075" y="0"/>
                    </a:lnTo>
                    <a:lnTo>
                      <a:pt x="1075" y="3"/>
                    </a:lnTo>
                    <a:lnTo>
                      <a:pt x="1074" y="3"/>
                    </a:lnTo>
                    <a:lnTo>
                      <a:pt x="1074" y="3"/>
                    </a:lnTo>
                    <a:lnTo>
                      <a:pt x="1073" y="3"/>
                    </a:lnTo>
                    <a:lnTo>
                      <a:pt x="1072" y="3"/>
                    </a:lnTo>
                    <a:lnTo>
                      <a:pt x="1071" y="3"/>
                    </a:lnTo>
                    <a:lnTo>
                      <a:pt x="1069" y="4"/>
                    </a:lnTo>
                    <a:lnTo>
                      <a:pt x="1066" y="4"/>
                    </a:lnTo>
                    <a:lnTo>
                      <a:pt x="1063" y="4"/>
                    </a:lnTo>
                    <a:lnTo>
                      <a:pt x="1060" y="4"/>
                    </a:lnTo>
                    <a:lnTo>
                      <a:pt x="1056" y="4"/>
                    </a:lnTo>
                    <a:lnTo>
                      <a:pt x="1051" y="5"/>
                    </a:lnTo>
                    <a:lnTo>
                      <a:pt x="1045" y="5"/>
                    </a:lnTo>
                    <a:lnTo>
                      <a:pt x="1039" y="5"/>
                    </a:lnTo>
                    <a:lnTo>
                      <a:pt x="1031" y="6"/>
                    </a:lnTo>
                    <a:lnTo>
                      <a:pt x="1016" y="7"/>
                    </a:lnTo>
                    <a:lnTo>
                      <a:pt x="1009" y="8"/>
                    </a:lnTo>
                    <a:lnTo>
                      <a:pt x="1001" y="9"/>
                    </a:lnTo>
                    <a:lnTo>
                      <a:pt x="992" y="10"/>
                    </a:lnTo>
                    <a:lnTo>
                      <a:pt x="983" y="11"/>
                    </a:lnTo>
                    <a:lnTo>
                      <a:pt x="974" y="12"/>
                    </a:lnTo>
                    <a:lnTo>
                      <a:pt x="963" y="14"/>
                    </a:lnTo>
                    <a:lnTo>
                      <a:pt x="957" y="14"/>
                    </a:lnTo>
                    <a:lnTo>
                      <a:pt x="951" y="15"/>
                    </a:lnTo>
                    <a:lnTo>
                      <a:pt x="945" y="15"/>
                    </a:lnTo>
                    <a:lnTo>
                      <a:pt x="939" y="16"/>
                    </a:lnTo>
                    <a:lnTo>
                      <a:pt x="932" y="16"/>
                    </a:lnTo>
                    <a:lnTo>
                      <a:pt x="924" y="17"/>
                    </a:lnTo>
                    <a:lnTo>
                      <a:pt x="916" y="17"/>
                    </a:lnTo>
                    <a:lnTo>
                      <a:pt x="908" y="18"/>
                    </a:lnTo>
                    <a:lnTo>
                      <a:pt x="900" y="18"/>
                    </a:lnTo>
                    <a:lnTo>
                      <a:pt x="891" y="19"/>
                    </a:lnTo>
                    <a:lnTo>
                      <a:pt x="881" y="19"/>
                    </a:lnTo>
                    <a:lnTo>
                      <a:pt x="871" y="20"/>
                    </a:lnTo>
                    <a:lnTo>
                      <a:pt x="860" y="20"/>
                    </a:lnTo>
                    <a:lnTo>
                      <a:pt x="849" y="20"/>
                    </a:lnTo>
                    <a:lnTo>
                      <a:pt x="837" y="21"/>
                    </a:lnTo>
                    <a:lnTo>
                      <a:pt x="825" y="21"/>
                    </a:lnTo>
                    <a:lnTo>
                      <a:pt x="812" y="21"/>
                    </a:lnTo>
                    <a:lnTo>
                      <a:pt x="798" y="21"/>
                    </a:lnTo>
                    <a:lnTo>
                      <a:pt x="783" y="22"/>
                    </a:lnTo>
                    <a:lnTo>
                      <a:pt x="767" y="22"/>
                    </a:lnTo>
                    <a:lnTo>
                      <a:pt x="750" y="22"/>
                    </a:lnTo>
                    <a:lnTo>
                      <a:pt x="732" y="22"/>
                    </a:lnTo>
                    <a:lnTo>
                      <a:pt x="714" y="22"/>
                    </a:lnTo>
                    <a:lnTo>
                      <a:pt x="694" y="22"/>
                    </a:lnTo>
                    <a:lnTo>
                      <a:pt x="675" y="22"/>
                    </a:lnTo>
                    <a:lnTo>
                      <a:pt x="655" y="23"/>
                    </a:lnTo>
                    <a:lnTo>
                      <a:pt x="634" y="23"/>
                    </a:lnTo>
                    <a:lnTo>
                      <a:pt x="613" y="23"/>
                    </a:lnTo>
                    <a:lnTo>
                      <a:pt x="570" y="23"/>
                    </a:lnTo>
                    <a:lnTo>
                      <a:pt x="527" y="23"/>
                    </a:lnTo>
                    <a:lnTo>
                      <a:pt x="484" y="23"/>
                    </a:lnTo>
                    <a:lnTo>
                      <a:pt x="441" y="23"/>
                    </a:lnTo>
                    <a:lnTo>
                      <a:pt x="420" y="23"/>
                    </a:lnTo>
                    <a:lnTo>
                      <a:pt x="399" y="23"/>
                    </a:lnTo>
                    <a:lnTo>
                      <a:pt x="379" y="22"/>
                    </a:lnTo>
                    <a:lnTo>
                      <a:pt x="359" y="22"/>
                    </a:lnTo>
                    <a:lnTo>
                      <a:pt x="340" y="22"/>
                    </a:lnTo>
                    <a:lnTo>
                      <a:pt x="322" y="22"/>
                    </a:lnTo>
                    <a:lnTo>
                      <a:pt x="304" y="22"/>
                    </a:lnTo>
                    <a:lnTo>
                      <a:pt x="286" y="22"/>
                    </a:lnTo>
                    <a:lnTo>
                      <a:pt x="270" y="22"/>
                    </a:lnTo>
                    <a:lnTo>
                      <a:pt x="255" y="21"/>
                    </a:lnTo>
                    <a:lnTo>
                      <a:pt x="240" y="21"/>
                    </a:lnTo>
                    <a:lnTo>
                      <a:pt x="227" y="21"/>
                    </a:lnTo>
                    <a:lnTo>
                      <a:pt x="214" y="21"/>
                    </a:lnTo>
                    <a:lnTo>
                      <a:pt x="202" y="20"/>
                    </a:lnTo>
                    <a:lnTo>
                      <a:pt x="190" y="20"/>
                    </a:lnTo>
                    <a:lnTo>
                      <a:pt x="179" y="20"/>
                    </a:lnTo>
                    <a:lnTo>
                      <a:pt x="169" y="19"/>
                    </a:lnTo>
                    <a:lnTo>
                      <a:pt x="159" y="19"/>
                    </a:lnTo>
                    <a:lnTo>
                      <a:pt x="149" y="19"/>
                    </a:lnTo>
                    <a:lnTo>
                      <a:pt x="140" y="18"/>
                    </a:lnTo>
                    <a:lnTo>
                      <a:pt x="131" y="18"/>
                    </a:lnTo>
                    <a:lnTo>
                      <a:pt x="122" y="18"/>
                    </a:lnTo>
                    <a:lnTo>
                      <a:pt x="114" y="17"/>
                    </a:lnTo>
                    <a:lnTo>
                      <a:pt x="106" y="17"/>
                    </a:lnTo>
                    <a:lnTo>
                      <a:pt x="99" y="16"/>
                    </a:lnTo>
                    <a:lnTo>
                      <a:pt x="92" y="16"/>
                    </a:lnTo>
                    <a:lnTo>
                      <a:pt x="85" y="15"/>
                    </a:lnTo>
                    <a:lnTo>
                      <a:pt x="79" y="15"/>
                    </a:lnTo>
                    <a:lnTo>
                      <a:pt x="67" y="14"/>
                    </a:lnTo>
                    <a:lnTo>
                      <a:pt x="55" y="13"/>
                    </a:lnTo>
                    <a:lnTo>
                      <a:pt x="45" y="12"/>
                    </a:lnTo>
                    <a:lnTo>
                      <a:pt x="35" y="11"/>
                    </a:lnTo>
                    <a:lnTo>
                      <a:pt x="26" y="9"/>
                    </a:lnTo>
                    <a:lnTo>
                      <a:pt x="17" y="8"/>
                    </a:lnTo>
                    <a:lnTo>
                      <a:pt x="0" y="6"/>
                    </a:lnTo>
                    <a:lnTo>
                      <a:pt x="2" y="3"/>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8" name="Freeform 35">
                <a:extLst>
                  <a:ext uri="{FF2B5EF4-FFF2-40B4-BE49-F238E27FC236}">
                    <a16:creationId xmlns:a16="http://schemas.microsoft.com/office/drawing/2014/main" id="{1782DC35-2816-5315-B71E-BFC1173E5683}"/>
                  </a:ext>
                </a:extLst>
              </p:cNvPr>
              <p:cNvSpPr>
                <a:spLocks/>
              </p:cNvSpPr>
              <p:nvPr/>
            </p:nvSpPr>
            <p:spPr bwMode="auto">
              <a:xfrm>
                <a:off x="10482584" y="169592"/>
                <a:ext cx="223945" cy="24046"/>
              </a:xfrm>
              <a:custGeom>
                <a:avLst/>
                <a:gdLst/>
                <a:ahLst/>
                <a:cxnLst>
                  <a:cxn ang="0">
                    <a:pos x="8" y="20"/>
                  </a:cxn>
                  <a:cxn ang="0">
                    <a:pos x="26" y="12"/>
                  </a:cxn>
                  <a:cxn ang="0">
                    <a:pos x="41" y="8"/>
                  </a:cxn>
                  <a:cxn ang="0">
                    <a:pos x="53" y="5"/>
                  </a:cxn>
                  <a:cxn ang="0">
                    <a:pos x="66" y="3"/>
                  </a:cxn>
                  <a:cxn ang="0">
                    <a:pos x="80" y="1"/>
                  </a:cxn>
                  <a:cxn ang="0">
                    <a:pos x="93" y="0"/>
                  </a:cxn>
                  <a:cxn ang="0">
                    <a:pos x="103" y="0"/>
                  </a:cxn>
                  <a:cxn ang="0">
                    <a:pos x="115" y="0"/>
                  </a:cxn>
                  <a:cxn ang="0">
                    <a:pos x="134" y="1"/>
                  </a:cxn>
                  <a:cxn ang="0">
                    <a:pos x="163" y="2"/>
                  </a:cxn>
                  <a:cxn ang="0">
                    <a:pos x="192" y="3"/>
                  </a:cxn>
                  <a:cxn ang="0">
                    <a:pos x="220" y="5"/>
                  </a:cxn>
                  <a:cxn ang="0">
                    <a:pos x="232" y="6"/>
                  </a:cxn>
                  <a:cxn ang="0">
                    <a:pos x="242" y="7"/>
                  </a:cxn>
                  <a:cxn ang="0">
                    <a:pos x="251" y="7"/>
                  </a:cxn>
                  <a:cxn ang="0">
                    <a:pos x="258" y="8"/>
                  </a:cxn>
                  <a:cxn ang="0">
                    <a:pos x="262" y="8"/>
                  </a:cxn>
                  <a:cxn ang="0">
                    <a:pos x="263" y="8"/>
                  </a:cxn>
                  <a:cxn ang="0">
                    <a:pos x="262" y="11"/>
                  </a:cxn>
                  <a:cxn ang="0">
                    <a:pos x="260" y="11"/>
                  </a:cxn>
                  <a:cxn ang="0">
                    <a:pos x="254" y="10"/>
                  </a:cxn>
                  <a:cxn ang="0">
                    <a:pos x="246" y="10"/>
                  </a:cxn>
                  <a:cxn ang="0">
                    <a:pos x="237" y="9"/>
                  </a:cxn>
                  <a:cxn ang="0">
                    <a:pos x="225" y="8"/>
                  </a:cxn>
                  <a:cxn ang="0">
                    <a:pos x="206" y="7"/>
                  </a:cxn>
                  <a:cxn ang="0">
                    <a:pos x="178" y="6"/>
                  </a:cxn>
                  <a:cxn ang="0">
                    <a:pos x="148" y="4"/>
                  </a:cxn>
                  <a:cxn ang="0">
                    <a:pos x="121" y="3"/>
                  </a:cxn>
                  <a:cxn ang="0">
                    <a:pos x="109" y="3"/>
                  </a:cxn>
                  <a:cxn ang="0">
                    <a:pos x="98" y="3"/>
                  </a:cxn>
                  <a:cxn ang="0">
                    <a:pos x="89" y="4"/>
                  </a:cxn>
                  <a:cxn ang="0">
                    <a:pos x="74" y="5"/>
                  </a:cxn>
                  <a:cxn ang="0">
                    <a:pos x="60" y="7"/>
                  </a:cxn>
                  <a:cxn ang="0">
                    <a:pos x="49" y="9"/>
                  </a:cxn>
                  <a:cxn ang="0">
                    <a:pos x="38" y="12"/>
                  </a:cxn>
                  <a:cxn ang="0">
                    <a:pos x="20" y="18"/>
                  </a:cxn>
                  <a:cxn ang="0">
                    <a:pos x="3" y="26"/>
                  </a:cxn>
                </a:cxnLst>
                <a:rect l="0" t="0" r="r" b="b"/>
                <a:pathLst>
                  <a:path w="263" h="26">
                    <a:moveTo>
                      <a:pt x="0" y="23"/>
                    </a:moveTo>
                    <a:lnTo>
                      <a:pt x="8" y="20"/>
                    </a:lnTo>
                    <a:lnTo>
                      <a:pt x="17" y="16"/>
                    </a:lnTo>
                    <a:lnTo>
                      <a:pt x="26" y="12"/>
                    </a:lnTo>
                    <a:lnTo>
                      <a:pt x="36" y="9"/>
                    </a:lnTo>
                    <a:lnTo>
                      <a:pt x="41" y="8"/>
                    </a:lnTo>
                    <a:lnTo>
                      <a:pt x="47" y="6"/>
                    </a:lnTo>
                    <a:lnTo>
                      <a:pt x="53" y="5"/>
                    </a:lnTo>
                    <a:lnTo>
                      <a:pt x="59" y="4"/>
                    </a:lnTo>
                    <a:lnTo>
                      <a:pt x="66" y="3"/>
                    </a:lnTo>
                    <a:lnTo>
                      <a:pt x="73" y="2"/>
                    </a:lnTo>
                    <a:lnTo>
                      <a:pt x="80" y="1"/>
                    </a:lnTo>
                    <a:lnTo>
                      <a:pt x="88" y="1"/>
                    </a:lnTo>
                    <a:lnTo>
                      <a:pt x="93" y="0"/>
                    </a:lnTo>
                    <a:lnTo>
                      <a:pt x="98" y="0"/>
                    </a:lnTo>
                    <a:lnTo>
                      <a:pt x="103" y="0"/>
                    </a:lnTo>
                    <a:lnTo>
                      <a:pt x="109" y="0"/>
                    </a:lnTo>
                    <a:lnTo>
                      <a:pt x="115" y="0"/>
                    </a:lnTo>
                    <a:lnTo>
                      <a:pt x="121" y="0"/>
                    </a:lnTo>
                    <a:lnTo>
                      <a:pt x="134" y="1"/>
                    </a:lnTo>
                    <a:lnTo>
                      <a:pt x="149" y="1"/>
                    </a:lnTo>
                    <a:lnTo>
                      <a:pt x="163" y="2"/>
                    </a:lnTo>
                    <a:lnTo>
                      <a:pt x="178" y="3"/>
                    </a:lnTo>
                    <a:lnTo>
                      <a:pt x="192" y="3"/>
                    </a:lnTo>
                    <a:lnTo>
                      <a:pt x="206" y="4"/>
                    </a:lnTo>
                    <a:lnTo>
                      <a:pt x="220" y="5"/>
                    </a:lnTo>
                    <a:lnTo>
                      <a:pt x="226" y="5"/>
                    </a:lnTo>
                    <a:lnTo>
                      <a:pt x="232" y="6"/>
                    </a:lnTo>
                    <a:lnTo>
                      <a:pt x="237" y="6"/>
                    </a:lnTo>
                    <a:lnTo>
                      <a:pt x="242" y="7"/>
                    </a:lnTo>
                    <a:lnTo>
                      <a:pt x="247" y="7"/>
                    </a:lnTo>
                    <a:lnTo>
                      <a:pt x="251" y="7"/>
                    </a:lnTo>
                    <a:lnTo>
                      <a:pt x="255" y="7"/>
                    </a:lnTo>
                    <a:lnTo>
                      <a:pt x="258" y="8"/>
                    </a:lnTo>
                    <a:lnTo>
                      <a:pt x="260" y="8"/>
                    </a:lnTo>
                    <a:lnTo>
                      <a:pt x="262" y="8"/>
                    </a:lnTo>
                    <a:lnTo>
                      <a:pt x="263" y="8"/>
                    </a:lnTo>
                    <a:lnTo>
                      <a:pt x="263" y="8"/>
                    </a:lnTo>
                    <a:lnTo>
                      <a:pt x="263" y="11"/>
                    </a:lnTo>
                    <a:lnTo>
                      <a:pt x="262" y="11"/>
                    </a:lnTo>
                    <a:lnTo>
                      <a:pt x="261" y="11"/>
                    </a:lnTo>
                    <a:lnTo>
                      <a:pt x="260" y="11"/>
                    </a:lnTo>
                    <a:lnTo>
                      <a:pt x="257" y="11"/>
                    </a:lnTo>
                    <a:lnTo>
                      <a:pt x="254" y="10"/>
                    </a:lnTo>
                    <a:lnTo>
                      <a:pt x="250" y="10"/>
                    </a:lnTo>
                    <a:lnTo>
                      <a:pt x="246" y="10"/>
                    </a:lnTo>
                    <a:lnTo>
                      <a:pt x="242" y="10"/>
                    </a:lnTo>
                    <a:lnTo>
                      <a:pt x="237" y="9"/>
                    </a:lnTo>
                    <a:lnTo>
                      <a:pt x="231" y="9"/>
                    </a:lnTo>
                    <a:lnTo>
                      <a:pt x="225" y="8"/>
                    </a:lnTo>
                    <a:lnTo>
                      <a:pt x="219" y="8"/>
                    </a:lnTo>
                    <a:lnTo>
                      <a:pt x="206" y="7"/>
                    </a:lnTo>
                    <a:lnTo>
                      <a:pt x="192" y="6"/>
                    </a:lnTo>
                    <a:lnTo>
                      <a:pt x="178" y="6"/>
                    </a:lnTo>
                    <a:lnTo>
                      <a:pt x="163" y="5"/>
                    </a:lnTo>
                    <a:lnTo>
                      <a:pt x="148" y="4"/>
                    </a:lnTo>
                    <a:lnTo>
                      <a:pt x="134" y="4"/>
                    </a:lnTo>
                    <a:lnTo>
                      <a:pt x="121" y="3"/>
                    </a:lnTo>
                    <a:lnTo>
                      <a:pt x="115" y="3"/>
                    </a:lnTo>
                    <a:lnTo>
                      <a:pt x="109" y="3"/>
                    </a:lnTo>
                    <a:lnTo>
                      <a:pt x="103" y="3"/>
                    </a:lnTo>
                    <a:lnTo>
                      <a:pt x="98" y="3"/>
                    </a:lnTo>
                    <a:lnTo>
                      <a:pt x="93" y="3"/>
                    </a:lnTo>
                    <a:lnTo>
                      <a:pt x="89" y="4"/>
                    </a:lnTo>
                    <a:lnTo>
                      <a:pt x="81" y="4"/>
                    </a:lnTo>
                    <a:lnTo>
                      <a:pt x="74" y="5"/>
                    </a:lnTo>
                    <a:lnTo>
                      <a:pt x="67" y="6"/>
                    </a:lnTo>
                    <a:lnTo>
                      <a:pt x="60" y="7"/>
                    </a:lnTo>
                    <a:lnTo>
                      <a:pt x="54" y="8"/>
                    </a:lnTo>
                    <a:lnTo>
                      <a:pt x="49" y="9"/>
                    </a:lnTo>
                    <a:lnTo>
                      <a:pt x="43" y="10"/>
                    </a:lnTo>
                    <a:lnTo>
                      <a:pt x="38" y="12"/>
                    </a:lnTo>
                    <a:lnTo>
                      <a:pt x="28" y="15"/>
                    </a:lnTo>
                    <a:lnTo>
                      <a:pt x="20" y="18"/>
                    </a:lnTo>
                    <a:lnTo>
                      <a:pt x="11" y="22"/>
                    </a:lnTo>
                    <a:lnTo>
                      <a:pt x="3" y="26"/>
                    </a:lnTo>
                    <a:lnTo>
                      <a:pt x="0" y="23"/>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9" name="Freeform 36">
                <a:extLst>
                  <a:ext uri="{FF2B5EF4-FFF2-40B4-BE49-F238E27FC236}">
                    <a16:creationId xmlns:a16="http://schemas.microsoft.com/office/drawing/2014/main" id="{7B28BD50-E5FE-2535-4EFF-D718785D4DDD}"/>
                  </a:ext>
                </a:extLst>
              </p:cNvPr>
              <p:cNvSpPr>
                <a:spLocks/>
              </p:cNvSpPr>
              <p:nvPr/>
            </p:nvSpPr>
            <p:spPr bwMode="auto">
              <a:xfrm>
                <a:off x="11269370" y="107628"/>
                <a:ext cx="30654" cy="100806"/>
              </a:xfrm>
              <a:custGeom>
                <a:avLst/>
                <a:gdLst/>
                <a:ahLst/>
                <a:cxnLst>
                  <a:cxn ang="0">
                    <a:pos x="5" y="1595"/>
                  </a:cxn>
                  <a:cxn ang="0">
                    <a:pos x="4" y="1440"/>
                  </a:cxn>
                  <a:cxn ang="0">
                    <a:pos x="29" y="1347"/>
                  </a:cxn>
                  <a:cxn ang="0">
                    <a:pos x="45" y="1320"/>
                  </a:cxn>
                  <a:cxn ang="0">
                    <a:pos x="100" y="1281"/>
                  </a:cxn>
                  <a:cxn ang="0">
                    <a:pos x="194" y="1250"/>
                  </a:cxn>
                  <a:cxn ang="0">
                    <a:pos x="255" y="1221"/>
                  </a:cxn>
                  <a:cxn ang="0">
                    <a:pos x="285" y="1190"/>
                  </a:cxn>
                  <a:cxn ang="0">
                    <a:pos x="296" y="1172"/>
                  </a:cxn>
                  <a:cxn ang="0">
                    <a:pos x="313" y="1110"/>
                  </a:cxn>
                  <a:cxn ang="0">
                    <a:pos x="312" y="962"/>
                  </a:cxn>
                  <a:cxn ang="0">
                    <a:pos x="290" y="756"/>
                  </a:cxn>
                  <a:cxn ang="0">
                    <a:pos x="230" y="385"/>
                  </a:cxn>
                  <a:cxn ang="0">
                    <a:pos x="201" y="202"/>
                  </a:cxn>
                  <a:cxn ang="0">
                    <a:pos x="189" y="86"/>
                  </a:cxn>
                  <a:cxn ang="0">
                    <a:pos x="191" y="30"/>
                  </a:cxn>
                  <a:cxn ang="0">
                    <a:pos x="204" y="7"/>
                  </a:cxn>
                  <a:cxn ang="0">
                    <a:pos x="228" y="1"/>
                  </a:cxn>
                  <a:cxn ang="0">
                    <a:pos x="249" y="14"/>
                  </a:cxn>
                  <a:cxn ang="0">
                    <a:pos x="268" y="44"/>
                  </a:cxn>
                  <a:cxn ang="0">
                    <a:pos x="277" y="64"/>
                  </a:cxn>
                  <a:cxn ang="0">
                    <a:pos x="232" y="80"/>
                  </a:cxn>
                  <a:cxn ang="0">
                    <a:pos x="225" y="67"/>
                  </a:cxn>
                  <a:cxn ang="0">
                    <a:pos x="210" y="43"/>
                  </a:cxn>
                  <a:cxn ang="0">
                    <a:pos x="222" y="49"/>
                  </a:cxn>
                  <a:cxn ang="0">
                    <a:pos x="231" y="46"/>
                  </a:cxn>
                  <a:cxn ang="0">
                    <a:pos x="239" y="38"/>
                  </a:cxn>
                  <a:cxn ang="0">
                    <a:pos x="236" y="83"/>
                  </a:cxn>
                  <a:cxn ang="0">
                    <a:pos x="248" y="194"/>
                  </a:cxn>
                  <a:cxn ang="0">
                    <a:pos x="278" y="377"/>
                  </a:cxn>
                  <a:cxn ang="0">
                    <a:pos x="337" y="750"/>
                  </a:cxn>
                  <a:cxn ang="0">
                    <a:pos x="360" y="959"/>
                  </a:cxn>
                  <a:cxn ang="0">
                    <a:pos x="360" y="1120"/>
                  </a:cxn>
                  <a:cxn ang="0">
                    <a:pos x="341" y="1189"/>
                  </a:cxn>
                  <a:cxn ang="0">
                    <a:pos x="322" y="1220"/>
                  </a:cxn>
                  <a:cxn ang="0">
                    <a:pos x="281" y="1261"/>
                  </a:cxn>
                  <a:cxn ang="0">
                    <a:pos x="209" y="1295"/>
                  </a:cxn>
                  <a:cxn ang="0">
                    <a:pos x="125" y="1322"/>
                  </a:cxn>
                  <a:cxn ang="0">
                    <a:pos x="79" y="1354"/>
                  </a:cxn>
                  <a:cxn ang="0">
                    <a:pos x="74" y="1363"/>
                  </a:cxn>
                  <a:cxn ang="0">
                    <a:pos x="52" y="1444"/>
                  </a:cxn>
                  <a:cxn ang="0">
                    <a:pos x="52" y="1590"/>
                  </a:cxn>
                  <a:cxn ang="0">
                    <a:pos x="28" y="1759"/>
                  </a:cxn>
                </a:cxnLst>
                <a:rect l="0" t="0" r="r" b="b"/>
                <a:pathLst>
                  <a:path w="363" h="1759">
                    <a:moveTo>
                      <a:pt x="28" y="1759"/>
                    </a:moveTo>
                    <a:lnTo>
                      <a:pt x="11" y="1650"/>
                    </a:lnTo>
                    <a:lnTo>
                      <a:pt x="5" y="1595"/>
                    </a:lnTo>
                    <a:lnTo>
                      <a:pt x="1" y="1542"/>
                    </a:lnTo>
                    <a:lnTo>
                      <a:pt x="0" y="1490"/>
                    </a:lnTo>
                    <a:lnTo>
                      <a:pt x="4" y="1440"/>
                    </a:lnTo>
                    <a:lnTo>
                      <a:pt x="13" y="1393"/>
                    </a:lnTo>
                    <a:cubicBezTo>
                      <a:pt x="13" y="1391"/>
                      <a:pt x="13" y="1390"/>
                      <a:pt x="14" y="1389"/>
                    </a:cubicBezTo>
                    <a:lnTo>
                      <a:pt x="29" y="1347"/>
                    </a:lnTo>
                    <a:cubicBezTo>
                      <a:pt x="29" y="1346"/>
                      <a:pt x="30" y="1344"/>
                      <a:pt x="31" y="1343"/>
                    </a:cubicBezTo>
                    <a:lnTo>
                      <a:pt x="41" y="1325"/>
                    </a:lnTo>
                    <a:cubicBezTo>
                      <a:pt x="42" y="1323"/>
                      <a:pt x="44" y="1321"/>
                      <a:pt x="45" y="1320"/>
                    </a:cubicBezTo>
                    <a:lnTo>
                      <a:pt x="59" y="1305"/>
                    </a:lnTo>
                    <a:cubicBezTo>
                      <a:pt x="61" y="1304"/>
                      <a:pt x="63" y="1303"/>
                      <a:pt x="64" y="1302"/>
                    </a:cubicBezTo>
                    <a:lnTo>
                      <a:pt x="100" y="1281"/>
                    </a:lnTo>
                    <a:cubicBezTo>
                      <a:pt x="102" y="1280"/>
                      <a:pt x="103" y="1279"/>
                      <a:pt x="105" y="1279"/>
                    </a:cubicBezTo>
                    <a:lnTo>
                      <a:pt x="148" y="1264"/>
                    </a:lnTo>
                    <a:lnTo>
                      <a:pt x="194" y="1250"/>
                    </a:lnTo>
                    <a:lnTo>
                      <a:pt x="238" y="1232"/>
                    </a:lnTo>
                    <a:lnTo>
                      <a:pt x="234" y="1234"/>
                    </a:lnTo>
                    <a:lnTo>
                      <a:pt x="255" y="1221"/>
                    </a:lnTo>
                    <a:lnTo>
                      <a:pt x="272" y="1206"/>
                    </a:lnTo>
                    <a:lnTo>
                      <a:pt x="269" y="1210"/>
                    </a:lnTo>
                    <a:lnTo>
                      <a:pt x="285" y="1190"/>
                    </a:lnTo>
                    <a:lnTo>
                      <a:pt x="283" y="1193"/>
                    </a:lnTo>
                    <a:lnTo>
                      <a:pt x="298" y="1168"/>
                    </a:lnTo>
                    <a:lnTo>
                      <a:pt x="296" y="1172"/>
                    </a:lnTo>
                    <a:lnTo>
                      <a:pt x="307" y="1142"/>
                    </a:lnTo>
                    <a:lnTo>
                      <a:pt x="306" y="1146"/>
                    </a:lnTo>
                    <a:lnTo>
                      <a:pt x="313" y="1110"/>
                    </a:lnTo>
                    <a:lnTo>
                      <a:pt x="316" y="1070"/>
                    </a:lnTo>
                    <a:lnTo>
                      <a:pt x="315" y="1019"/>
                    </a:lnTo>
                    <a:lnTo>
                      <a:pt x="312" y="962"/>
                    </a:lnTo>
                    <a:lnTo>
                      <a:pt x="307" y="898"/>
                    </a:lnTo>
                    <a:lnTo>
                      <a:pt x="299" y="829"/>
                    </a:lnTo>
                    <a:lnTo>
                      <a:pt x="290" y="756"/>
                    </a:lnTo>
                    <a:lnTo>
                      <a:pt x="267" y="605"/>
                    </a:lnTo>
                    <a:lnTo>
                      <a:pt x="242" y="456"/>
                    </a:lnTo>
                    <a:lnTo>
                      <a:pt x="230" y="385"/>
                    </a:lnTo>
                    <a:lnTo>
                      <a:pt x="219" y="318"/>
                    </a:lnTo>
                    <a:lnTo>
                      <a:pt x="209" y="256"/>
                    </a:lnTo>
                    <a:lnTo>
                      <a:pt x="201" y="202"/>
                    </a:lnTo>
                    <a:lnTo>
                      <a:pt x="195" y="154"/>
                    </a:lnTo>
                    <a:lnTo>
                      <a:pt x="191" y="116"/>
                    </a:lnTo>
                    <a:lnTo>
                      <a:pt x="189" y="86"/>
                    </a:lnTo>
                    <a:lnTo>
                      <a:pt x="188" y="62"/>
                    </a:lnTo>
                    <a:lnTo>
                      <a:pt x="189" y="44"/>
                    </a:lnTo>
                    <a:lnTo>
                      <a:pt x="191" y="30"/>
                    </a:lnTo>
                    <a:cubicBezTo>
                      <a:pt x="192" y="28"/>
                      <a:pt x="192" y="27"/>
                      <a:pt x="192" y="26"/>
                    </a:cubicBezTo>
                    <a:lnTo>
                      <a:pt x="195" y="19"/>
                    </a:lnTo>
                    <a:cubicBezTo>
                      <a:pt x="197" y="14"/>
                      <a:pt x="200" y="10"/>
                      <a:pt x="204" y="7"/>
                    </a:cubicBezTo>
                    <a:lnTo>
                      <a:pt x="207" y="5"/>
                    </a:lnTo>
                    <a:cubicBezTo>
                      <a:pt x="212" y="1"/>
                      <a:pt x="218" y="0"/>
                      <a:pt x="224" y="1"/>
                    </a:cubicBezTo>
                    <a:lnTo>
                      <a:pt x="228" y="1"/>
                    </a:lnTo>
                    <a:cubicBezTo>
                      <a:pt x="232" y="2"/>
                      <a:pt x="236" y="3"/>
                      <a:pt x="240" y="6"/>
                    </a:cubicBezTo>
                    <a:lnTo>
                      <a:pt x="244" y="10"/>
                    </a:lnTo>
                    <a:cubicBezTo>
                      <a:pt x="246" y="11"/>
                      <a:pt x="247" y="12"/>
                      <a:pt x="249" y="14"/>
                    </a:cubicBezTo>
                    <a:lnTo>
                      <a:pt x="258" y="26"/>
                    </a:lnTo>
                    <a:cubicBezTo>
                      <a:pt x="258" y="27"/>
                      <a:pt x="259" y="28"/>
                      <a:pt x="260" y="29"/>
                    </a:cubicBezTo>
                    <a:lnTo>
                      <a:pt x="268" y="44"/>
                    </a:lnTo>
                    <a:lnTo>
                      <a:pt x="274" y="58"/>
                    </a:lnTo>
                    <a:lnTo>
                      <a:pt x="276" y="61"/>
                    </a:lnTo>
                    <a:cubicBezTo>
                      <a:pt x="276" y="62"/>
                      <a:pt x="277" y="63"/>
                      <a:pt x="277" y="64"/>
                    </a:cubicBezTo>
                    <a:lnTo>
                      <a:pt x="278" y="66"/>
                    </a:lnTo>
                    <a:lnTo>
                      <a:pt x="232" y="81"/>
                    </a:lnTo>
                    <a:lnTo>
                      <a:pt x="232" y="80"/>
                    </a:lnTo>
                    <a:lnTo>
                      <a:pt x="233" y="83"/>
                    </a:lnTo>
                    <a:lnTo>
                      <a:pt x="231" y="78"/>
                    </a:lnTo>
                    <a:lnTo>
                      <a:pt x="225" y="67"/>
                    </a:lnTo>
                    <a:lnTo>
                      <a:pt x="217" y="52"/>
                    </a:lnTo>
                    <a:lnTo>
                      <a:pt x="219" y="55"/>
                    </a:lnTo>
                    <a:lnTo>
                      <a:pt x="210" y="43"/>
                    </a:lnTo>
                    <a:lnTo>
                      <a:pt x="215" y="47"/>
                    </a:lnTo>
                    <a:lnTo>
                      <a:pt x="210" y="44"/>
                    </a:lnTo>
                    <a:lnTo>
                      <a:pt x="222" y="49"/>
                    </a:lnTo>
                    <a:lnTo>
                      <a:pt x="218" y="48"/>
                    </a:lnTo>
                    <a:lnTo>
                      <a:pt x="235" y="44"/>
                    </a:lnTo>
                    <a:lnTo>
                      <a:pt x="231" y="46"/>
                    </a:lnTo>
                    <a:lnTo>
                      <a:pt x="240" y="35"/>
                    </a:lnTo>
                    <a:lnTo>
                      <a:pt x="238" y="42"/>
                    </a:lnTo>
                    <a:lnTo>
                      <a:pt x="239" y="38"/>
                    </a:lnTo>
                    <a:lnTo>
                      <a:pt x="237" y="46"/>
                    </a:lnTo>
                    <a:lnTo>
                      <a:pt x="236" y="61"/>
                    </a:lnTo>
                    <a:lnTo>
                      <a:pt x="236" y="83"/>
                    </a:lnTo>
                    <a:lnTo>
                      <a:pt x="238" y="111"/>
                    </a:lnTo>
                    <a:lnTo>
                      <a:pt x="242" y="148"/>
                    </a:lnTo>
                    <a:lnTo>
                      <a:pt x="248" y="194"/>
                    </a:lnTo>
                    <a:lnTo>
                      <a:pt x="257" y="249"/>
                    </a:lnTo>
                    <a:lnTo>
                      <a:pt x="267" y="310"/>
                    </a:lnTo>
                    <a:lnTo>
                      <a:pt x="278" y="377"/>
                    </a:lnTo>
                    <a:lnTo>
                      <a:pt x="290" y="448"/>
                    </a:lnTo>
                    <a:lnTo>
                      <a:pt x="314" y="598"/>
                    </a:lnTo>
                    <a:lnTo>
                      <a:pt x="337" y="750"/>
                    </a:lnTo>
                    <a:lnTo>
                      <a:pt x="347" y="823"/>
                    </a:lnTo>
                    <a:lnTo>
                      <a:pt x="354" y="893"/>
                    </a:lnTo>
                    <a:lnTo>
                      <a:pt x="360" y="959"/>
                    </a:lnTo>
                    <a:lnTo>
                      <a:pt x="363" y="1019"/>
                    </a:lnTo>
                    <a:lnTo>
                      <a:pt x="363" y="1073"/>
                    </a:lnTo>
                    <a:lnTo>
                      <a:pt x="360" y="1120"/>
                    </a:lnTo>
                    <a:lnTo>
                      <a:pt x="353" y="1155"/>
                    </a:lnTo>
                    <a:cubicBezTo>
                      <a:pt x="353" y="1156"/>
                      <a:pt x="352" y="1158"/>
                      <a:pt x="352" y="1159"/>
                    </a:cubicBezTo>
                    <a:lnTo>
                      <a:pt x="341" y="1189"/>
                    </a:lnTo>
                    <a:cubicBezTo>
                      <a:pt x="340" y="1190"/>
                      <a:pt x="340" y="1191"/>
                      <a:pt x="339" y="1193"/>
                    </a:cubicBezTo>
                    <a:lnTo>
                      <a:pt x="325" y="1217"/>
                    </a:lnTo>
                    <a:cubicBezTo>
                      <a:pt x="324" y="1218"/>
                      <a:pt x="323" y="1219"/>
                      <a:pt x="322" y="1220"/>
                    </a:cubicBezTo>
                    <a:lnTo>
                      <a:pt x="306" y="1240"/>
                    </a:lnTo>
                    <a:cubicBezTo>
                      <a:pt x="305" y="1241"/>
                      <a:pt x="304" y="1243"/>
                      <a:pt x="303" y="1244"/>
                    </a:cubicBezTo>
                    <a:lnTo>
                      <a:pt x="281" y="1261"/>
                    </a:lnTo>
                    <a:lnTo>
                      <a:pt x="260" y="1274"/>
                    </a:lnTo>
                    <a:cubicBezTo>
                      <a:pt x="258" y="1275"/>
                      <a:pt x="257" y="1276"/>
                      <a:pt x="256" y="1276"/>
                    </a:cubicBezTo>
                    <a:lnTo>
                      <a:pt x="209" y="1295"/>
                    </a:lnTo>
                    <a:lnTo>
                      <a:pt x="163" y="1310"/>
                    </a:lnTo>
                    <a:lnTo>
                      <a:pt x="120" y="1324"/>
                    </a:lnTo>
                    <a:lnTo>
                      <a:pt x="125" y="1322"/>
                    </a:lnTo>
                    <a:lnTo>
                      <a:pt x="89" y="1343"/>
                    </a:lnTo>
                    <a:lnTo>
                      <a:pt x="93" y="1339"/>
                    </a:lnTo>
                    <a:lnTo>
                      <a:pt x="79" y="1354"/>
                    </a:lnTo>
                    <a:lnTo>
                      <a:pt x="83" y="1349"/>
                    </a:lnTo>
                    <a:lnTo>
                      <a:pt x="72" y="1367"/>
                    </a:lnTo>
                    <a:lnTo>
                      <a:pt x="74" y="1363"/>
                    </a:lnTo>
                    <a:lnTo>
                      <a:pt x="59" y="1405"/>
                    </a:lnTo>
                    <a:lnTo>
                      <a:pt x="60" y="1401"/>
                    </a:lnTo>
                    <a:lnTo>
                      <a:pt x="52" y="1444"/>
                    </a:lnTo>
                    <a:lnTo>
                      <a:pt x="48" y="1490"/>
                    </a:lnTo>
                    <a:lnTo>
                      <a:pt x="48" y="1539"/>
                    </a:lnTo>
                    <a:lnTo>
                      <a:pt x="52" y="1590"/>
                    </a:lnTo>
                    <a:lnTo>
                      <a:pt x="58" y="1642"/>
                    </a:lnTo>
                    <a:lnTo>
                      <a:pt x="75" y="1752"/>
                    </a:lnTo>
                    <a:lnTo>
                      <a:pt x="28" y="175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0" name="Freeform 37">
                <a:extLst>
                  <a:ext uri="{FF2B5EF4-FFF2-40B4-BE49-F238E27FC236}">
                    <a16:creationId xmlns:a16="http://schemas.microsoft.com/office/drawing/2014/main" id="{E6F0FD36-B102-95C8-C531-37880FB24021}"/>
                  </a:ext>
                </a:extLst>
              </p:cNvPr>
              <p:cNvSpPr>
                <a:spLocks/>
              </p:cNvSpPr>
              <p:nvPr/>
            </p:nvSpPr>
            <p:spPr bwMode="auto">
              <a:xfrm>
                <a:off x="10355710" y="206585"/>
                <a:ext cx="371254" cy="2774"/>
              </a:xfrm>
              <a:custGeom>
                <a:avLst/>
                <a:gdLst/>
                <a:ahLst/>
                <a:cxnLst>
                  <a:cxn ang="0">
                    <a:pos x="0" y="0"/>
                  </a:cxn>
                  <a:cxn ang="0">
                    <a:pos x="293" y="0"/>
                  </a:cxn>
                  <a:cxn ang="0">
                    <a:pos x="436" y="0"/>
                  </a:cxn>
                  <a:cxn ang="0">
                    <a:pos x="436" y="3"/>
                  </a:cxn>
                  <a:cxn ang="0">
                    <a:pos x="293" y="3"/>
                  </a:cxn>
                  <a:cxn ang="0">
                    <a:pos x="0" y="3"/>
                  </a:cxn>
                  <a:cxn ang="0">
                    <a:pos x="0" y="0"/>
                  </a:cxn>
                </a:cxnLst>
                <a:rect l="0" t="0" r="r" b="b"/>
                <a:pathLst>
                  <a:path w="436" h="3">
                    <a:moveTo>
                      <a:pt x="0" y="0"/>
                    </a:moveTo>
                    <a:lnTo>
                      <a:pt x="293" y="0"/>
                    </a:lnTo>
                    <a:lnTo>
                      <a:pt x="436" y="0"/>
                    </a:lnTo>
                    <a:lnTo>
                      <a:pt x="436" y="3"/>
                    </a:lnTo>
                    <a:lnTo>
                      <a:pt x="293" y="3"/>
                    </a:lnTo>
                    <a:lnTo>
                      <a:pt x="0" y="3"/>
                    </a:lnTo>
                    <a:lnTo>
                      <a:pt x="0"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1" name="Freeform 38">
                <a:extLst>
                  <a:ext uri="{FF2B5EF4-FFF2-40B4-BE49-F238E27FC236}">
                    <a16:creationId xmlns:a16="http://schemas.microsoft.com/office/drawing/2014/main" id="{54C6C790-FAF3-D038-7AEF-39C840CE06BC}"/>
                  </a:ext>
                </a:extLst>
              </p:cNvPr>
              <p:cNvSpPr>
                <a:spLocks/>
              </p:cNvSpPr>
              <p:nvPr/>
            </p:nvSpPr>
            <p:spPr bwMode="auto">
              <a:xfrm>
                <a:off x="10746549" y="180690"/>
                <a:ext cx="199251" cy="12948"/>
              </a:xfrm>
              <a:custGeom>
                <a:avLst/>
                <a:gdLst/>
                <a:ahLst/>
                <a:cxnLst>
                  <a:cxn ang="0">
                    <a:pos x="0" y="11"/>
                  </a:cxn>
                  <a:cxn ang="0">
                    <a:pos x="21" y="8"/>
                  </a:cxn>
                  <a:cxn ang="0">
                    <a:pos x="32" y="6"/>
                  </a:cxn>
                  <a:cxn ang="0">
                    <a:pos x="44" y="5"/>
                  </a:cxn>
                  <a:cxn ang="0">
                    <a:pos x="56" y="4"/>
                  </a:cxn>
                  <a:cxn ang="0">
                    <a:pos x="68" y="3"/>
                  </a:cxn>
                  <a:cxn ang="0">
                    <a:pos x="81" y="2"/>
                  </a:cxn>
                  <a:cxn ang="0">
                    <a:pos x="95" y="1"/>
                  </a:cxn>
                  <a:cxn ang="0">
                    <a:pos x="99" y="1"/>
                  </a:cxn>
                  <a:cxn ang="0">
                    <a:pos x="104" y="1"/>
                  </a:cxn>
                  <a:cxn ang="0">
                    <a:pos x="113" y="0"/>
                  </a:cxn>
                  <a:cxn ang="0">
                    <a:pos x="123" y="0"/>
                  </a:cxn>
                  <a:cxn ang="0">
                    <a:pos x="134" y="0"/>
                  </a:cxn>
                  <a:cxn ang="0">
                    <a:pos x="145" y="0"/>
                  </a:cxn>
                  <a:cxn ang="0">
                    <a:pos x="157" y="0"/>
                  </a:cxn>
                  <a:cxn ang="0">
                    <a:pos x="168" y="0"/>
                  </a:cxn>
                  <a:cxn ang="0">
                    <a:pos x="180" y="0"/>
                  </a:cxn>
                  <a:cxn ang="0">
                    <a:pos x="191" y="0"/>
                  </a:cxn>
                  <a:cxn ang="0">
                    <a:pos x="201" y="0"/>
                  </a:cxn>
                  <a:cxn ang="0">
                    <a:pos x="210" y="0"/>
                  </a:cxn>
                  <a:cxn ang="0">
                    <a:pos x="214" y="0"/>
                  </a:cxn>
                  <a:cxn ang="0">
                    <a:pos x="218" y="1"/>
                  </a:cxn>
                  <a:cxn ang="0">
                    <a:pos x="222" y="1"/>
                  </a:cxn>
                  <a:cxn ang="0">
                    <a:pos x="225" y="1"/>
                  </a:cxn>
                  <a:cxn ang="0">
                    <a:pos x="228" y="1"/>
                  </a:cxn>
                  <a:cxn ang="0">
                    <a:pos x="230" y="1"/>
                  </a:cxn>
                  <a:cxn ang="0">
                    <a:pos x="232" y="1"/>
                  </a:cxn>
                  <a:cxn ang="0">
                    <a:pos x="233" y="1"/>
                  </a:cxn>
                  <a:cxn ang="0">
                    <a:pos x="234" y="1"/>
                  </a:cxn>
                  <a:cxn ang="0">
                    <a:pos x="234" y="1"/>
                  </a:cxn>
                  <a:cxn ang="0">
                    <a:pos x="234" y="4"/>
                  </a:cxn>
                  <a:cxn ang="0">
                    <a:pos x="234" y="4"/>
                  </a:cxn>
                  <a:cxn ang="0">
                    <a:pos x="233" y="4"/>
                  </a:cxn>
                  <a:cxn ang="0">
                    <a:pos x="232" y="4"/>
                  </a:cxn>
                  <a:cxn ang="0">
                    <a:pos x="230" y="4"/>
                  </a:cxn>
                  <a:cxn ang="0">
                    <a:pos x="228" y="4"/>
                  </a:cxn>
                  <a:cxn ang="0">
                    <a:pos x="225" y="4"/>
                  </a:cxn>
                  <a:cxn ang="0">
                    <a:pos x="222" y="4"/>
                  </a:cxn>
                  <a:cxn ang="0">
                    <a:pos x="218" y="4"/>
                  </a:cxn>
                  <a:cxn ang="0">
                    <a:pos x="214" y="3"/>
                  </a:cxn>
                  <a:cxn ang="0">
                    <a:pos x="210" y="3"/>
                  </a:cxn>
                  <a:cxn ang="0">
                    <a:pos x="201" y="3"/>
                  </a:cxn>
                  <a:cxn ang="0">
                    <a:pos x="191" y="3"/>
                  </a:cxn>
                  <a:cxn ang="0">
                    <a:pos x="180" y="3"/>
                  </a:cxn>
                  <a:cxn ang="0">
                    <a:pos x="168" y="3"/>
                  </a:cxn>
                  <a:cxn ang="0">
                    <a:pos x="157" y="3"/>
                  </a:cxn>
                  <a:cxn ang="0">
                    <a:pos x="145" y="3"/>
                  </a:cxn>
                  <a:cxn ang="0">
                    <a:pos x="134" y="3"/>
                  </a:cxn>
                  <a:cxn ang="0">
                    <a:pos x="123" y="3"/>
                  </a:cxn>
                  <a:cxn ang="0">
                    <a:pos x="113" y="3"/>
                  </a:cxn>
                  <a:cxn ang="0">
                    <a:pos x="104" y="3"/>
                  </a:cxn>
                  <a:cxn ang="0">
                    <a:pos x="100" y="4"/>
                  </a:cxn>
                  <a:cxn ang="0">
                    <a:pos x="96" y="4"/>
                  </a:cxn>
                  <a:cxn ang="0">
                    <a:pos x="82" y="5"/>
                  </a:cxn>
                  <a:cxn ang="0">
                    <a:pos x="69" y="5"/>
                  </a:cxn>
                  <a:cxn ang="0">
                    <a:pos x="56" y="7"/>
                  </a:cxn>
                  <a:cxn ang="0">
                    <a:pos x="45" y="8"/>
                  </a:cxn>
                  <a:cxn ang="0">
                    <a:pos x="33" y="9"/>
                  </a:cxn>
                  <a:cxn ang="0">
                    <a:pos x="22" y="11"/>
                  </a:cxn>
                  <a:cxn ang="0">
                    <a:pos x="1" y="14"/>
                  </a:cxn>
                  <a:cxn ang="0">
                    <a:pos x="0" y="11"/>
                  </a:cxn>
                </a:cxnLst>
                <a:rect l="0" t="0" r="r" b="b"/>
                <a:pathLst>
                  <a:path w="234" h="14">
                    <a:moveTo>
                      <a:pt x="0" y="11"/>
                    </a:moveTo>
                    <a:lnTo>
                      <a:pt x="21" y="8"/>
                    </a:lnTo>
                    <a:lnTo>
                      <a:pt x="32" y="6"/>
                    </a:lnTo>
                    <a:lnTo>
                      <a:pt x="44" y="5"/>
                    </a:lnTo>
                    <a:lnTo>
                      <a:pt x="56" y="4"/>
                    </a:lnTo>
                    <a:lnTo>
                      <a:pt x="68" y="3"/>
                    </a:lnTo>
                    <a:lnTo>
                      <a:pt x="81" y="2"/>
                    </a:lnTo>
                    <a:lnTo>
                      <a:pt x="95" y="1"/>
                    </a:lnTo>
                    <a:lnTo>
                      <a:pt x="99" y="1"/>
                    </a:lnTo>
                    <a:lnTo>
                      <a:pt x="104" y="1"/>
                    </a:lnTo>
                    <a:lnTo>
                      <a:pt x="113" y="0"/>
                    </a:lnTo>
                    <a:lnTo>
                      <a:pt x="123" y="0"/>
                    </a:lnTo>
                    <a:lnTo>
                      <a:pt x="134" y="0"/>
                    </a:lnTo>
                    <a:lnTo>
                      <a:pt x="145" y="0"/>
                    </a:lnTo>
                    <a:lnTo>
                      <a:pt x="157" y="0"/>
                    </a:lnTo>
                    <a:lnTo>
                      <a:pt x="168" y="0"/>
                    </a:lnTo>
                    <a:lnTo>
                      <a:pt x="180" y="0"/>
                    </a:lnTo>
                    <a:lnTo>
                      <a:pt x="191" y="0"/>
                    </a:lnTo>
                    <a:lnTo>
                      <a:pt x="201" y="0"/>
                    </a:lnTo>
                    <a:lnTo>
                      <a:pt x="210" y="0"/>
                    </a:lnTo>
                    <a:lnTo>
                      <a:pt x="214" y="0"/>
                    </a:lnTo>
                    <a:lnTo>
                      <a:pt x="218" y="1"/>
                    </a:lnTo>
                    <a:lnTo>
                      <a:pt x="222" y="1"/>
                    </a:lnTo>
                    <a:lnTo>
                      <a:pt x="225" y="1"/>
                    </a:lnTo>
                    <a:lnTo>
                      <a:pt x="228" y="1"/>
                    </a:lnTo>
                    <a:lnTo>
                      <a:pt x="230" y="1"/>
                    </a:lnTo>
                    <a:lnTo>
                      <a:pt x="232" y="1"/>
                    </a:lnTo>
                    <a:lnTo>
                      <a:pt x="233" y="1"/>
                    </a:lnTo>
                    <a:lnTo>
                      <a:pt x="234" y="1"/>
                    </a:lnTo>
                    <a:lnTo>
                      <a:pt x="234" y="1"/>
                    </a:lnTo>
                    <a:lnTo>
                      <a:pt x="234" y="4"/>
                    </a:lnTo>
                    <a:lnTo>
                      <a:pt x="234" y="4"/>
                    </a:lnTo>
                    <a:lnTo>
                      <a:pt x="233" y="4"/>
                    </a:lnTo>
                    <a:lnTo>
                      <a:pt x="232" y="4"/>
                    </a:lnTo>
                    <a:lnTo>
                      <a:pt x="230" y="4"/>
                    </a:lnTo>
                    <a:lnTo>
                      <a:pt x="228" y="4"/>
                    </a:lnTo>
                    <a:lnTo>
                      <a:pt x="225" y="4"/>
                    </a:lnTo>
                    <a:lnTo>
                      <a:pt x="222" y="4"/>
                    </a:lnTo>
                    <a:lnTo>
                      <a:pt x="218" y="4"/>
                    </a:lnTo>
                    <a:lnTo>
                      <a:pt x="214" y="3"/>
                    </a:lnTo>
                    <a:lnTo>
                      <a:pt x="210" y="3"/>
                    </a:lnTo>
                    <a:lnTo>
                      <a:pt x="201" y="3"/>
                    </a:lnTo>
                    <a:lnTo>
                      <a:pt x="191" y="3"/>
                    </a:lnTo>
                    <a:lnTo>
                      <a:pt x="180" y="3"/>
                    </a:lnTo>
                    <a:lnTo>
                      <a:pt x="168" y="3"/>
                    </a:lnTo>
                    <a:lnTo>
                      <a:pt x="157" y="3"/>
                    </a:lnTo>
                    <a:lnTo>
                      <a:pt x="145" y="3"/>
                    </a:lnTo>
                    <a:lnTo>
                      <a:pt x="134" y="3"/>
                    </a:lnTo>
                    <a:lnTo>
                      <a:pt x="123" y="3"/>
                    </a:lnTo>
                    <a:lnTo>
                      <a:pt x="113" y="3"/>
                    </a:lnTo>
                    <a:lnTo>
                      <a:pt x="104" y="3"/>
                    </a:lnTo>
                    <a:lnTo>
                      <a:pt x="100" y="4"/>
                    </a:lnTo>
                    <a:lnTo>
                      <a:pt x="96" y="4"/>
                    </a:lnTo>
                    <a:lnTo>
                      <a:pt x="82" y="5"/>
                    </a:lnTo>
                    <a:lnTo>
                      <a:pt x="69" y="5"/>
                    </a:lnTo>
                    <a:lnTo>
                      <a:pt x="56" y="7"/>
                    </a:lnTo>
                    <a:lnTo>
                      <a:pt x="45" y="8"/>
                    </a:lnTo>
                    <a:lnTo>
                      <a:pt x="33" y="9"/>
                    </a:lnTo>
                    <a:lnTo>
                      <a:pt x="22" y="11"/>
                    </a:lnTo>
                    <a:lnTo>
                      <a:pt x="1" y="14"/>
                    </a:lnTo>
                    <a:lnTo>
                      <a:pt x="0" y="11"/>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2" name="Freeform 39">
                <a:extLst>
                  <a:ext uri="{FF2B5EF4-FFF2-40B4-BE49-F238E27FC236}">
                    <a16:creationId xmlns:a16="http://schemas.microsoft.com/office/drawing/2014/main" id="{78FF115E-E26F-D891-1FC7-BEF18C0B4B5D}"/>
                  </a:ext>
                </a:extLst>
              </p:cNvPr>
              <p:cNvSpPr>
                <a:spLocks/>
              </p:cNvSpPr>
              <p:nvPr/>
            </p:nvSpPr>
            <p:spPr bwMode="auto">
              <a:xfrm>
                <a:off x="10750806" y="213984"/>
                <a:ext cx="161785" cy="2774"/>
              </a:xfrm>
              <a:custGeom>
                <a:avLst/>
                <a:gdLst/>
                <a:ahLst/>
                <a:cxnLst>
                  <a:cxn ang="0">
                    <a:pos x="0" y="0"/>
                  </a:cxn>
                  <a:cxn ang="0">
                    <a:pos x="110" y="0"/>
                  </a:cxn>
                  <a:cxn ang="0">
                    <a:pos x="190" y="0"/>
                  </a:cxn>
                  <a:cxn ang="0">
                    <a:pos x="190" y="3"/>
                  </a:cxn>
                  <a:cxn ang="0">
                    <a:pos x="110" y="3"/>
                  </a:cxn>
                  <a:cxn ang="0">
                    <a:pos x="0" y="3"/>
                  </a:cxn>
                  <a:cxn ang="0">
                    <a:pos x="0" y="0"/>
                  </a:cxn>
                </a:cxnLst>
                <a:rect l="0" t="0" r="r" b="b"/>
                <a:pathLst>
                  <a:path w="190" h="3">
                    <a:moveTo>
                      <a:pt x="0" y="0"/>
                    </a:moveTo>
                    <a:lnTo>
                      <a:pt x="110" y="0"/>
                    </a:lnTo>
                    <a:lnTo>
                      <a:pt x="190" y="0"/>
                    </a:lnTo>
                    <a:lnTo>
                      <a:pt x="190" y="3"/>
                    </a:lnTo>
                    <a:lnTo>
                      <a:pt x="110" y="3"/>
                    </a:lnTo>
                    <a:lnTo>
                      <a:pt x="0" y="3"/>
                    </a:lnTo>
                    <a:lnTo>
                      <a:pt x="0"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3" name="Freeform 40">
                <a:extLst>
                  <a:ext uri="{FF2B5EF4-FFF2-40B4-BE49-F238E27FC236}">
                    <a16:creationId xmlns:a16="http://schemas.microsoft.com/office/drawing/2014/main" id="{7850E46C-DAAC-3D8F-C213-DD4B3FEA2669}"/>
                  </a:ext>
                </a:extLst>
              </p:cNvPr>
              <p:cNvSpPr>
                <a:spLocks/>
              </p:cNvSpPr>
              <p:nvPr/>
            </p:nvSpPr>
            <p:spPr bwMode="auto">
              <a:xfrm>
                <a:off x="10721004" y="190863"/>
                <a:ext cx="36614" cy="25895"/>
              </a:xfrm>
              <a:custGeom>
                <a:avLst/>
                <a:gdLst/>
                <a:ahLst/>
                <a:cxnLst>
                  <a:cxn ang="0">
                    <a:pos x="688" y="855"/>
                  </a:cxn>
                  <a:cxn ang="0">
                    <a:pos x="407" y="783"/>
                  </a:cxn>
                  <a:cxn ang="0">
                    <a:pos x="179" y="704"/>
                  </a:cxn>
                  <a:cxn ang="0">
                    <a:pos x="92" y="657"/>
                  </a:cxn>
                  <a:cxn ang="0">
                    <a:pos x="54" y="628"/>
                  </a:cxn>
                  <a:cxn ang="0">
                    <a:pos x="25" y="595"/>
                  </a:cxn>
                  <a:cxn ang="0">
                    <a:pos x="6" y="558"/>
                  </a:cxn>
                  <a:cxn ang="0">
                    <a:pos x="3" y="508"/>
                  </a:cxn>
                  <a:cxn ang="0">
                    <a:pos x="20" y="467"/>
                  </a:cxn>
                  <a:cxn ang="0">
                    <a:pos x="51" y="428"/>
                  </a:cxn>
                  <a:cxn ang="0">
                    <a:pos x="145" y="354"/>
                  </a:cxn>
                  <a:cxn ang="0">
                    <a:pos x="277" y="272"/>
                  </a:cxn>
                  <a:cxn ang="0">
                    <a:pos x="574" y="117"/>
                  </a:cxn>
                  <a:cxn ang="0">
                    <a:pos x="703" y="56"/>
                  </a:cxn>
                  <a:cxn ang="0">
                    <a:pos x="795" y="15"/>
                  </a:cxn>
                  <a:cxn ang="0">
                    <a:pos x="829" y="0"/>
                  </a:cxn>
                  <a:cxn ang="0">
                    <a:pos x="859" y="91"/>
                  </a:cxn>
                  <a:cxn ang="0">
                    <a:pos x="794" y="120"/>
                  </a:cxn>
                  <a:cxn ang="0">
                    <a:pos x="683" y="172"/>
                  </a:cxn>
                  <a:cxn ang="0">
                    <a:pos x="471" y="276"/>
                  </a:cxn>
                  <a:cxn ang="0">
                    <a:pos x="260" y="394"/>
                  </a:cxn>
                  <a:cxn ang="0">
                    <a:pos x="154" y="466"/>
                  </a:cxn>
                  <a:cxn ang="0">
                    <a:pos x="120" y="494"/>
                  </a:cxn>
                  <a:cxn ang="0">
                    <a:pos x="103" y="512"/>
                  </a:cxn>
                  <a:cxn ang="0">
                    <a:pos x="96" y="514"/>
                  </a:cxn>
                  <a:cxn ang="0">
                    <a:pos x="95" y="525"/>
                  </a:cxn>
                  <a:cxn ang="0">
                    <a:pos x="101" y="538"/>
                  </a:cxn>
                  <a:cxn ang="0">
                    <a:pos x="117" y="556"/>
                  </a:cxn>
                  <a:cxn ang="0">
                    <a:pos x="175" y="595"/>
                  </a:cxn>
                  <a:cxn ang="0">
                    <a:pos x="313" y="653"/>
                  </a:cxn>
                  <a:cxn ang="0">
                    <a:pos x="566" y="727"/>
                  </a:cxn>
                  <a:cxn ang="0">
                    <a:pos x="859" y="797"/>
                  </a:cxn>
                </a:cxnLst>
                <a:rect l="0" t="0" r="r" b="b"/>
                <a:pathLst>
                  <a:path w="868" h="890">
                    <a:moveTo>
                      <a:pt x="837" y="890"/>
                    </a:moveTo>
                    <a:lnTo>
                      <a:pt x="688" y="855"/>
                    </a:lnTo>
                    <a:lnTo>
                      <a:pt x="543" y="820"/>
                    </a:lnTo>
                    <a:lnTo>
                      <a:pt x="407" y="783"/>
                    </a:lnTo>
                    <a:lnTo>
                      <a:pt x="284" y="744"/>
                    </a:lnTo>
                    <a:lnTo>
                      <a:pt x="179" y="704"/>
                    </a:lnTo>
                    <a:lnTo>
                      <a:pt x="132" y="682"/>
                    </a:lnTo>
                    <a:lnTo>
                      <a:pt x="92" y="657"/>
                    </a:lnTo>
                    <a:lnTo>
                      <a:pt x="59" y="633"/>
                    </a:lnTo>
                    <a:cubicBezTo>
                      <a:pt x="57" y="631"/>
                      <a:pt x="56" y="629"/>
                      <a:pt x="54" y="628"/>
                    </a:cubicBezTo>
                    <a:lnTo>
                      <a:pt x="32" y="605"/>
                    </a:lnTo>
                    <a:cubicBezTo>
                      <a:pt x="29" y="602"/>
                      <a:pt x="27" y="599"/>
                      <a:pt x="25" y="595"/>
                    </a:cubicBezTo>
                    <a:lnTo>
                      <a:pt x="12" y="572"/>
                    </a:lnTo>
                    <a:cubicBezTo>
                      <a:pt x="9" y="568"/>
                      <a:pt x="7" y="563"/>
                      <a:pt x="6" y="558"/>
                    </a:cubicBezTo>
                    <a:lnTo>
                      <a:pt x="1" y="533"/>
                    </a:lnTo>
                    <a:cubicBezTo>
                      <a:pt x="0" y="525"/>
                      <a:pt x="0" y="516"/>
                      <a:pt x="3" y="508"/>
                    </a:cubicBezTo>
                    <a:lnTo>
                      <a:pt x="12" y="481"/>
                    </a:lnTo>
                    <a:cubicBezTo>
                      <a:pt x="14" y="476"/>
                      <a:pt x="16" y="471"/>
                      <a:pt x="20" y="467"/>
                    </a:cubicBezTo>
                    <a:lnTo>
                      <a:pt x="45" y="435"/>
                    </a:lnTo>
                    <a:cubicBezTo>
                      <a:pt x="46" y="433"/>
                      <a:pt x="49" y="430"/>
                      <a:pt x="51" y="428"/>
                    </a:cubicBezTo>
                    <a:lnTo>
                      <a:pt x="91" y="393"/>
                    </a:lnTo>
                    <a:lnTo>
                      <a:pt x="145" y="354"/>
                    </a:lnTo>
                    <a:lnTo>
                      <a:pt x="209" y="313"/>
                    </a:lnTo>
                    <a:lnTo>
                      <a:pt x="277" y="272"/>
                    </a:lnTo>
                    <a:lnTo>
                      <a:pt x="426" y="191"/>
                    </a:lnTo>
                    <a:lnTo>
                      <a:pt x="574" y="117"/>
                    </a:lnTo>
                    <a:lnTo>
                      <a:pt x="642" y="85"/>
                    </a:lnTo>
                    <a:lnTo>
                      <a:pt x="703" y="56"/>
                    </a:lnTo>
                    <a:lnTo>
                      <a:pt x="755" y="33"/>
                    </a:lnTo>
                    <a:lnTo>
                      <a:pt x="795" y="15"/>
                    </a:lnTo>
                    <a:lnTo>
                      <a:pt x="820" y="4"/>
                    </a:lnTo>
                    <a:lnTo>
                      <a:pt x="829" y="0"/>
                    </a:lnTo>
                    <a:lnTo>
                      <a:pt x="868" y="87"/>
                    </a:lnTo>
                    <a:lnTo>
                      <a:pt x="859" y="91"/>
                    </a:lnTo>
                    <a:lnTo>
                      <a:pt x="834" y="102"/>
                    </a:lnTo>
                    <a:lnTo>
                      <a:pt x="794" y="120"/>
                    </a:lnTo>
                    <a:lnTo>
                      <a:pt x="744" y="143"/>
                    </a:lnTo>
                    <a:lnTo>
                      <a:pt x="683" y="172"/>
                    </a:lnTo>
                    <a:lnTo>
                      <a:pt x="617" y="203"/>
                    </a:lnTo>
                    <a:lnTo>
                      <a:pt x="471" y="276"/>
                    </a:lnTo>
                    <a:lnTo>
                      <a:pt x="326" y="355"/>
                    </a:lnTo>
                    <a:lnTo>
                      <a:pt x="260" y="394"/>
                    </a:lnTo>
                    <a:lnTo>
                      <a:pt x="202" y="431"/>
                    </a:lnTo>
                    <a:lnTo>
                      <a:pt x="154" y="466"/>
                    </a:lnTo>
                    <a:lnTo>
                      <a:pt x="114" y="501"/>
                    </a:lnTo>
                    <a:lnTo>
                      <a:pt x="120" y="494"/>
                    </a:lnTo>
                    <a:lnTo>
                      <a:pt x="95" y="526"/>
                    </a:lnTo>
                    <a:lnTo>
                      <a:pt x="103" y="512"/>
                    </a:lnTo>
                    <a:lnTo>
                      <a:pt x="94" y="539"/>
                    </a:lnTo>
                    <a:lnTo>
                      <a:pt x="96" y="514"/>
                    </a:lnTo>
                    <a:lnTo>
                      <a:pt x="101" y="539"/>
                    </a:lnTo>
                    <a:lnTo>
                      <a:pt x="95" y="525"/>
                    </a:lnTo>
                    <a:lnTo>
                      <a:pt x="108" y="548"/>
                    </a:lnTo>
                    <a:lnTo>
                      <a:pt x="101" y="538"/>
                    </a:lnTo>
                    <a:lnTo>
                      <a:pt x="123" y="561"/>
                    </a:lnTo>
                    <a:lnTo>
                      <a:pt x="117" y="556"/>
                    </a:lnTo>
                    <a:lnTo>
                      <a:pt x="142" y="576"/>
                    </a:lnTo>
                    <a:lnTo>
                      <a:pt x="175" y="595"/>
                    </a:lnTo>
                    <a:lnTo>
                      <a:pt x="214" y="615"/>
                    </a:lnTo>
                    <a:lnTo>
                      <a:pt x="313" y="653"/>
                    </a:lnTo>
                    <a:lnTo>
                      <a:pt x="432" y="690"/>
                    </a:lnTo>
                    <a:lnTo>
                      <a:pt x="566" y="727"/>
                    </a:lnTo>
                    <a:lnTo>
                      <a:pt x="710" y="762"/>
                    </a:lnTo>
                    <a:lnTo>
                      <a:pt x="859" y="797"/>
                    </a:lnTo>
                    <a:lnTo>
                      <a:pt x="837" y="89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4" name="Freeform 41">
                <a:extLst>
                  <a:ext uri="{FF2B5EF4-FFF2-40B4-BE49-F238E27FC236}">
                    <a16:creationId xmlns:a16="http://schemas.microsoft.com/office/drawing/2014/main" id="{BB7A69AA-A2DF-AA9A-7734-68D549B27DB0}"/>
                  </a:ext>
                </a:extLst>
              </p:cNvPr>
              <p:cNvSpPr>
                <a:spLocks/>
              </p:cNvSpPr>
              <p:nvPr/>
            </p:nvSpPr>
            <p:spPr bwMode="auto">
              <a:xfrm>
                <a:off x="10881938" y="198261"/>
                <a:ext cx="172004" cy="6474"/>
              </a:xfrm>
              <a:custGeom>
                <a:avLst/>
                <a:gdLst/>
                <a:ahLst/>
                <a:cxnLst>
                  <a:cxn ang="0">
                    <a:pos x="0" y="81"/>
                  </a:cxn>
                  <a:cxn ang="0">
                    <a:pos x="247" y="51"/>
                  </a:cxn>
                  <a:cxn ang="0">
                    <a:pos x="497" y="26"/>
                  </a:cxn>
                  <a:cxn ang="0">
                    <a:pos x="747" y="8"/>
                  </a:cxn>
                  <a:cxn ang="0">
                    <a:pos x="875" y="2"/>
                  </a:cxn>
                  <a:cxn ang="0">
                    <a:pos x="1002" y="0"/>
                  </a:cxn>
                  <a:cxn ang="0">
                    <a:pos x="1070" y="1"/>
                  </a:cxn>
                  <a:cxn ang="0">
                    <a:pos x="1146" y="4"/>
                  </a:cxn>
                  <a:cxn ang="0">
                    <a:pos x="1226" y="8"/>
                  </a:cxn>
                  <a:cxn ang="0">
                    <a:pos x="1310" y="13"/>
                  </a:cxn>
                  <a:cxn ang="0">
                    <a:pos x="1483" y="26"/>
                  </a:cxn>
                  <a:cxn ang="0">
                    <a:pos x="1568" y="33"/>
                  </a:cxn>
                  <a:cxn ang="0">
                    <a:pos x="1652" y="41"/>
                  </a:cxn>
                  <a:cxn ang="0">
                    <a:pos x="1732" y="48"/>
                  </a:cxn>
                  <a:cxn ang="0">
                    <a:pos x="1805" y="55"/>
                  </a:cxn>
                  <a:cxn ang="0">
                    <a:pos x="1872" y="62"/>
                  </a:cxn>
                  <a:cxn ang="0">
                    <a:pos x="1930" y="68"/>
                  </a:cxn>
                  <a:cxn ang="0">
                    <a:pos x="1978" y="73"/>
                  </a:cxn>
                  <a:cxn ang="0">
                    <a:pos x="1998" y="76"/>
                  </a:cxn>
                  <a:cxn ang="0">
                    <a:pos x="2014" y="77"/>
                  </a:cxn>
                  <a:cxn ang="0">
                    <a:pos x="2028" y="79"/>
                  </a:cxn>
                  <a:cxn ang="0">
                    <a:pos x="2037" y="80"/>
                  </a:cxn>
                  <a:cxn ang="0">
                    <a:pos x="2044" y="81"/>
                  </a:cxn>
                  <a:cxn ang="0">
                    <a:pos x="2040" y="80"/>
                  </a:cxn>
                  <a:cxn ang="0">
                    <a:pos x="2042" y="80"/>
                  </a:cxn>
                  <a:cxn ang="0">
                    <a:pos x="2042" y="128"/>
                  </a:cxn>
                  <a:cxn ang="0">
                    <a:pos x="2040" y="128"/>
                  </a:cxn>
                  <a:cxn ang="0">
                    <a:pos x="2037" y="128"/>
                  </a:cxn>
                  <a:cxn ang="0">
                    <a:pos x="2032" y="127"/>
                  </a:cxn>
                  <a:cxn ang="0">
                    <a:pos x="2022" y="126"/>
                  </a:cxn>
                  <a:cxn ang="0">
                    <a:pos x="2010" y="125"/>
                  </a:cxn>
                  <a:cxn ang="0">
                    <a:pos x="1992" y="123"/>
                  </a:cxn>
                  <a:cxn ang="0">
                    <a:pos x="1973" y="121"/>
                  </a:cxn>
                  <a:cxn ang="0">
                    <a:pos x="1925" y="116"/>
                  </a:cxn>
                  <a:cxn ang="0">
                    <a:pos x="1867" y="110"/>
                  </a:cxn>
                  <a:cxn ang="0">
                    <a:pos x="1801" y="103"/>
                  </a:cxn>
                  <a:cxn ang="0">
                    <a:pos x="1727" y="96"/>
                  </a:cxn>
                  <a:cxn ang="0">
                    <a:pos x="1648" y="88"/>
                  </a:cxn>
                  <a:cxn ang="0">
                    <a:pos x="1565" y="81"/>
                  </a:cxn>
                  <a:cxn ang="0">
                    <a:pos x="1479" y="74"/>
                  </a:cxn>
                  <a:cxn ang="0">
                    <a:pos x="1307" y="61"/>
                  </a:cxn>
                  <a:cxn ang="0">
                    <a:pos x="1223" y="56"/>
                  </a:cxn>
                  <a:cxn ang="0">
                    <a:pos x="1144" y="52"/>
                  </a:cxn>
                  <a:cxn ang="0">
                    <a:pos x="1070" y="49"/>
                  </a:cxn>
                  <a:cxn ang="0">
                    <a:pos x="1003" y="48"/>
                  </a:cxn>
                  <a:cxn ang="0">
                    <a:pos x="876" y="50"/>
                  </a:cxn>
                  <a:cxn ang="0">
                    <a:pos x="751" y="55"/>
                  </a:cxn>
                  <a:cxn ang="0">
                    <a:pos x="501" y="73"/>
                  </a:cxn>
                  <a:cxn ang="0">
                    <a:pos x="253" y="99"/>
                  </a:cxn>
                  <a:cxn ang="0">
                    <a:pos x="5" y="128"/>
                  </a:cxn>
                  <a:cxn ang="0">
                    <a:pos x="0" y="81"/>
                  </a:cxn>
                </a:cxnLst>
                <a:rect l="0" t="0" r="r" b="b"/>
                <a:pathLst>
                  <a:path w="2044" h="128">
                    <a:moveTo>
                      <a:pt x="0" y="81"/>
                    </a:moveTo>
                    <a:lnTo>
                      <a:pt x="247" y="51"/>
                    </a:lnTo>
                    <a:lnTo>
                      <a:pt x="497" y="26"/>
                    </a:lnTo>
                    <a:lnTo>
                      <a:pt x="747" y="8"/>
                    </a:lnTo>
                    <a:lnTo>
                      <a:pt x="875" y="2"/>
                    </a:lnTo>
                    <a:lnTo>
                      <a:pt x="1002" y="0"/>
                    </a:lnTo>
                    <a:lnTo>
                      <a:pt x="1070" y="1"/>
                    </a:lnTo>
                    <a:lnTo>
                      <a:pt x="1146" y="4"/>
                    </a:lnTo>
                    <a:lnTo>
                      <a:pt x="1226" y="8"/>
                    </a:lnTo>
                    <a:lnTo>
                      <a:pt x="1310" y="13"/>
                    </a:lnTo>
                    <a:lnTo>
                      <a:pt x="1483" y="26"/>
                    </a:lnTo>
                    <a:lnTo>
                      <a:pt x="1568" y="33"/>
                    </a:lnTo>
                    <a:lnTo>
                      <a:pt x="1652" y="41"/>
                    </a:lnTo>
                    <a:lnTo>
                      <a:pt x="1732" y="48"/>
                    </a:lnTo>
                    <a:lnTo>
                      <a:pt x="1805" y="55"/>
                    </a:lnTo>
                    <a:lnTo>
                      <a:pt x="1872" y="62"/>
                    </a:lnTo>
                    <a:lnTo>
                      <a:pt x="1930" y="68"/>
                    </a:lnTo>
                    <a:lnTo>
                      <a:pt x="1978" y="73"/>
                    </a:lnTo>
                    <a:lnTo>
                      <a:pt x="1998" y="76"/>
                    </a:lnTo>
                    <a:lnTo>
                      <a:pt x="2014" y="77"/>
                    </a:lnTo>
                    <a:lnTo>
                      <a:pt x="2028" y="79"/>
                    </a:lnTo>
                    <a:lnTo>
                      <a:pt x="2037" y="80"/>
                    </a:lnTo>
                    <a:lnTo>
                      <a:pt x="2044" y="81"/>
                    </a:lnTo>
                    <a:lnTo>
                      <a:pt x="2040" y="80"/>
                    </a:lnTo>
                    <a:lnTo>
                      <a:pt x="2042" y="80"/>
                    </a:lnTo>
                    <a:lnTo>
                      <a:pt x="2042" y="128"/>
                    </a:lnTo>
                    <a:lnTo>
                      <a:pt x="2040" y="128"/>
                    </a:lnTo>
                    <a:cubicBezTo>
                      <a:pt x="2039" y="128"/>
                      <a:pt x="2038" y="128"/>
                      <a:pt x="2037" y="128"/>
                    </a:cubicBezTo>
                    <a:lnTo>
                      <a:pt x="2032" y="127"/>
                    </a:lnTo>
                    <a:lnTo>
                      <a:pt x="2022" y="126"/>
                    </a:lnTo>
                    <a:lnTo>
                      <a:pt x="2010" y="125"/>
                    </a:lnTo>
                    <a:lnTo>
                      <a:pt x="1992" y="123"/>
                    </a:lnTo>
                    <a:lnTo>
                      <a:pt x="1973" y="121"/>
                    </a:lnTo>
                    <a:lnTo>
                      <a:pt x="1925" y="116"/>
                    </a:lnTo>
                    <a:lnTo>
                      <a:pt x="1867" y="110"/>
                    </a:lnTo>
                    <a:lnTo>
                      <a:pt x="1801" y="103"/>
                    </a:lnTo>
                    <a:lnTo>
                      <a:pt x="1727" y="96"/>
                    </a:lnTo>
                    <a:lnTo>
                      <a:pt x="1648" y="88"/>
                    </a:lnTo>
                    <a:lnTo>
                      <a:pt x="1565" y="81"/>
                    </a:lnTo>
                    <a:lnTo>
                      <a:pt x="1479" y="74"/>
                    </a:lnTo>
                    <a:lnTo>
                      <a:pt x="1307" y="61"/>
                    </a:lnTo>
                    <a:lnTo>
                      <a:pt x="1223" y="56"/>
                    </a:lnTo>
                    <a:lnTo>
                      <a:pt x="1144" y="52"/>
                    </a:lnTo>
                    <a:lnTo>
                      <a:pt x="1070" y="49"/>
                    </a:lnTo>
                    <a:lnTo>
                      <a:pt x="1003" y="48"/>
                    </a:lnTo>
                    <a:lnTo>
                      <a:pt x="876" y="50"/>
                    </a:lnTo>
                    <a:lnTo>
                      <a:pt x="751" y="55"/>
                    </a:lnTo>
                    <a:lnTo>
                      <a:pt x="501" y="73"/>
                    </a:lnTo>
                    <a:lnTo>
                      <a:pt x="253" y="99"/>
                    </a:lnTo>
                    <a:lnTo>
                      <a:pt x="5" y="128"/>
                    </a:lnTo>
                    <a:lnTo>
                      <a:pt x="0" y="81"/>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5" name="Freeform 42">
                <a:extLst>
                  <a:ext uri="{FF2B5EF4-FFF2-40B4-BE49-F238E27FC236}">
                    <a16:creationId xmlns:a16="http://schemas.microsoft.com/office/drawing/2014/main" id="{12B16B27-6C42-CE74-1557-37A0378DEB06}"/>
                  </a:ext>
                </a:extLst>
              </p:cNvPr>
              <p:cNvSpPr>
                <a:spLocks/>
              </p:cNvSpPr>
              <p:nvPr/>
            </p:nvSpPr>
            <p:spPr bwMode="auto">
              <a:xfrm>
                <a:off x="10881086" y="204736"/>
                <a:ext cx="73229" cy="14797"/>
              </a:xfrm>
              <a:custGeom>
                <a:avLst/>
                <a:gdLst/>
                <a:ahLst/>
                <a:cxnLst>
                  <a:cxn ang="0">
                    <a:pos x="25" y="0"/>
                  </a:cxn>
                  <a:cxn ang="0">
                    <a:pos x="1550" y="398"/>
                  </a:cxn>
                  <a:cxn ang="0">
                    <a:pos x="1594" y="409"/>
                  </a:cxn>
                  <a:cxn ang="0">
                    <a:pos x="1628" y="417"/>
                  </a:cxn>
                  <a:cxn ang="0">
                    <a:pos x="1655" y="423"/>
                  </a:cxn>
                  <a:cxn ang="0">
                    <a:pos x="1670" y="425"/>
                  </a:cxn>
                  <a:cxn ang="0">
                    <a:pos x="1678" y="426"/>
                  </a:cxn>
                  <a:cxn ang="0">
                    <a:pos x="1680" y="425"/>
                  </a:cxn>
                  <a:cxn ang="0">
                    <a:pos x="1642" y="502"/>
                  </a:cxn>
                  <a:cxn ang="0">
                    <a:pos x="1639" y="498"/>
                  </a:cxn>
                  <a:cxn ang="0">
                    <a:pos x="1655" y="512"/>
                  </a:cxn>
                  <a:cxn ang="0">
                    <a:pos x="1640" y="504"/>
                  </a:cxn>
                  <a:cxn ang="0">
                    <a:pos x="1625" y="498"/>
                  </a:cxn>
                  <a:cxn ang="0">
                    <a:pos x="1609" y="493"/>
                  </a:cxn>
                  <a:cxn ang="0">
                    <a:pos x="1601" y="489"/>
                  </a:cxn>
                  <a:cxn ang="0">
                    <a:pos x="1634" y="400"/>
                  </a:cxn>
                  <a:cxn ang="0">
                    <a:pos x="1641" y="402"/>
                  </a:cxn>
                  <a:cxn ang="0">
                    <a:pos x="1660" y="409"/>
                  </a:cxn>
                  <a:cxn ang="0">
                    <a:pos x="1685" y="419"/>
                  </a:cxn>
                  <a:cxn ang="0">
                    <a:pos x="1700" y="427"/>
                  </a:cxn>
                  <a:cxn ang="0">
                    <a:pos x="1716" y="441"/>
                  </a:cxn>
                  <a:cxn ang="0">
                    <a:pos x="1719" y="445"/>
                  </a:cxn>
                  <a:cxn ang="0">
                    <a:pos x="1723" y="495"/>
                  </a:cxn>
                  <a:cxn ang="0">
                    <a:pos x="1680" y="521"/>
                  </a:cxn>
                  <a:cxn ang="0">
                    <a:pos x="1670" y="521"/>
                  </a:cxn>
                  <a:cxn ang="0">
                    <a:pos x="1655" y="520"/>
                  </a:cxn>
                  <a:cxn ang="0">
                    <a:pos x="1634" y="516"/>
                  </a:cxn>
                  <a:cxn ang="0">
                    <a:pos x="1607" y="510"/>
                  </a:cxn>
                  <a:cxn ang="0">
                    <a:pos x="1571" y="502"/>
                  </a:cxn>
                  <a:cxn ang="0">
                    <a:pos x="1525" y="491"/>
                  </a:cxn>
                  <a:cxn ang="0">
                    <a:pos x="0" y="93"/>
                  </a:cxn>
                  <a:cxn ang="0">
                    <a:pos x="25" y="0"/>
                  </a:cxn>
                </a:cxnLst>
                <a:rect l="0" t="0" r="r" b="b"/>
                <a:pathLst>
                  <a:path w="1732" h="521">
                    <a:moveTo>
                      <a:pt x="25" y="0"/>
                    </a:moveTo>
                    <a:lnTo>
                      <a:pt x="1550" y="398"/>
                    </a:lnTo>
                    <a:lnTo>
                      <a:pt x="1594" y="409"/>
                    </a:lnTo>
                    <a:lnTo>
                      <a:pt x="1628" y="417"/>
                    </a:lnTo>
                    <a:lnTo>
                      <a:pt x="1655" y="423"/>
                    </a:lnTo>
                    <a:lnTo>
                      <a:pt x="1670" y="425"/>
                    </a:lnTo>
                    <a:lnTo>
                      <a:pt x="1678" y="426"/>
                    </a:lnTo>
                    <a:lnTo>
                      <a:pt x="1680" y="425"/>
                    </a:lnTo>
                    <a:lnTo>
                      <a:pt x="1642" y="502"/>
                    </a:lnTo>
                    <a:lnTo>
                      <a:pt x="1639" y="498"/>
                    </a:lnTo>
                    <a:lnTo>
                      <a:pt x="1655" y="512"/>
                    </a:lnTo>
                    <a:lnTo>
                      <a:pt x="1640" y="504"/>
                    </a:lnTo>
                    <a:lnTo>
                      <a:pt x="1625" y="498"/>
                    </a:lnTo>
                    <a:lnTo>
                      <a:pt x="1609" y="493"/>
                    </a:lnTo>
                    <a:lnTo>
                      <a:pt x="1601" y="489"/>
                    </a:lnTo>
                    <a:lnTo>
                      <a:pt x="1634" y="400"/>
                    </a:lnTo>
                    <a:lnTo>
                      <a:pt x="1641" y="402"/>
                    </a:lnTo>
                    <a:lnTo>
                      <a:pt x="1660" y="409"/>
                    </a:lnTo>
                    <a:lnTo>
                      <a:pt x="1685" y="419"/>
                    </a:lnTo>
                    <a:lnTo>
                      <a:pt x="1700" y="427"/>
                    </a:lnTo>
                    <a:cubicBezTo>
                      <a:pt x="1706" y="430"/>
                      <a:pt x="1712" y="435"/>
                      <a:pt x="1716" y="441"/>
                    </a:cubicBezTo>
                    <a:lnTo>
                      <a:pt x="1719" y="445"/>
                    </a:lnTo>
                    <a:cubicBezTo>
                      <a:pt x="1730" y="459"/>
                      <a:pt x="1732" y="479"/>
                      <a:pt x="1723" y="495"/>
                    </a:cubicBezTo>
                    <a:cubicBezTo>
                      <a:pt x="1715" y="511"/>
                      <a:pt x="1699" y="521"/>
                      <a:pt x="1680" y="521"/>
                    </a:cubicBezTo>
                    <a:lnTo>
                      <a:pt x="1670" y="521"/>
                    </a:lnTo>
                    <a:lnTo>
                      <a:pt x="1655" y="520"/>
                    </a:lnTo>
                    <a:lnTo>
                      <a:pt x="1634" y="516"/>
                    </a:lnTo>
                    <a:lnTo>
                      <a:pt x="1607" y="510"/>
                    </a:lnTo>
                    <a:lnTo>
                      <a:pt x="1571" y="502"/>
                    </a:lnTo>
                    <a:lnTo>
                      <a:pt x="1525" y="491"/>
                    </a:lnTo>
                    <a:lnTo>
                      <a:pt x="0" y="93"/>
                    </a:lnTo>
                    <a:lnTo>
                      <a:pt x="25"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6" name="Freeform 43">
                <a:extLst>
                  <a:ext uri="{FF2B5EF4-FFF2-40B4-BE49-F238E27FC236}">
                    <a16:creationId xmlns:a16="http://schemas.microsoft.com/office/drawing/2014/main" id="{AEA40D4E-4D57-A6AD-5E28-F952A917D847}"/>
                  </a:ext>
                </a:extLst>
              </p:cNvPr>
              <p:cNvSpPr>
                <a:spLocks/>
              </p:cNvSpPr>
              <p:nvPr/>
            </p:nvSpPr>
            <p:spPr bwMode="auto">
              <a:xfrm>
                <a:off x="10945801" y="213984"/>
                <a:ext cx="71526" cy="4624"/>
              </a:xfrm>
              <a:custGeom>
                <a:avLst/>
                <a:gdLst/>
                <a:ahLst/>
                <a:cxnLst>
                  <a:cxn ang="0">
                    <a:pos x="0" y="2"/>
                  </a:cxn>
                  <a:cxn ang="0">
                    <a:pos x="83" y="0"/>
                  </a:cxn>
                  <a:cxn ang="0">
                    <a:pos x="84" y="3"/>
                  </a:cxn>
                  <a:cxn ang="0">
                    <a:pos x="0" y="5"/>
                  </a:cxn>
                  <a:cxn ang="0">
                    <a:pos x="0" y="2"/>
                  </a:cxn>
                </a:cxnLst>
                <a:rect l="0" t="0" r="r" b="b"/>
                <a:pathLst>
                  <a:path w="84" h="5">
                    <a:moveTo>
                      <a:pt x="0" y="2"/>
                    </a:moveTo>
                    <a:lnTo>
                      <a:pt x="83" y="0"/>
                    </a:lnTo>
                    <a:lnTo>
                      <a:pt x="84" y="3"/>
                    </a:lnTo>
                    <a:lnTo>
                      <a:pt x="0" y="5"/>
                    </a:lnTo>
                    <a:lnTo>
                      <a:pt x="0" y="2"/>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7" name="Freeform 44">
                <a:extLst>
                  <a:ext uri="{FF2B5EF4-FFF2-40B4-BE49-F238E27FC236}">
                    <a16:creationId xmlns:a16="http://schemas.microsoft.com/office/drawing/2014/main" id="{8CAFECD4-5F19-EDB2-E65B-1620A3BB8004}"/>
                  </a:ext>
                </a:extLst>
              </p:cNvPr>
              <p:cNvSpPr>
                <a:spLocks/>
              </p:cNvSpPr>
              <p:nvPr/>
            </p:nvSpPr>
            <p:spPr bwMode="auto">
              <a:xfrm>
                <a:off x="11025841" y="200111"/>
                <a:ext cx="33209" cy="21271"/>
              </a:xfrm>
              <a:custGeom>
                <a:avLst/>
                <a:gdLst/>
                <a:ahLst/>
                <a:cxnLst>
                  <a:cxn ang="0">
                    <a:pos x="0" y="20"/>
                  </a:cxn>
                  <a:cxn ang="0">
                    <a:pos x="36" y="0"/>
                  </a:cxn>
                  <a:cxn ang="0">
                    <a:pos x="39" y="3"/>
                  </a:cxn>
                  <a:cxn ang="0">
                    <a:pos x="3" y="23"/>
                  </a:cxn>
                  <a:cxn ang="0">
                    <a:pos x="0" y="20"/>
                  </a:cxn>
                </a:cxnLst>
                <a:rect l="0" t="0" r="r" b="b"/>
                <a:pathLst>
                  <a:path w="39" h="23">
                    <a:moveTo>
                      <a:pt x="0" y="20"/>
                    </a:moveTo>
                    <a:lnTo>
                      <a:pt x="36" y="0"/>
                    </a:lnTo>
                    <a:lnTo>
                      <a:pt x="39" y="3"/>
                    </a:lnTo>
                    <a:lnTo>
                      <a:pt x="3" y="23"/>
                    </a:lnTo>
                    <a:lnTo>
                      <a:pt x="0" y="2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8" name="Freeform 45">
                <a:extLst>
                  <a:ext uri="{FF2B5EF4-FFF2-40B4-BE49-F238E27FC236}">
                    <a16:creationId xmlns:a16="http://schemas.microsoft.com/office/drawing/2014/main" id="{FB8AB028-97A7-C2BE-64F7-B637B05D1C69}"/>
                  </a:ext>
                </a:extLst>
              </p:cNvPr>
              <p:cNvSpPr>
                <a:spLocks/>
              </p:cNvSpPr>
              <p:nvPr/>
            </p:nvSpPr>
            <p:spPr bwMode="auto">
              <a:xfrm>
                <a:off x="10753361" y="193638"/>
                <a:ext cx="520268" cy="11098"/>
              </a:xfrm>
              <a:custGeom>
                <a:avLst/>
                <a:gdLst/>
                <a:ahLst/>
                <a:cxnLst>
                  <a:cxn ang="0">
                    <a:pos x="0" y="9"/>
                  </a:cxn>
                  <a:cxn ang="0">
                    <a:pos x="210" y="7"/>
                  </a:cxn>
                  <a:cxn ang="0">
                    <a:pos x="611" y="0"/>
                  </a:cxn>
                  <a:cxn ang="0">
                    <a:pos x="611" y="3"/>
                  </a:cxn>
                  <a:cxn ang="0">
                    <a:pos x="211" y="10"/>
                  </a:cxn>
                  <a:cxn ang="0">
                    <a:pos x="1" y="12"/>
                  </a:cxn>
                  <a:cxn ang="0">
                    <a:pos x="0" y="9"/>
                  </a:cxn>
                </a:cxnLst>
                <a:rect l="0" t="0" r="r" b="b"/>
                <a:pathLst>
                  <a:path w="611" h="12">
                    <a:moveTo>
                      <a:pt x="0" y="9"/>
                    </a:moveTo>
                    <a:lnTo>
                      <a:pt x="210" y="7"/>
                    </a:lnTo>
                    <a:lnTo>
                      <a:pt x="611" y="0"/>
                    </a:lnTo>
                    <a:lnTo>
                      <a:pt x="611" y="3"/>
                    </a:lnTo>
                    <a:lnTo>
                      <a:pt x="211" y="10"/>
                    </a:lnTo>
                    <a:lnTo>
                      <a:pt x="1" y="12"/>
                    </a:lnTo>
                    <a:lnTo>
                      <a:pt x="0" y="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9" name="Rectangle 46">
                <a:extLst>
                  <a:ext uri="{FF2B5EF4-FFF2-40B4-BE49-F238E27FC236}">
                    <a16:creationId xmlns:a16="http://schemas.microsoft.com/office/drawing/2014/main" id="{639B1C73-9A02-3C3A-2D33-AA4B50B13A90}"/>
                  </a:ext>
                </a:extLst>
              </p:cNvPr>
              <p:cNvSpPr>
                <a:spLocks noChangeArrowheads="1"/>
              </p:cNvSpPr>
              <p:nvPr/>
            </p:nvSpPr>
            <p:spPr bwMode="auto">
              <a:xfrm>
                <a:off x="11260004" y="121501"/>
                <a:ext cx="27248" cy="277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0" name="Rectangle 47">
                <a:extLst>
                  <a:ext uri="{FF2B5EF4-FFF2-40B4-BE49-F238E27FC236}">
                    <a16:creationId xmlns:a16="http://schemas.microsoft.com/office/drawing/2014/main" id="{D82829A7-99C6-5999-576A-FAB2F7CEB889}"/>
                  </a:ext>
                </a:extLst>
              </p:cNvPr>
              <p:cNvSpPr>
                <a:spLocks noChangeArrowheads="1"/>
              </p:cNvSpPr>
              <p:nvPr/>
            </p:nvSpPr>
            <p:spPr bwMode="auto">
              <a:xfrm>
                <a:off x="11260856" y="125200"/>
                <a:ext cx="4258" cy="3514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1" name="Rectangle 48">
                <a:extLst>
                  <a:ext uri="{FF2B5EF4-FFF2-40B4-BE49-F238E27FC236}">
                    <a16:creationId xmlns:a16="http://schemas.microsoft.com/office/drawing/2014/main" id="{D88E150C-03F7-D6C1-1D7C-C12AD309E30E}"/>
                  </a:ext>
                </a:extLst>
              </p:cNvPr>
              <p:cNvSpPr>
                <a:spLocks noChangeArrowheads="1"/>
              </p:cNvSpPr>
              <p:nvPr/>
            </p:nvSpPr>
            <p:spPr bwMode="auto">
              <a:xfrm>
                <a:off x="11260004" y="156644"/>
                <a:ext cx="33209" cy="277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grpSp>
        <p:cxnSp>
          <p:nvCxnSpPr>
            <p:cNvPr id="33" name="直接箭头连接符 32">
              <a:extLst>
                <a:ext uri="{FF2B5EF4-FFF2-40B4-BE49-F238E27FC236}">
                  <a16:creationId xmlns:a16="http://schemas.microsoft.com/office/drawing/2014/main" id="{732F4610-6F20-6E54-514B-6CFDBCB1EC0C}"/>
                </a:ext>
              </a:extLst>
            </p:cNvPr>
            <p:cNvCxnSpPr>
              <a:cxnSpLocks/>
            </p:cNvCxnSpPr>
            <p:nvPr/>
          </p:nvCxnSpPr>
          <p:spPr>
            <a:xfrm flipV="1">
              <a:off x="2288365" y="1382356"/>
              <a:ext cx="1228725" cy="389667"/>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9944788-800D-73EA-21C7-7949CA1371D4}"/>
                </a:ext>
              </a:extLst>
            </p:cNvPr>
            <p:cNvCxnSpPr/>
            <p:nvPr/>
          </p:nvCxnSpPr>
          <p:spPr>
            <a:xfrm>
              <a:off x="233301" y="2321375"/>
              <a:ext cx="3185866" cy="0"/>
            </a:xfrm>
            <a:prstGeom prst="line">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F59E3F7-F6B9-E36C-7A95-B3A97E66FFB5}"/>
                </a:ext>
              </a:extLst>
            </p:cNvPr>
            <p:cNvCxnSpPr/>
            <p:nvPr/>
          </p:nvCxnSpPr>
          <p:spPr>
            <a:xfrm>
              <a:off x="233301" y="2675273"/>
              <a:ext cx="3185866" cy="0"/>
            </a:xfrm>
            <a:prstGeom prst="line">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4129413C-519C-99D6-4FD4-FE6AAE5E8D8C}"/>
                </a:ext>
              </a:extLst>
            </p:cNvPr>
            <p:cNvCxnSpPr/>
            <p:nvPr/>
          </p:nvCxnSpPr>
          <p:spPr>
            <a:xfrm>
              <a:off x="233301" y="2507129"/>
              <a:ext cx="3185866" cy="0"/>
            </a:xfrm>
            <a:prstGeom prst="line">
              <a:avLst/>
            </a:prstGeom>
            <a:ln w="31750">
              <a:solidFill>
                <a:srgbClr val="E67000"/>
              </a:solidFill>
              <a:prstDash val="lgDash"/>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3863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02F6C-4CDD-3385-7BFD-B29A574C88E5}"/>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3DE53A44-AC58-BE47-5470-22BF1314EE6D}"/>
              </a:ext>
            </a:extLst>
          </p:cNvPr>
          <p:cNvSpPr txBox="1"/>
          <p:nvPr/>
        </p:nvSpPr>
        <p:spPr>
          <a:xfrm>
            <a:off x="2268000" y="1260000"/>
            <a:ext cx="9772255" cy="2585323"/>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    segment = </a:t>
            </a:r>
            <a:r>
              <a:rPr lang="en-US" altLang="zh-CN" b="0" dirty="0" err="1">
                <a:solidFill>
                  <a:srgbClr val="002060"/>
                </a:solidFill>
                <a:effectLst/>
                <a:latin typeface="Consolas" panose="020B0609020204030204" pitchFamily="49" charset="0"/>
              </a:rPr>
              <a:t>Segments.Cruise.Constant_Speed_Constant_Altitude</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base_segment</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segment.tag</a:t>
            </a:r>
            <a:r>
              <a:rPr lang="en-US" altLang="zh-CN" b="0" dirty="0">
                <a:solidFill>
                  <a:srgbClr val="002060"/>
                </a:solidFill>
                <a:effectLst/>
                <a:latin typeface="Consolas" panose="020B0609020204030204" pitchFamily="49" charset="0"/>
              </a:rPr>
              <a:t> = "cruise"</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segment.analyses.extend</a:t>
            </a: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analyses.base</a:t>
            </a:r>
            <a:r>
              <a:rPr lang="en-US" altLang="zh-CN" b="0" dirty="0">
                <a:solidFill>
                  <a:srgbClr val="002060"/>
                </a:solidFill>
                <a:effectLst/>
                <a:latin typeface="Consolas" panose="020B0609020204030204" pitchFamily="49" charset="0"/>
              </a:rPr>
              <a:t> )</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segment.air_speed</a:t>
            </a:r>
            <a:r>
              <a:rPr lang="en-US" altLang="zh-CN" b="0" dirty="0">
                <a:solidFill>
                  <a:srgbClr val="002060"/>
                </a:solidFill>
                <a:effectLst/>
                <a:latin typeface="Consolas" panose="020B0609020204030204" pitchFamily="49" charset="0"/>
              </a:rPr>
              <a:t>  = 230.412 * Units['m/s']</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segment.distance</a:t>
            </a:r>
            <a:r>
              <a:rPr lang="en-US" altLang="zh-CN" b="0" dirty="0">
                <a:solidFill>
                  <a:srgbClr val="002060"/>
                </a:solidFill>
                <a:effectLst/>
                <a:latin typeface="Consolas" panose="020B0609020204030204" pitchFamily="49" charset="0"/>
              </a:rPr>
              <a:t>   = 2490. * </a:t>
            </a:r>
            <a:r>
              <a:rPr lang="en-US" altLang="zh-CN" b="0" dirty="0" err="1">
                <a:solidFill>
                  <a:srgbClr val="002060"/>
                </a:solidFill>
                <a:effectLst/>
                <a:latin typeface="Consolas" panose="020B0609020204030204" pitchFamily="49" charset="0"/>
              </a:rPr>
              <a:t>Units.nautical_miles</a:t>
            </a:r>
            <a:endParaRPr lang="en-US" altLang="zh-CN" b="0" dirty="0">
              <a:solidFill>
                <a:srgbClr val="002060"/>
              </a:solidFill>
              <a:effectLst/>
              <a:latin typeface="Consolas" panose="020B0609020204030204" pitchFamily="49" charset="0"/>
            </a:endParaRPr>
          </a:p>
          <a:p>
            <a:pPr>
              <a:buNone/>
            </a:pPr>
            <a:br>
              <a:rPr lang="en-US" altLang="zh-CN" b="0" dirty="0">
                <a:solidFill>
                  <a:srgbClr val="002060"/>
                </a:solidFill>
                <a:effectLst/>
                <a:latin typeface="Consolas" panose="020B0609020204030204" pitchFamily="49" charset="0"/>
              </a:rPr>
            </a:b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mission.append_segment</a:t>
            </a:r>
            <a:r>
              <a:rPr lang="en-US" altLang="zh-CN" b="0" dirty="0">
                <a:solidFill>
                  <a:srgbClr val="002060"/>
                </a:solidFill>
                <a:effectLst/>
                <a:latin typeface="Consolas" panose="020B0609020204030204" pitchFamily="49" charset="0"/>
              </a:rPr>
              <a:t>(segment)</a:t>
            </a:r>
          </a:p>
        </p:txBody>
      </p:sp>
      <p:sp>
        <p:nvSpPr>
          <p:cNvPr id="4" name="标题 1">
            <a:extLst>
              <a:ext uri="{FF2B5EF4-FFF2-40B4-BE49-F238E27FC236}">
                <a16:creationId xmlns:a16="http://schemas.microsoft.com/office/drawing/2014/main" id="{6AF5EF78-FBAD-3398-EBEC-AB98DE547E0E}"/>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a:t>
            </a:r>
            <a:r>
              <a:rPr lang="en-US" altLang="zh-CN"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Define the mission</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5" name="文本框 4">
            <a:extLst>
              <a:ext uri="{FF2B5EF4-FFF2-40B4-BE49-F238E27FC236}">
                <a16:creationId xmlns:a16="http://schemas.microsoft.com/office/drawing/2014/main" id="{92DCB112-FDC6-1CED-218E-94F244084D5F}"/>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Define the cruise</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grpSp>
        <p:nvGrpSpPr>
          <p:cNvPr id="34" name="组合 33">
            <a:extLst>
              <a:ext uri="{FF2B5EF4-FFF2-40B4-BE49-F238E27FC236}">
                <a16:creationId xmlns:a16="http://schemas.microsoft.com/office/drawing/2014/main" id="{2B95C3BA-0159-6EDF-BF40-89AF4508E28D}"/>
              </a:ext>
            </a:extLst>
          </p:cNvPr>
          <p:cNvGrpSpPr/>
          <p:nvPr/>
        </p:nvGrpSpPr>
        <p:grpSpPr>
          <a:xfrm flipH="1">
            <a:off x="922717" y="4820808"/>
            <a:ext cx="1650425" cy="276167"/>
            <a:chOff x="10354859" y="107628"/>
            <a:chExt cx="945165" cy="120228"/>
          </a:xfrm>
        </p:grpSpPr>
        <p:sp>
          <p:nvSpPr>
            <p:cNvPr id="35" name="Freeform 31">
              <a:extLst>
                <a:ext uri="{FF2B5EF4-FFF2-40B4-BE49-F238E27FC236}">
                  <a16:creationId xmlns:a16="http://schemas.microsoft.com/office/drawing/2014/main" id="{7B27FB55-2242-77B3-B638-6E60433F2FC3}"/>
                </a:ext>
              </a:extLst>
            </p:cNvPr>
            <p:cNvSpPr>
              <a:spLocks/>
            </p:cNvSpPr>
            <p:nvPr/>
          </p:nvSpPr>
          <p:spPr bwMode="auto">
            <a:xfrm>
              <a:off x="10354859" y="173291"/>
              <a:ext cx="736548" cy="38843"/>
            </a:xfrm>
            <a:custGeom>
              <a:avLst/>
              <a:gdLst/>
              <a:ahLst/>
              <a:cxnLst>
                <a:cxn ang="0">
                  <a:pos x="66" y="29"/>
                </a:cxn>
                <a:cxn ang="0">
                  <a:pos x="134" y="19"/>
                </a:cxn>
                <a:cxn ang="0">
                  <a:pos x="195" y="13"/>
                </a:cxn>
                <a:cxn ang="0">
                  <a:pos x="229" y="9"/>
                </a:cxn>
                <a:cxn ang="0">
                  <a:pos x="274" y="6"/>
                </a:cxn>
                <a:cxn ang="0">
                  <a:pos x="314" y="4"/>
                </a:cxn>
                <a:cxn ang="0">
                  <a:pos x="344" y="3"/>
                </a:cxn>
                <a:cxn ang="0">
                  <a:pos x="371" y="2"/>
                </a:cxn>
                <a:cxn ang="0">
                  <a:pos x="401" y="1"/>
                </a:cxn>
                <a:cxn ang="0">
                  <a:pos x="419" y="1"/>
                </a:cxn>
                <a:cxn ang="0">
                  <a:pos x="454" y="1"/>
                </a:cxn>
                <a:cxn ang="0">
                  <a:pos x="504" y="0"/>
                </a:cxn>
                <a:cxn ang="0">
                  <a:pos x="559" y="0"/>
                </a:cxn>
                <a:cxn ang="0">
                  <a:pos x="637" y="0"/>
                </a:cxn>
                <a:cxn ang="0">
                  <a:pos x="694" y="0"/>
                </a:cxn>
                <a:cxn ang="0">
                  <a:pos x="748" y="1"/>
                </a:cxn>
                <a:cxn ang="0">
                  <a:pos x="795" y="1"/>
                </a:cxn>
                <a:cxn ang="0">
                  <a:pos x="815" y="1"/>
                </a:cxn>
                <a:cxn ang="0">
                  <a:pos x="832" y="1"/>
                </a:cxn>
                <a:cxn ang="0">
                  <a:pos x="846" y="1"/>
                </a:cxn>
                <a:cxn ang="0">
                  <a:pos x="856" y="1"/>
                </a:cxn>
                <a:cxn ang="0">
                  <a:pos x="862" y="1"/>
                </a:cxn>
                <a:cxn ang="0">
                  <a:pos x="865" y="1"/>
                </a:cxn>
                <a:cxn ang="0">
                  <a:pos x="864" y="4"/>
                </a:cxn>
                <a:cxn ang="0">
                  <a:pos x="859" y="4"/>
                </a:cxn>
                <a:cxn ang="0">
                  <a:pos x="849" y="4"/>
                </a:cxn>
                <a:cxn ang="0">
                  <a:pos x="837" y="4"/>
                </a:cxn>
                <a:cxn ang="0">
                  <a:pos x="821" y="4"/>
                </a:cxn>
                <a:cxn ang="0">
                  <a:pos x="802" y="4"/>
                </a:cxn>
                <a:cxn ang="0">
                  <a:pos x="764" y="4"/>
                </a:cxn>
                <a:cxn ang="0">
                  <a:pos x="713" y="4"/>
                </a:cxn>
                <a:cxn ang="0">
                  <a:pos x="656" y="3"/>
                </a:cxn>
                <a:cxn ang="0">
                  <a:pos x="578" y="3"/>
                </a:cxn>
                <a:cxn ang="0">
                  <a:pos x="522" y="3"/>
                </a:cxn>
                <a:cxn ang="0">
                  <a:pos x="470" y="4"/>
                </a:cxn>
                <a:cxn ang="0">
                  <a:pos x="425" y="4"/>
                </a:cxn>
                <a:cxn ang="0">
                  <a:pos x="407" y="4"/>
                </a:cxn>
                <a:cxn ang="0">
                  <a:pos x="381" y="5"/>
                </a:cxn>
                <a:cxn ang="0">
                  <a:pos x="353" y="5"/>
                </a:cxn>
                <a:cxn ang="0">
                  <a:pos x="329" y="6"/>
                </a:cxn>
                <a:cxn ang="0">
                  <a:pos x="287" y="8"/>
                </a:cxn>
                <a:cxn ang="0">
                  <a:pos x="252" y="11"/>
                </a:cxn>
                <a:cxn ang="0">
                  <a:pos x="207" y="15"/>
                </a:cxn>
                <a:cxn ang="0">
                  <a:pos x="159" y="19"/>
                </a:cxn>
                <a:cxn ang="0">
                  <a:pos x="89" y="28"/>
                </a:cxn>
                <a:cxn ang="0">
                  <a:pos x="2" y="42"/>
                </a:cxn>
              </a:cxnLst>
              <a:rect l="0" t="0" r="r" b="b"/>
              <a:pathLst>
                <a:path w="865" h="42">
                  <a:moveTo>
                    <a:pt x="0" y="39"/>
                  </a:moveTo>
                  <a:lnTo>
                    <a:pt x="44" y="32"/>
                  </a:lnTo>
                  <a:lnTo>
                    <a:pt x="66" y="29"/>
                  </a:lnTo>
                  <a:lnTo>
                    <a:pt x="88" y="25"/>
                  </a:lnTo>
                  <a:lnTo>
                    <a:pt x="111" y="22"/>
                  </a:lnTo>
                  <a:lnTo>
                    <a:pt x="134" y="19"/>
                  </a:lnTo>
                  <a:lnTo>
                    <a:pt x="158" y="16"/>
                  </a:lnTo>
                  <a:lnTo>
                    <a:pt x="183" y="14"/>
                  </a:lnTo>
                  <a:lnTo>
                    <a:pt x="195" y="13"/>
                  </a:lnTo>
                  <a:lnTo>
                    <a:pt x="207" y="12"/>
                  </a:lnTo>
                  <a:lnTo>
                    <a:pt x="218" y="10"/>
                  </a:lnTo>
                  <a:lnTo>
                    <a:pt x="229" y="9"/>
                  </a:lnTo>
                  <a:lnTo>
                    <a:pt x="251" y="8"/>
                  </a:lnTo>
                  <a:lnTo>
                    <a:pt x="263" y="7"/>
                  </a:lnTo>
                  <a:lnTo>
                    <a:pt x="274" y="6"/>
                  </a:lnTo>
                  <a:lnTo>
                    <a:pt x="287" y="5"/>
                  </a:lnTo>
                  <a:lnTo>
                    <a:pt x="300" y="5"/>
                  </a:lnTo>
                  <a:lnTo>
                    <a:pt x="314" y="4"/>
                  </a:lnTo>
                  <a:lnTo>
                    <a:pt x="328" y="3"/>
                  </a:lnTo>
                  <a:lnTo>
                    <a:pt x="336" y="3"/>
                  </a:lnTo>
                  <a:lnTo>
                    <a:pt x="344" y="3"/>
                  </a:lnTo>
                  <a:lnTo>
                    <a:pt x="353" y="2"/>
                  </a:lnTo>
                  <a:lnTo>
                    <a:pt x="362" y="2"/>
                  </a:lnTo>
                  <a:lnTo>
                    <a:pt x="371" y="2"/>
                  </a:lnTo>
                  <a:lnTo>
                    <a:pt x="381" y="2"/>
                  </a:lnTo>
                  <a:lnTo>
                    <a:pt x="391" y="1"/>
                  </a:lnTo>
                  <a:lnTo>
                    <a:pt x="401" y="1"/>
                  </a:lnTo>
                  <a:lnTo>
                    <a:pt x="407" y="1"/>
                  </a:lnTo>
                  <a:lnTo>
                    <a:pt x="412" y="1"/>
                  </a:lnTo>
                  <a:lnTo>
                    <a:pt x="419" y="1"/>
                  </a:lnTo>
                  <a:lnTo>
                    <a:pt x="425" y="1"/>
                  </a:lnTo>
                  <a:lnTo>
                    <a:pt x="439" y="1"/>
                  </a:lnTo>
                  <a:lnTo>
                    <a:pt x="454" y="1"/>
                  </a:lnTo>
                  <a:lnTo>
                    <a:pt x="469" y="1"/>
                  </a:lnTo>
                  <a:lnTo>
                    <a:pt x="486" y="0"/>
                  </a:lnTo>
                  <a:lnTo>
                    <a:pt x="504" y="0"/>
                  </a:lnTo>
                  <a:lnTo>
                    <a:pt x="521" y="0"/>
                  </a:lnTo>
                  <a:lnTo>
                    <a:pt x="540" y="0"/>
                  </a:lnTo>
                  <a:lnTo>
                    <a:pt x="559" y="0"/>
                  </a:lnTo>
                  <a:lnTo>
                    <a:pt x="578" y="0"/>
                  </a:lnTo>
                  <a:lnTo>
                    <a:pt x="598" y="0"/>
                  </a:lnTo>
                  <a:lnTo>
                    <a:pt x="637" y="0"/>
                  </a:lnTo>
                  <a:lnTo>
                    <a:pt x="656" y="0"/>
                  </a:lnTo>
                  <a:lnTo>
                    <a:pt x="676" y="0"/>
                  </a:lnTo>
                  <a:lnTo>
                    <a:pt x="694" y="0"/>
                  </a:lnTo>
                  <a:lnTo>
                    <a:pt x="713" y="1"/>
                  </a:lnTo>
                  <a:lnTo>
                    <a:pt x="731" y="1"/>
                  </a:lnTo>
                  <a:lnTo>
                    <a:pt x="748" y="1"/>
                  </a:lnTo>
                  <a:lnTo>
                    <a:pt x="764" y="1"/>
                  </a:lnTo>
                  <a:lnTo>
                    <a:pt x="780" y="1"/>
                  </a:lnTo>
                  <a:lnTo>
                    <a:pt x="795" y="1"/>
                  </a:lnTo>
                  <a:lnTo>
                    <a:pt x="802" y="1"/>
                  </a:lnTo>
                  <a:lnTo>
                    <a:pt x="808" y="1"/>
                  </a:lnTo>
                  <a:lnTo>
                    <a:pt x="815" y="1"/>
                  </a:lnTo>
                  <a:lnTo>
                    <a:pt x="821" y="1"/>
                  </a:lnTo>
                  <a:lnTo>
                    <a:pt x="826" y="1"/>
                  </a:lnTo>
                  <a:lnTo>
                    <a:pt x="832" y="1"/>
                  </a:lnTo>
                  <a:lnTo>
                    <a:pt x="837" y="1"/>
                  </a:lnTo>
                  <a:lnTo>
                    <a:pt x="841" y="1"/>
                  </a:lnTo>
                  <a:lnTo>
                    <a:pt x="846" y="1"/>
                  </a:lnTo>
                  <a:lnTo>
                    <a:pt x="849" y="1"/>
                  </a:lnTo>
                  <a:lnTo>
                    <a:pt x="853" y="1"/>
                  </a:lnTo>
                  <a:lnTo>
                    <a:pt x="856" y="1"/>
                  </a:lnTo>
                  <a:lnTo>
                    <a:pt x="859" y="1"/>
                  </a:lnTo>
                  <a:lnTo>
                    <a:pt x="861" y="1"/>
                  </a:lnTo>
                  <a:lnTo>
                    <a:pt x="862" y="1"/>
                  </a:lnTo>
                  <a:lnTo>
                    <a:pt x="864" y="1"/>
                  </a:lnTo>
                  <a:lnTo>
                    <a:pt x="864" y="1"/>
                  </a:lnTo>
                  <a:lnTo>
                    <a:pt x="865" y="1"/>
                  </a:lnTo>
                  <a:lnTo>
                    <a:pt x="865" y="4"/>
                  </a:lnTo>
                  <a:lnTo>
                    <a:pt x="864" y="4"/>
                  </a:lnTo>
                  <a:lnTo>
                    <a:pt x="864" y="4"/>
                  </a:lnTo>
                  <a:lnTo>
                    <a:pt x="862" y="4"/>
                  </a:lnTo>
                  <a:lnTo>
                    <a:pt x="861" y="4"/>
                  </a:lnTo>
                  <a:lnTo>
                    <a:pt x="859" y="4"/>
                  </a:lnTo>
                  <a:lnTo>
                    <a:pt x="856" y="4"/>
                  </a:lnTo>
                  <a:lnTo>
                    <a:pt x="853" y="4"/>
                  </a:lnTo>
                  <a:lnTo>
                    <a:pt x="849" y="4"/>
                  </a:lnTo>
                  <a:lnTo>
                    <a:pt x="845" y="4"/>
                  </a:lnTo>
                  <a:lnTo>
                    <a:pt x="841" y="4"/>
                  </a:lnTo>
                  <a:lnTo>
                    <a:pt x="837" y="4"/>
                  </a:lnTo>
                  <a:lnTo>
                    <a:pt x="832" y="4"/>
                  </a:lnTo>
                  <a:lnTo>
                    <a:pt x="826" y="4"/>
                  </a:lnTo>
                  <a:lnTo>
                    <a:pt x="821" y="4"/>
                  </a:lnTo>
                  <a:lnTo>
                    <a:pt x="815" y="4"/>
                  </a:lnTo>
                  <a:lnTo>
                    <a:pt x="808" y="4"/>
                  </a:lnTo>
                  <a:lnTo>
                    <a:pt x="802" y="4"/>
                  </a:lnTo>
                  <a:lnTo>
                    <a:pt x="795" y="4"/>
                  </a:lnTo>
                  <a:lnTo>
                    <a:pt x="780" y="4"/>
                  </a:lnTo>
                  <a:lnTo>
                    <a:pt x="764" y="4"/>
                  </a:lnTo>
                  <a:lnTo>
                    <a:pt x="748" y="4"/>
                  </a:lnTo>
                  <a:lnTo>
                    <a:pt x="731" y="4"/>
                  </a:lnTo>
                  <a:lnTo>
                    <a:pt x="713" y="4"/>
                  </a:lnTo>
                  <a:lnTo>
                    <a:pt x="694" y="3"/>
                  </a:lnTo>
                  <a:lnTo>
                    <a:pt x="676" y="3"/>
                  </a:lnTo>
                  <a:lnTo>
                    <a:pt x="656" y="3"/>
                  </a:lnTo>
                  <a:lnTo>
                    <a:pt x="637" y="3"/>
                  </a:lnTo>
                  <a:lnTo>
                    <a:pt x="598" y="3"/>
                  </a:lnTo>
                  <a:lnTo>
                    <a:pt x="578" y="3"/>
                  </a:lnTo>
                  <a:lnTo>
                    <a:pt x="559" y="3"/>
                  </a:lnTo>
                  <a:lnTo>
                    <a:pt x="540" y="3"/>
                  </a:lnTo>
                  <a:lnTo>
                    <a:pt x="522" y="3"/>
                  </a:lnTo>
                  <a:lnTo>
                    <a:pt x="504" y="3"/>
                  </a:lnTo>
                  <a:lnTo>
                    <a:pt x="486" y="3"/>
                  </a:lnTo>
                  <a:lnTo>
                    <a:pt x="470" y="4"/>
                  </a:lnTo>
                  <a:lnTo>
                    <a:pt x="454" y="4"/>
                  </a:lnTo>
                  <a:lnTo>
                    <a:pt x="439" y="4"/>
                  </a:lnTo>
                  <a:lnTo>
                    <a:pt x="425" y="4"/>
                  </a:lnTo>
                  <a:lnTo>
                    <a:pt x="419" y="4"/>
                  </a:lnTo>
                  <a:lnTo>
                    <a:pt x="413" y="4"/>
                  </a:lnTo>
                  <a:lnTo>
                    <a:pt x="407" y="4"/>
                  </a:lnTo>
                  <a:lnTo>
                    <a:pt x="401" y="4"/>
                  </a:lnTo>
                  <a:lnTo>
                    <a:pt x="391" y="4"/>
                  </a:lnTo>
                  <a:lnTo>
                    <a:pt x="381" y="5"/>
                  </a:lnTo>
                  <a:lnTo>
                    <a:pt x="371" y="5"/>
                  </a:lnTo>
                  <a:lnTo>
                    <a:pt x="362" y="5"/>
                  </a:lnTo>
                  <a:lnTo>
                    <a:pt x="353" y="5"/>
                  </a:lnTo>
                  <a:lnTo>
                    <a:pt x="345" y="6"/>
                  </a:lnTo>
                  <a:lnTo>
                    <a:pt x="337" y="6"/>
                  </a:lnTo>
                  <a:lnTo>
                    <a:pt x="329" y="6"/>
                  </a:lnTo>
                  <a:lnTo>
                    <a:pt x="314" y="7"/>
                  </a:lnTo>
                  <a:lnTo>
                    <a:pt x="300" y="7"/>
                  </a:lnTo>
                  <a:lnTo>
                    <a:pt x="287" y="8"/>
                  </a:lnTo>
                  <a:lnTo>
                    <a:pt x="275" y="9"/>
                  </a:lnTo>
                  <a:lnTo>
                    <a:pt x="263" y="10"/>
                  </a:lnTo>
                  <a:lnTo>
                    <a:pt x="252" y="11"/>
                  </a:lnTo>
                  <a:lnTo>
                    <a:pt x="230" y="12"/>
                  </a:lnTo>
                  <a:lnTo>
                    <a:pt x="219" y="13"/>
                  </a:lnTo>
                  <a:lnTo>
                    <a:pt x="207" y="15"/>
                  </a:lnTo>
                  <a:lnTo>
                    <a:pt x="196" y="16"/>
                  </a:lnTo>
                  <a:lnTo>
                    <a:pt x="184" y="17"/>
                  </a:lnTo>
                  <a:lnTo>
                    <a:pt x="159" y="19"/>
                  </a:lnTo>
                  <a:lnTo>
                    <a:pt x="135" y="22"/>
                  </a:lnTo>
                  <a:lnTo>
                    <a:pt x="112" y="25"/>
                  </a:lnTo>
                  <a:lnTo>
                    <a:pt x="89" y="28"/>
                  </a:lnTo>
                  <a:lnTo>
                    <a:pt x="67" y="31"/>
                  </a:lnTo>
                  <a:lnTo>
                    <a:pt x="45" y="35"/>
                  </a:lnTo>
                  <a:lnTo>
                    <a:pt x="2" y="42"/>
                  </a:lnTo>
                  <a:lnTo>
                    <a:pt x="0" y="3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6" name="Freeform 32">
              <a:extLst>
                <a:ext uri="{FF2B5EF4-FFF2-40B4-BE49-F238E27FC236}">
                  <a16:creationId xmlns:a16="http://schemas.microsoft.com/office/drawing/2014/main" id="{6FDE6708-9F43-C639-38DD-25B0CDEF2EF0}"/>
                </a:ext>
              </a:extLst>
            </p:cNvPr>
            <p:cNvSpPr>
              <a:spLocks/>
            </p:cNvSpPr>
            <p:nvPr/>
          </p:nvSpPr>
          <p:spPr bwMode="auto">
            <a:xfrm>
              <a:off x="11090556" y="108553"/>
              <a:ext cx="137092" cy="66588"/>
            </a:xfrm>
            <a:custGeom>
              <a:avLst/>
              <a:gdLst/>
              <a:ahLst/>
              <a:cxnLst>
                <a:cxn ang="0">
                  <a:pos x="0" y="69"/>
                </a:cxn>
                <a:cxn ang="0">
                  <a:pos x="21" y="65"/>
                </a:cxn>
                <a:cxn ang="0">
                  <a:pos x="32" y="63"/>
                </a:cxn>
                <a:cxn ang="0">
                  <a:pos x="42" y="60"/>
                </a:cxn>
                <a:cxn ang="0">
                  <a:pos x="53" y="58"/>
                </a:cxn>
                <a:cxn ang="0">
                  <a:pos x="63" y="54"/>
                </a:cxn>
                <a:cxn ang="0">
                  <a:pos x="73" y="51"/>
                </a:cxn>
                <a:cxn ang="0">
                  <a:pos x="83" y="47"/>
                </a:cxn>
                <a:cxn ang="0">
                  <a:pos x="88" y="45"/>
                </a:cxn>
                <a:cxn ang="0">
                  <a:pos x="93" y="42"/>
                </a:cxn>
                <a:cxn ang="0">
                  <a:pos x="99" y="38"/>
                </a:cxn>
                <a:cxn ang="0">
                  <a:pos x="105" y="35"/>
                </a:cxn>
                <a:cxn ang="0">
                  <a:pos x="111" y="31"/>
                </a:cxn>
                <a:cxn ang="0">
                  <a:pos x="118" y="27"/>
                </a:cxn>
                <a:cxn ang="0">
                  <a:pos x="124" y="23"/>
                </a:cxn>
                <a:cxn ang="0">
                  <a:pos x="130" y="19"/>
                </a:cxn>
                <a:cxn ang="0">
                  <a:pos x="135" y="15"/>
                </a:cxn>
                <a:cxn ang="0">
                  <a:pos x="141" y="12"/>
                </a:cxn>
                <a:cxn ang="0">
                  <a:pos x="145" y="8"/>
                </a:cxn>
                <a:cxn ang="0">
                  <a:pos x="149" y="6"/>
                </a:cxn>
                <a:cxn ang="0">
                  <a:pos x="153" y="3"/>
                </a:cxn>
                <a:cxn ang="0">
                  <a:pos x="155" y="1"/>
                </a:cxn>
                <a:cxn ang="0">
                  <a:pos x="156" y="1"/>
                </a:cxn>
                <a:cxn ang="0">
                  <a:pos x="157" y="0"/>
                </a:cxn>
                <a:cxn ang="0">
                  <a:pos x="157" y="0"/>
                </a:cxn>
                <a:cxn ang="0">
                  <a:pos x="158" y="0"/>
                </a:cxn>
                <a:cxn ang="0">
                  <a:pos x="161" y="2"/>
                </a:cxn>
                <a:cxn ang="0">
                  <a:pos x="161" y="2"/>
                </a:cxn>
                <a:cxn ang="0">
                  <a:pos x="160" y="2"/>
                </a:cxn>
                <a:cxn ang="0">
                  <a:pos x="160" y="3"/>
                </a:cxn>
                <a:cxn ang="0">
                  <a:pos x="159" y="3"/>
                </a:cxn>
                <a:cxn ang="0">
                  <a:pos x="156" y="5"/>
                </a:cxn>
                <a:cxn ang="0">
                  <a:pos x="153" y="8"/>
                </a:cxn>
                <a:cxn ang="0">
                  <a:pos x="149" y="10"/>
                </a:cxn>
                <a:cxn ang="0">
                  <a:pos x="144" y="14"/>
                </a:cxn>
                <a:cxn ang="0">
                  <a:pos x="139" y="17"/>
                </a:cxn>
                <a:cxn ang="0">
                  <a:pos x="133" y="21"/>
                </a:cxn>
                <a:cxn ang="0">
                  <a:pos x="127" y="25"/>
                </a:cxn>
                <a:cxn ang="0">
                  <a:pos x="121" y="29"/>
                </a:cxn>
                <a:cxn ang="0">
                  <a:pos x="115" y="33"/>
                </a:cxn>
                <a:cxn ang="0">
                  <a:pos x="108" y="37"/>
                </a:cxn>
                <a:cxn ang="0">
                  <a:pos x="102" y="41"/>
                </a:cxn>
                <a:cxn ang="0">
                  <a:pos x="96" y="44"/>
                </a:cxn>
                <a:cxn ang="0">
                  <a:pos x="91" y="47"/>
                </a:cxn>
                <a:cxn ang="0">
                  <a:pos x="85" y="49"/>
                </a:cxn>
                <a:cxn ang="0">
                  <a:pos x="75" y="54"/>
                </a:cxn>
                <a:cxn ang="0">
                  <a:pos x="65" y="57"/>
                </a:cxn>
                <a:cxn ang="0">
                  <a:pos x="55" y="60"/>
                </a:cxn>
                <a:cxn ang="0">
                  <a:pos x="44" y="63"/>
                </a:cxn>
                <a:cxn ang="0">
                  <a:pos x="33" y="66"/>
                </a:cxn>
                <a:cxn ang="0">
                  <a:pos x="23" y="68"/>
                </a:cxn>
                <a:cxn ang="0">
                  <a:pos x="2" y="72"/>
                </a:cxn>
                <a:cxn ang="0">
                  <a:pos x="0" y="69"/>
                </a:cxn>
              </a:cxnLst>
              <a:rect l="0" t="0" r="r" b="b"/>
              <a:pathLst>
                <a:path w="161" h="72">
                  <a:moveTo>
                    <a:pt x="0" y="69"/>
                  </a:moveTo>
                  <a:lnTo>
                    <a:pt x="21" y="65"/>
                  </a:lnTo>
                  <a:lnTo>
                    <a:pt x="32" y="63"/>
                  </a:lnTo>
                  <a:lnTo>
                    <a:pt x="42" y="60"/>
                  </a:lnTo>
                  <a:lnTo>
                    <a:pt x="53" y="58"/>
                  </a:lnTo>
                  <a:lnTo>
                    <a:pt x="63" y="54"/>
                  </a:lnTo>
                  <a:lnTo>
                    <a:pt x="73" y="51"/>
                  </a:lnTo>
                  <a:lnTo>
                    <a:pt x="83" y="47"/>
                  </a:lnTo>
                  <a:lnTo>
                    <a:pt x="88" y="45"/>
                  </a:lnTo>
                  <a:lnTo>
                    <a:pt x="93" y="42"/>
                  </a:lnTo>
                  <a:lnTo>
                    <a:pt x="99" y="38"/>
                  </a:lnTo>
                  <a:lnTo>
                    <a:pt x="105" y="35"/>
                  </a:lnTo>
                  <a:lnTo>
                    <a:pt x="111" y="31"/>
                  </a:lnTo>
                  <a:lnTo>
                    <a:pt x="118" y="27"/>
                  </a:lnTo>
                  <a:lnTo>
                    <a:pt x="124" y="23"/>
                  </a:lnTo>
                  <a:lnTo>
                    <a:pt x="130" y="19"/>
                  </a:lnTo>
                  <a:lnTo>
                    <a:pt x="135" y="15"/>
                  </a:lnTo>
                  <a:lnTo>
                    <a:pt x="141" y="12"/>
                  </a:lnTo>
                  <a:lnTo>
                    <a:pt x="145" y="8"/>
                  </a:lnTo>
                  <a:lnTo>
                    <a:pt x="149" y="6"/>
                  </a:lnTo>
                  <a:lnTo>
                    <a:pt x="153" y="3"/>
                  </a:lnTo>
                  <a:lnTo>
                    <a:pt x="155" y="1"/>
                  </a:lnTo>
                  <a:lnTo>
                    <a:pt x="156" y="1"/>
                  </a:lnTo>
                  <a:lnTo>
                    <a:pt x="157" y="0"/>
                  </a:lnTo>
                  <a:lnTo>
                    <a:pt x="157" y="0"/>
                  </a:lnTo>
                  <a:lnTo>
                    <a:pt x="158" y="0"/>
                  </a:lnTo>
                  <a:lnTo>
                    <a:pt x="161" y="2"/>
                  </a:lnTo>
                  <a:lnTo>
                    <a:pt x="161" y="2"/>
                  </a:lnTo>
                  <a:lnTo>
                    <a:pt x="160" y="2"/>
                  </a:lnTo>
                  <a:lnTo>
                    <a:pt x="160" y="3"/>
                  </a:lnTo>
                  <a:lnTo>
                    <a:pt x="159" y="3"/>
                  </a:lnTo>
                  <a:lnTo>
                    <a:pt x="156" y="5"/>
                  </a:lnTo>
                  <a:lnTo>
                    <a:pt x="153" y="8"/>
                  </a:lnTo>
                  <a:lnTo>
                    <a:pt x="149" y="10"/>
                  </a:lnTo>
                  <a:lnTo>
                    <a:pt x="144" y="14"/>
                  </a:lnTo>
                  <a:lnTo>
                    <a:pt x="139" y="17"/>
                  </a:lnTo>
                  <a:lnTo>
                    <a:pt x="133" y="21"/>
                  </a:lnTo>
                  <a:lnTo>
                    <a:pt x="127" y="25"/>
                  </a:lnTo>
                  <a:lnTo>
                    <a:pt x="121" y="29"/>
                  </a:lnTo>
                  <a:lnTo>
                    <a:pt x="115" y="33"/>
                  </a:lnTo>
                  <a:lnTo>
                    <a:pt x="108" y="37"/>
                  </a:lnTo>
                  <a:lnTo>
                    <a:pt x="102" y="41"/>
                  </a:lnTo>
                  <a:lnTo>
                    <a:pt x="96" y="44"/>
                  </a:lnTo>
                  <a:lnTo>
                    <a:pt x="91" y="47"/>
                  </a:lnTo>
                  <a:lnTo>
                    <a:pt x="85" y="49"/>
                  </a:lnTo>
                  <a:lnTo>
                    <a:pt x="75" y="54"/>
                  </a:lnTo>
                  <a:lnTo>
                    <a:pt x="65" y="57"/>
                  </a:lnTo>
                  <a:lnTo>
                    <a:pt x="55" y="60"/>
                  </a:lnTo>
                  <a:lnTo>
                    <a:pt x="44" y="63"/>
                  </a:lnTo>
                  <a:lnTo>
                    <a:pt x="33" y="66"/>
                  </a:lnTo>
                  <a:lnTo>
                    <a:pt x="23" y="68"/>
                  </a:lnTo>
                  <a:lnTo>
                    <a:pt x="2" y="72"/>
                  </a:lnTo>
                  <a:lnTo>
                    <a:pt x="0" y="6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7" name="Freeform 33">
              <a:extLst>
                <a:ext uri="{FF2B5EF4-FFF2-40B4-BE49-F238E27FC236}">
                  <a16:creationId xmlns:a16="http://schemas.microsoft.com/office/drawing/2014/main" id="{4BBBA08C-3E78-818E-2A89-A421A00F3D5A}"/>
                </a:ext>
              </a:extLst>
            </p:cNvPr>
            <p:cNvSpPr>
              <a:spLocks/>
            </p:cNvSpPr>
            <p:nvPr/>
          </p:nvSpPr>
          <p:spPr bwMode="auto">
            <a:xfrm>
              <a:off x="11225944" y="107628"/>
              <a:ext cx="61308" cy="7399"/>
            </a:xfrm>
            <a:custGeom>
              <a:avLst/>
              <a:gdLst/>
              <a:ahLst/>
              <a:cxnLst>
                <a:cxn ang="0">
                  <a:pos x="1" y="0"/>
                </a:cxn>
                <a:cxn ang="0">
                  <a:pos x="72" y="5"/>
                </a:cxn>
                <a:cxn ang="0">
                  <a:pos x="71" y="8"/>
                </a:cxn>
                <a:cxn ang="0">
                  <a:pos x="0" y="3"/>
                </a:cxn>
                <a:cxn ang="0">
                  <a:pos x="1" y="0"/>
                </a:cxn>
              </a:cxnLst>
              <a:rect l="0" t="0" r="r" b="b"/>
              <a:pathLst>
                <a:path w="72" h="8">
                  <a:moveTo>
                    <a:pt x="1" y="0"/>
                  </a:moveTo>
                  <a:lnTo>
                    <a:pt x="72" y="5"/>
                  </a:lnTo>
                  <a:lnTo>
                    <a:pt x="71" y="8"/>
                  </a:lnTo>
                  <a:lnTo>
                    <a:pt x="0" y="3"/>
                  </a:lnTo>
                  <a:lnTo>
                    <a:pt x="1"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8" name="Freeform 34">
              <a:extLst>
                <a:ext uri="{FF2B5EF4-FFF2-40B4-BE49-F238E27FC236}">
                  <a16:creationId xmlns:a16="http://schemas.microsoft.com/office/drawing/2014/main" id="{21A3AF58-E8CB-612B-4B93-614CBB3AB343}"/>
                </a:ext>
              </a:extLst>
            </p:cNvPr>
            <p:cNvSpPr>
              <a:spLocks/>
            </p:cNvSpPr>
            <p:nvPr/>
          </p:nvSpPr>
          <p:spPr bwMode="auto">
            <a:xfrm>
              <a:off x="10358264" y="206585"/>
              <a:ext cx="915364" cy="21271"/>
            </a:xfrm>
            <a:custGeom>
              <a:avLst/>
              <a:gdLst/>
              <a:ahLst/>
              <a:cxnLst>
                <a:cxn ang="0">
                  <a:pos x="27" y="6"/>
                </a:cxn>
                <a:cxn ang="0">
                  <a:pos x="56" y="10"/>
                </a:cxn>
                <a:cxn ang="0">
                  <a:pos x="86" y="12"/>
                </a:cxn>
                <a:cxn ang="0">
                  <a:pos x="107" y="14"/>
                </a:cxn>
                <a:cxn ang="0">
                  <a:pos x="131" y="15"/>
                </a:cxn>
                <a:cxn ang="0">
                  <a:pos x="159" y="16"/>
                </a:cxn>
                <a:cxn ang="0">
                  <a:pos x="191" y="17"/>
                </a:cxn>
                <a:cxn ang="0">
                  <a:pos x="227" y="18"/>
                </a:cxn>
                <a:cxn ang="0">
                  <a:pos x="270" y="19"/>
                </a:cxn>
                <a:cxn ang="0">
                  <a:pos x="322" y="19"/>
                </a:cxn>
                <a:cxn ang="0">
                  <a:pos x="379" y="19"/>
                </a:cxn>
                <a:cxn ang="0">
                  <a:pos x="441" y="20"/>
                </a:cxn>
                <a:cxn ang="0">
                  <a:pos x="570" y="20"/>
                </a:cxn>
                <a:cxn ang="0">
                  <a:pos x="655" y="20"/>
                </a:cxn>
                <a:cxn ang="0">
                  <a:pos x="713" y="19"/>
                </a:cxn>
                <a:cxn ang="0">
                  <a:pos x="767" y="19"/>
                </a:cxn>
                <a:cxn ang="0">
                  <a:pos x="812" y="18"/>
                </a:cxn>
                <a:cxn ang="0">
                  <a:pos x="849" y="17"/>
                </a:cxn>
                <a:cxn ang="0">
                  <a:pos x="881" y="16"/>
                </a:cxn>
                <a:cxn ang="0">
                  <a:pos x="908" y="15"/>
                </a:cxn>
                <a:cxn ang="0">
                  <a:pos x="931" y="13"/>
                </a:cxn>
                <a:cxn ang="0">
                  <a:pos x="951" y="12"/>
                </a:cxn>
                <a:cxn ang="0">
                  <a:pos x="973" y="9"/>
                </a:cxn>
                <a:cxn ang="0">
                  <a:pos x="1000" y="6"/>
                </a:cxn>
                <a:cxn ang="0">
                  <a:pos x="1031" y="3"/>
                </a:cxn>
                <a:cxn ang="0">
                  <a:pos x="1050" y="2"/>
                </a:cxn>
                <a:cxn ang="0">
                  <a:pos x="1063" y="1"/>
                </a:cxn>
                <a:cxn ang="0">
                  <a:pos x="1070" y="1"/>
                </a:cxn>
                <a:cxn ang="0">
                  <a:pos x="1074" y="0"/>
                </a:cxn>
                <a:cxn ang="0">
                  <a:pos x="1075" y="3"/>
                </a:cxn>
                <a:cxn ang="0">
                  <a:pos x="1073" y="3"/>
                </a:cxn>
                <a:cxn ang="0">
                  <a:pos x="1069" y="4"/>
                </a:cxn>
                <a:cxn ang="0">
                  <a:pos x="1060" y="4"/>
                </a:cxn>
                <a:cxn ang="0">
                  <a:pos x="1045" y="5"/>
                </a:cxn>
                <a:cxn ang="0">
                  <a:pos x="1016" y="7"/>
                </a:cxn>
                <a:cxn ang="0">
                  <a:pos x="992" y="10"/>
                </a:cxn>
                <a:cxn ang="0">
                  <a:pos x="963" y="14"/>
                </a:cxn>
                <a:cxn ang="0">
                  <a:pos x="945" y="15"/>
                </a:cxn>
                <a:cxn ang="0">
                  <a:pos x="924" y="17"/>
                </a:cxn>
                <a:cxn ang="0">
                  <a:pos x="900" y="18"/>
                </a:cxn>
                <a:cxn ang="0">
                  <a:pos x="871" y="20"/>
                </a:cxn>
                <a:cxn ang="0">
                  <a:pos x="837" y="21"/>
                </a:cxn>
                <a:cxn ang="0">
                  <a:pos x="798" y="21"/>
                </a:cxn>
                <a:cxn ang="0">
                  <a:pos x="750" y="22"/>
                </a:cxn>
                <a:cxn ang="0">
                  <a:pos x="694" y="22"/>
                </a:cxn>
                <a:cxn ang="0">
                  <a:pos x="634" y="23"/>
                </a:cxn>
                <a:cxn ang="0">
                  <a:pos x="527" y="23"/>
                </a:cxn>
                <a:cxn ang="0">
                  <a:pos x="420" y="23"/>
                </a:cxn>
                <a:cxn ang="0">
                  <a:pos x="359" y="22"/>
                </a:cxn>
                <a:cxn ang="0">
                  <a:pos x="304" y="22"/>
                </a:cxn>
                <a:cxn ang="0">
                  <a:pos x="255" y="21"/>
                </a:cxn>
                <a:cxn ang="0">
                  <a:pos x="214" y="21"/>
                </a:cxn>
                <a:cxn ang="0">
                  <a:pos x="179" y="20"/>
                </a:cxn>
                <a:cxn ang="0">
                  <a:pos x="149" y="19"/>
                </a:cxn>
                <a:cxn ang="0">
                  <a:pos x="122" y="18"/>
                </a:cxn>
                <a:cxn ang="0">
                  <a:pos x="99" y="16"/>
                </a:cxn>
                <a:cxn ang="0">
                  <a:pos x="79" y="15"/>
                </a:cxn>
                <a:cxn ang="0">
                  <a:pos x="45" y="12"/>
                </a:cxn>
                <a:cxn ang="0">
                  <a:pos x="17" y="8"/>
                </a:cxn>
              </a:cxnLst>
              <a:rect l="0" t="0" r="r" b="b"/>
              <a:pathLst>
                <a:path w="1075" h="23">
                  <a:moveTo>
                    <a:pt x="2" y="3"/>
                  </a:moveTo>
                  <a:lnTo>
                    <a:pt x="18" y="5"/>
                  </a:lnTo>
                  <a:lnTo>
                    <a:pt x="27" y="6"/>
                  </a:lnTo>
                  <a:lnTo>
                    <a:pt x="36" y="8"/>
                  </a:lnTo>
                  <a:lnTo>
                    <a:pt x="46" y="9"/>
                  </a:lnTo>
                  <a:lnTo>
                    <a:pt x="56" y="10"/>
                  </a:lnTo>
                  <a:lnTo>
                    <a:pt x="67" y="11"/>
                  </a:lnTo>
                  <a:lnTo>
                    <a:pt x="79" y="12"/>
                  </a:lnTo>
                  <a:lnTo>
                    <a:pt x="86" y="12"/>
                  </a:lnTo>
                  <a:lnTo>
                    <a:pt x="92" y="13"/>
                  </a:lnTo>
                  <a:lnTo>
                    <a:pt x="99" y="13"/>
                  </a:lnTo>
                  <a:lnTo>
                    <a:pt x="107" y="14"/>
                  </a:lnTo>
                  <a:lnTo>
                    <a:pt x="115" y="14"/>
                  </a:lnTo>
                  <a:lnTo>
                    <a:pt x="123" y="15"/>
                  </a:lnTo>
                  <a:lnTo>
                    <a:pt x="131" y="15"/>
                  </a:lnTo>
                  <a:lnTo>
                    <a:pt x="140" y="15"/>
                  </a:lnTo>
                  <a:lnTo>
                    <a:pt x="149" y="16"/>
                  </a:lnTo>
                  <a:lnTo>
                    <a:pt x="159" y="16"/>
                  </a:lnTo>
                  <a:lnTo>
                    <a:pt x="169" y="17"/>
                  </a:lnTo>
                  <a:lnTo>
                    <a:pt x="180" y="17"/>
                  </a:lnTo>
                  <a:lnTo>
                    <a:pt x="191" y="17"/>
                  </a:lnTo>
                  <a:lnTo>
                    <a:pt x="202" y="17"/>
                  </a:lnTo>
                  <a:lnTo>
                    <a:pt x="214" y="18"/>
                  </a:lnTo>
                  <a:lnTo>
                    <a:pt x="227" y="18"/>
                  </a:lnTo>
                  <a:lnTo>
                    <a:pt x="240" y="18"/>
                  </a:lnTo>
                  <a:lnTo>
                    <a:pt x="255" y="18"/>
                  </a:lnTo>
                  <a:lnTo>
                    <a:pt x="270" y="19"/>
                  </a:lnTo>
                  <a:lnTo>
                    <a:pt x="286" y="19"/>
                  </a:lnTo>
                  <a:lnTo>
                    <a:pt x="304" y="19"/>
                  </a:lnTo>
                  <a:lnTo>
                    <a:pt x="322" y="19"/>
                  </a:lnTo>
                  <a:lnTo>
                    <a:pt x="340" y="19"/>
                  </a:lnTo>
                  <a:lnTo>
                    <a:pt x="359" y="19"/>
                  </a:lnTo>
                  <a:lnTo>
                    <a:pt x="379" y="19"/>
                  </a:lnTo>
                  <a:lnTo>
                    <a:pt x="400" y="20"/>
                  </a:lnTo>
                  <a:lnTo>
                    <a:pt x="420" y="20"/>
                  </a:lnTo>
                  <a:lnTo>
                    <a:pt x="441" y="20"/>
                  </a:lnTo>
                  <a:lnTo>
                    <a:pt x="484" y="20"/>
                  </a:lnTo>
                  <a:lnTo>
                    <a:pt x="527" y="20"/>
                  </a:lnTo>
                  <a:lnTo>
                    <a:pt x="570" y="20"/>
                  </a:lnTo>
                  <a:lnTo>
                    <a:pt x="613" y="20"/>
                  </a:lnTo>
                  <a:lnTo>
                    <a:pt x="634" y="20"/>
                  </a:lnTo>
                  <a:lnTo>
                    <a:pt x="655" y="20"/>
                  </a:lnTo>
                  <a:lnTo>
                    <a:pt x="675" y="19"/>
                  </a:lnTo>
                  <a:lnTo>
                    <a:pt x="694" y="19"/>
                  </a:lnTo>
                  <a:lnTo>
                    <a:pt x="713" y="19"/>
                  </a:lnTo>
                  <a:lnTo>
                    <a:pt x="732" y="19"/>
                  </a:lnTo>
                  <a:lnTo>
                    <a:pt x="750" y="19"/>
                  </a:lnTo>
                  <a:lnTo>
                    <a:pt x="767" y="19"/>
                  </a:lnTo>
                  <a:lnTo>
                    <a:pt x="783" y="19"/>
                  </a:lnTo>
                  <a:lnTo>
                    <a:pt x="798" y="18"/>
                  </a:lnTo>
                  <a:lnTo>
                    <a:pt x="812" y="18"/>
                  </a:lnTo>
                  <a:lnTo>
                    <a:pt x="825" y="18"/>
                  </a:lnTo>
                  <a:lnTo>
                    <a:pt x="837" y="18"/>
                  </a:lnTo>
                  <a:lnTo>
                    <a:pt x="849" y="17"/>
                  </a:lnTo>
                  <a:lnTo>
                    <a:pt x="860" y="17"/>
                  </a:lnTo>
                  <a:lnTo>
                    <a:pt x="871" y="17"/>
                  </a:lnTo>
                  <a:lnTo>
                    <a:pt x="881" y="16"/>
                  </a:lnTo>
                  <a:lnTo>
                    <a:pt x="890" y="16"/>
                  </a:lnTo>
                  <a:lnTo>
                    <a:pt x="899" y="15"/>
                  </a:lnTo>
                  <a:lnTo>
                    <a:pt x="908" y="15"/>
                  </a:lnTo>
                  <a:lnTo>
                    <a:pt x="916" y="14"/>
                  </a:lnTo>
                  <a:lnTo>
                    <a:pt x="924" y="14"/>
                  </a:lnTo>
                  <a:lnTo>
                    <a:pt x="931" y="13"/>
                  </a:lnTo>
                  <a:lnTo>
                    <a:pt x="938" y="13"/>
                  </a:lnTo>
                  <a:lnTo>
                    <a:pt x="945" y="12"/>
                  </a:lnTo>
                  <a:lnTo>
                    <a:pt x="951" y="12"/>
                  </a:lnTo>
                  <a:lnTo>
                    <a:pt x="957" y="11"/>
                  </a:lnTo>
                  <a:lnTo>
                    <a:pt x="962" y="11"/>
                  </a:lnTo>
                  <a:lnTo>
                    <a:pt x="973" y="9"/>
                  </a:lnTo>
                  <a:lnTo>
                    <a:pt x="983" y="8"/>
                  </a:lnTo>
                  <a:lnTo>
                    <a:pt x="991" y="7"/>
                  </a:lnTo>
                  <a:lnTo>
                    <a:pt x="1000" y="6"/>
                  </a:lnTo>
                  <a:lnTo>
                    <a:pt x="1008" y="5"/>
                  </a:lnTo>
                  <a:lnTo>
                    <a:pt x="1015" y="4"/>
                  </a:lnTo>
                  <a:lnTo>
                    <a:pt x="1031" y="3"/>
                  </a:lnTo>
                  <a:lnTo>
                    <a:pt x="1038" y="2"/>
                  </a:lnTo>
                  <a:lnTo>
                    <a:pt x="1045" y="2"/>
                  </a:lnTo>
                  <a:lnTo>
                    <a:pt x="1050" y="2"/>
                  </a:lnTo>
                  <a:lnTo>
                    <a:pt x="1055" y="1"/>
                  </a:lnTo>
                  <a:lnTo>
                    <a:pt x="1059" y="1"/>
                  </a:lnTo>
                  <a:lnTo>
                    <a:pt x="1063" y="1"/>
                  </a:lnTo>
                  <a:lnTo>
                    <a:pt x="1066" y="1"/>
                  </a:lnTo>
                  <a:lnTo>
                    <a:pt x="1068" y="1"/>
                  </a:lnTo>
                  <a:lnTo>
                    <a:pt x="1070" y="1"/>
                  </a:lnTo>
                  <a:lnTo>
                    <a:pt x="1072" y="0"/>
                  </a:lnTo>
                  <a:lnTo>
                    <a:pt x="1073" y="0"/>
                  </a:lnTo>
                  <a:lnTo>
                    <a:pt x="1074" y="0"/>
                  </a:lnTo>
                  <a:lnTo>
                    <a:pt x="1075" y="0"/>
                  </a:lnTo>
                  <a:lnTo>
                    <a:pt x="1075" y="0"/>
                  </a:lnTo>
                  <a:lnTo>
                    <a:pt x="1075" y="3"/>
                  </a:lnTo>
                  <a:lnTo>
                    <a:pt x="1074" y="3"/>
                  </a:lnTo>
                  <a:lnTo>
                    <a:pt x="1074" y="3"/>
                  </a:lnTo>
                  <a:lnTo>
                    <a:pt x="1073" y="3"/>
                  </a:lnTo>
                  <a:lnTo>
                    <a:pt x="1072" y="3"/>
                  </a:lnTo>
                  <a:lnTo>
                    <a:pt x="1071" y="3"/>
                  </a:lnTo>
                  <a:lnTo>
                    <a:pt x="1069" y="4"/>
                  </a:lnTo>
                  <a:lnTo>
                    <a:pt x="1066" y="4"/>
                  </a:lnTo>
                  <a:lnTo>
                    <a:pt x="1063" y="4"/>
                  </a:lnTo>
                  <a:lnTo>
                    <a:pt x="1060" y="4"/>
                  </a:lnTo>
                  <a:lnTo>
                    <a:pt x="1056" y="4"/>
                  </a:lnTo>
                  <a:lnTo>
                    <a:pt x="1051" y="5"/>
                  </a:lnTo>
                  <a:lnTo>
                    <a:pt x="1045" y="5"/>
                  </a:lnTo>
                  <a:lnTo>
                    <a:pt x="1039" y="5"/>
                  </a:lnTo>
                  <a:lnTo>
                    <a:pt x="1031" y="6"/>
                  </a:lnTo>
                  <a:lnTo>
                    <a:pt x="1016" y="7"/>
                  </a:lnTo>
                  <a:lnTo>
                    <a:pt x="1009" y="8"/>
                  </a:lnTo>
                  <a:lnTo>
                    <a:pt x="1001" y="9"/>
                  </a:lnTo>
                  <a:lnTo>
                    <a:pt x="992" y="10"/>
                  </a:lnTo>
                  <a:lnTo>
                    <a:pt x="983" y="11"/>
                  </a:lnTo>
                  <a:lnTo>
                    <a:pt x="974" y="12"/>
                  </a:lnTo>
                  <a:lnTo>
                    <a:pt x="963" y="14"/>
                  </a:lnTo>
                  <a:lnTo>
                    <a:pt x="957" y="14"/>
                  </a:lnTo>
                  <a:lnTo>
                    <a:pt x="951" y="15"/>
                  </a:lnTo>
                  <a:lnTo>
                    <a:pt x="945" y="15"/>
                  </a:lnTo>
                  <a:lnTo>
                    <a:pt x="939" y="16"/>
                  </a:lnTo>
                  <a:lnTo>
                    <a:pt x="932" y="16"/>
                  </a:lnTo>
                  <a:lnTo>
                    <a:pt x="924" y="17"/>
                  </a:lnTo>
                  <a:lnTo>
                    <a:pt x="916" y="17"/>
                  </a:lnTo>
                  <a:lnTo>
                    <a:pt x="908" y="18"/>
                  </a:lnTo>
                  <a:lnTo>
                    <a:pt x="900" y="18"/>
                  </a:lnTo>
                  <a:lnTo>
                    <a:pt x="891" y="19"/>
                  </a:lnTo>
                  <a:lnTo>
                    <a:pt x="881" y="19"/>
                  </a:lnTo>
                  <a:lnTo>
                    <a:pt x="871" y="20"/>
                  </a:lnTo>
                  <a:lnTo>
                    <a:pt x="860" y="20"/>
                  </a:lnTo>
                  <a:lnTo>
                    <a:pt x="849" y="20"/>
                  </a:lnTo>
                  <a:lnTo>
                    <a:pt x="837" y="21"/>
                  </a:lnTo>
                  <a:lnTo>
                    <a:pt x="825" y="21"/>
                  </a:lnTo>
                  <a:lnTo>
                    <a:pt x="812" y="21"/>
                  </a:lnTo>
                  <a:lnTo>
                    <a:pt x="798" y="21"/>
                  </a:lnTo>
                  <a:lnTo>
                    <a:pt x="783" y="22"/>
                  </a:lnTo>
                  <a:lnTo>
                    <a:pt x="767" y="22"/>
                  </a:lnTo>
                  <a:lnTo>
                    <a:pt x="750" y="22"/>
                  </a:lnTo>
                  <a:lnTo>
                    <a:pt x="732" y="22"/>
                  </a:lnTo>
                  <a:lnTo>
                    <a:pt x="714" y="22"/>
                  </a:lnTo>
                  <a:lnTo>
                    <a:pt x="694" y="22"/>
                  </a:lnTo>
                  <a:lnTo>
                    <a:pt x="675" y="22"/>
                  </a:lnTo>
                  <a:lnTo>
                    <a:pt x="655" y="23"/>
                  </a:lnTo>
                  <a:lnTo>
                    <a:pt x="634" y="23"/>
                  </a:lnTo>
                  <a:lnTo>
                    <a:pt x="613" y="23"/>
                  </a:lnTo>
                  <a:lnTo>
                    <a:pt x="570" y="23"/>
                  </a:lnTo>
                  <a:lnTo>
                    <a:pt x="527" y="23"/>
                  </a:lnTo>
                  <a:lnTo>
                    <a:pt x="484" y="23"/>
                  </a:lnTo>
                  <a:lnTo>
                    <a:pt x="441" y="23"/>
                  </a:lnTo>
                  <a:lnTo>
                    <a:pt x="420" y="23"/>
                  </a:lnTo>
                  <a:lnTo>
                    <a:pt x="399" y="23"/>
                  </a:lnTo>
                  <a:lnTo>
                    <a:pt x="379" y="22"/>
                  </a:lnTo>
                  <a:lnTo>
                    <a:pt x="359" y="22"/>
                  </a:lnTo>
                  <a:lnTo>
                    <a:pt x="340" y="22"/>
                  </a:lnTo>
                  <a:lnTo>
                    <a:pt x="322" y="22"/>
                  </a:lnTo>
                  <a:lnTo>
                    <a:pt x="304" y="22"/>
                  </a:lnTo>
                  <a:lnTo>
                    <a:pt x="286" y="22"/>
                  </a:lnTo>
                  <a:lnTo>
                    <a:pt x="270" y="22"/>
                  </a:lnTo>
                  <a:lnTo>
                    <a:pt x="255" y="21"/>
                  </a:lnTo>
                  <a:lnTo>
                    <a:pt x="240" y="21"/>
                  </a:lnTo>
                  <a:lnTo>
                    <a:pt x="227" y="21"/>
                  </a:lnTo>
                  <a:lnTo>
                    <a:pt x="214" y="21"/>
                  </a:lnTo>
                  <a:lnTo>
                    <a:pt x="202" y="20"/>
                  </a:lnTo>
                  <a:lnTo>
                    <a:pt x="190" y="20"/>
                  </a:lnTo>
                  <a:lnTo>
                    <a:pt x="179" y="20"/>
                  </a:lnTo>
                  <a:lnTo>
                    <a:pt x="169" y="19"/>
                  </a:lnTo>
                  <a:lnTo>
                    <a:pt x="159" y="19"/>
                  </a:lnTo>
                  <a:lnTo>
                    <a:pt x="149" y="19"/>
                  </a:lnTo>
                  <a:lnTo>
                    <a:pt x="140" y="18"/>
                  </a:lnTo>
                  <a:lnTo>
                    <a:pt x="131" y="18"/>
                  </a:lnTo>
                  <a:lnTo>
                    <a:pt x="122" y="18"/>
                  </a:lnTo>
                  <a:lnTo>
                    <a:pt x="114" y="17"/>
                  </a:lnTo>
                  <a:lnTo>
                    <a:pt x="106" y="17"/>
                  </a:lnTo>
                  <a:lnTo>
                    <a:pt x="99" y="16"/>
                  </a:lnTo>
                  <a:lnTo>
                    <a:pt x="92" y="16"/>
                  </a:lnTo>
                  <a:lnTo>
                    <a:pt x="85" y="15"/>
                  </a:lnTo>
                  <a:lnTo>
                    <a:pt x="79" y="15"/>
                  </a:lnTo>
                  <a:lnTo>
                    <a:pt x="67" y="14"/>
                  </a:lnTo>
                  <a:lnTo>
                    <a:pt x="55" y="13"/>
                  </a:lnTo>
                  <a:lnTo>
                    <a:pt x="45" y="12"/>
                  </a:lnTo>
                  <a:lnTo>
                    <a:pt x="35" y="11"/>
                  </a:lnTo>
                  <a:lnTo>
                    <a:pt x="26" y="9"/>
                  </a:lnTo>
                  <a:lnTo>
                    <a:pt x="17" y="8"/>
                  </a:lnTo>
                  <a:lnTo>
                    <a:pt x="0" y="6"/>
                  </a:lnTo>
                  <a:lnTo>
                    <a:pt x="2" y="3"/>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9" name="Freeform 35">
              <a:extLst>
                <a:ext uri="{FF2B5EF4-FFF2-40B4-BE49-F238E27FC236}">
                  <a16:creationId xmlns:a16="http://schemas.microsoft.com/office/drawing/2014/main" id="{1A32CC16-468B-8727-A497-06C0A27EBBDA}"/>
                </a:ext>
              </a:extLst>
            </p:cNvPr>
            <p:cNvSpPr>
              <a:spLocks/>
            </p:cNvSpPr>
            <p:nvPr/>
          </p:nvSpPr>
          <p:spPr bwMode="auto">
            <a:xfrm>
              <a:off x="10482584" y="169592"/>
              <a:ext cx="223945" cy="24046"/>
            </a:xfrm>
            <a:custGeom>
              <a:avLst/>
              <a:gdLst/>
              <a:ahLst/>
              <a:cxnLst>
                <a:cxn ang="0">
                  <a:pos x="8" y="20"/>
                </a:cxn>
                <a:cxn ang="0">
                  <a:pos x="26" y="12"/>
                </a:cxn>
                <a:cxn ang="0">
                  <a:pos x="41" y="8"/>
                </a:cxn>
                <a:cxn ang="0">
                  <a:pos x="53" y="5"/>
                </a:cxn>
                <a:cxn ang="0">
                  <a:pos x="66" y="3"/>
                </a:cxn>
                <a:cxn ang="0">
                  <a:pos x="80" y="1"/>
                </a:cxn>
                <a:cxn ang="0">
                  <a:pos x="93" y="0"/>
                </a:cxn>
                <a:cxn ang="0">
                  <a:pos x="103" y="0"/>
                </a:cxn>
                <a:cxn ang="0">
                  <a:pos x="115" y="0"/>
                </a:cxn>
                <a:cxn ang="0">
                  <a:pos x="134" y="1"/>
                </a:cxn>
                <a:cxn ang="0">
                  <a:pos x="163" y="2"/>
                </a:cxn>
                <a:cxn ang="0">
                  <a:pos x="192" y="3"/>
                </a:cxn>
                <a:cxn ang="0">
                  <a:pos x="220" y="5"/>
                </a:cxn>
                <a:cxn ang="0">
                  <a:pos x="232" y="6"/>
                </a:cxn>
                <a:cxn ang="0">
                  <a:pos x="242" y="7"/>
                </a:cxn>
                <a:cxn ang="0">
                  <a:pos x="251" y="7"/>
                </a:cxn>
                <a:cxn ang="0">
                  <a:pos x="258" y="8"/>
                </a:cxn>
                <a:cxn ang="0">
                  <a:pos x="262" y="8"/>
                </a:cxn>
                <a:cxn ang="0">
                  <a:pos x="263" y="8"/>
                </a:cxn>
                <a:cxn ang="0">
                  <a:pos x="262" y="11"/>
                </a:cxn>
                <a:cxn ang="0">
                  <a:pos x="260" y="11"/>
                </a:cxn>
                <a:cxn ang="0">
                  <a:pos x="254" y="10"/>
                </a:cxn>
                <a:cxn ang="0">
                  <a:pos x="246" y="10"/>
                </a:cxn>
                <a:cxn ang="0">
                  <a:pos x="237" y="9"/>
                </a:cxn>
                <a:cxn ang="0">
                  <a:pos x="225" y="8"/>
                </a:cxn>
                <a:cxn ang="0">
                  <a:pos x="206" y="7"/>
                </a:cxn>
                <a:cxn ang="0">
                  <a:pos x="178" y="6"/>
                </a:cxn>
                <a:cxn ang="0">
                  <a:pos x="148" y="4"/>
                </a:cxn>
                <a:cxn ang="0">
                  <a:pos x="121" y="3"/>
                </a:cxn>
                <a:cxn ang="0">
                  <a:pos x="109" y="3"/>
                </a:cxn>
                <a:cxn ang="0">
                  <a:pos x="98" y="3"/>
                </a:cxn>
                <a:cxn ang="0">
                  <a:pos x="89" y="4"/>
                </a:cxn>
                <a:cxn ang="0">
                  <a:pos x="74" y="5"/>
                </a:cxn>
                <a:cxn ang="0">
                  <a:pos x="60" y="7"/>
                </a:cxn>
                <a:cxn ang="0">
                  <a:pos x="49" y="9"/>
                </a:cxn>
                <a:cxn ang="0">
                  <a:pos x="38" y="12"/>
                </a:cxn>
                <a:cxn ang="0">
                  <a:pos x="20" y="18"/>
                </a:cxn>
                <a:cxn ang="0">
                  <a:pos x="3" y="26"/>
                </a:cxn>
              </a:cxnLst>
              <a:rect l="0" t="0" r="r" b="b"/>
              <a:pathLst>
                <a:path w="263" h="26">
                  <a:moveTo>
                    <a:pt x="0" y="23"/>
                  </a:moveTo>
                  <a:lnTo>
                    <a:pt x="8" y="20"/>
                  </a:lnTo>
                  <a:lnTo>
                    <a:pt x="17" y="16"/>
                  </a:lnTo>
                  <a:lnTo>
                    <a:pt x="26" y="12"/>
                  </a:lnTo>
                  <a:lnTo>
                    <a:pt x="36" y="9"/>
                  </a:lnTo>
                  <a:lnTo>
                    <a:pt x="41" y="8"/>
                  </a:lnTo>
                  <a:lnTo>
                    <a:pt x="47" y="6"/>
                  </a:lnTo>
                  <a:lnTo>
                    <a:pt x="53" y="5"/>
                  </a:lnTo>
                  <a:lnTo>
                    <a:pt x="59" y="4"/>
                  </a:lnTo>
                  <a:lnTo>
                    <a:pt x="66" y="3"/>
                  </a:lnTo>
                  <a:lnTo>
                    <a:pt x="73" y="2"/>
                  </a:lnTo>
                  <a:lnTo>
                    <a:pt x="80" y="1"/>
                  </a:lnTo>
                  <a:lnTo>
                    <a:pt x="88" y="1"/>
                  </a:lnTo>
                  <a:lnTo>
                    <a:pt x="93" y="0"/>
                  </a:lnTo>
                  <a:lnTo>
                    <a:pt x="98" y="0"/>
                  </a:lnTo>
                  <a:lnTo>
                    <a:pt x="103" y="0"/>
                  </a:lnTo>
                  <a:lnTo>
                    <a:pt x="109" y="0"/>
                  </a:lnTo>
                  <a:lnTo>
                    <a:pt x="115" y="0"/>
                  </a:lnTo>
                  <a:lnTo>
                    <a:pt x="121" y="0"/>
                  </a:lnTo>
                  <a:lnTo>
                    <a:pt x="134" y="1"/>
                  </a:lnTo>
                  <a:lnTo>
                    <a:pt x="149" y="1"/>
                  </a:lnTo>
                  <a:lnTo>
                    <a:pt x="163" y="2"/>
                  </a:lnTo>
                  <a:lnTo>
                    <a:pt x="178" y="3"/>
                  </a:lnTo>
                  <a:lnTo>
                    <a:pt x="192" y="3"/>
                  </a:lnTo>
                  <a:lnTo>
                    <a:pt x="206" y="4"/>
                  </a:lnTo>
                  <a:lnTo>
                    <a:pt x="220" y="5"/>
                  </a:lnTo>
                  <a:lnTo>
                    <a:pt x="226" y="5"/>
                  </a:lnTo>
                  <a:lnTo>
                    <a:pt x="232" y="6"/>
                  </a:lnTo>
                  <a:lnTo>
                    <a:pt x="237" y="6"/>
                  </a:lnTo>
                  <a:lnTo>
                    <a:pt x="242" y="7"/>
                  </a:lnTo>
                  <a:lnTo>
                    <a:pt x="247" y="7"/>
                  </a:lnTo>
                  <a:lnTo>
                    <a:pt x="251" y="7"/>
                  </a:lnTo>
                  <a:lnTo>
                    <a:pt x="255" y="7"/>
                  </a:lnTo>
                  <a:lnTo>
                    <a:pt x="258" y="8"/>
                  </a:lnTo>
                  <a:lnTo>
                    <a:pt x="260" y="8"/>
                  </a:lnTo>
                  <a:lnTo>
                    <a:pt x="262" y="8"/>
                  </a:lnTo>
                  <a:lnTo>
                    <a:pt x="263" y="8"/>
                  </a:lnTo>
                  <a:lnTo>
                    <a:pt x="263" y="8"/>
                  </a:lnTo>
                  <a:lnTo>
                    <a:pt x="263" y="11"/>
                  </a:lnTo>
                  <a:lnTo>
                    <a:pt x="262" y="11"/>
                  </a:lnTo>
                  <a:lnTo>
                    <a:pt x="261" y="11"/>
                  </a:lnTo>
                  <a:lnTo>
                    <a:pt x="260" y="11"/>
                  </a:lnTo>
                  <a:lnTo>
                    <a:pt x="257" y="11"/>
                  </a:lnTo>
                  <a:lnTo>
                    <a:pt x="254" y="10"/>
                  </a:lnTo>
                  <a:lnTo>
                    <a:pt x="250" y="10"/>
                  </a:lnTo>
                  <a:lnTo>
                    <a:pt x="246" y="10"/>
                  </a:lnTo>
                  <a:lnTo>
                    <a:pt x="242" y="10"/>
                  </a:lnTo>
                  <a:lnTo>
                    <a:pt x="237" y="9"/>
                  </a:lnTo>
                  <a:lnTo>
                    <a:pt x="231" y="9"/>
                  </a:lnTo>
                  <a:lnTo>
                    <a:pt x="225" y="8"/>
                  </a:lnTo>
                  <a:lnTo>
                    <a:pt x="219" y="8"/>
                  </a:lnTo>
                  <a:lnTo>
                    <a:pt x="206" y="7"/>
                  </a:lnTo>
                  <a:lnTo>
                    <a:pt x="192" y="6"/>
                  </a:lnTo>
                  <a:lnTo>
                    <a:pt x="178" y="6"/>
                  </a:lnTo>
                  <a:lnTo>
                    <a:pt x="163" y="5"/>
                  </a:lnTo>
                  <a:lnTo>
                    <a:pt x="148" y="4"/>
                  </a:lnTo>
                  <a:lnTo>
                    <a:pt x="134" y="4"/>
                  </a:lnTo>
                  <a:lnTo>
                    <a:pt x="121" y="3"/>
                  </a:lnTo>
                  <a:lnTo>
                    <a:pt x="115" y="3"/>
                  </a:lnTo>
                  <a:lnTo>
                    <a:pt x="109" y="3"/>
                  </a:lnTo>
                  <a:lnTo>
                    <a:pt x="103" y="3"/>
                  </a:lnTo>
                  <a:lnTo>
                    <a:pt x="98" y="3"/>
                  </a:lnTo>
                  <a:lnTo>
                    <a:pt x="93" y="3"/>
                  </a:lnTo>
                  <a:lnTo>
                    <a:pt x="89" y="4"/>
                  </a:lnTo>
                  <a:lnTo>
                    <a:pt x="81" y="4"/>
                  </a:lnTo>
                  <a:lnTo>
                    <a:pt x="74" y="5"/>
                  </a:lnTo>
                  <a:lnTo>
                    <a:pt x="67" y="6"/>
                  </a:lnTo>
                  <a:lnTo>
                    <a:pt x="60" y="7"/>
                  </a:lnTo>
                  <a:lnTo>
                    <a:pt x="54" y="8"/>
                  </a:lnTo>
                  <a:lnTo>
                    <a:pt x="49" y="9"/>
                  </a:lnTo>
                  <a:lnTo>
                    <a:pt x="43" y="10"/>
                  </a:lnTo>
                  <a:lnTo>
                    <a:pt x="38" y="12"/>
                  </a:lnTo>
                  <a:lnTo>
                    <a:pt x="28" y="15"/>
                  </a:lnTo>
                  <a:lnTo>
                    <a:pt x="20" y="18"/>
                  </a:lnTo>
                  <a:lnTo>
                    <a:pt x="11" y="22"/>
                  </a:lnTo>
                  <a:lnTo>
                    <a:pt x="3" y="26"/>
                  </a:lnTo>
                  <a:lnTo>
                    <a:pt x="0" y="23"/>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0" name="Freeform 36">
              <a:extLst>
                <a:ext uri="{FF2B5EF4-FFF2-40B4-BE49-F238E27FC236}">
                  <a16:creationId xmlns:a16="http://schemas.microsoft.com/office/drawing/2014/main" id="{BFCD598F-2DBF-1496-14EF-EF799E91DC02}"/>
                </a:ext>
              </a:extLst>
            </p:cNvPr>
            <p:cNvSpPr>
              <a:spLocks/>
            </p:cNvSpPr>
            <p:nvPr/>
          </p:nvSpPr>
          <p:spPr bwMode="auto">
            <a:xfrm>
              <a:off x="11269370" y="107628"/>
              <a:ext cx="30654" cy="100806"/>
            </a:xfrm>
            <a:custGeom>
              <a:avLst/>
              <a:gdLst/>
              <a:ahLst/>
              <a:cxnLst>
                <a:cxn ang="0">
                  <a:pos x="5" y="1595"/>
                </a:cxn>
                <a:cxn ang="0">
                  <a:pos x="4" y="1440"/>
                </a:cxn>
                <a:cxn ang="0">
                  <a:pos x="29" y="1347"/>
                </a:cxn>
                <a:cxn ang="0">
                  <a:pos x="45" y="1320"/>
                </a:cxn>
                <a:cxn ang="0">
                  <a:pos x="100" y="1281"/>
                </a:cxn>
                <a:cxn ang="0">
                  <a:pos x="194" y="1250"/>
                </a:cxn>
                <a:cxn ang="0">
                  <a:pos x="255" y="1221"/>
                </a:cxn>
                <a:cxn ang="0">
                  <a:pos x="285" y="1190"/>
                </a:cxn>
                <a:cxn ang="0">
                  <a:pos x="296" y="1172"/>
                </a:cxn>
                <a:cxn ang="0">
                  <a:pos x="313" y="1110"/>
                </a:cxn>
                <a:cxn ang="0">
                  <a:pos x="312" y="962"/>
                </a:cxn>
                <a:cxn ang="0">
                  <a:pos x="290" y="756"/>
                </a:cxn>
                <a:cxn ang="0">
                  <a:pos x="230" y="385"/>
                </a:cxn>
                <a:cxn ang="0">
                  <a:pos x="201" y="202"/>
                </a:cxn>
                <a:cxn ang="0">
                  <a:pos x="189" y="86"/>
                </a:cxn>
                <a:cxn ang="0">
                  <a:pos x="191" y="30"/>
                </a:cxn>
                <a:cxn ang="0">
                  <a:pos x="204" y="7"/>
                </a:cxn>
                <a:cxn ang="0">
                  <a:pos x="228" y="1"/>
                </a:cxn>
                <a:cxn ang="0">
                  <a:pos x="249" y="14"/>
                </a:cxn>
                <a:cxn ang="0">
                  <a:pos x="268" y="44"/>
                </a:cxn>
                <a:cxn ang="0">
                  <a:pos x="277" y="64"/>
                </a:cxn>
                <a:cxn ang="0">
                  <a:pos x="232" y="80"/>
                </a:cxn>
                <a:cxn ang="0">
                  <a:pos x="225" y="67"/>
                </a:cxn>
                <a:cxn ang="0">
                  <a:pos x="210" y="43"/>
                </a:cxn>
                <a:cxn ang="0">
                  <a:pos x="222" y="49"/>
                </a:cxn>
                <a:cxn ang="0">
                  <a:pos x="231" y="46"/>
                </a:cxn>
                <a:cxn ang="0">
                  <a:pos x="239" y="38"/>
                </a:cxn>
                <a:cxn ang="0">
                  <a:pos x="236" y="83"/>
                </a:cxn>
                <a:cxn ang="0">
                  <a:pos x="248" y="194"/>
                </a:cxn>
                <a:cxn ang="0">
                  <a:pos x="278" y="377"/>
                </a:cxn>
                <a:cxn ang="0">
                  <a:pos x="337" y="750"/>
                </a:cxn>
                <a:cxn ang="0">
                  <a:pos x="360" y="959"/>
                </a:cxn>
                <a:cxn ang="0">
                  <a:pos x="360" y="1120"/>
                </a:cxn>
                <a:cxn ang="0">
                  <a:pos x="341" y="1189"/>
                </a:cxn>
                <a:cxn ang="0">
                  <a:pos x="322" y="1220"/>
                </a:cxn>
                <a:cxn ang="0">
                  <a:pos x="281" y="1261"/>
                </a:cxn>
                <a:cxn ang="0">
                  <a:pos x="209" y="1295"/>
                </a:cxn>
                <a:cxn ang="0">
                  <a:pos x="125" y="1322"/>
                </a:cxn>
                <a:cxn ang="0">
                  <a:pos x="79" y="1354"/>
                </a:cxn>
                <a:cxn ang="0">
                  <a:pos x="74" y="1363"/>
                </a:cxn>
                <a:cxn ang="0">
                  <a:pos x="52" y="1444"/>
                </a:cxn>
                <a:cxn ang="0">
                  <a:pos x="52" y="1590"/>
                </a:cxn>
                <a:cxn ang="0">
                  <a:pos x="28" y="1759"/>
                </a:cxn>
              </a:cxnLst>
              <a:rect l="0" t="0" r="r" b="b"/>
              <a:pathLst>
                <a:path w="363" h="1759">
                  <a:moveTo>
                    <a:pt x="28" y="1759"/>
                  </a:moveTo>
                  <a:lnTo>
                    <a:pt x="11" y="1650"/>
                  </a:lnTo>
                  <a:lnTo>
                    <a:pt x="5" y="1595"/>
                  </a:lnTo>
                  <a:lnTo>
                    <a:pt x="1" y="1542"/>
                  </a:lnTo>
                  <a:lnTo>
                    <a:pt x="0" y="1490"/>
                  </a:lnTo>
                  <a:lnTo>
                    <a:pt x="4" y="1440"/>
                  </a:lnTo>
                  <a:lnTo>
                    <a:pt x="13" y="1393"/>
                  </a:lnTo>
                  <a:cubicBezTo>
                    <a:pt x="13" y="1391"/>
                    <a:pt x="13" y="1390"/>
                    <a:pt x="14" y="1389"/>
                  </a:cubicBezTo>
                  <a:lnTo>
                    <a:pt x="29" y="1347"/>
                  </a:lnTo>
                  <a:cubicBezTo>
                    <a:pt x="29" y="1346"/>
                    <a:pt x="30" y="1344"/>
                    <a:pt x="31" y="1343"/>
                  </a:cubicBezTo>
                  <a:lnTo>
                    <a:pt x="41" y="1325"/>
                  </a:lnTo>
                  <a:cubicBezTo>
                    <a:pt x="42" y="1323"/>
                    <a:pt x="44" y="1321"/>
                    <a:pt x="45" y="1320"/>
                  </a:cubicBezTo>
                  <a:lnTo>
                    <a:pt x="59" y="1305"/>
                  </a:lnTo>
                  <a:cubicBezTo>
                    <a:pt x="61" y="1304"/>
                    <a:pt x="63" y="1303"/>
                    <a:pt x="64" y="1302"/>
                  </a:cubicBezTo>
                  <a:lnTo>
                    <a:pt x="100" y="1281"/>
                  </a:lnTo>
                  <a:cubicBezTo>
                    <a:pt x="102" y="1280"/>
                    <a:pt x="103" y="1279"/>
                    <a:pt x="105" y="1279"/>
                  </a:cubicBezTo>
                  <a:lnTo>
                    <a:pt x="148" y="1264"/>
                  </a:lnTo>
                  <a:lnTo>
                    <a:pt x="194" y="1250"/>
                  </a:lnTo>
                  <a:lnTo>
                    <a:pt x="238" y="1232"/>
                  </a:lnTo>
                  <a:lnTo>
                    <a:pt x="234" y="1234"/>
                  </a:lnTo>
                  <a:lnTo>
                    <a:pt x="255" y="1221"/>
                  </a:lnTo>
                  <a:lnTo>
                    <a:pt x="272" y="1206"/>
                  </a:lnTo>
                  <a:lnTo>
                    <a:pt x="269" y="1210"/>
                  </a:lnTo>
                  <a:lnTo>
                    <a:pt x="285" y="1190"/>
                  </a:lnTo>
                  <a:lnTo>
                    <a:pt x="283" y="1193"/>
                  </a:lnTo>
                  <a:lnTo>
                    <a:pt x="298" y="1168"/>
                  </a:lnTo>
                  <a:lnTo>
                    <a:pt x="296" y="1172"/>
                  </a:lnTo>
                  <a:lnTo>
                    <a:pt x="307" y="1142"/>
                  </a:lnTo>
                  <a:lnTo>
                    <a:pt x="306" y="1146"/>
                  </a:lnTo>
                  <a:lnTo>
                    <a:pt x="313" y="1110"/>
                  </a:lnTo>
                  <a:lnTo>
                    <a:pt x="316" y="1070"/>
                  </a:lnTo>
                  <a:lnTo>
                    <a:pt x="315" y="1019"/>
                  </a:lnTo>
                  <a:lnTo>
                    <a:pt x="312" y="962"/>
                  </a:lnTo>
                  <a:lnTo>
                    <a:pt x="307" y="898"/>
                  </a:lnTo>
                  <a:lnTo>
                    <a:pt x="299" y="829"/>
                  </a:lnTo>
                  <a:lnTo>
                    <a:pt x="290" y="756"/>
                  </a:lnTo>
                  <a:lnTo>
                    <a:pt x="267" y="605"/>
                  </a:lnTo>
                  <a:lnTo>
                    <a:pt x="242" y="456"/>
                  </a:lnTo>
                  <a:lnTo>
                    <a:pt x="230" y="385"/>
                  </a:lnTo>
                  <a:lnTo>
                    <a:pt x="219" y="318"/>
                  </a:lnTo>
                  <a:lnTo>
                    <a:pt x="209" y="256"/>
                  </a:lnTo>
                  <a:lnTo>
                    <a:pt x="201" y="202"/>
                  </a:lnTo>
                  <a:lnTo>
                    <a:pt x="195" y="154"/>
                  </a:lnTo>
                  <a:lnTo>
                    <a:pt x="191" y="116"/>
                  </a:lnTo>
                  <a:lnTo>
                    <a:pt x="189" y="86"/>
                  </a:lnTo>
                  <a:lnTo>
                    <a:pt x="188" y="62"/>
                  </a:lnTo>
                  <a:lnTo>
                    <a:pt x="189" y="44"/>
                  </a:lnTo>
                  <a:lnTo>
                    <a:pt x="191" y="30"/>
                  </a:lnTo>
                  <a:cubicBezTo>
                    <a:pt x="192" y="28"/>
                    <a:pt x="192" y="27"/>
                    <a:pt x="192" y="26"/>
                  </a:cubicBezTo>
                  <a:lnTo>
                    <a:pt x="195" y="19"/>
                  </a:lnTo>
                  <a:cubicBezTo>
                    <a:pt x="197" y="14"/>
                    <a:pt x="200" y="10"/>
                    <a:pt x="204" y="7"/>
                  </a:cubicBezTo>
                  <a:lnTo>
                    <a:pt x="207" y="5"/>
                  </a:lnTo>
                  <a:cubicBezTo>
                    <a:pt x="212" y="1"/>
                    <a:pt x="218" y="0"/>
                    <a:pt x="224" y="1"/>
                  </a:cubicBezTo>
                  <a:lnTo>
                    <a:pt x="228" y="1"/>
                  </a:lnTo>
                  <a:cubicBezTo>
                    <a:pt x="232" y="2"/>
                    <a:pt x="236" y="3"/>
                    <a:pt x="240" y="6"/>
                  </a:cubicBezTo>
                  <a:lnTo>
                    <a:pt x="244" y="10"/>
                  </a:lnTo>
                  <a:cubicBezTo>
                    <a:pt x="246" y="11"/>
                    <a:pt x="247" y="12"/>
                    <a:pt x="249" y="14"/>
                  </a:cubicBezTo>
                  <a:lnTo>
                    <a:pt x="258" y="26"/>
                  </a:lnTo>
                  <a:cubicBezTo>
                    <a:pt x="258" y="27"/>
                    <a:pt x="259" y="28"/>
                    <a:pt x="260" y="29"/>
                  </a:cubicBezTo>
                  <a:lnTo>
                    <a:pt x="268" y="44"/>
                  </a:lnTo>
                  <a:lnTo>
                    <a:pt x="274" y="58"/>
                  </a:lnTo>
                  <a:lnTo>
                    <a:pt x="276" y="61"/>
                  </a:lnTo>
                  <a:cubicBezTo>
                    <a:pt x="276" y="62"/>
                    <a:pt x="277" y="63"/>
                    <a:pt x="277" y="64"/>
                  </a:cubicBezTo>
                  <a:lnTo>
                    <a:pt x="278" y="66"/>
                  </a:lnTo>
                  <a:lnTo>
                    <a:pt x="232" y="81"/>
                  </a:lnTo>
                  <a:lnTo>
                    <a:pt x="232" y="80"/>
                  </a:lnTo>
                  <a:lnTo>
                    <a:pt x="233" y="83"/>
                  </a:lnTo>
                  <a:lnTo>
                    <a:pt x="231" y="78"/>
                  </a:lnTo>
                  <a:lnTo>
                    <a:pt x="225" y="67"/>
                  </a:lnTo>
                  <a:lnTo>
                    <a:pt x="217" y="52"/>
                  </a:lnTo>
                  <a:lnTo>
                    <a:pt x="219" y="55"/>
                  </a:lnTo>
                  <a:lnTo>
                    <a:pt x="210" y="43"/>
                  </a:lnTo>
                  <a:lnTo>
                    <a:pt x="215" y="47"/>
                  </a:lnTo>
                  <a:lnTo>
                    <a:pt x="210" y="44"/>
                  </a:lnTo>
                  <a:lnTo>
                    <a:pt x="222" y="49"/>
                  </a:lnTo>
                  <a:lnTo>
                    <a:pt x="218" y="48"/>
                  </a:lnTo>
                  <a:lnTo>
                    <a:pt x="235" y="44"/>
                  </a:lnTo>
                  <a:lnTo>
                    <a:pt x="231" y="46"/>
                  </a:lnTo>
                  <a:lnTo>
                    <a:pt x="240" y="35"/>
                  </a:lnTo>
                  <a:lnTo>
                    <a:pt x="238" y="42"/>
                  </a:lnTo>
                  <a:lnTo>
                    <a:pt x="239" y="38"/>
                  </a:lnTo>
                  <a:lnTo>
                    <a:pt x="237" y="46"/>
                  </a:lnTo>
                  <a:lnTo>
                    <a:pt x="236" y="61"/>
                  </a:lnTo>
                  <a:lnTo>
                    <a:pt x="236" y="83"/>
                  </a:lnTo>
                  <a:lnTo>
                    <a:pt x="238" y="111"/>
                  </a:lnTo>
                  <a:lnTo>
                    <a:pt x="242" y="148"/>
                  </a:lnTo>
                  <a:lnTo>
                    <a:pt x="248" y="194"/>
                  </a:lnTo>
                  <a:lnTo>
                    <a:pt x="257" y="249"/>
                  </a:lnTo>
                  <a:lnTo>
                    <a:pt x="267" y="310"/>
                  </a:lnTo>
                  <a:lnTo>
                    <a:pt x="278" y="377"/>
                  </a:lnTo>
                  <a:lnTo>
                    <a:pt x="290" y="448"/>
                  </a:lnTo>
                  <a:lnTo>
                    <a:pt x="314" y="598"/>
                  </a:lnTo>
                  <a:lnTo>
                    <a:pt x="337" y="750"/>
                  </a:lnTo>
                  <a:lnTo>
                    <a:pt x="347" y="823"/>
                  </a:lnTo>
                  <a:lnTo>
                    <a:pt x="354" y="893"/>
                  </a:lnTo>
                  <a:lnTo>
                    <a:pt x="360" y="959"/>
                  </a:lnTo>
                  <a:lnTo>
                    <a:pt x="363" y="1019"/>
                  </a:lnTo>
                  <a:lnTo>
                    <a:pt x="363" y="1073"/>
                  </a:lnTo>
                  <a:lnTo>
                    <a:pt x="360" y="1120"/>
                  </a:lnTo>
                  <a:lnTo>
                    <a:pt x="353" y="1155"/>
                  </a:lnTo>
                  <a:cubicBezTo>
                    <a:pt x="353" y="1156"/>
                    <a:pt x="352" y="1158"/>
                    <a:pt x="352" y="1159"/>
                  </a:cubicBezTo>
                  <a:lnTo>
                    <a:pt x="341" y="1189"/>
                  </a:lnTo>
                  <a:cubicBezTo>
                    <a:pt x="340" y="1190"/>
                    <a:pt x="340" y="1191"/>
                    <a:pt x="339" y="1193"/>
                  </a:cubicBezTo>
                  <a:lnTo>
                    <a:pt x="325" y="1217"/>
                  </a:lnTo>
                  <a:cubicBezTo>
                    <a:pt x="324" y="1218"/>
                    <a:pt x="323" y="1219"/>
                    <a:pt x="322" y="1220"/>
                  </a:cubicBezTo>
                  <a:lnTo>
                    <a:pt x="306" y="1240"/>
                  </a:lnTo>
                  <a:cubicBezTo>
                    <a:pt x="305" y="1241"/>
                    <a:pt x="304" y="1243"/>
                    <a:pt x="303" y="1244"/>
                  </a:cubicBezTo>
                  <a:lnTo>
                    <a:pt x="281" y="1261"/>
                  </a:lnTo>
                  <a:lnTo>
                    <a:pt x="260" y="1274"/>
                  </a:lnTo>
                  <a:cubicBezTo>
                    <a:pt x="258" y="1275"/>
                    <a:pt x="257" y="1276"/>
                    <a:pt x="256" y="1276"/>
                  </a:cubicBezTo>
                  <a:lnTo>
                    <a:pt x="209" y="1295"/>
                  </a:lnTo>
                  <a:lnTo>
                    <a:pt x="163" y="1310"/>
                  </a:lnTo>
                  <a:lnTo>
                    <a:pt x="120" y="1324"/>
                  </a:lnTo>
                  <a:lnTo>
                    <a:pt x="125" y="1322"/>
                  </a:lnTo>
                  <a:lnTo>
                    <a:pt x="89" y="1343"/>
                  </a:lnTo>
                  <a:lnTo>
                    <a:pt x="93" y="1339"/>
                  </a:lnTo>
                  <a:lnTo>
                    <a:pt x="79" y="1354"/>
                  </a:lnTo>
                  <a:lnTo>
                    <a:pt x="83" y="1349"/>
                  </a:lnTo>
                  <a:lnTo>
                    <a:pt x="72" y="1367"/>
                  </a:lnTo>
                  <a:lnTo>
                    <a:pt x="74" y="1363"/>
                  </a:lnTo>
                  <a:lnTo>
                    <a:pt x="59" y="1405"/>
                  </a:lnTo>
                  <a:lnTo>
                    <a:pt x="60" y="1401"/>
                  </a:lnTo>
                  <a:lnTo>
                    <a:pt x="52" y="1444"/>
                  </a:lnTo>
                  <a:lnTo>
                    <a:pt x="48" y="1490"/>
                  </a:lnTo>
                  <a:lnTo>
                    <a:pt x="48" y="1539"/>
                  </a:lnTo>
                  <a:lnTo>
                    <a:pt x="52" y="1590"/>
                  </a:lnTo>
                  <a:lnTo>
                    <a:pt x="58" y="1642"/>
                  </a:lnTo>
                  <a:lnTo>
                    <a:pt x="75" y="1752"/>
                  </a:lnTo>
                  <a:lnTo>
                    <a:pt x="28" y="175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1" name="Freeform 37">
              <a:extLst>
                <a:ext uri="{FF2B5EF4-FFF2-40B4-BE49-F238E27FC236}">
                  <a16:creationId xmlns:a16="http://schemas.microsoft.com/office/drawing/2014/main" id="{961F3464-37B2-8502-91BE-7AC394F10891}"/>
                </a:ext>
              </a:extLst>
            </p:cNvPr>
            <p:cNvSpPr>
              <a:spLocks/>
            </p:cNvSpPr>
            <p:nvPr/>
          </p:nvSpPr>
          <p:spPr bwMode="auto">
            <a:xfrm>
              <a:off x="10355710" y="206585"/>
              <a:ext cx="371254" cy="2774"/>
            </a:xfrm>
            <a:custGeom>
              <a:avLst/>
              <a:gdLst/>
              <a:ahLst/>
              <a:cxnLst>
                <a:cxn ang="0">
                  <a:pos x="0" y="0"/>
                </a:cxn>
                <a:cxn ang="0">
                  <a:pos x="293" y="0"/>
                </a:cxn>
                <a:cxn ang="0">
                  <a:pos x="436" y="0"/>
                </a:cxn>
                <a:cxn ang="0">
                  <a:pos x="436" y="3"/>
                </a:cxn>
                <a:cxn ang="0">
                  <a:pos x="293" y="3"/>
                </a:cxn>
                <a:cxn ang="0">
                  <a:pos x="0" y="3"/>
                </a:cxn>
                <a:cxn ang="0">
                  <a:pos x="0" y="0"/>
                </a:cxn>
              </a:cxnLst>
              <a:rect l="0" t="0" r="r" b="b"/>
              <a:pathLst>
                <a:path w="436" h="3">
                  <a:moveTo>
                    <a:pt x="0" y="0"/>
                  </a:moveTo>
                  <a:lnTo>
                    <a:pt x="293" y="0"/>
                  </a:lnTo>
                  <a:lnTo>
                    <a:pt x="436" y="0"/>
                  </a:lnTo>
                  <a:lnTo>
                    <a:pt x="436" y="3"/>
                  </a:lnTo>
                  <a:lnTo>
                    <a:pt x="293" y="3"/>
                  </a:lnTo>
                  <a:lnTo>
                    <a:pt x="0" y="3"/>
                  </a:lnTo>
                  <a:lnTo>
                    <a:pt x="0"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2" name="Freeform 38">
              <a:extLst>
                <a:ext uri="{FF2B5EF4-FFF2-40B4-BE49-F238E27FC236}">
                  <a16:creationId xmlns:a16="http://schemas.microsoft.com/office/drawing/2014/main" id="{91857BEC-A1E2-F602-4DAB-B609FC0EA9EF}"/>
                </a:ext>
              </a:extLst>
            </p:cNvPr>
            <p:cNvSpPr>
              <a:spLocks/>
            </p:cNvSpPr>
            <p:nvPr/>
          </p:nvSpPr>
          <p:spPr bwMode="auto">
            <a:xfrm>
              <a:off x="10746549" y="180690"/>
              <a:ext cx="199251" cy="12948"/>
            </a:xfrm>
            <a:custGeom>
              <a:avLst/>
              <a:gdLst/>
              <a:ahLst/>
              <a:cxnLst>
                <a:cxn ang="0">
                  <a:pos x="0" y="11"/>
                </a:cxn>
                <a:cxn ang="0">
                  <a:pos x="21" y="8"/>
                </a:cxn>
                <a:cxn ang="0">
                  <a:pos x="32" y="6"/>
                </a:cxn>
                <a:cxn ang="0">
                  <a:pos x="44" y="5"/>
                </a:cxn>
                <a:cxn ang="0">
                  <a:pos x="56" y="4"/>
                </a:cxn>
                <a:cxn ang="0">
                  <a:pos x="68" y="3"/>
                </a:cxn>
                <a:cxn ang="0">
                  <a:pos x="81" y="2"/>
                </a:cxn>
                <a:cxn ang="0">
                  <a:pos x="95" y="1"/>
                </a:cxn>
                <a:cxn ang="0">
                  <a:pos x="99" y="1"/>
                </a:cxn>
                <a:cxn ang="0">
                  <a:pos x="104" y="1"/>
                </a:cxn>
                <a:cxn ang="0">
                  <a:pos x="113" y="0"/>
                </a:cxn>
                <a:cxn ang="0">
                  <a:pos x="123" y="0"/>
                </a:cxn>
                <a:cxn ang="0">
                  <a:pos x="134" y="0"/>
                </a:cxn>
                <a:cxn ang="0">
                  <a:pos x="145" y="0"/>
                </a:cxn>
                <a:cxn ang="0">
                  <a:pos x="157" y="0"/>
                </a:cxn>
                <a:cxn ang="0">
                  <a:pos x="168" y="0"/>
                </a:cxn>
                <a:cxn ang="0">
                  <a:pos x="180" y="0"/>
                </a:cxn>
                <a:cxn ang="0">
                  <a:pos x="191" y="0"/>
                </a:cxn>
                <a:cxn ang="0">
                  <a:pos x="201" y="0"/>
                </a:cxn>
                <a:cxn ang="0">
                  <a:pos x="210" y="0"/>
                </a:cxn>
                <a:cxn ang="0">
                  <a:pos x="214" y="0"/>
                </a:cxn>
                <a:cxn ang="0">
                  <a:pos x="218" y="1"/>
                </a:cxn>
                <a:cxn ang="0">
                  <a:pos x="222" y="1"/>
                </a:cxn>
                <a:cxn ang="0">
                  <a:pos x="225" y="1"/>
                </a:cxn>
                <a:cxn ang="0">
                  <a:pos x="228" y="1"/>
                </a:cxn>
                <a:cxn ang="0">
                  <a:pos x="230" y="1"/>
                </a:cxn>
                <a:cxn ang="0">
                  <a:pos x="232" y="1"/>
                </a:cxn>
                <a:cxn ang="0">
                  <a:pos x="233" y="1"/>
                </a:cxn>
                <a:cxn ang="0">
                  <a:pos x="234" y="1"/>
                </a:cxn>
                <a:cxn ang="0">
                  <a:pos x="234" y="1"/>
                </a:cxn>
                <a:cxn ang="0">
                  <a:pos x="234" y="4"/>
                </a:cxn>
                <a:cxn ang="0">
                  <a:pos x="234" y="4"/>
                </a:cxn>
                <a:cxn ang="0">
                  <a:pos x="233" y="4"/>
                </a:cxn>
                <a:cxn ang="0">
                  <a:pos x="232" y="4"/>
                </a:cxn>
                <a:cxn ang="0">
                  <a:pos x="230" y="4"/>
                </a:cxn>
                <a:cxn ang="0">
                  <a:pos x="228" y="4"/>
                </a:cxn>
                <a:cxn ang="0">
                  <a:pos x="225" y="4"/>
                </a:cxn>
                <a:cxn ang="0">
                  <a:pos x="222" y="4"/>
                </a:cxn>
                <a:cxn ang="0">
                  <a:pos x="218" y="4"/>
                </a:cxn>
                <a:cxn ang="0">
                  <a:pos x="214" y="3"/>
                </a:cxn>
                <a:cxn ang="0">
                  <a:pos x="210" y="3"/>
                </a:cxn>
                <a:cxn ang="0">
                  <a:pos x="201" y="3"/>
                </a:cxn>
                <a:cxn ang="0">
                  <a:pos x="191" y="3"/>
                </a:cxn>
                <a:cxn ang="0">
                  <a:pos x="180" y="3"/>
                </a:cxn>
                <a:cxn ang="0">
                  <a:pos x="168" y="3"/>
                </a:cxn>
                <a:cxn ang="0">
                  <a:pos x="157" y="3"/>
                </a:cxn>
                <a:cxn ang="0">
                  <a:pos x="145" y="3"/>
                </a:cxn>
                <a:cxn ang="0">
                  <a:pos x="134" y="3"/>
                </a:cxn>
                <a:cxn ang="0">
                  <a:pos x="123" y="3"/>
                </a:cxn>
                <a:cxn ang="0">
                  <a:pos x="113" y="3"/>
                </a:cxn>
                <a:cxn ang="0">
                  <a:pos x="104" y="3"/>
                </a:cxn>
                <a:cxn ang="0">
                  <a:pos x="100" y="4"/>
                </a:cxn>
                <a:cxn ang="0">
                  <a:pos x="96" y="4"/>
                </a:cxn>
                <a:cxn ang="0">
                  <a:pos x="82" y="5"/>
                </a:cxn>
                <a:cxn ang="0">
                  <a:pos x="69" y="5"/>
                </a:cxn>
                <a:cxn ang="0">
                  <a:pos x="56" y="7"/>
                </a:cxn>
                <a:cxn ang="0">
                  <a:pos x="45" y="8"/>
                </a:cxn>
                <a:cxn ang="0">
                  <a:pos x="33" y="9"/>
                </a:cxn>
                <a:cxn ang="0">
                  <a:pos x="22" y="11"/>
                </a:cxn>
                <a:cxn ang="0">
                  <a:pos x="1" y="14"/>
                </a:cxn>
                <a:cxn ang="0">
                  <a:pos x="0" y="11"/>
                </a:cxn>
              </a:cxnLst>
              <a:rect l="0" t="0" r="r" b="b"/>
              <a:pathLst>
                <a:path w="234" h="14">
                  <a:moveTo>
                    <a:pt x="0" y="11"/>
                  </a:moveTo>
                  <a:lnTo>
                    <a:pt x="21" y="8"/>
                  </a:lnTo>
                  <a:lnTo>
                    <a:pt x="32" y="6"/>
                  </a:lnTo>
                  <a:lnTo>
                    <a:pt x="44" y="5"/>
                  </a:lnTo>
                  <a:lnTo>
                    <a:pt x="56" y="4"/>
                  </a:lnTo>
                  <a:lnTo>
                    <a:pt x="68" y="3"/>
                  </a:lnTo>
                  <a:lnTo>
                    <a:pt x="81" y="2"/>
                  </a:lnTo>
                  <a:lnTo>
                    <a:pt x="95" y="1"/>
                  </a:lnTo>
                  <a:lnTo>
                    <a:pt x="99" y="1"/>
                  </a:lnTo>
                  <a:lnTo>
                    <a:pt x="104" y="1"/>
                  </a:lnTo>
                  <a:lnTo>
                    <a:pt x="113" y="0"/>
                  </a:lnTo>
                  <a:lnTo>
                    <a:pt x="123" y="0"/>
                  </a:lnTo>
                  <a:lnTo>
                    <a:pt x="134" y="0"/>
                  </a:lnTo>
                  <a:lnTo>
                    <a:pt x="145" y="0"/>
                  </a:lnTo>
                  <a:lnTo>
                    <a:pt x="157" y="0"/>
                  </a:lnTo>
                  <a:lnTo>
                    <a:pt x="168" y="0"/>
                  </a:lnTo>
                  <a:lnTo>
                    <a:pt x="180" y="0"/>
                  </a:lnTo>
                  <a:lnTo>
                    <a:pt x="191" y="0"/>
                  </a:lnTo>
                  <a:lnTo>
                    <a:pt x="201" y="0"/>
                  </a:lnTo>
                  <a:lnTo>
                    <a:pt x="210" y="0"/>
                  </a:lnTo>
                  <a:lnTo>
                    <a:pt x="214" y="0"/>
                  </a:lnTo>
                  <a:lnTo>
                    <a:pt x="218" y="1"/>
                  </a:lnTo>
                  <a:lnTo>
                    <a:pt x="222" y="1"/>
                  </a:lnTo>
                  <a:lnTo>
                    <a:pt x="225" y="1"/>
                  </a:lnTo>
                  <a:lnTo>
                    <a:pt x="228" y="1"/>
                  </a:lnTo>
                  <a:lnTo>
                    <a:pt x="230" y="1"/>
                  </a:lnTo>
                  <a:lnTo>
                    <a:pt x="232" y="1"/>
                  </a:lnTo>
                  <a:lnTo>
                    <a:pt x="233" y="1"/>
                  </a:lnTo>
                  <a:lnTo>
                    <a:pt x="234" y="1"/>
                  </a:lnTo>
                  <a:lnTo>
                    <a:pt x="234" y="1"/>
                  </a:lnTo>
                  <a:lnTo>
                    <a:pt x="234" y="4"/>
                  </a:lnTo>
                  <a:lnTo>
                    <a:pt x="234" y="4"/>
                  </a:lnTo>
                  <a:lnTo>
                    <a:pt x="233" y="4"/>
                  </a:lnTo>
                  <a:lnTo>
                    <a:pt x="232" y="4"/>
                  </a:lnTo>
                  <a:lnTo>
                    <a:pt x="230" y="4"/>
                  </a:lnTo>
                  <a:lnTo>
                    <a:pt x="228" y="4"/>
                  </a:lnTo>
                  <a:lnTo>
                    <a:pt x="225" y="4"/>
                  </a:lnTo>
                  <a:lnTo>
                    <a:pt x="222" y="4"/>
                  </a:lnTo>
                  <a:lnTo>
                    <a:pt x="218" y="4"/>
                  </a:lnTo>
                  <a:lnTo>
                    <a:pt x="214" y="3"/>
                  </a:lnTo>
                  <a:lnTo>
                    <a:pt x="210" y="3"/>
                  </a:lnTo>
                  <a:lnTo>
                    <a:pt x="201" y="3"/>
                  </a:lnTo>
                  <a:lnTo>
                    <a:pt x="191" y="3"/>
                  </a:lnTo>
                  <a:lnTo>
                    <a:pt x="180" y="3"/>
                  </a:lnTo>
                  <a:lnTo>
                    <a:pt x="168" y="3"/>
                  </a:lnTo>
                  <a:lnTo>
                    <a:pt x="157" y="3"/>
                  </a:lnTo>
                  <a:lnTo>
                    <a:pt x="145" y="3"/>
                  </a:lnTo>
                  <a:lnTo>
                    <a:pt x="134" y="3"/>
                  </a:lnTo>
                  <a:lnTo>
                    <a:pt x="123" y="3"/>
                  </a:lnTo>
                  <a:lnTo>
                    <a:pt x="113" y="3"/>
                  </a:lnTo>
                  <a:lnTo>
                    <a:pt x="104" y="3"/>
                  </a:lnTo>
                  <a:lnTo>
                    <a:pt x="100" y="4"/>
                  </a:lnTo>
                  <a:lnTo>
                    <a:pt x="96" y="4"/>
                  </a:lnTo>
                  <a:lnTo>
                    <a:pt x="82" y="5"/>
                  </a:lnTo>
                  <a:lnTo>
                    <a:pt x="69" y="5"/>
                  </a:lnTo>
                  <a:lnTo>
                    <a:pt x="56" y="7"/>
                  </a:lnTo>
                  <a:lnTo>
                    <a:pt x="45" y="8"/>
                  </a:lnTo>
                  <a:lnTo>
                    <a:pt x="33" y="9"/>
                  </a:lnTo>
                  <a:lnTo>
                    <a:pt x="22" y="11"/>
                  </a:lnTo>
                  <a:lnTo>
                    <a:pt x="1" y="14"/>
                  </a:lnTo>
                  <a:lnTo>
                    <a:pt x="0" y="11"/>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3" name="Freeform 39">
              <a:extLst>
                <a:ext uri="{FF2B5EF4-FFF2-40B4-BE49-F238E27FC236}">
                  <a16:creationId xmlns:a16="http://schemas.microsoft.com/office/drawing/2014/main" id="{6D12E053-60F7-4855-B0E3-96C730B73034}"/>
                </a:ext>
              </a:extLst>
            </p:cNvPr>
            <p:cNvSpPr>
              <a:spLocks/>
            </p:cNvSpPr>
            <p:nvPr/>
          </p:nvSpPr>
          <p:spPr bwMode="auto">
            <a:xfrm>
              <a:off x="10750806" y="213984"/>
              <a:ext cx="161785" cy="2774"/>
            </a:xfrm>
            <a:custGeom>
              <a:avLst/>
              <a:gdLst/>
              <a:ahLst/>
              <a:cxnLst>
                <a:cxn ang="0">
                  <a:pos x="0" y="0"/>
                </a:cxn>
                <a:cxn ang="0">
                  <a:pos x="110" y="0"/>
                </a:cxn>
                <a:cxn ang="0">
                  <a:pos x="190" y="0"/>
                </a:cxn>
                <a:cxn ang="0">
                  <a:pos x="190" y="3"/>
                </a:cxn>
                <a:cxn ang="0">
                  <a:pos x="110" y="3"/>
                </a:cxn>
                <a:cxn ang="0">
                  <a:pos x="0" y="3"/>
                </a:cxn>
                <a:cxn ang="0">
                  <a:pos x="0" y="0"/>
                </a:cxn>
              </a:cxnLst>
              <a:rect l="0" t="0" r="r" b="b"/>
              <a:pathLst>
                <a:path w="190" h="3">
                  <a:moveTo>
                    <a:pt x="0" y="0"/>
                  </a:moveTo>
                  <a:lnTo>
                    <a:pt x="110" y="0"/>
                  </a:lnTo>
                  <a:lnTo>
                    <a:pt x="190" y="0"/>
                  </a:lnTo>
                  <a:lnTo>
                    <a:pt x="190" y="3"/>
                  </a:lnTo>
                  <a:lnTo>
                    <a:pt x="110" y="3"/>
                  </a:lnTo>
                  <a:lnTo>
                    <a:pt x="0" y="3"/>
                  </a:lnTo>
                  <a:lnTo>
                    <a:pt x="0"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4" name="Freeform 40">
              <a:extLst>
                <a:ext uri="{FF2B5EF4-FFF2-40B4-BE49-F238E27FC236}">
                  <a16:creationId xmlns:a16="http://schemas.microsoft.com/office/drawing/2014/main" id="{1810BE87-A9BF-1505-D57B-EDD889AC7712}"/>
                </a:ext>
              </a:extLst>
            </p:cNvPr>
            <p:cNvSpPr>
              <a:spLocks/>
            </p:cNvSpPr>
            <p:nvPr/>
          </p:nvSpPr>
          <p:spPr bwMode="auto">
            <a:xfrm>
              <a:off x="10721004" y="190863"/>
              <a:ext cx="36614" cy="25895"/>
            </a:xfrm>
            <a:custGeom>
              <a:avLst/>
              <a:gdLst/>
              <a:ahLst/>
              <a:cxnLst>
                <a:cxn ang="0">
                  <a:pos x="688" y="855"/>
                </a:cxn>
                <a:cxn ang="0">
                  <a:pos x="407" y="783"/>
                </a:cxn>
                <a:cxn ang="0">
                  <a:pos x="179" y="704"/>
                </a:cxn>
                <a:cxn ang="0">
                  <a:pos x="92" y="657"/>
                </a:cxn>
                <a:cxn ang="0">
                  <a:pos x="54" y="628"/>
                </a:cxn>
                <a:cxn ang="0">
                  <a:pos x="25" y="595"/>
                </a:cxn>
                <a:cxn ang="0">
                  <a:pos x="6" y="558"/>
                </a:cxn>
                <a:cxn ang="0">
                  <a:pos x="3" y="508"/>
                </a:cxn>
                <a:cxn ang="0">
                  <a:pos x="20" y="467"/>
                </a:cxn>
                <a:cxn ang="0">
                  <a:pos x="51" y="428"/>
                </a:cxn>
                <a:cxn ang="0">
                  <a:pos x="145" y="354"/>
                </a:cxn>
                <a:cxn ang="0">
                  <a:pos x="277" y="272"/>
                </a:cxn>
                <a:cxn ang="0">
                  <a:pos x="574" y="117"/>
                </a:cxn>
                <a:cxn ang="0">
                  <a:pos x="703" y="56"/>
                </a:cxn>
                <a:cxn ang="0">
                  <a:pos x="795" y="15"/>
                </a:cxn>
                <a:cxn ang="0">
                  <a:pos x="829" y="0"/>
                </a:cxn>
                <a:cxn ang="0">
                  <a:pos x="859" y="91"/>
                </a:cxn>
                <a:cxn ang="0">
                  <a:pos x="794" y="120"/>
                </a:cxn>
                <a:cxn ang="0">
                  <a:pos x="683" y="172"/>
                </a:cxn>
                <a:cxn ang="0">
                  <a:pos x="471" y="276"/>
                </a:cxn>
                <a:cxn ang="0">
                  <a:pos x="260" y="394"/>
                </a:cxn>
                <a:cxn ang="0">
                  <a:pos x="154" y="466"/>
                </a:cxn>
                <a:cxn ang="0">
                  <a:pos x="120" y="494"/>
                </a:cxn>
                <a:cxn ang="0">
                  <a:pos x="103" y="512"/>
                </a:cxn>
                <a:cxn ang="0">
                  <a:pos x="96" y="514"/>
                </a:cxn>
                <a:cxn ang="0">
                  <a:pos x="95" y="525"/>
                </a:cxn>
                <a:cxn ang="0">
                  <a:pos x="101" y="538"/>
                </a:cxn>
                <a:cxn ang="0">
                  <a:pos x="117" y="556"/>
                </a:cxn>
                <a:cxn ang="0">
                  <a:pos x="175" y="595"/>
                </a:cxn>
                <a:cxn ang="0">
                  <a:pos x="313" y="653"/>
                </a:cxn>
                <a:cxn ang="0">
                  <a:pos x="566" y="727"/>
                </a:cxn>
                <a:cxn ang="0">
                  <a:pos x="859" y="797"/>
                </a:cxn>
              </a:cxnLst>
              <a:rect l="0" t="0" r="r" b="b"/>
              <a:pathLst>
                <a:path w="868" h="890">
                  <a:moveTo>
                    <a:pt x="837" y="890"/>
                  </a:moveTo>
                  <a:lnTo>
                    <a:pt x="688" y="855"/>
                  </a:lnTo>
                  <a:lnTo>
                    <a:pt x="543" y="820"/>
                  </a:lnTo>
                  <a:lnTo>
                    <a:pt x="407" y="783"/>
                  </a:lnTo>
                  <a:lnTo>
                    <a:pt x="284" y="744"/>
                  </a:lnTo>
                  <a:lnTo>
                    <a:pt x="179" y="704"/>
                  </a:lnTo>
                  <a:lnTo>
                    <a:pt x="132" y="682"/>
                  </a:lnTo>
                  <a:lnTo>
                    <a:pt x="92" y="657"/>
                  </a:lnTo>
                  <a:lnTo>
                    <a:pt x="59" y="633"/>
                  </a:lnTo>
                  <a:cubicBezTo>
                    <a:pt x="57" y="631"/>
                    <a:pt x="56" y="629"/>
                    <a:pt x="54" y="628"/>
                  </a:cubicBezTo>
                  <a:lnTo>
                    <a:pt x="32" y="605"/>
                  </a:lnTo>
                  <a:cubicBezTo>
                    <a:pt x="29" y="602"/>
                    <a:pt x="27" y="599"/>
                    <a:pt x="25" y="595"/>
                  </a:cubicBezTo>
                  <a:lnTo>
                    <a:pt x="12" y="572"/>
                  </a:lnTo>
                  <a:cubicBezTo>
                    <a:pt x="9" y="568"/>
                    <a:pt x="7" y="563"/>
                    <a:pt x="6" y="558"/>
                  </a:cubicBezTo>
                  <a:lnTo>
                    <a:pt x="1" y="533"/>
                  </a:lnTo>
                  <a:cubicBezTo>
                    <a:pt x="0" y="525"/>
                    <a:pt x="0" y="516"/>
                    <a:pt x="3" y="508"/>
                  </a:cubicBezTo>
                  <a:lnTo>
                    <a:pt x="12" y="481"/>
                  </a:lnTo>
                  <a:cubicBezTo>
                    <a:pt x="14" y="476"/>
                    <a:pt x="16" y="471"/>
                    <a:pt x="20" y="467"/>
                  </a:cubicBezTo>
                  <a:lnTo>
                    <a:pt x="45" y="435"/>
                  </a:lnTo>
                  <a:cubicBezTo>
                    <a:pt x="46" y="433"/>
                    <a:pt x="49" y="430"/>
                    <a:pt x="51" y="428"/>
                  </a:cubicBezTo>
                  <a:lnTo>
                    <a:pt x="91" y="393"/>
                  </a:lnTo>
                  <a:lnTo>
                    <a:pt x="145" y="354"/>
                  </a:lnTo>
                  <a:lnTo>
                    <a:pt x="209" y="313"/>
                  </a:lnTo>
                  <a:lnTo>
                    <a:pt x="277" y="272"/>
                  </a:lnTo>
                  <a:lnTo>
                    <a:pt x="426" y="191"/>
                  </a:lnTo>
                  <a:lnTo>
                    <a:pt x="574" y="117"/>
                  </a:lnTo>
                  <a:lnTo>
                    <a:pt x="642" y="85"/>
                  </a:lnTo>
                  <a:lnTo>
                    <a:pt x="703" y="56"/>
                  </a:lnTo>
                  <a:lnTo>
                    <a:pt x="755" y="33"/>
                  </a:lnTo>
                  <a:lnTo>
                    <a:pt x="795" y="15"/>
                  </a:lnTo>
                  <a:lnTo>
                    <a:pt x="820" y="4"/>
                  </a:lnTo>
                  <a:lnTo>
                    <a:pt x="829" y="0"/>
                  </a:lnTo>
                  <a:lnTo>
                    <a:pt x="868" y="87"/>
                  </a:lnTo>
                  <a:lnTo>
                    <a:pt x="859" y="91"/>
                  </a:lnTo>
                  <a:lnTo>
                    <a:pt x="834" y="102"/>
                  </a:lnTo>
                  <a:lnTo>
                    <a:pt x="794" y="120"/>
                  </a:lnTo>
                  <a:lnTo>
                    <a:pt x="744" y="143"/>
                  </a:lnTo>
                  <a:lnTo>
                    <a:pt x="683" y="172"/>
                  </a:lnTo>
                  <a:lnTo>
                    <a:pt x="617" y="203"/>
                  </a:lnTo>
                  <a:lnTo>
                    <a:pt x="471" y="276"/>
                  </a:lnTo>
                  <a:lnTo>
                    <a:pt x="326" y="355"/>
                  </a:lnTo>
                  <a:lnTo>
                    <a:pt x="260" y="394"/>
                  </a:lnTo>
                  <a:lnTo>
                    <a:pt x="202" y="431"/>
                  </a:lnTo>
                  <a:lnTo>
                    <a:pt x="154" y="466"/>
                  </a:lnTo>
                  <a:lnTo>
                    <a:pt x="114" y="501"/>
                  </a:lnTo>
                  <a:lnTo>
                    <a:pt x="120" y="494"/>
                  </a:lnTo>
                  <a:lnTo>
                    <a:pt x="95" y="526"/>
                  </a:lnTo>
                  <a:lnTo>
                    <a:pt x="103" y="512"/>
                  </a:lnTo>
                  <a:lnTo>
                    <a:pt x="94" y="539"/>
                  </a:lnTo>
                  <a:lnTo>
                    <a:pt x="96" y="514"/>
                  </a:lnTo>
                  <a:lnTo>
                    <a:pt x="101" y="539"/>
                  </a:lnTo>
                  <a:lnTo>
                    <a:pt x="95" y="525"/>
                  </a:lnTo>
                  <a:lnTo>
                    <a:pt x="108" y="548"/>
                  </a:lnTo>
                  <a:lnTo>
                    <a:pt x="101" y="538"/>
                  </a:lnTo>
                  <a:lnTo>
                    <a:pt x="123" y="561"/>
                  </a:lnTo>
                  <a:lnTo>
                    <a:pt x="117" y="556"/>
                  </a:lnTo>
                  <a:lnTo>
                    <a:pt x="142" y="576"/>
                  </a:lnTo>
                  <a:lnTo>
                    <a:pt x="175" y="595"/>
                  </a:lnTo>
                  <a:lnTo>
                    <a:pt x="214" y="615"/>
                  </a:lnTo>
                  <a:lnTo>
                    <a:pt x="313" y="653"/>
                  </a:lnTo>
                  <a:lnTo>
                    <a:pt x="432" y="690"/>
                  </a:lnTo>
                  <a:lnTo>
                    <a:pt x="566" y="727"/>
                  </a:lnTo>
                  <a:lnTo>
                    <a:pt x="710" y="762"/>
                  </a:lnTo>
                  <a:lnTo>
                    <a:pt x="859" y="797"/>
                  </a:lnTo>
                  <a:lnTo>
                    <a:pt x="837" y="89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5" name="Freeform 41">
              <a:extLst>
                <a:ext uri="{FF2B5EF4-FFF2-40B4-BE49-F238E27FC236}">
                  <a16:creationId xmlns:a16="http://schemas.microsoft.com/office/drawing/2014/main" id="{F2AD536D-8637-792C-E6C3-9B1F60A5EF88}"/>
                </a:ext>
              </a:extLst>
            </p:cNvPr>
            <p:cNvSpPr>
              <a:spLocks/>
            </p:cNvSpPr>
            <p:nvPr/>
          </p:nvSpPr>
          <p:spPr bwMode="auto">
            <a:xfrm>
              <a:off x="10881938" y="198261"/>
              <a:ext cx="172004" cy="6474"/>
            </a:xfrm>
            <a:custGeom>
              <a:avLst/>
              <a:gdLst/>
              <a:ahLst/>
              <a:cxnLst>
                <a:cxn ang="0">
                  <a:pos x="0" y="81"/>
                </a:cxn>
                <a:cxn ang="0">
                  <a:pos x="247" y="51"/>
                </a:cxn>
                <a:cxn ang="0">
                  <a:pos x="497" y="26"/>
                </a:cxn>
                <a:cxn ang="0">
                  <a:pos x="747" y="8"/>
                </a:cxn>
                <a:cxn ang="0">
                  <a:pos x="875" y="2"/>
                </a:cxn>
                <a:cxn ang="0">
                  <a:pos x="1002" y="0"/>
                </a:cxn>
                <a:cxn ang="0">
                  <a:pos x="1070" y="1"/>
                </a:cxn>
                <a:cxn ang="0">
                  <a:pos x="1146" y="4"/>
                </a:cxn>
                <a:cxn ang="0">
                  <a:pos x="1226" y="8"/>
                </a:cxn>
                <a:cxn ang="0">
                  <a:pos x="1310" y="13"/>
                </a:cxn>
                <a:cxn ang="0">
                  <a:pos x="1483" y="26"/>
                </a:cxn>
                <a:cxn ang="0">
                  <a:pos x="1568" y="33"/>
                </a:cxn>
                <a:cxn ang="0">
                  <a:pos x="1652" y="41"/>
                </a:cxn>
                <a:cxn ang="0">
                  <a:pos x="1732" y="48"/>
                </a:cxn>
                <a:cxn ang="0">
                  <a:pos x="1805" y="55"/>
                </a:cxn>
                <a:cxn ang="0">
                  <a:pos x="1872" y="62"/>
                </a:cxn>
                <a:cxn ang="0">
                  <a:pos x="1930" y="68"/>
                </a:cxn>
                <a:cxn ang="0">
                  <a:pos x="1978" y="73"/>
                </a:cxn>
                <a:cxn ang="0">
                  <a:pos x="1998" y="76"/>
                </a:cxn>
                <a:cxn ang="0">
                  <a:pos x="2014" y="77"/>
                </a:cxn>
                <a:cxn ang="0">
                  <a:pos x="2028" y="79"/>
                </a:cxn>
                <a:cxn ang="0">
                  <a:pos x="2037" y="80"/>
                </a:cxn>
                <a:cxn ang="0">
                  <a:pos x="2044" y="81"/>
                </a:cxn>
                <a:cxn ang="0">
                  <a:pos x="2040" y="80"/>
                </a:cxn>
                <a:cxn ang="0">
                  <a:pos x="2042" y="80"/>
                </a:cxn>
                <a:cxn ang="0">
                  <a:pos x="2042" y="128"/>
                </a:cxn>
                <a:cxn ang="0">
                  <a:pos x="2040" y="128"/>
                </a:cxn>
                <a:cxn ang="0">
                  <a:pos x="2037" y="128"/>
                </a:cxn>
                <a:cxn ang="0">
                  <a:pos x="2032" y="127"/>
                </a:cxn>
                <a:cxn ang="0">
                  <a:pos x="2022" y="126"/>
                </a:cxn>
                <a:cxn ang="0">
                  <a:pos x="2010" y="125"/>
                </a:cxn>
                <a:cxn ang="0">
                  <a:pos x="1992" y="123"/>
                </a:cxn>
                <a:cxn ang="0">
                  <a:pos x="1973" y="121"/>
                </a:cxn>
                <a:cxn ang="0">
                  <a:pos x="1925" y="116"/>
                </a:cxn>
                <a:cxn ang="0">
                  <a:pos x="1867" y="110"/>
                </a:cxn>
                <a:cxn ang="0">
                  <a:pos x="1801" y="103"/>
                </a:cxn>
                <a:cxn ang="0">
                  <a:pos x="1727" y="96"/>
                </a:cxn>
                <a:cxn ang="0">
                  <a:pos x="1648" y="88"/>
                </a:cxn>
                <a:cxn ang="0">
                  <a:pos x="1565" y="81"/>
                </a:cxn>
                <a:cxn ang="0">
                  <a:pos x="1479" y="74"/>
                </a:cxn>
                <a:cxn ang="0">
                  <a:pos x="1307" y="61"/>
                </a:cxn>
                <a:cxn ang="0">
                  <a:pos x="1223" y="56"/>
                </a:cxn>
                <a:cxn ang="0">
                  <a:pos x="1144" y="52"/>
                </a:cxn>
                <a:cxn ang="0">
                  <a:pos x="1070" y="49"/>
                </a:cxn>
                <a:cxn ang="0">
                  <a:pos x="1003" y="48"/>
                </a:cxn>
                <a:cxn ang="0">
                  <a:pos x="876" y="50"/>
                </a:cxn>
                <a:cxn ang="0">
                  <a:pos x="751" y="55"/>
                </a:cxn>
                <a:cxn ang="0">
                  <a:pos x="501" y="73"/>
                </a:cxn>
                <a:cxn ang="0">
                  <a:pos x="253" y="99"/>
                </a:cxn>
                <a:cxn ang="0">
                  <a:pos x="5" y="128"/>
                </a:cxn>
                <a:cxn ang="0">
                  <a:pos x="0" y="81"/>
                </a:cxn>
              </a:cxnLst>
              <a:rect l="0" t="0" r="r" b="b"/>
              <a:pathLst>
                <a:path w="2044" h="128">
                  <a:moveTo>
                    <a:pt x="0" y="81"/>
                  </a:moveTo>
                  <a:lnTo>
                    <a:pt x="247" y="51"/>
                  </a:lnTo>
                  <a:lnTo>
                    <a:pt x="497" y="26"/>
                  </a:lnTo>
                  <a:lnTo>
                    <a:pt x="747" y="8"/>
                  </a:lnTo>
                  <a:lnTo>
                    <a:pt x="875" y="2"/>
                  </a:lnTo>
                  <a:lnTo>
                    <a:pt x="1002" y="0"/>
                  </a:lnTo>
                  <a:lnTo>
                    <a:pt x="1070" y="1"/>
                  </a:lnTo>
                  <a:lnTo>
                    <a:pt x="1146" y="4"/>
                  </a:lnTo>
                  <a:lnTo>
                    <a:pt x="1226" y="8"/>
                  </a:lnTo>
                  <a:lnTo>
                    <a:pt x="1310" y="13"/>
                  </a:lnTo>
                  <a:lnTo>
                    <a:pt x="1483" y="26"/>
                  </a:lnTo>
                  <a:lnTo>
                    <a:pt x="1568" y="33"/>
                  </a:lnTo>
                  <a:lnTo>
                    <a:pt x="1652" y="41"/>
                  </a:lnTo>
                  <a:lnTo>
                    <a:pt x="1732" y="48"/>
                  </a:lnTo>
                  <a:lnTo>
                    <a:pt x="1805" y="55"/>
                  </a:lnTo>
                  <a:lnTo>
                    <a:pt x="1872" y="62"/>
                  </a:lnTo>
                  <a:lnTo>
                    <a:pt x="1930" y="68"/>
                  </a:lnTo>
                  <a:lnTo>
                    <a:pt x="1978" y="73"/>
                  </a:lnTo>
                  <a:lnTo>
                    <a:pt x="1998" y="76"/>
                  </a:lnTo>
                  <a:lnTo>
                    <a:pt x="2014" y="77"/>
                  </a:lnTo>
                  <a:lnTo>
                    <a:pt x="2028" y="79"/>
                  </a:lnTo>
                  <a:lnTo>
                    <a:pt x="2037" y="80"/>
                  </a:lnTo>
                  <a:lnTo>
                    <a:pt x="2044" y="81"/>
                  </a:lnTo>
                  <a:lnTo>
                    <a:pt x="2040" y="80"/>
                  </a:lnTo>
                  <a:lnTo>
                    <a:pt x="2042" y="80"/>
                  </a:lnTo>
                  <a:lnTo>
                    <a:pt x="2042" y="128"/>
                  </a:lnTo>
                  <a:lnTo>
                    <a:pt x="2040" y="128"/>
                  </a:lnTo>
                  <a:cubicBezTo>
                    <a:pt x="2039" y="128"/>
                    <a:pt x="2038" y="128"/>
                    <a:pt x="2037" y="128"/>
                  </a:cubicBezTo>
                  <a:lnTo>
                    <a:pt x="2032" y="127"/>
                  </a:lnTo>
                  <a:lnTo>
                    <a:pt x="2022" y="126"/>
                  </a:lnTo>
                  <a:lnTo>
                    <a:pt x="2010" y="125"/>
                  </a:lnTo>
                  <a:lnTo>
                    <a:pt x="1992" y="123"/>
                  </a:lnTo>
                  <a:lnTo>
                    <a:pt x="1973" y="121"/>
                  </a:lnTo>
                  <a:lnTo>
                    <a:pt x="1925" y="116"/>
                  </a:lnTo>
                  <a:lnTo>
                    <a:pt x="1867" y="110"/>
                  </a:lnTo>
                  <a:lnTo>
                    <a:pt x="1801" y="103"/>
                  </a:lnTo>
                  <a:lnTo>
                    <a:pt x="1727" y="96"/>
                  </a:lnTo>
                  <a:lnTo>
                    <a:pt x="1648" y="88"/>
                  </a:lnTo>
                  <a:lnTo>
                    <a:pt x="1565" y="81"/>
                  </a:lnTo>
                  <a:lnTo>
                    <a:pt x="1479" y="74"/>
                  </a:lnTo>
                  <a:lnTo>
                    <a:pt x="1307" y="61"/>
                  </a:lnTo>
                  <a:lnTo>
                    <a:pt x="1223" y="56"/>
                  </a:lnTo>
                  <a:lnTo>
                    <a:pt x="1144" y="52"/>
                  </a:lnTo>
                  <a:lnTo>
                    <a:pt x="1070" y="49"/>
                  </a:lnTo>
                  <a:lnTo>
                    <a:pt x="1003" y="48"/>
                  </a:lnTo>
                  <a:lnTo>
                    <a:pt x="876" y="50"/>
                  </a:lnTo>
                  <a:lnTo>
                    <a:pt x="751" y="55"/>
                  </a:lnTo>
                  <a:lnTo>
                    <a:pt x="501" y="73"/>
                  </a:lnTo>
                  <a:lnTo>
                    <a:pt x="253" y="99"/>
                  </a:lnTo>
                  <a:lnTo>
                    <a:pt x="5" y="128"/>
                  </a:lnTo>
                  <a:lnTo>
                    <a:pt x="0" y="81"/>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6" name="Freeform 42">
              <a:extLst>
                <a:ext uri="{FF2B5EF4-FFF2-40B4-BE49-F238E27FC236}">
                  <a16:creationId xmlns:a16="http://schemas.microsoft.com/office/drawing/2014/main" id="{59D70F6B-93CB-7F37-DCCD-61603F73280B}"/>
                </a:ext>
              </a:extLst>
            </p:cNvPr>
            <p:cNvSpPr>
              <a:spLocks/>
            </p:cNvSpPr>
            <p:nvPr/>
          </p:nvSpPr>
          <p:spPr bwMode="auto">
            <a:xfrm>
              <a:off x="10881086" y="204736"/>
              <a:ext cx="73229" cy="14797"/>
            </a:xfrm>
            <a:custGeom>
              <a:avLst/>
              <a:gdLst/>
              <a:ahLst/>
              <a:cxnLst>
                <a:cxn ang="0">
                  <a:pos x="25" y="0"/>
                </a:cxn>
                <a:cxn ang="0">
                  <a:pos x="1550" y="398"/>
                </a:cxn>
                <a:cxn ang="0">
                  <a:pos x="1594" y="409"/>
                </a:cxn>
                <a:cxn ang="0">
                  <a:pos x="1628" y="417"/>
                </a:cxn>
                <a:cxn ang="0">
                  <a:pos x="1655" y="423"/>
                </a:cxn>
                <a:cxn ang="0">
                  <a:pos x="1670" y="425"/>
                </a:cxn>
                <a:cxn ang="0">
                  <a:pos x="1678" y="426"/>
                </a:cxn>
                <a:cxn ang="0">
                  <a:pos x="1680" y="425"/>
                </a:cxn>
                <a:cxn ang="0">
                  <a:pos x="1642" y="502"/>
                </a:cxn>
                <a:cxn ang="0">
                  <a:pos x="1639" y="498"/>
                </a:cxn>
                <a:cxn ang="0">
                  <a:pos x="1655" y="512"/>
                </a:cxn>
                <a:cxn ang="0">
                  <a:pos x="1640" y="504"/>
                </a:cxn>
                <a:cxn ang="0">
                  <a:pos x="1625" y="498"/>
                </a:cxn>
                <a:cxn ang="0">
                  <a:pos x="1609" y="493"/>
                </a:cxn>
                <a:cxn ang="0">
                  <a:pos x="1601" y="489"/>
                </a:cxn>
                <a:cxn ang="0">
                  <a:pos x="1634" y="400"/>
                </a:cxn>
                <a:cxn ang="0">
                  <a:pos x="1641" y="402"/>
                </a:cxn>
                <a:cxn ang="0">
                  <a:pos x="1660" y="409"/>
                </a:cxn>
                <a:cxn ang="0">
                  <a:pos x="1685" y="419"/>
                </a:cxn>
                <a:cxn ang="0">
                  <a:pos x="1700" y="427"/>
                </a:cxn>
                <a:cxn ang="0">
                  <a:pos x="1716" y="441"/>
                </a:cxn>
                <a:cxn ang="0">
                  <a:pos x="1719" y="445"/>
                </a:cxn>
                <a:cxn ang="0">
                  <a:pos x="1723" y="495"/>
                </a:cxn>
                <a:cxn ang="0">
                  <a:pos x="1680" y="521"/>
                </a:cxn>
                <a:cxn ang="0">
                  <a:pos x="1670" y="521"/>
                </a:cxn>
                <a:cxn ang="0">
                  <a:pos x="1655" y="520"/>
                </a:cxn>
                <a:cxn ang="0">
                  <a:pos x="1634" y="516"/>
                </a:cxn>
                <a:cxn ang="0">
                  <a:pos x="1607" y="510"/>
                </a:cxn>
                <a:cxn ang="0">
                  <a:pos x="1571" y="502"/>
                </a:cxn>
                <a:cxn ang="0">
                  <a:pos x="1525" y="491"/>
                </a:cxn>
                <a:cxn ang="0">
                  <a:pos x="0" y="93"/>
                </a:cxn>
                <a:cxn ang="0">
                  <a:pos x="25" y="0"/>
                </a:cxn>
              </a:cxnLst>
              <a:rect l="0" t="0" r="r" b="b"/>
              <a:pathLst>
                <a:path w="1732" h="521">
                  <a:moveTo>
                    <a:pt x="25" y="0"/>
                  </a:moveTo>
                  <a:lnTo>
                    <a:pt x="1550" y="398"/>
                  </a:lnTo>
                  <a:lnTo>
                    <a:pt x="1594" y="409"/>
                  </a:lnTo>
                  <a:lnTo>
                    <a:pt x="1628" y="417"/>
                  </a:lnTo>
                  <a:lnTo>
                    <a:pt x="1655" y="423"/>
                  </a:lnTo>
                  <a:lnTo>
                    <a:pt x="1670" y="425"/>
                  </a:lnTo>
                  <a:lnTo>
                    <a:pt x="1678" y="426"/>
                  </a:lnTo>
                  <a:lnTo>
                    <a:pt x="1680" y="425"/>
                  </a:lnTo>
                  <a:lnTo>
                    <a:pt x="1642" y="502"/>
                  </a:lnTo>
                  <a:lnTo>
                    <a:pt x="1639" y="498"/>
                  </a:lnTo>
                  <a:lnTo>
                    <a:pt x="1655" y="512"/>
                  </a:lnTo>
                  <a:lnTo>
                    <a:pt x="1640" y="504"/>
                  </a:lnTo>
                  <a:lnTo>
                    <a:pt x="1625" y="498"/>
                  </a:lnTo>
                  <a:lnTo>
                    <a:pt x="1609" y="493"/>
                  </a:lnTo>
                  <a:lnTo>
                    <a:pt x="1601" y="489"/>
                  </a:lnTo>
                  <a:lnTo>
                    <a:pt x="1634" y="400"/>
                  </a:lnTo>
                  <a:lnTo>
                    <a:pt x="1641" y="402"/>
                  </a:lnTo>
                  <a:lnTo>
                    <a:pt x="1660" y="409"/>
                  </a:lnTo>
                  <a:lnTo>
                    <a:pt x="1685" y="419"/>
                  </a:lnTo>
                  <a:lnTo>
                    <a:pt x="1700" y="427"/>
                  </a:lnTo>
                  <a:cubicBezTo>
                    <a:pt x="1706" y="430"/>
                    <a:pt x="1712" y="435"/>
                    <a:pt x="1716" y="441"/>
                  </a:cubicBezTo>
                  <a:lnTo>
                    <a:pt x="1719" y="445"/>
                  </a:lnTo>
                  <a:cubicBezTo>
                    <a:pt x="1730" y="459"/>
                    <a:pt x="1732" y="479"/>
                    <a:pt x="1723" y="495"/>
                  </a:cubicBezTo>
                  <a:cubicBezTo>
                    <a:pt x="1715" y="511"/>
                    <a:pt x="1699" y="521"/>
                    <a:pt x="1680" y="521"/>
                  </a:cubicBezTo>
                  <a:lnTo>
                    <a:pt x="1670" y="521"/>
                  </a:lnTo>
                  <a:lnTo>
                    <a:pt x="1655" y="520"/>
                  </a:lnTo>
                  <a:lnTo>
                    <a:pt x="1634" y="516"/>
                  </a:lnTo>
                  <a:lnTo>
                    <a:pt x="1607" y="510"/>
                  </a:lnTo>
                  <a:lnTo>
                    <a:pt x="1571" y="502"/>
                  </a:lnTo>
                  <a:lnTo>
                    <a:pt x="1525" y="491"/>
                  </a:lnTo>
                  <a:lnTo>
                    <a:pt x="0" y="93"/>
                  </a:lnTo>
                  <a:lnTo>
                    <a:pt x="25"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7" name="Freeform 43">
              <a:extLst>
                <a:ext uri="{FF2B5EF4-FFF2-40B4-BE49-F238E27FC236}">
                  <a16:creationId xmlns:a16="http://schemas.microsoft.com/office/drawing/2014/main" id="{24252D34-F078-36B1-F50E-39BBD09516C6}"/>
                </a:ext>
              </a:extLst>
            </p:cNvPr>
            <p:cNvSpPr>
              <a:spLocks/>
            </p:cNvSpPr>
            <p:nvPr/>
          </p:nvSpPr>
          <p:spPr bwMode="auto">
            <a:xfrm>
              <a:off x="10945801" y="213984"/>
              <a:ext cx="71526" cy="4624"/>
            </a:xfrm>
            <a:custGeom>
              <a:avLst/>
              <a:gdLst/>
              <a:ahLst/>
              <a:cxnLst>
                <a:cxn ang="0">
                  <a:pos x="0" y="2"/>
                </a:cxn>
                <a:cxn ang="0">
                  <a:pos x="83" y="0"/>
                </a:cxn>
                <a:cxn ang="0">
                  <a:pos x="84" y="3"/>
                </a:cxn>
                <a:cxn ang="0">
                  <a:pos x="0" y="5"/>
                </a:cxn>
                <a:cxn ang="0">
                  <a:pos x="0" y="2"/>
                </a:cxn>
              </a:cxnLst>
              <a:rect l="0" t="0" r="r" b="b"/>
              <a:pathLst>
                <a:path w="84" h="5">
                  <a:moveTo>
                    <a:pt x="0" y="2"/>
                  </a:moveTo>
                  <a:lnTo>
                    <a:pt x="83" y="0"/>
                  </a:lnTo>
                  <a:lnTo>
                    <a:pt x="84" y="3"/>
                  </a:lnTo>
                  <a:lnTo>
                    <a:pt x="0" y="5"/>
                  </a:lnTo>
                  <a:lnTo>
                    <a:pt x="0" y="2"/>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8" name="Freeform 44">
              <a:extLst>
                <a:ext uri="{FF2B5EF4-FFF2-40B4-BE49-F238E27FC236}">
                  <a16:creationId xmlns:a16="http://schemas.microsoft.com/office/drawing/2014/main" id="{24D2ABE7-DB13-D2E7-8119-F2570E0191CB}"/>
                </a:ext>
              </a:extLst>
            </p:cNvPr>
            <p:cNvSpPr>
              <a:spLocks/>
            </p:cNvSpPr>
            <p:nvPr/>
          </p:nvSpPr>
          <p:spPr bwMode="auto">
            <a:xfrm>
              <a:off x="11025841" y="200111"/>
              <a:ext cx="33209" cy="21271"/>
            </a:xfrm>
            <a:custGeom>
              <a:avLst/>
              <a:gdLst/>
              <a:ahLst/>
              <a:cxnLst>
                <a:cxn ang="0">
                  <a:pos x="0" y="20"/>
                </a:cxn>
                <a:cxn ang="0">
                  <a:pos x="36" y="0"/>
                </a:cxn>
                <a:cxn ang="0">
                  <a:pos x="39" y="3"/>
                </a:cxn>
                <a:cxn ang="0">
                  <a:pos x="3" y="23"/>
                </a:cxn>
                <a:cxn ang="0">
                  <a:pos x="0" y="20"/>
                </a:cxn>
              </a:cxnLst>
              <a:rect l="0" t="0" r="r" b="b"/>
              <a:pathLst>
                <a:path w="39" h="23">
                  <a:moveTo>
                    <a:pt x="0" y="20"/>
                  </a:moveTo>
                  <a:lnTo>
                    <a:pt x="36" y="0"/>
                  </a:lnTo>
                  <a:lnTo>
                    <a:pt x="39" y="3"/>
                  </a:lnTo>
                  <a:lnTo>
                    <a:pt x="3" y="23"/>
                  </a:lnTo>
                  <a:lnTo>
                    <a:pt x="0" y="2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49" name="Freeform 45">
              <a:extLst>
                <a:ext uri="{FF2B5EF4-FFF2-40B4-BE49-F238E27FC236}">
                  <a16:creationId xmlns:a16="http://schemas.microsoft.com/office/drawing/2014/main" id="{E1FF9AE9-1930-1F59-15F7-19EC31F37BBB}"/>
                </a:ext>
              </a:extLst>
            </p:cNvPr>
            <p:cNvSpPr>
              <a:spLocks/>
            </p:cNvSpPr>
            <p:nvPr/>
          </p:nvSpPr>
          <p:spPr bwMode="auto">
            <a:xfrm>
              <a:off x="10753361" y="193638"/>
              <a:ext cx="520268" cy="11098"/>
            </a:xfrm>
            <a:custGeom>
              <a:avLst/>
              <a:gdLst/>
              <a:ahLst/>
              <a:cxnLst>
                <a:cxn ang="0">
                  <a:pos x="0" y="9"/>
                </a:cxn>
                <a:cxn ang="0">
                  <a:pos x="210" y="7"/>
                </a:cxn>
                <a:cxn ang="0">
                  <a:pos x="611" y="0"/>
                </a:cxn>
                <a:cxn ang="0">
                  <a:pos x="611" y="3"/>
                </a:cxn>
                <a:cxn ang="0">
                  <a:pos x="211" y="10"/>
                </a:cxn>
                <a:cxn ang="0">
                  <a:pos x="1" y="12"/>
                </a:cxn>
                <a:cxn ang="0">
                  <a:pos x="0" y="9"/>
                </a:cxn>
              </a:cxnLst>
              <a:rect l="0" t="0" r="r" b="b"/>
              <a:pathLst>
                <a:path w="611" h="12">
                  <a:moveTo>
                    <a:pt x="0" y="9"/>
                  </a:moveTo>
                  <a:lnTo>
                    <a:pt x="210" y="7"/>
                  </a:lnTo>
                  <a:lnTo>
                    <a:pt x="611" y="0"/>
                  </a:lnTo>
                  <a:lnTo>
                    <a:pt x="611" y="3"/>
                  </a:lnTo>
                  <a:lnTo>
                    <a:pt x="211" y="10"/>
                  </a:lnTo>
                  <a:lnTo>
                    <a:pt x="1" y="12"/>
                  </a:lnTo>
                  <a:lnTo>
                    <a:pt x="0" y="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50" name="Rectangle 46">
              <a:extLst>
                <a:ext uri="{FF2B5EF4-FFF2-40B4-BE49-F238E27FC236}">
                  <a16:creationId xmlns:a16="http://schemas.microsoft.com/office/drawing/2014/main" id="{80D99186-F0CF-AF47-3694-A299AC5DCCCA}"/>
                </a:ext>
              </a:extLst>
            </p:cNvPr>
            <p:cNvSpPr>
              <a:spLocks noChangeArrowheads="1"/>
            </p:cNvSpPr>
            <p:nvPr/>
          </p:nvSpPr>
          <p:spPr bwMode="auto">
            <a:xfrm>
              <a:off x="11260004" y="121501"/>
              <a:ext cx="27248" cy="277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51" name="Rectangle 47">
              <a:extLst>
                <a:ext uri="{FF2B5EF4-FFF2-40B4-BE49-F238E27FC236}">
                  <a16:creationId xmlns:a16="http://schemas.microsoft.com/office/drawing/2014/main" id="{83A96F76-A751-B90A-BAAE-F7658D3FC0D1}"/>
                </a:ext>
              </a:extLst>
            </p:cNvPr>
            <p:cNvSpPr>
              <a:spLocks noChangeArrowheads="1"/>
            </p:cNvSpPr>
            <p:nvPr/>
          </p:nvSpPr>
          <p:spPr bwMode="auto">
            <a:xfrm>
              <a:off x="11260856" y="125200"/>
              <a:ext cx="4258" cy="3514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52" name="Rectangle 48">
              <a:extLst>
                <a:ext uri="{FF2B5EF4-FFF2-40B4-BE49-F238E27FC236}">
                  <a16:creationId xmlns:a16="http://schemas.microsoft.com/office/drawing/2014/main" id="{E834D950-A341-5627-7040-1752C86C408E}"/>
                </a:ext>
              </a:extLst>
            </p:cNvPr>
            <p:cNvSpPr>
              <a:spLocks noChangeArrowheads="1"/>
            </p:cNvSpPr>
            <p:nvPr/>
          </p:nvSpPr>
          <p:spPr bwMode="auto">
            <a:xfrm>
              <a:off x="11260004" y="156644"/>
              <a:ext cx="33209" cy="277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grpSp>
      <p:cxnSp>
        <p:nvCxnSpPr>
          <p:cNvPr id="53" name="直接箭头连接符 52">
            <a:extLst>
              <a:ext uri="{FF2B5EF4-FFF2-40B4-BE49-F238E27FC236}">
                <a16:creationId xmlns:a16="http://schemas.microsoft.com/office/drawing/2014/main" id="{189535C2-C78E-0FC0-565A-BA76A11093F4}"/>
              </a:ext>
            </a:extLst>
          </p:cNvPr>
          <p:cNvCxnSpPr>
            <a:cxnSpLocks/>
          </p:cNvCxnSpPr>
          <p:nvPr/>
        </p:nvCxnSpPr>
        <p:spPr>
          <a:xfrm>
            <a:off x="2822101" y="5071483"/>
            <a:ext cx="2130899" cy="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5" name="云形 54">
            <a:extLst>
              <a:ext uri="{FF2B5EF4-FFF2-40B4-BE49-F238E27FC236}">
                <a16:creationId xmlns:a16="http://schemas.microsoft.com/office/drawing/2014/main" id="{033D55B8-255D-2832-9784-A984F0B29544}"/>
              </a:ext>
            </a:extLst>
          </p:cNvPr>
          <p:cNvSpPr/>
          <p:nvPr/>
        </p:nvSpPr>
        <p:spPr>
          <a:xfrm>
            <a:off x="459895" y="5587072"/>
            <a:ext cx="708896" cy="212961"/>
          </a:xfrm>
          <a:prstGeom prst="cloud">
            <a:avLst/>
          </a:prstGeom>
          <a:solidFill>
            <a:srgbClr val="FFFFFF"/>
          </a:solidFill>
          <a:ln w="9525" cap="flat" cmpd="sng" algn="ctr">
            <a:solidFill>
              <a:srgbClr val="4F81BD"/>
            </a:solidFill>
            <a:prstDash val="solid"/>
            <a:miter lim="800000"/>
          </a:ln>
          <a:effectLst/>
        </p:spPr>
        <p:txBody>
          <a:bodyPr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6" name="云形 55">
            <a:extLst>
              <a:ext uri="{FF2B5EF4-FFF2-40B4-BE49-F238E27FC236}">
                <a16:creationId xmlns:a16="http://schemas.microsoft.com/office/drawing/2014/main" id="{D8F89333-05A6-C7A7-AB78-94695E7771AF}"/>
              </a:ext>
            </a:extLst>
          </p:cNvPr>
          <p:cNvSpPr/>
          <p:nvPr/>
        </p:nvSpPr>
        <p:spPr>
          <a:xfrm>
            <a:off x="2268000" y="5800033"/>
            <a:ext cx="708896" cy="212961"/>
          </a:xfrm>
          <a:prstGeom prst="cloud">
            <a:avLst/>
          </a:prstGeom>
          <a:solidFill>
            <a:srgbClr val="FFFFFF"/>
          </a:solidFill>
          <a:ln w="9525" cap="flat" cmpd="sng" algn="ctr">
            <a:solidFill>
              <a:srgbClr val="4F81BD"/>
            </a:solidFill>
            <a:prstDash val="solid"/>
            <a:miter lim="800000"/>
          </a:ln>
          <a:effectLst/>
        </p:spPr>
        <p:txBody>
          <a:bodyPr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1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78535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9321D-D1F2-5235-5C38-A6B67AD55ECB}"/>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2FCBADE5-5D79-1580-C4CA-95C83758CB84}"/>
              </a:ext>
            </a:extLst>
          </p:cNvPr>
          <p:cNvSpPr txBox="1"/>
          <p:nvPr/>
        </p:nvSpPr>
        <p:spPr>
          <a:xfrm>
            <a:off x="2268000" y="1260000"/>
            <a:ext cx="9690238" cy="3416320"/>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    segment = </a:t>
            </a:r>
            <a:r>
              <a:rPr lang="en-US" altLang="zh-CN" b="0" dirty="0" err="1">
                <a:solidFill>
                  <a:srgbClr val="002060"/>
                </a:solidFill>
                <a:effectLst/>
                <a:latin typeface="Consolas" panose="020B0609020204030204" pitchFamily="49" charset="0"/>
              </a:rPr>
              <a:t>Segments.Descent.Constant_Speed_Constant_Rate</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base_segment</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segment.tag</a:t>
            </a:r>
            <a:r>
              <a:rPr lang="en-US" altLang="zh-CN" b="0" dirty="0">
                <a:solidFill>
                  <a:srgbClr val="002060"/>
                </a:solidFill>
                <a:effectLst/>
                <a:latin typeface="Consolas" panose="020B0609020204030204" pitchFamily="49" charset="0"/>
              </a:rPr>
              <a:t> = "descent"</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segment.analyses.extend</a:t>
            </a: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analyses.base</a:t>
            </a:r>
            <a:r>
              <a:rPr lang="en-US" altLang="zh-CN" b="0" dirty="0">
                <a:solidFill>
                  <a:srgbClr val="002060"/>
                </a:solidFill>
                <a:effectLst/>
                <a:latin typeface="Consolas" panose="020B0609020204030204" pitchFamily="49" charset="0"/>
              </a:rPr>
              <a:t> )</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segment.altitude_end</a:t>
            </a:r>
            <a:r>
              <a:rPr lang="en-US" altLang="zh-CN" b="0" dirty="0">
                <a:solidFill>
                  <a:srgbClr val="002060"/>
                </a:solidFill>
                <a:effectLst/>
                <a:latin typeface="Consolas" panose="020B0609020204030204" pitchFamily="49" charset="0"/>
              </a:rPr>
              <a:t> = 0.0   * Units.km</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segment.air_speed</a:t>
            </a:r>
            <a:r>
              <a:rPr lang="en-US" altLang="zh-CN" b="0" dirty="0">
                <a:solidFill>
                  <a:srgbClr val="002060"/>
                </a:solidFill>
                <a:effectLst/>
                <a:latin typeface="Consolas" panose="020B0609020204030204" pitchFamily="49" charset="0"/>
              </a:rPr>
              <a:t>    = 160.0 * Units['m/s']</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segment.descent_rate</a:t>
            </a:r>
            <a:r>
              <a:rPr lang="en-US" altLang="zh-CN" b="0" dirty="0">
                <a:solidFill>
                  <a:srgbClr val="002060"/>
                </a:solidFill>
                <a:effectLst/>
                <a:latin typeface="Consolas" panose="020B0609020204030204" pitchFamily="49" charset="0"/>
              </a:rPr>
              <a:t> = 6.0   * Units['m/s’]</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mission.append_segment</a:t>
            </a:r>
            <a:r>
              <a:rPr lang="en-US" altLang="zh-CN" b="0" dirty="0">
                <a:solidFill>
                  <a:srgbClr val="002060"/>
                </a:solidFill>
                <a:effectLst/>
                <a:latin typeface="Consolas" panose="020B0609020204030204" pitchFamily="49" charset="0"/>
              </a:rPr>
              <a:t>(segment)</a:t>
            </a:r>
          </a:p>
          <a:p>
            <a:pPr>
              <a:buNone/>
            </a:pPr>
            <a:endParaRPr lang="en-US" altLang="zh-CN" dirty="0">
              <a:solidFill>
                <a:srgbClr val="002060"/>
              </a:solidFill>
              <a:latin typeface="Consolas" panose="020B0609020204030204" pitchFamily="49" charset="0"/>
            </a:endParaRPr>
          </a:p>
          <a:p>
            <a:pPr>
              <a:buNone/>
            </a:pPr>
            <a:r>
              <a:rPr lang="en-US" altLang="zh-CN" dirty="0">
                <a:solidFill>
                  <a:srgbClr val="002060"/>
                </a:solidFill>
                <a:latin typeface="Consolas" panose="020B0609020204030204" pitchFamily="49" charset="0"/>
              </a:rPr>
              <a:t>    return mission</a:t>
            </a:r>
            <a:endParaRPr lang="en-US" altLang="zh-CN" b="0" dirty="0">
              <a:solidFill>
                <a:srgbClr val="002060"/>
              </a:solidFill>
              <a:effectLst/>
              <a:latin typeface="Consolas" panose="020B0609020204030204" pitchFamily="49" charset="0"/>
            </a:endParaRPr>
          </a:p>
        </p:txBody>
      </p:sp>
      <p:sp>
        <p:nvSpPr>
          <p:cNvPr id="4" name="标题 1">
            <a:extLst>
              <a:ext uri="{FF2B5EF4-FFF2-40B4-BE49-F238E27FC236}">
                <a16:creationId xmlns:a16="http://schemas.microsoft.com/office/drawing/2014/main" id="{64587CC5-10DD-6936-2F1E-730AA901F8BD}"/>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a:t>
            </a:r>
            <a:r>
              <a:rPr lang="en-US" altLang="zh-CN"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Define the mission</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5" name="文本框 4">
            <a:extLst>
              <a:ext uri="{FF2B5EF4-FFF2-40B4-BE49-F238E27FC236}">
                <a16:creationId xmlns:a16="http://schemas.microsoft.com/office/drawing/2014/main" id="{7962F279-DE4D-4B3E-B47F-A5C8583B1867}"/>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Define the descent</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grpSp>
        <p:nvGrpSpPr>
          <p:cNvPr id="35" name="组合 34">
            <a:extLst>
              <a:ext uri="{FF2B5EF4-FFF2-40B4-BE49-F238E27FC236}">
                <a16:creationId xmlns:a16="http://schemas.microsoft.com/office/drawing/2014/main" id="{F613B1DD-5816-03D2-AEF8-7BE9D0AEC966}"/>
              </a:ext>
            </a:extLst>
          </p:cNvPr>
          <p:cNvGrpSpPr/>
          <p:nvPr/>
        </p:nvGrpSpPr>
        <p:grpSpPr>
          <a:xfrm>
            <a:off x="407030" y="4956626"/>
            <a:ext cx="3185866" cy="1236169"/>
            <a:chOff x="407030" y="4956626"/>
            <a:chExt cx="3185866" cy="1236169"/>
          </a:xfrm>
        </p:grpSpPr>
        <p:grpSp>
          <p:nvGrpSpPr>
            <p:cNvPr id="9" name="组合 8">
              <a:extLst>
                <a:ext uri="{FF2B5EF4-FFF2-40B4-BE49-F238E27FC236}">
                  <a16:creationId xmlns:a16="http://schemas.microsoft.com/office/drawing/2014/main" id="{828EF960-014F-C76D-7722-9E42FB023866}"/>
                </a:ext>
              </a:extLst>
            </p:cNvPr>
            <p:cNvGrpSpPr/>
            <p:nvPr/>
          </p:nvGrpSpPr>
          <p:grpSpPr>
            <a:xfrm rot="790026" flipH="1">
              <a:off x="806225" y="4956626"/>
              <a:ext cx="1650425" cy="276167"/>
              <a:chOff x="10354859" y="107628"/>
              <a:chExt cx="945165" cy="120228"/>
            </a:xfrm>
          </p:grpSpPr>
          <p:sp>
            <p:nvSpPr>
              <p:cNvPr id="15" name="Freeform 31">
                <a:extLst>
                  <a:ext uri="{FF2B5EF4-FFF2-40B4-BE49-F238E27FC236}">
                    <a16:creationId xmlns:a16="http://schemas.microsoft.com/office/drawing/2014/main" id="{211BA68A-A030-E706-4477-7A7FC27545BA}"/>
                  </a:ext>
                </a:extLst>
              </p:cNvPr>
              <p:cNvSpPr>
                <a:spLocks/>
              </p:cNvSpPr>
              <p:nvPr/>
            </p:nvSpPr>
            <p:spPr bwMode="auto">
              <a:xfrm>
                <a:off x="10354859" y="173291"/>
                <a:ext cx="736547" cy="38843"/>
              </a:xfrm>
              <a:custGeom>
                <a:avLst/>
                <a:gdLst/>
                <a:ahLst/>
                <a:cxnLst>
                  <a:cxn ang="0">
                    <a:pos x="66" y="29"/>
                  </a:cxn>
                  <a:cxn ang="0">
                    <a:pos x="134" y="19"/>
                  </a:cxn>
                  <a:cxn ang="0">
                    <a:pos x="195" y="13"/>
                  </a:cxn>
                  <a:cxn ang="0">
                    <a:pos x="229" y="9"/>
                  </a:cxn>
                  <a:cxn ang="0">
                    <a:pos x="274" y="6"/>
                  </a:cxn>
                  <a:cxn ang="0">
                    <a:pos x="314" y="4"/>
                  </a:cxn>
                  <a:cxn ang="0">
                    <a:pos x="344" y="3"/>
                  </a:cxn>
                  <a:cxn ang="0">
                    <a:pos x="371" y="2"/>
                  </a:cxn>
                  <a:cxn ang="0">
                    <a:pos x="401" y="1"/>
                  </a:cxn>
                  <a:cxn ang="0">
                    <a:pos x="419" y="1"/>
                  </a:cxn>
                  <a:cxn ang="0">
                    <a:pos x="454" y="1"/>
                  </a:cxn>
                  <a:cxn ang="0">
                    <a:pos x="504" y="0"/>
                  </a:cxn>
                  <a:cxn ang="0">
                    <a:pos x="559" y="0"/>
                  </a:cxn>
                  <a:cxn ang="0">
                    <a:pos x="637" y="0"/>
                  </a:cxn>
                  <a:cxn ang="0">
                    <a:pos x="694" y="0"/>
                  </a:cxn>
                  <a:cxn ang="0">
                    <a:pos x="748" y="1"/>
                  </a:cxn>
                  <a:cxn ang="0">
                    <a:pos x="795" y="1"/>
                  </a:cxn>
                  <a:cxn ang="0">
                    <a:pos x="815" y="1"/>
                  </a:cxn>
                  <a:cxn ang="0">
                    <a:pos x="832" y="1"/>
                  </a:cxn>
                  <a:cxn ang="0">
                    <a:pos x="846" y="1"/>
                  </a:cxn>
                  <a:cxn ang="0">
                    <a:pos x="856" y="1"/>
                  </a:cxn>
                  <a:cxn ang="0">
                    <a:pos x="862" y="1"/>
                  </a:cxn>
                  <a:cxn ang="0">
                    <a:pos x="865" y="1"/>
                  </a:cxn>
                  <a:cxn ang="0">
                    <a:pos x="864" y="4"/>
                  </a:cxn>
                  <a:cxn ang="0">
                    <a:pos x="859" y="4"/>
                  </a:cxn>
                  <a:cxn ang="0">
                    <a:pos x="849" y="4"/>
                  </a:cxn>
                  <a:cxn ang="0">
                    <a:pos x="837" y="4"/>
                  </a:cxn>
                  <a:cxn ang="0">
                    <a:pos x="821" y="4"/>
                  </a:cxn>
                  <a:cxn ang="0">
                    <a:pos x="802" y="4"/>
                  </a:cxn>
                  <a:cxn ang="0">
                    <a:pos x="764" y="4"/>
                  </a:cxn>
                  <a:cxn ang="0">
                    <a:pos x="713" y="4"/>
                  </a:cxn>
                  <a:cxn ang="0">
                    <a:pos x="656" y="3"/>
                  </a:cxn>
                  <a:cxn ang="0">
                    <a:pos x="578" y="3"/>
                  </a:cxn>
                  <a:cxn ang="0">
                    <a:pos x="522" y="3"/>
                  </a:cxn>
                  <a:cxn ang="0">
                    <a:pos x="470" y="4"/>
                  </a:cxn>
                  <a:cxn ang="0">
                    <a:pos x="425" y="4"/>
                  </a:cxn>
                  <a:cxn ang="0">
                    <a:pos x="407" y="4"/>
                  </a:cxn>
                  <a:cxn ang="0">
                    <a:pos x="381" y="5"/>
                  </a:cxn>
                  <a:cxn ang="0">
                    <a:pos x="353" y="5"/>
                  </a:cxn>
                  <a:cxn ang="0">
                    <a:pos x="329" y="6"/>
                  </a:cxn>
                  <a:cxn ang="0">
                    <a:pos x="287" y="8"/>
                  </a:cxn>
                  <a:cxn ang="0">
                    <a:pos x="252" y="11"/>
                  </a:cxn>
                  <a:cxn ang="0">
                    <a:pos x="207" y="15"/>
                  </a:cxn>
                  <a:cxn ang="0">
                    <a:pos x="159" y="19"/>
                  </a:cxn>
                  <a:cxn ang="0">
                    <a:pos x="89" y="28"/>
                  </a:cxn>
                  <a:cxn ang="0">
                    <a:pos x="2" y="42"/>
                  </a:cxn>
                </a:cxnLst>
                <a:rect l="0" t="0" r="r" b="b"/>
                <a:pathLst>
                  <a:path w="865" h="42">
                    <a:moveTo>
                      <a:pt x="0" y="39"/>
                    </a:moveTo>
                    <a:lnTo>
                      <a:pt x="44" y="32"/>
                    </a:lnTo>
                    <a:lnTo>
                      <a:pt x="66" y="29"/>
                    </a:lnTo>
                    <a:lnTo>
                      <a:pt x="88" y="25"/>
                    </a:lnTo>
                    <a:lnTo>
                      <a:pt x="111" y="22"/>
                    </a:lnTo>
                    <a:lnTo>
                      <a:pt x="134" y="19"/>
                    </a:lnTo>
                    <a:lnTo>
                      <a:pt x="158" y="16"/>
                    </a:lnTo>
                    <a:lnTo>
                      <a:pt x="183" y="14"/>
                    </a:lnTo>
                    <a:lnTo>
                      <a:pt x="195" y="13"/>
                    </a:lnTo>
                    <a:lnTo>
                      <a:pt x="207" y="12"/>
                    </a:lnTo>
                    <a:lnTo>
                      <a:pt x="218" y="10"/>
                    </a:lnTo>
                    <a:lnTo>
                      <a:pt x="229" y="9"/>
                    </a:lnTo>
                    <a:lnTo>
                      <a:pt x="251" y="8"/>
                    </a:lnTo>
                    <a:lnTo>
                      <a:pt x="263" y="7"/>
                    </a:lnTo>
                    <a:lnTo>
                      <a:pt x="274" y="6"/>
                    </a:lnTo>
                    <a:lnTo>
                      <a:pt x="287" y="5"/>
                    </a:lnTo>
                    <a:lnTo>
                      <a:pt x="300" y="5"/>
                    </a:lnTo>
                    <a:lnTo>
                      <a:pt x="314" y="4"/>
                    </a:lnTo>
                    <a:lnTo>
                      <a:pt x="328" y="3"/>
                    </a:lnTo>
                    <a:lnTo>
                      <a:pt x="336" y="3"/>
                    </a:lnTo>
                    <a:lnTo>
                      <a:pt x="344" y="3"/>
                    </a:lnTo>
                    <a:lnTo>
                      <a:pt x="353" y="2"/>
                    </a:lnTo>
                    <a:lnTo>
                      <a:pt x="362" y="2"/>
                    </a:lnTo>
                    <a:lnTo>
                      <a:pt x="371" y="2"/>
                    </a:lnTo>
                    <a:lnTo>
                      <a:pt x="381" y="2"/>
                    </a:lnTo>
                    <a:lnTo>
                      <a:pt x="391" y="1"/>
                    </a:lnTo>
                    <a:lnTo>
                      <a:pt x="401" y="1"/>
                    </a:lnTo>
                    <a:lnTo>
                      <a:pt x="407" y="1"/>
                    </a:lnTo>
                    <a:lnTo>
                      <a:pt x="412" y="1"/>
                    </a:lnTo>
                    <a:lnTo>
                      <a:pt x="419" y="1"/>
                    </a:lnTo>
                    <a:lnTo>
                      <a:pt x="425" y="1"/>
                    </a:lnTo>
                    <a:lnTo>
                      <a:pt x="439" y="1"/>
                    </a:lnTo>
                    <a:lnTo>
                      <a:pt x="454" y="1"/>
                    </a:lnTo>
                    <a:lnTo>
                      <a:pt x="469" y="1"/>
                    </a:lnTo>
                    <a:lnTo>
                      <a:pt x="486" y="0"/>
                    </a:lnTo>
                    <a:lnTo>
                      <a:pt x="504" y="0"/>
                    </a:lnTo>
                    <a:lnTo>
                      <a:pt x="521" y="0"/>
                    </a:lnTo>
                    <a:lnTo>
                      <a:pt x="540" y="0"/>
                    </a:lnTo>
                    <a:lnTo>
                      <a:pt x="559" y="0"/>
                    </a:lnTo>
                    <a:lnTo>
                      <a:pt x="578" y="0"/>
                    </a:lnTo>
                    <a:lnTo>
                      <a:pt x="598" y="0"/>
                    </a:lnTo>
                    <a:lnTo>
                      <a:pt x="637" y="0"/>
                    </a:lnTo>
                    <a:lnTo>
                      <a:pt x="656" y="0"/>
                    </a:lnTo>
                    <a:lnTo>
                      <a:pt x="676" y="0"/>
                    </a:lnTo>
                    <a:lnTo>
                      <a:pt x="694" y="0"/>
                    </a:lnTo>
                    <a:lnTo>
                      <a:pt x="713" y="1"/>
                    </a:lnTo>
                    <a:lnTo>
                      <a:pt x="731" y="1"/>
                    </a:lnTo>
                    <a:lnTo>
                      <a:pt x="748" y="1"/>
                    </a:lnTo>
                    <a:lnTo>
                      <a:pt x="764" y="1"/>
                    </a:lnTo>
                    <a:lnTo>
                      <a:pt x="780" y="1"/>
                    </a:lnTo>
                    <a:lnTo>
                      <a:pt x="795" y="1"/>
                    </a:lnTo>
                    <a:lnTo>
                      <a:pt x="802" y="1"/>
                    </a:lnTo>
                    <a:lnTo>
                      <a:pt x="808" y="1"/>
                    </a:lnTo>
                    <a:lnTo>
                      <a:pt x="815" y="1"/>
                    </a:lnTo>
                    <a:lnTo>
                      <a:pt x="821" y="1"/>
                    </a:lnTo>
                    <a:lnTo>
                      <a:pt x="826" y="1"/>
                    </a:lnTo>
                    <a:lnTo>
                      <a:pt x="832" y="1"/>
                    </a:lnTo>
                    <a:lnTo>
                      <a:pt x="837" y="1"/>
                    </a:lnTo>
                    <a:lnTo>
                      <a:pt x="841" y="1"/>
                    </a:lnTo>
                    <a:lnTo>
                      <a:pt x="846" y="1"/>
                    </a:lnTo>
                    <a:lnTo>
                      <a:pt x="849" y="1"/>
                    </a:lnTo>
                    <a:lnTo>
                      <a:pt x="853" y="1"/>
                    </a:lnTo>
                    <a:lnTo>
                      <a:pt x="856" y="1"/>
                    </a:lnTo>
                    <a:lnTo>
                      <a:pt x="859" y="1"/>
                    </a:lnTo>
                    <a:lnTo>
                      <a:pt x="861" y="1"/>
                    </a:lnTo>
                    <a:lnTo>
                      <a:pt x="862" y="1"/>
                    </a:lnTo>
                    <a:lnTo>
                      <a:pt x="864" y="1"/>
                    </a:lnTo>
                    <a:lnTo>
                      <a:pt x="864" y="1"/>
                    </a:lnTo>
                    <a:lnTo>
                      <a:pt x="865" y="1"/>
                    </a:lnTo>
                    <a:lnTo>
                      <a:pt x="865" y="4"/>
                    </a:lnTo>
                    <a:lnTo>
                      <a:pt x="864" y="4"/>
                    </a:lnTo>
                    <a:lnTo>
                      <a:pt x="864" y="4"/>
                    </a:lnTo>
                    <a:lnTo>
                      <a:pt x="862" y="4"/>
                    </a:lnTo>
                    <a:lnTo>
                      <a:pt x="861" y="4"/>
                    </a:lnTo>
                    <a:lnTo>
                      <a:pt x="859" y="4"/>
                    </a:lnTo>
                    <a:lnTo>
                      <a:pt x="856" y="4"/>
                    </a:lnTo>
                    <a:lnTo>
                      <a:pt x="853" y="4"/>
                    </a:lnTo>
                    <a:lnTo>
                      <a:pt x="849" y="4"/>
                    </a:lnTo>
                    <a:lnTo>
                      <a:pt x="845" y="4"/>
                    </a:lnTo>
                    <a:lnTo>
                      <a:pt x="841" y="4"/>
                    </a:lnTo>
                    <a:lnTo>
                      <a:pt x="837" y="4"/>
                    </a:lnTo>
                    <a:lnTo>
                      <a:pt x="832" y="4"/>
                    </a:lnTo>
                    <a:lnTo>
                      <a:pt x="826" y="4"/>
                    </a:lnTo>
                    <a:lnTo>
                      <a:pt x="821" y="4"/>
                    </a:lnTo>
                    <a:lnTo>
                      <a:pt x="815" y="4"/>
                    </a:lnTo>
                    <a:lnTo>
                      <a:pt x="808" y="4"/>
                    </a:lnTo>
                    <a:lnTo>
                      <a:pt x="802" y="4"/>
                    </a:lnTo>
                    <a:lnTo>
                      <a:pt x="795" y="4"/>
                    </a:lnTo>
                    <a:lnTo>
                      <a:pt x="780" y="4"/>
                    </a:lnTo>
                    <a:lnTo>
                      <a:pt x="764" y="4"/>
                    </a:lnTo>
                    <a:lnTo>
                      <a:pt x="748" y="4"/>
                    </a:lnTo>
                    <a:lnTo>
                      <a:pt x="731" y="4"/>
                    </a:lnTo>
                    <a:lnTo>
                      <a:pt x="713" y="4"/>
                    </a:lnTo>
                    <a:lnTo>
                      <a:pt x="694" y="3"/>
                    </a:lnTo>
                    <a:lnTo>
                      <a:pt x="676" y="3"/>
                    </a:lnTo>
                    <a:lnTo>
                      <a:pt x="656" y="3"/>
                    </a:lnTo>
                    <a:lnTo>
                      <a:pt x="637" y="3"/>
                    </a:lnTo>
                    <a:lnTo>
                      <a:pt x="598" y="3"/>
                    </a:lnTo>
                    <a:lnTo>
                      <a:pt x="578" y="3"/>
                    </a:lnTo>
                    <a:lnTo>
                      <a:pt x="559" y="3"/>
                    </a:lnTo>
                    <a:lnTo>
                      <a:pt x="540" y="3"/>
                    </a:lnTo>
                    <a:lnTo>
                      <a:pt x="522" y="3"/>
                    </a:lnTo>
                    <a:lnTo>
                      <a:pt x="504" y="3"/>
                    </a:lnTo>
                    <a:lnTo>
                      <a:pt x="486" y="3"/>
                    </a:lnTo>
                    <a:lnTo>
                      <a:pt x="470" y="4"/>
                    </a:lnTo>
                    <a:lnTo>
                      <a:pt x="454" y="4"/>
                    </a:lnTo>
                    <a:lnTo>
                      <a:pt x="439" y="4"/>
                    </a:lnTo>
                    <a:lnTo>
                      <a:pt x="425" y="4"/>
                    </a:lnTo>
                    <a:lnTo>
                      <a:pt x="419" y="4"/>
                    </a:lnTo>
                    <a:lnTo>
                      <a:pt x="413" y="4"/>
                    </a:lnTo>
                    <a:lnTo>
                      <a:pt x="407" y="4"/>
                    </a:lnTo>
                    <a:lnTo>
                      <a:pt x="401" y="4"/>
                    </a:lnTo>
                    <a:lnTo>
                      <a:pt x="391" y="4"/>
                    </a:lnTo>
                    <a:lnTo>
                      <a:pt x="381" y="5"/>
                    </a:lnTo>
                    <a:lnTo>
                      <a:pt x="371" y="5"/>
                    </a:lnTo>
                    <a:lnTo>
                      <a:pt x="362" y="5"/>
                    </a:lnTo>
                    <a:lnTo>
                      <a:pt x="353" y="5"/>
                    </a:lnTo>
                    <a:lnTo>
                      <a:pt x="345" y="6"/>
                    </a:lnTo>
                    <a:lnTo>
                      <a:pt x="337" y="6"/>
                    </a:lnTo>
                    <a:lnTo>
                      <a:pt x="329" y="6"/>
                    </a:lnTo>
                    <a:lnTo>
                      <a:pt x="314" y="7"/>
                    </a:lnTo>
                    <a:lnTo>
                      <a:pt x="300" y="7"/>
                    </a:lnTo>
                    <a:lnTo>
                      <a:pt x="287" y="8"/>
                    </a:lnTo>
                    <a:lnTo>
                      <a:pt x="275" y="9"/>
                    </a:lnTo>
                    <a:lnTo>
                      <a:pt x="263" y="10"/>
                    </a:lnTo>
                    <a:lnTo>
                      <a:pt x="252" y="11"/>
                    </a:lnTo>
                    <a:lnTo>
                      <a:pt x="230" y="12"/>
                    </a:lnTo>
                    <a:lnTo>
                      <a:pt x="219" y="13"/>
                    </a:lnTo>
                    <a:lnTo>
                      <a:pt x="207" y="15"/>
                    </a:lnTo>
                    <a:lnTo>
                      <a:pt x="196" y="16"/>
                    </a:lnTo>
                    <a:lnTo>
                      <a:pt x="184" y="17"/>
                    </a:lnTo>
                    <a:lnTo>
                      <a:pt x="159" y="19"/>
                    </a:lnTo>
                    <a:lnTo>
                      <a:pt x="135" y="22"/>
                    </a:lnTo>
                    <a:lnTo>
                      <a:pt x="112" y="25"/>
                    </a:lnTo>
                    <a:lnTo>
                      <a:pt x="89" y="28"/>
                    </a:lnTo>
                    <a:lnTo>
                      <a:pt x="67" y="31"/>
                    </a:lnTo>
                    <a:lnTo>
                      <a:pt x="45" y="35"/>
                    </a:lnTo>
                    <a:lnTo>
                      <a:pt x="2" y="42"/>
                    </a:lnTo>
                    <a:lnTo>
                      <a:pt x="0" y="3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6" name="Freeform 32">
                <a:extLst>
                  <a:ext uri="{FF2B5EF4-FFF2-40B4-BE49-F238E27FC236}">
                    <a16:creationId xmlns:a16="http://schemas.microsoft.com/office/drawing/2014/main" id="{D923B9DD-A944-0DA9-67CC-2338F08A572E}"/>
                  </a:ext>
                </a:extLst>
              </p:cNvPr>
              <p:cNvSpPr>
                <a:spLocks/>
              </p:cNvSpPr>
              <p:nvPr/>
            </p:nvSpPr>
            <p:spPr bwMode="auto">
              <a:xfrm>
                <a:off x="11090556" y="108553"/>
                <a:ext cx="137092" cy="66588"/>
              </a:xfrm>
              <a:custGeom>
                <a:avLst/>
                <a:gdLst/>
                <a:ahLst/>
                <a:cxnLst>
                  <a:cxn ang="0">
                    <a:pos x="0" y="69"/>
                  </a:cxn>
                  <a:cxn ang="0">
                    <a:pos x="21" y="65"/>
                  </a:cxn>
                  <a:cxn ang="0">
                    <a:pos x="32" y="63"/>
                  </a:cxn>
                  <a:cxn ang="0">
                    <a:pos x="42" y="60"/>
                  </a:cxn>
                  <a:cxn ang="0">
                    <a:pos x="53" y="58"/>
                  </a:cxn>
                  <a:cxn ang="0">
                    <a:pos x="63" y="54"/>
                  </a:cxn>
                  <a:cxn ang="0">
                    <a:pos x="73" y="51"/>
                  </a:cxn>
                  <a:cxn ang="0">
                    <a:pos x="83" y="47"/>
                  </a:cxn>
                  <a:cxn ang="0">
                    <a:pos x="88" y="45"/>
                  </a:cxn>
                  <a:cxn ang="0">
                    <a:pos x="93" y="42"/>
                  </a:cxn>
                  <a:cxn ang="0">
                    <a:pos x="99" y="38"/>
                  </a:cxn>
                  <a:cxn ang="0">
                    <a:pos x="105" y="35"/>
                  </a:cxn>
                  <a:cxn ang="0">
                    <a:pos x="111" y="31"/>
                  </a:cxn>
                  <a:cxn ang="0">
                    <a:pos x="118" y="27"/>
                  </a:cxn>
                  <a:cxn ang="0">
                    <a:pos x="124" y="23"/>
                  </a:cxn>
                  <a:cxn ang="0">
                    <a:pos x="130" y="19"/>
                  </a:cxn>
                  <a:cxn ang="0">
                    <a:pos x="135" y="15"/>
                  </a:cxn>
                  <a:cxn ang="0">
                    <a:pos x="141" y="12"/>
                  </a:cxn>
                  <a:cxn ang="0">
                    <a:pos x="145" y="8"/>
                  </a:cxn>
                  <a:cxn ang="0">
                    <a:pos x="149" y="6"/>
                  </a:cxn>
                  <a:cxn ang="0">
                    <a:pos x="153" y="3"/>
                  </a:cxn>
                  <a:cxn ang="0">
                    <a:pos x="155" y="1"/>
                  </a:cxn>
                  <a:cxn ang="0">
                    <a:pos x="156" y="1"/>
                  </a:cxn>
                  <a:cxn ang="0">
                    <a:pos x="157" y="0"/>
                  </a:cxn>
                  <a:cxn ang="0">
                    <a:pos x="157" y="0"/>
                  </a:cxn>
                  <a:cxn ang="0">
                    <a:pos x="158" y="0"/>
                  </a:cxn>
                  <a:cxn ang="0">
                    <a:pos x="161" y="2"/>
                  </a:cxn>
                  <a:cxn ang="0">
                    <a:pos x="161" y="2"/>
                  </a:cxn>
                  <a:cxn ang="0">
                    <a:pos x="160" y="2"/>
                  </a:cxn>
                  <a:cxn ang="0">
                    <a:pos x="160" y="3"/>
                  </a:cxn>
                  <a:cxn ang="0">
                    <a:pos x="159" y="3"/>
                  </a:cxn>
                  <a:cxn ang="0">
                    <a:pos x="156" y="5"/>
                  </a:cxn>
                  <a:cxn ang="0">
                    <a:pos x="153" y="8"/>
                  </a:cxn>
                  <a:cxn ang="0">
                    <a:pos x="149" y="10"/>
                  </a:cxn>
                  <a:cxn ang="0">
                    <a:pos x="144" y="14"/>
                  </a:cxn>
                  <a:cxn ang="0">
                    <a:pos x="139" y="17"/>
                  </a:cxn>
                  <a:cxn ang="0">
                    <a:pos x="133" y="21"/>
                  </a:cxn>
                  <a:cxn ang="0">
                    <a:pos x="127" y="25"/>
                  </a:cxn>
                  <a:cxn ang="0">
                    <a:pos x="121" y="29"/>
                  </a:cxn>
                  <a:cxn ang="0">
                    <a:pos x="115" y="33"/>
                  </a:cxn>
                  <a:cxn ang="0">
                    <a:pos x="108" y="37"/>
                  </a:cxn>
                  <a:cxn ang="0">
                    <a:pos x="102" y="41"/>
                  </a:cxn>
                  <a:cxn ang="0">
                    <a:pos x="96" y="44"/>
                  </a:cxn>
                  <a:cxn ang="0">
                    <a:pos x="91" y="47"/>
                  </a:cxn>
                  <a:cxn ang="0">
                    <a:pos x="85" y="49"/>
                  </a:cxn>
                  <a:cxn ang="0">
                    <a:pos x="75" y="54"/>
                  </a:cxn>
                  <a:cxn ang="0">
                    <a:pos x="65" y="57"/>
                  </a:cxn>
                  <a:cxn ang="0">
                    <a:pos x="55" y="60"/>
                  </a:cxn>
                  <a:cxn ang="0">
                    <a:pos x="44" y="63"/>
                  </a:cxn>
                  <a:cxn ang="0">
                    <a:pos x="33" y="66"/>
                  </a:cxn>
                  <a:cxn ang="0">
                    <a:pos x="23" y="68"/>
                  </a:cxn>
                  <a:cxn ang="0">
                    <a:pos x="2" y="72"/>
                  </a:cxn>
                  <a:cxn ang="0">
                    <a:pos x="0" y="69"/>
                  </a:cxn>
                </a:cxnLst>
                <a:rect l="0" t="0" r="r" b="b"/>
                <a:pathLst>
                  <a:path w="161" h="72">
                    <a:moveTo>
                      <a:pt x="0" y="69"/>
                    </a:moveTo>
                    <a:lnTo>
                      <a:pt x="21" y="65"/>
                    </a:lnTo>
                    <a:lnTo>
                      <a:pt x="32" y="63"/>
                    </a:lnTo>
                    <a:lnTo>
                      <a:pt x="42" y="60"/>
                    </a:lnTo>
                    <a:lnTo>
                      <a:pt x="53" y="58"/>
                    </a:lnTo>
                    <a:lnTo>
                      <a:pt x="63" y="54"/>
                    </a:lnTo>
                    <a:lnTo>
                      <a:pt x="73" y="51"/>
                    </a:lnTo>
                    <a:lnTo>
                      <a:pt x="83" y="47"/>
                    </a:lnTo>
                    <a:lnTo>
                      <a:pt x="88" y="45"/>
                    </a:lnTo>
                    <a:lnTo>
                      <a:pt x="93" y="42"/>
                    </a:lnTo>
                    <a:lnTo>
                      <a:pt x="99" y="38"/>
                    </a:lnTo>
                    <a:lnTo>
                      <a:pt x="105" y="35"/>
                    </a:lnTo>
                    <a:lnTo>
                      <a:pt x="111" y="31"/>
                    </a:lnTo>
                    <a:lnTo>
                      <a:pt x="118" y="27"/>
                    </a:lnTo>
                    <a:lnTo>
                      <a:pt x="124" y="23"/>
                    </a:lnTo>
                    <a:lnTo>
                      <a:pt x="130" y="19"/>
                    </a:lnTo>
                    <a:lnTo>
                      <a:pt x="135" y="15"/>
                    </a:lnTo>
                    <a:lnTo>
                      <a:pt x="141" y="12"/>
                    </a:lnTo>
                    <a:lnTo>
                      <a:pt x="145" y="8"/>
                    </a:lnTo>
                    <a:lnTo>
                      <a:pt x="149" y="6"/>
                    </a:lnTo>
                    <a:lnTo>
                      <a:pt x="153" y="3"/>
                    </a:lnTo>
                    <a:lnTo>
                      <a:pt x="155" y="1"/>
                    </a:lnTo>
                    <a:lnTo>
                      <a:pt x="156" y="1"/>
                    </a:lnTo>
                    <a:lnTo>
                      <a:pt x="157" y="0"/>
                    </a:lnTo>
                    <a:lnTo>
                      <a:pt x="157" y="0"/>
                    </a:lnTo>
                    <a:lnTo>
                      <a:pt x="158" y="0"/>
                    </a:lnTo>
                    <a:lnTo>
                      <a:pt x="161" y="2"/>
                    </a:lnTo>
                    <a:lnTo>
                      <a:pt x="161" y="2"/>
                    </a:lnTo>
                    <a:lnTo>
                      <a:pt x="160" y="2"/>
                    </a:lnTo>
                    <a:lnTo>
                      <a:pt x="160" y="3"/>
                    </a:lnTo>
                    <a:lnTo>
                      <a:pt x="159" y="3"/>
                    </a:lnTo>
                    <a:lnTo>
                      <a:pt x="156" y="5"/>
                    </a:lnTo>
                    <a:lnTo>
                      <a:pt x="153" y="8"/>
                    </a:lnTo>
                    <a:lnTo>
                      <a:pt x="149" y="10"/>
                    </a:lnTo>
                    <a:lnTo>
                      <a:pt x="144" y="14"/>
                    </a:lnTo>
                    <a:lnTo>
                      <a:pt x="139" y="17"/>
                    </a:lnTo>
                    <a:lnTo>
                      <a:pt x="133" y="21"/>
                    </a:lnTo>
                    <a:lnTo>
                      <a:pt x="127" y="25"/>
                    </a:lnTo>
                    <a:lnTo>
                      <a:pt x="121" y="29"/>
                    </a:lnTo>
                    <a:lnTo>
                      <a:pt x="115" y="33"/>
                    </a:lnTo>
                    <a:lnTo>
                      <a:pt x="108" y="37"/>
                    </a:lnTo>
                    <a:lnTo>
                      <a:pt x="102" y="41"/>
                    </a:lnTo>
                    <a:lnTo>
                      <a:pt x="96" y="44"/>
                    </a:lnTo>
                    <a:lnTo>
                      <a:pt x="91" y="47"/>
                    </a:lnTo>
                    <a:lnTo>
                      <a:pt x="85" y="49"/>
                    </a:lnTo>
                    <a:lnTo>
                      <a:pt x="75" y="54"/>
                    </a:lnTo>
                    <a:lnTo>
                      <a:pt x="65" y="57"/>
                    </a:lnTo>
                    <a:lnTo>
                      <a:pt x="55" y="60"/>
                    </a:lnTo>
                    <a:lnTo>
                      <a:pt x="44" y="63"/>
                    </a:lnTo>
                    <a:lnTo>
                      <a:pt x="33" y="66"/>
                    </a:lnTo>
                    <a:lnTo>
                      <a:pt x="23" y="68"/>
                    </a:lnTo>
                    <a:lnTo>
                      <a:pt x="2" y="72"/>
                    </a:lnTo>
                    <a:lnTo>
                      <a:pt x="0" y="6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7" name="Freeform 33">
                <a:extLst>
                  <a:ext uri="{FF2B5EF4-FFF2-40B4-BE49-F238E27FC236}">
                    <a16:creationId xmlns:a16="http://schemas.microsoft.com/office/drawing/2014/main" id="{6646D254-E327-107D-BF9F-F0ACBEEC4BE5}"/>
                  </a:ext>
                </a:extLst>
              </p:cNvPr>
              <p:cNvSpPr>
                <a:spLocks/>
              </p:cNvSpPr>
              <p:nvPr/>
            </p:nvSpPr>
            <p:spPr bwMode="auto">
              <a:xfrm>
                <a:off x="11225944" y="107628"/>
                <a:ext cx="61308" cy="7399"/>
              </a:xfrm>
              <a:custGeom>
                <a:avLst/>
                <a:gdLst/>
                <a:ahLst/>
                <a:cxnLst>
                  <a:cxn ang="0">
                    <a:pos x="1" y="0"/>
                  </a:cxn>
                  <a:cxn ang="0">
                    <a:pos x="72" y="5"/>
                  </a:cxn>
                  <a:cxn ang="0">
                    <a:pos x="71" y="8"/>
                  </a:cxn>
                  <a:cxn ang="0">
                    <a:pos x="0" y="3"/>
                  </a:cxn>
                  <a:cxn ang="0">
                    <a:pos x="1" y="0"/>
                  </a:cxn>
                </a:cxnLst>
                <a:rect l="0" t="0" r="r" b="b"/>
                <a:pathLst>
                  <a:path w="72" h="8">
                    <a:moveTo>
                      <a:pt x="1" y="0"/>
                    </a:moveTo>
                    <a:lnTo>
                      <a:pt x="72" y="5"/>
                    </a:lnTo>
                    <a:lnTo>
                      <a:pt x="71" y="8"/>
                    </a:lnTo>
                    <a:lnTo>
                      <a:pt x="0" y="3"/>
                    </a:lnTo>
                    <a:lnTo>
                      <a:pt x="1"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8" name="Freeform 34">
                <a:extLst>
                  <a:ext uri="{FF2B5EF4-FFF2-40B4-BE49-F238E27FC236}">
                    <a16:creationId xmlns:a16="http://schemas.microsoft.com/office/drawing/2014/main" id="{01E50EDD-D9F5-340A-42B0-187B8997F42D}"/>
                  </a:ext>
                </a:extLst>
              </p:cNvPr>
              <p:cNvSpPr>
                <a:spLocks/>
              </p:cNvSpPr>
              <p:nvPr/>
            </p:nvSpPr>
            <p:spPr bwMode="auto">
              <a:xfrm>
                <a:off x="10358264" y="206585"/>
                <a:ext cx="915364" cy="21271"/>
              </a:xfrm>
              <a:custGeom>
                <a:avLst/>
                <a:gdLst/>
                <a:ahLst/>
                <a:cxnLst>
                  <a:cxn ang="0">
                    <a:pos x="27" y="6"/>
                  </a:cxn>
                  <a:cxn ang="0">
                    <a:pos x="56" y="10"/>
                  </a:cxn>
                  <a:cxn ang="0">
                    <a:pos x="86" y="12"/>
                  </a:cxn>
                  <a:cxn ang="0">
                    <a:pos x="107" y="14"/>
                  </a:cxn>
                  <a:cxn ang="0">
                    <a:pos x="131" y="15"/>
                  </a:cxn>
                  <a:cxn ang="0">
                    <a:pos x="159" y="16"/>
                  </a:cxn>
                  <a:cxn ang="0">
                    <a:pos x="191" y="17"/>
                  </a:cxn>
                  <a:cxn ang="0">
                    <a:pos x="227" y="18"/>
                  </a:cxn>
                  <a:cxn ang="0">
                    <a:pos x="270" y="19"/>
                  </a:cxn>
                  <a:cxn ang="0">
                    <a:pos x="322" y="19"/>
                  </a:cxn>
                  <a:cxn ang="0">
                    <a:pos x="379" y="19"/>
                  </a:cxn>
                  <a:cxn ang="0">
                    <a:pos x="441" y="20"/>
                  </a:cxn>
                  <a:cxn ang="0">
                    <a:pos x="570" y="20"/>
                  </a:cxn>
                  <a:cxn ang="0">
                    <a:pos x="655" y="20"/>
                  </a:cxn>
                  <a:cxn ang="0">
                    <a:pos x="713" y="19"/>
                  </a:cxn>
                  <a:cxn ang="0">
                    <a:pos x="767" y="19"/>
                  </a:cxn>
                  <a:cxn ang="0">
                    <a:pos x="812" y="18"/>
                  </a:cxn>
                  <a:cxn ang="0">
                    <a:pos x="849" y="17"/>
                  </a:cxn>
                  <a:cxn ang="0">
                    <a:pos x="881" y="16"/>
                  </a:cxn>
                  <a:cxn ang="0">
                    <a:pos x="908" y="15"/>
                  </a:cxn>
                  <a:cxn ang="0">
                    <a:pos x="931" y="13"/>
                  </a:cxn>
                  <a:cxn ang="0">
                    <a:pos x="951" y="12"/>
                  </a:cxn>
                  <a:cxn ang="0">
                    <a:pos x="973" y="9"/>
                  </a:cxn>
                  <a:cxn ang="0">
                    <a:pos x="1000" y="6"/>
                  </a:cxn>
                  <a:cxn ang="0">
                    <a:pos x="1031" y="3"/>
                  </a:cxn>
                  <a:cxn ang="0">
                    <a:pos x="1050" y="2"/>
                  </a:cxn>
                  <a:cxn ang="0">
                    <a:pos x="1063" y="1"/>
                  </a:cxn>
                  <a:cxn ang="0">
                    <a:pos x="1070" y="1"/>
                  </a:cxn>
                  <a:cxn ang="0">
                    <a:pos x="1074" y="0"/>
                  </a:cxn>
                  <a:cxn ang="0">
                    <a:pos x="1075" y="3"/>
                  </a:cxn>
                  <a:cxn ang="0">
                    <a:pos x="1073" y="3"/>
                  </a:cxn>
                  <a:cxn ang="0">
                    <a:pos x="1069" y="4"/>
                  </a:cxn>
                  <a:cxn ang="0">
                    <a:pos x="1060" y="4"/>
                  </a:cxn>
                  <a:cxn ang="0">
                    <a:pos x="1045" y="5"/>
                  </a:cxn>
                  <a:cxn ang="0">
                    <a:pos x="1016" y="7"/>
                  </a:cxn>
                  <a:cxn ang="0">
                    <a:pos x="992" y="10"/>
                  </a:cxn>
                  <a:cxn ang="0">
                    <a:pos x="963" y="14"/>
                  </a:cxn>
                  <a:cxn ang="0">
                    <a:pos x="945" y="15"/>
                  </a:cxn>
                  <a:cxn ang="0">
                    <a:pos x="924" y="17"/>
                  </a:cxn>
                  <a:cxn ang="0">
                    <a:pos x="900" y="18"/>
                  </a:cxn>
                  <a:cxn ang="0">
                    <a:pos x="871" y="20"/>
                  </a:cxn>
                  <a:cxn ang="0">
                    <a:pos x="837" y="21"/>
                  </a:cxn>
                  <a:cxn ang="0">
                    <a:pos x="798" y="21"/>
                  </a:cxn>
                  <a:cxn ang="0">
                    <a:pos x="750" y="22"/>
                  </a:cxn>
                  <a:cxn ang="0">
                    <a:pos x="694" y="22"/>
                  </a:cxn>
                  <a:cxn ang="0">
                    <a:pos x="634" y="23"/>
                  </a:cxn>
                  <a:cxn ang="0">
                    <a:pos x="527" y="23"/>
                  </a:cxn>
                  <a:cxn ang="0">
                    <a:pos x="420" y="23"/>
                  </a:cxn>
                  <a:cxn ang="0">
                    <a:pos x="359" y="22"/>
                  </a:cxn>
                  <a:cxn ang="0">
                    <a:pos x="304" y="22"/>
                  </a:cxn>
                  <a:cxn ang="0">
                    <a:pos x="255" y="21"/>
                  </a:cxn>
                  <a:cxn ang="0">
                    <a:pos x="214" y="21"/>
                  </a:cxn>
                  <a:cxn ang="0">
                    <a:pos x="179" y="20"/>
                  </a:cxn>
                  <a:cxn ang="0">
                    <a:pos x="149" y="19"/>
                  </a:cxn>
                  <a:cxn ang="0">
                    <a:pos x="122" y="18"/>
                  </a:cxn>
                  <a:cxn ang="0">
                    <a:pos x="99" y="16"/>
                  </a:cxn>
                  <a:cxn ang="0">
                    <a:pos x="79" y="15"/>
                  </a:cxn>
                  <a:cxn ang="0">
                    <a:pos x="45" y="12"/>
                  </a:cxn>
                  <a:cxn ang="0">
                    <a:pos x="17" y="8"/>
                  </a:cxn>
                </a:cxnLst>
                <a:rect l="0" t="0" r="r" b="b"/>
                <a:pathLst>
                  <a:path w="1075" h="23">
                    <a:moveTo>
                      <a:pt x="2" y="3"/>
                    </a:moveTo>
                    <a:lnTo>
                      <a:pt x="18" y="5"/>
                    </a:lnTo>
                    <a:lnTo>
                      <a:pt x="27" y="6"/>
                    </a:lnTo>
                    <a:lnTo>
                      <a:pt x="36" y="8"/>
                    </a:lnTo>
                    <a:lnTo>
                      <a:pt x="46" y="9"/>
                    </a:lnTo>
                    <a:lnTo>
                      <a:pt x="56" y="10"/>
                    </a:lnTo>
                    <a:lnTo>
                      <a:pt x="67" y="11"/>
                    </a:lnTo>
                    <a:lnTo>
                      <a:pt x="79" y="12"/>
                    </a:lnTo>
                    <a:lnTo>
                      <a:pt x="86" y="12"/>
                    </a:lnTo>
                    <a:lnTo>
                      <a:pt x="92" y="13"/>
                    </a:lnTo>
                    <a:lnTo>
                      <a:pt x="99" y="13"/>
                    </a:lnTo>
                    <a:lnTo>
                      <a:pt x="107" y="14"/>
                    </a:lnTo>
                    <a:lnTo>
                      <a:pt x="115" y="14"/>
                    </a:lnTo>
                    <a:lnTo>
                      <a:pt x="123" y="15"/>
                    </a:lnTo>
                    <a:lnTo>
                      <a:pt x="131" y="15"/>
                    </a:lnTo>
                    <a:lnTo>
                      <a:pt x="140" y="15"/>
                    </a:lnTo>
                    <a:lnTo>
                      <a:pt x="149" y="16"/>
                    </a:lnTo>
                    <a:lnTo>
                      <a:pt x="159" y="16"/>
                    </a:lnTo>
                    <a:lnTo>
                      <a:pt x="169" y="17"/>
                    </a:lnTo>
                    <a:lnTo>
                      <a:pt x="180" y="17"/>
                    </a:lnTo>
                    <a:lnTo>
                      <a:pt x="191" y="17"/>
                    </a:lnTo>
                    <a:lnTo>
                      <a:pt x="202" y="17"/>
                    </a:lnTo>
                    <a:lnTo>
                      <a:pt x="214" y="18"/>
                    </a:lnTo>
                    <a:lnTo>
                      <a:pt x="227" y="18"/>
                    </a:lnTo>
                    <a:lnTo>
                      <a:pt x="240" y="18"/>
                    </a:lnTo>
                    <a:lnTo>
                      <a:pt x="255" y="18"/>
                    </a:lnTo>
                    <a:lnTo>
                      <a:pt x="270" y="19"/>
                    </a:lnTo>
                    <a:lnTo>
                      <a:pt x="286" y="19"/>
                    </a:lnTo>
                    <a:lnTo>
                      <a:pt x="304" y="19"/>
                    </a:lnTo>
                    <a:lnTo>
                      <a:pt x="322" y="19"/>
                    </a:lnTo>
                    <a:lnTo>
                      <a:pt x="340" y="19"/>
                    </a:lnTo>
                    <a:lnTo>
                      <a:pt x="359" y="19"/>
                    </a:lnTo>
                    <a:lnTo>
                      <a:pt x="379" y="19"/>
                    </a:lnTo>
                    <a:lnTo>
                      <a:pt x="400" y="20"/>
                    </a:lnTo>
                    <a:lnTo>
                      <a:pt x="420" y="20"/>
                    </a:lnTo>
                    <a:lnTo>
                      <a:pt x="441" y="20"/>
                    </a:lnTo>
                    <a:lnTo>
                      <a:pt x="484" y="20"/>
                    </a:lnTo>
                    <a:lnTo>
                      <a:pt x="527" y="20"/>
                    </a:lnTo>
                    <a:lnTo>
                      <a:pt x="570" y="20"/>
                    </a:lnTo>
                    <a:lnTo>
                      <a:pt x="613" y="20"/>
                    </a:lnTo>
                    <a:lnTo>
                      <a:pt x="634" y="20"/>
                    </a:lnTo>
                    <a:lnTo>
                      <a:pt x="655" y="20"/>
                    </a:lnTo>
                    <a:lnTo>
                      <a:pt x="675" y="19"/>
                    </a:lnTo>
                    <a:lnTo>
                      <a:pt x="694" y="19"/>
                    </a:lnTo>
                    <a:lnTo>
                      <a:pt x="713" y="19"/>
                    </a:lnTo>
                    <a:lnTo>
                      <a:pt x="732" y="19"/>
                    </a:lnTo>
                    <a:lnTo>
                      <a:pt x="750" y="19"/>
                    </a:lnTo>
                    <a:lnTo>
                      <a:pt x="767" y="19"/>
                    </a:lnTo>
                    <a:lnTo>
                      <a:pt x="783" y="19"/>
                    </a:lnTo>
                    <a:lnTo>
                      <a:pt x="798" y="18"/>
                    </a:lnTo>
                    <a:lnTo>
                      <a:pt x="812" y="18"/>
                    </a:lnTo>
                    <a:lnTo>
                      <a:pt x="825" y="18"/>
                    </a:lnTo>
                    <a:lnTo>
                      <a:pt x="837" y="18"/>
                    </a:lnTo>
                    <a:lnTo>
                      <a:pt x="849" y="17"/>
                    </a:lnTo>
                    <a:lnTo>
                      <a:pt x="860" y="17"/>
                    </a:lnTo>
                    <a:lnTo>
                      <a:pt x="871" y="17"/>
                    </a:lnTo>
                    <a:lnTo>
                      <a:pt x="881" y="16"/>
                    </a:lnTo>
                    <a:lnTo>
                      <a:pt x="890" y="16"/>
                    </a:lnTo>
                    <a:lnTo>
                      <a:pt x="899" y="15"/>
                    </a:lnTo>
                    <a:lnTo>
                      <a:pt x="908" y="15"/>
                    </a:lnTo>
                    <a:lnTo>
                      <a:pt x="916" y="14"/>
                    </a:lnTo>
                    <a:lnTo>
                      <a:pt x="924" y="14"/>
                    </a:lnTo>
                    <a:lnTo>
                      <a:pt x="931" y="13"/>
                    </a:lnTo>
                    <a:lnTo>
                      <a:pt x="938" y="13"/>
                    </a:lnTo>
                    <a:lnTo>
                      <a:pt x="945" y="12"/>
                    </a:lnTo>
                    <a:lnTo>
                      <a:pt x="951" y="12"/>
                    </a:lnTo>
                    <a:lnTo>
                      <a:pt x="957" y="11"/>
                    </a:lnTo>
                    <a:lnTo>
                      <a:pt x="962" y="11"/>
                    </a:lnTo>
                    <a:lnTo>
                      <a:pt x="973" y="9"/>
                    </a:lnTo>
                    <a:lnTo>
                      <a:pt x="983" y="8"/>
                    </a:lnTo>
                    <a:lnTo>
                      <a:pt x="991" y="7"/>
                    </a:lnTo>
                    <a:lnTo>
                      <a:pt x="1000" y="6"/>
                    </a:lnTo>
                    <a:lnTo>
                      <a:pt x="1008" y="5"/>
                    </a:lnTo>
                    <a:lnTo>
                      <a:pt x="1015" y="4"/>
                    </a:lnTo>
                    <a:lnTo>
                      <a:pt x="1031" y="3"/>
                    </a:lnTo>
                    <a:lnTo>
                      <a:pt x="1038" y="2"/>
                    </a:lnTo>
                    <a:lnTo>
                      <a:pt x="1045" y="2"/>
                    </a:lnTo>
                    <a:lnTo>
                      <a:pt x="1050" y="2"/>
                    </a:lnTo>
                    <a:lnTo>
                      <a:pt x="1055" y="1"/>
                    </a:lnTo>
                    <a:lnTo>
                      <a:pt x="1059" y="1"/>
                    </a:lnTo>
                    <a:lnTo>
                      <a:pt x="1063" y="1"/>
                    </a:lnTo>
                    <a:lnTo>
                      <a:pt x="1066" y="1"/>
                    </a:lnTo>
                    <a:lnTo>
                      <a:pt x="1068" y="1"/>
                    </a:lnTo>
                    <a:lnTo>
                      <a:pt x="1070" y="1"/>
                    </a:lnTo>
                    <a:lnTo>
                      <a:pt x="1072" y="0"/>
                    </a:lnTo>
                    <a:lnTo>
                      <a:pt x="1073" y="0"/>
                    </a:lnTo>
                    <a:lnTo>
                      <a:pt x="1074" y="0"/>
                    </a:lnTo>
                    <a:lnTo>
                      <a:pt x="1075" y="0"/>
                    </a:lnTo>
                    <a:lnTo>
                      <a:pt x="1075" y="0"/>
                    </a:lnTo>
                    <a:lnTo>
                      <a:pt x="1075" y="3"/>
                    </a:lnTo>
                    <a:lnTo>
                      <a:pt x="1074" y="3"/>
                    </a:lnTo>
                    <a:lnTo>
                      <a:pt x="1074" y="3"/>
                    </a:lnTo>
                    <a:lnTo>
                      <a:pt x="1073" y="3"/>
                    </a:lnTo>
                    <a:lnTo>
                      <a:pt x="1072" y="3"/>
                    </a:lnTo>
                    <a:lnTo>
                      <a:pt x="1071" y="3"/>
                    </a:lnTo>
                    <a:lnTo>
                      <a:pt x="1069" y="4"/>
                    </a:lnTo>
                    <a:lnTo>
                      <a:pt x="1066" y="4"/>
                    </a:lnTo>
                    <a:lnTo>
                      <a:pt x="1063" y="4"/>
                    </a:lnTo>
                    <a:lnTo>
                      <a:pt x="1060" y="4"/>
                    </a:lnTo>
                    <a:lnTo>
                      <a:pt x="1056" y="4"/>
                    </a:lnTo>
                    <a:lnTo>
                      <a:pt x="1051" y="5"/>
                    </a:lnTo>
                    <a:lnTo>
                      <a:pt x="1045" y="5"/>
                    </a:lnTo>
                    <a:lnTo>
                      <a:pt x="1039" y="5"/>
                    </a:lnTo>
                    <a:lnTo>
                      <a:pt x="1031" y="6"/>
                    </a:lnTo>
                    <a:lnTo>
                      <a:pt x="1016" y="7"/>
                    </a:lnTo>
                    <a:lnTo>
                      <a:pt x="1009" y="8"/>
                    </a:lnTo>
                    <a:lnTo>
                      <a:pt x="1001" y="9"/>
                    </a:lnTo>
                    <a:lnTo>
                      <a:pt x="992" y="10"/>
                    </a:lnTo>
                    <a:lnTo>
                      <a:pt x="983" y="11"/>
                    </a:lnTo>
                    <a:lnTo>
                      <a:pt x="974" y="12"/>
                    </a:lnTo>
                    <a:lnTo>
                      <a:pt x="963" y="14"/>
                    </a:lnTo>
                    <a:lnTo>
                      <a:pt x="957" y="14"/>
                    </a:lnTo>
                    <a:lnTo>
                      <a:pt x="951" y="15"/>
                    </a:lnTo>
                    <a:lnTo>
                      <a:pt x="945" y="15"/>
                    </a:lnTo>
                    <a:lnTo>
                      <a:pt x="939" y="16"/>
                    </a:lnTo>
                    <a:lnTo>
                      <a:pt x="932" y="16"/>
                    </a:lnTo>
                    <a:lnTo>
                      <a:pt x="924" y="17"/>
                    </a:lnTo>
                    <a:lnTo>
                      <a:pt x="916" y="17"/>
                    </a:lnTo>
                    <a:lnTo>
                      <a:pt x="908" y="18"/>
                    </a:lnTo>
                    <a:lnTo>
                      <a:pt x="900" y="18"/>
                    </a:lnTo>
                    <a:lnTo>
                      <a:pt x="891" y="19"/>
                    </a:lnTo>
                    <a:lnTo>
                      <a:pt x="881" y="19"/>
                    </a:lnTo>
                    <a:lnTo>
                      <a:pt x="871" y="20"/>
                    </a:lnTo>
                    <a:lnTo>
                      <a:pt x="860" y="20"/>
                    </a:lnTo>
                    <a:lnTo>
                      <a:pt x="849" y="20"/>
                    </a:lnTo>
                    <a:lnTo>
                      <a:pt x="837" y="21"/>
                    </a:lnTo>
                    <a:lnTo>
                      <a:pt x="825" y="21"/>
                    </a:lnTo>
                    <a:lnTo>
                      <a:pt x="812" y="21"/>
                    </a:lnTo>
                    <a:lnTo>
                      <a:pt x="798" y="21"/>
                    </a:lnTo>
                    <a:lnTo>
                      <a:pt x="783" y="22"/>
                    </a:lnTo>
                    <a:lnTo>
                      <a:pt x="767" y="22"/>
                    </a:lnTo>
                    <a:lnTo>
                      <a:pt x="750" y="22"/>
                    </a:lnTo>
                    <a:lnTo>
                      <a:pt x="732" y="22"/>
                    </a:lnTo>
                    <a:lnTo>
                      <a:pt x="714" y="22"/>
                    </a:lnTo>
                    <a:lnTo>
                      <a:pt x="694" y="22"/>
                    </a:lnTo>
                    <a:lnTo>
                      <a:pt x="675" y="22"/>
                    </a:lnTo>
                    <a:lnTo>
                      <a:pt x="655" y="23"/>
                    </a:lnTo>
                    <a:lnTo>
                      <a:pt x="634" y="23"/>
                    </a:lnTo>
                    <a:lnTo>
                      <a:pt x="613" y="23"/>
                    </a:lnTo>
                    <a:lnTo>
                      <a:pt x="570" y="23"/>
                    </a:lnTo>
                    <a:lnTo>
                      <a:pt x="527" y="23"/>
                    </a:lnTo>
                    <a:lnTo>
                      <a:pt x="484" y="23"/>
                    </a:lnTo>
                    <a:lnTo>
                      <a:pt x="441" y="23"/>
                    </a:lnTo>
                    <a:lnTo>
                      <a:pt x="420" y="23"/>
                    </a:lnTo>
                    <a:lnTo>
                      <a:pt x="399" y="23"/>
                    </a:lnTo>
                    <a:lnTo>
                      <a:pt x="379" y="22"/>
                    </a:lnTo>
                    <a:lnTo>
                      <a:pt x="359" y="22"/>
                    </a:lnTo>
                    <a:lnTo>
                      <a:pt x="340" y="22"/>
                    </a:lnTo>
                    <a:lnTo>
                      <a:pt x="322" y="22"/>
                    </a:lnTo>
                    <a:lnTo>
                      <a:pt x="304" y="22"/>
                    </a:lnTo>
                    <a:lnTo>
                      <a:pt x="286" y="22"/>
                    </a:lnTo>
                    <a:lnTo>
                      <a:pt x="270" y="22"/>
                    </a:lnTo>
                    <a:lnTo>
                      <a:pt x="255" y="21"/>
                    </a:lnTo>
                    <a:lnTo>
                      <a:pt x="240" y="21"/>
                    </a:lnTo>
                    <a:lnTo>
                      <a:pt x="227" y="21"/>
                    </a:lnTo>
                    <a:lnTo>
                      <a:pt x="214" y="21"/>
                    </a:lnTo>
                    <a:lnTo>
                      <a:pt x="202" y="20"/>
                    </a:lnTo>
                    <a:lnTo>
                      <a:pt x="190" y="20"/>
                    </a:lnTo>
                    <a:lnTo>
                      <a:pt x="179" y="20"/>
                    </a:lnTo>
                    <a:lnTo>
                      <a:pt x="169" y="19"/>
                    </a:lnTo>
                    <a:lnTo>
                      <a:pt x="159" y="19"/>
                    </a:lnTo>
                    <a:lnTo>
                      <a:pt x="149" y="19"/>
                    </a:lnTo>
                    <a:lnTo>
                      <a:pt x="140" y="18"/>
                    </a:lnTo>
                    <a:lnTo>
                      <a:pt x="131" y="18"/>
                    </a:lnTo>
                    <a:lnTo>
                      <a:pt x="122" y="18"/>
                    </a:lnTo>
                    <a:lnTo>
                      <a:pt x="114" y="17"/>
                    </a:lnTo>
                    <a:lnTo>
                      <a:pt x="106" y="17"/>
                    </a:lnTo>
                    <a:lnTo>
                      <a:pt x="99" y="16"/>
                    </a:lnTo>
                    <a:lnTo>
                      <a:pt x="92" y="16"/>
                    </a:lnTo>
                    <a:lnTo>
                      <a:pt x="85" y="15"/>
                    </a:lnTo>
                    <a:lnTo>
                      <a:pt x="79" y="15"/>
                    </a:lnTo>
                    <a:lnTo>
                      <a:pt x="67" y="14"/>
                    </a:lnTo>
                    <a:lnTo>
                      <a:pt x="55" y="13"/>
                    </a:lnTo>
                    <a:lnTo>
                      <a:pt x="45" y="12"/>
                    </a:lnTo>
                    <a:lnTo>
                      <a:pt x="35" y="11"/>
                    </a:lnTo>
                    <a:lnTo>
                      <a:pt x="26" y="9"/>
                    </a:lnTo>
                    <a:lnTo>
                      <a:pt x="17" y="8"/>
                    </a:lnTo>
                    <a:lnTo>
                      <a:pt x="0" y="6"/>
                    </a:lnTo>
                    <a:lnTo>
                      <a:pt x="2" y="3"/>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19" name="Freeform 35">
                <a:extLst>
                  <a:ext uri="{FF2B5EF4-FFF2-40B4-BE49-F238E27FC236}">
                    <a16:creationId xmlns:a16="http://schemas.microsoft.com/office/drawing/2014/main" id="{B8E71262-3709-21D6-5B85-5C142C21F8E8}"/>
                  </a:ext>
                </a:extLst>
              </p:cNvPr>
              <p:cNvSpPr>
                <a:spLocks/>
              </p:cNvSpPr>
              <p:nvPr/>
            </p:nvSpPr>
            <p:spPr bwMode="auto">
              <a:xfrm>
                <a:off x="10482584" y="169592"/>
                <a:ext cx="223945" cy="24046"/>
              </a:xfrm>
              <a:custGeom>
                <a:avLst/>
                <a:gdLst/>
                <a:ahLst/>
                <a:cxnLst>
                  <a:cxn ang="0">
                    <a:pos x="8" y="20"/>
                  </a:cxn>
                  <a:cxn ang="0">
                    <a:pos x="26" y="12"/>
                  </a:cxn>
                  <a:cxn ang="0">
                    <a:pos x="41" y="8"/>
                  </a:cxn>
                  <a:cxn ang="0">
                    <a:pos x="53" y="5"/>
                  </a:cxn>
                  <a:cxn ang="0">
                    <a:pos x="66" y="3"/>
                  </a:cxn>
                  <a:cxn ang="0">
                    <a:pos x="80" y="1"/>
                  </a:cxn>
                  <a:cxn ang="0">
                    <a:pos x="93" y="0"/>
                  </a:cxn>
                  <a:cxn ang="0">
                    <a:pos x="103" y="0"/>
                  </a:cxn>
                  <a:cxn ang="0">
                    <a:pos x="115" y="0"/>
                  </a:cxn>
                  <a:cxn ang="0">
                    <a:pos x="134" y="1"/>
                  </a:cxn>
                  <a:cxn ang="0">
                    <a:pos x="163" y="2"/>
                  </a:cxn>
                  <a:cxn ang="0">
                    <a:pos x="192" y="3"/>
                  </a:cxn>
                  <a:cxn ang="0">
                    <a:pos x="220" y="5"/>
                  </a:cxn>
                  <a:cxn ang="0">
                    <a:pos x="232" y="6"/>
                  </a:cxn>
                  <a:cxn ang="0">
                    <a:pos x="242" y="7"/>
                  </a:cxn>
                  <a:cxn ang="0">
                    <a:pos x="251" y="7"/>
                  </a:cxn>
                  <a:cxn ang="0">
                    <a:pos x="258" y="8"/>
                  </a:cxn>
                  <a:cxn ang="0">
                    <a:pos x="262" y="8"/>
                  </a:cxn>
                  <a:cxn ang="0">
                    <a:pos x="263" y="8"/>
                  </a:cxn>
                  <a:cxn ang="0">
                    <a:pos x="262" y="11"/>
                  </a:cxn>
                  <a:cxn ang="0">
                    <a:pos x="260" y="11"/>
                  </a:cxn>
                  <a:cxn ang="0">
                    <a:pos x="254" y="10"/>
                  </a:cxn>
                  <a:cxn ang="0">
                    <a:pos x="246" y="10"/>
                  </a:cxn>
                  <a:cxn ang="0">
                    <a:pos x="237" y="9"/>
                  </a:cxn>
                  <a:cxn ang="0">
                    <a:pos x="225" y="8"/>
                  </a:cxn>
                  <a:cxn ang="0">
                    <a:pos x="206" y="7"/>
                  </a:cxn>
                  <a:cxn ang="0">
                    <a:pos x="178" y="6"/>
                  </a:cxn>
                  <a:cxn ang="0">
                    <a:pos x="148" y="4"/>
                  </a:cxn>
                  <a:cxn ang="0">
                    <a:pos x="121" y="3"/>
                  </a:cxn>
                  <a:cxn ang="0">
                    <a:pos x="109" y="3"/>
                  </a:cxn>
                  <a:cxn ang="0">
                    <a:pos x="98" y="3"/>
                  </a:cxn>
                  <a:cxn ang="0">
                    <a:pos x="89" y="4"/>
                  </a:cxn>
                  <a:cxn ang="0">
                    <a:pos x="74" y="5"/>
                  </a:cxn>
                  <a:cxn ang="0">
                    <a:pos x="60" y="7"/>
                  </a:cxn>
                  <a:cxn ang="0">
                    <a:pos x="49" y="9"/>
                  </a:cxn>
                  <a:cxn ang="0">
                    <a:pos x="38" y="12"/>
                  </a:cxn>
                  <a:cxn ang="0">
                    <a:pos x="20" y="18"/>
                  </a:cxn>
                  <a:cxn ang="0">
                    <a:pos x="3" y="26"/>
                  </a:cxn>
                </a:cxnLst>
                <a:rect l="0" t="0" r="r" b="b"/>
                <a:pathLst>
                  <a:path w="263" h="26">
                    <a:moveTo>
                      <a:pt x="0" y="23"/>
                    </a:moveTo>
                    <a:lnTo>
                      <a:pt x="8" y="20"/>
                    </a:lnTo>
                    <a:lnTo>
                      <a:pt x="17" y="16"/>
                    </a:lnTo>
                    <a:lnTo>
                      <a:pt x="26" y="12"/>
                    </a:lnTo>
                    <a:lnTo>
                      <a:pt x="36" y="9"/>
                    </a:lnTo>
                    <a:lnTo>
                      <a:pt x="41" y="8"/>
                    </a:lnTo>
                    <a:lnTo>
                      <a:pt x="47" y="6"/>
                    </a:lnTo>
                    <a:lnTo>
                      <a:pt x="53" y="5"/>
                    </a:lnTo>
                    <a:lnTo>
                      <a:pt x="59" y="4"/>
                    </a:lnTo>
                    <a:lnTo>
                      <a:pt x="66" y="3"/>
                    </a:lnTo>
                    <a:lnTo>
                      <a:pt x="73" y="2"/>
                    </a:lnTo>
                    <a:lnTo>
                      <a:pt x="80" y="1"/>
                    </a:lnTo>
                    <a:lnTo>
                      <a:pt x="88" y="1"/>
                    </a:lnTo>
                    <a:lnTo>
                      <a:pt x="93" y="0"/>
                    </a:lnTo>
                    <a:lnTo>
                      <a:pt x="98" y="0"/>
                    </a:lnTo>
                    <a:lnTo>
                      <a:pt x="103" y="0"/>
                    </a:lnTo>
                    <a:lnTo>
                      <a:pt x="109" y="0"/>
                    </a:lnTo>
                    <a:lnTo>
                      <a:pt x="115" y="0"/>
                    </a:lnTo>
                    <a:lnTo>
                      <a:pt x="121" y="0"/>
                    </a:lnTo>
                    <a:lnTo>
                      <a:pt x="134" y="1"/>
                    </a:lnTo>
                    <a:lnTo>
                      <a:pt x="149" y="1"/>
                    </a:lnTo>
                    <a:lnTo>
                      <a:pt x="163" y="2"/>
                    </a:lnTo>
                    <a:lnTo>
                      <a:pt x="178" y="3"/>
                    </a:lnTo>
                    <a:lnTo>
                      <a:pt x="192" y="3"/>
                    </a:lnTo>
                    <a:lnTo>
                      <a:pt x="206" y="4"/>
                    </a:lnTo>
                    <a:lnTo>
                      <a:pt x="220" y="5"/>
                    </a:lnTo>
                    <a:lnTo>
                      <a:pt x="226" y="5"/>
                    </a:lnTo>
                    <a:lnTo>
                      <a:pt x="232" y="6"/>
                    </a:lnTo>
                    <a:lnTo>
                      <a:pt x="237" y="6"/>
                    </a:lnTo>
                    <a:lnTo>
                      <a:pt x="242" y="7"/>
                    </a:lnTo>
                    <a:lnTo>
                      <a:pt x="247" y="7"/>
                    </a:lnTo>
                    <a:lnTo>
                      <a:pt x="251" y="7"/>
                    </a:lnTo>
                    <a:lnTo>
                      <a:pt x="255" y="7"/>
                    </a:lnTo>
                    <a:lnTo>
                      <a:pt x="258" y="8"/>
                    </a:lnTo>
                    <a:lnTo>
                      <a:pt x="260" y="8"/>
                    </a:lnTo>
                    <a:lnTo>
                      <a:pt x="262" y="8"/>
                    </a:lnTo>
                    <a:lnTo>
                      <a:pt x="263" y="8"/>
                    </a:lnTo>
                    <a:lnTo>
                      <a:pt x="263" y="8"/>
                    </a:lnTo>
                    <a:lnTo>
                      <a:pt x="263" y="11"/>
                    </a:lnTo>
                    <a:lnTo>
                      <a:pt x="262" y="11"/>
                    </a:lnTo>
                    <a:lnTo>
                      <a:pt x="261" y="11"/>
                    </a:lnTo>
                    <a:lnTo>
                      <a:pt x="260" y="11"/>
                    </a:lnTo>
                    <a:lnTo>
                      <a:pt x="257" y="11"/>
                    </a:lnTo>
                    <a:lnTo>
                      <a:pt x="254" y="10"/>
                    </a:lnTo>
                    <a:lnTo>
                      <a:pt x="250" y="10"/>
                    </a:lnTo>
                    <a:lnTo>
                      <a:pt x="246" y="10"/>
                    </a:lnTo>
                    <a:lnTo>
                      <a:pt x="242" y="10"/>
                    </a:lnTo>
                    <a:lnTo>
                      <a:pt x="237" y="9"/>
                    </a:lnTo>
                    <a:lnTo>
                      <a:pt x="231" y="9"/>
                    </a:lnTo>
                    <a:lnTo>
                      <a:pt x="225" y="8"/>
                    </a:lnTo>
                    <a:lnTo>
                      <a:pt x="219" y="8"/>
                    </a:lnTo>
                    <a:lnTo>
                      <a:pt x="206" y="7"/>
                    </a:lnTo>
                    <a:lnTo>
                      <a:pt x="192" y="6"/>
                    </a:lnTo>
                    <a:lnTo>
                      <a:pt x="178" y="6"/>
                    </a:lnTo>
                    <a:lnTo>
                      <a:pt x="163" y="5"/>
                    </a:lnTo>
                    <a:lnTo>
                      <a:pt x="148" y="4"/>
                    </a:lnTo>
                    <a:lnTo>
                      <a:pt x="134" y="4"/>
                    </a:lnTo>
                    <a:lnTo>
                      <a:pt x="121" y="3"/>
                    </a:lnTo>
                    <a:lnTo>
                      <a:pt x="115" y="3"/>
                    </a:lnTo>
                    <a:lnTo>
                      <a:pt x="109" y="3"/>
                    </a:lnTo>
                    <a:lnTo>
                      <a:pt x="103" y="3"/>
                    </a:lnTo>
                    <a:lnTo>
                      <a:pt x="98" y="3"/>
                    </a:lnTo>
                    <a:lnTo>
                      <a:pt x="93" y="3"/>
                    </a:lnTo>
                    <a:lnTo>
                      <a:pt x="89" y="4"/>
                    </a:lnTo>
                    <a:lnTo>
                      <a:pt x="81" y="4"/>
                    </a:lnTo>
                    <a:lnTo>
                      <a:pt x="74" y="5"/>
                    </a:lnTo>
                    <a:lnTo>
                      <a:pt x="67" y="6"/>
                    </a:lnTo>
                    <a:lnTo>
                      <a:pt x="60" y="7"/>
                    </a:lnTo>
                    <a:lnTo>
                      <a:pt x="54" y="8"/>
                    </a:lnTo>
                    <a:lnTo>
                      <a:pt x="49" y="9"/>
                    </a:lnTo>
                    <a:lnTo>
                      <a:pt x="43" y="10"/>
                    </a:lnTo>
                    <a:lnTo>
                      <a:pt x="38" y="12"/>
                    </a:lnTo>
                    <a:lnTo>
                      <a:pt x="28" y="15"/>
                    </a:lnTo>
                    <a:lnTo>
                      <a:pt x="20" y="18"/>
                    </a:lnTo>
                    <a:lnTo>
                      <a:pt x="11" y="22"/>
                    </a:lnTo>
                    <a:lnTo>
                      <a:pt x="3" y="26"/>
                    </a:lnTo>
                    <a:lnTo>
                      <a:pt x="0" y="23"/>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0" name="Freeform 36">
                <a:extLst>
                  <a:ext uri="{FF2B5EF4-FFF2-40B4-BE49-F238E27FC236}">
                    <a16:creationId xmlns:a16="http://schemas.microsoft.com/office/drawing/2014/main" id="{44B5C285-80CF-B3B7-9C22-214E4B377183}"/>
                  </a:ext>
                </a:extLst>
              </p:cNvPr>
              <p:cNvSpPr>
                <a:spLocks/>
              </p:cNvSpPr>
              <p:nvPr/>
            </p:nvSpPr>
            <p:spPr bwMode="auto">
              <a:xfrm>
                <a:off x="11269370" y="107628"/>
                <a:ext cx="30654" cy="100806"/>
              </a:xfrm>
              <a:custGeom>
                <a:avLst/>
                <a:gdLst/>
                <a:ahLst/>
                <a:cxnLst>
                  <a:cxn ang="0">
                    <a:pos x="5" y="1595"/>
                  </a:cxn>
                  <a:cxn ang="0">
                    <a:pos x="4" y="1440"/>
                  </a:cxn>
                  <a:cxn ang="0">
                    <a:pos x="29" y="1347"/>
                  </a:cxn>
                  <a:cxn ang="0">
                    <a:pos x="45" y="1320"/>
                  </a:cxn>
                  <a:cxn ang="0">
                    <a:pos x="100" y="1281"/>
                  </a:cxn>
                  <a:cxn ang="0">
                    <a:pos x="194" y="1250"/>
                  </a:cxn>
                  <a:cxn ang="0">
                    <a:pos x="255" y="1221"/>
                  </a:cxn>
                  <a:cxn ang="0">
                    <a:pos x="285" y="1190"/>
                  </a:cxn>
                  <a:cxn ang="0">
                    <a:pos x="296" y="1172"/>
                  </a:cxn>
                  <a:cxn ang="0">
                    <a:pos x="313" y="1110"/>
                  </a:cxn>
                  <a:cxn ang="0">
                    <a:pos x="312" y="962"/>
                  </a:cxn>
                  <a:cxn ang="0">
                    <a:pos x="290" y="756"/>
                  </a:cxn>
                  <a:cxn ang="0">
                    <a:pos x="230" y="385"/>
                  </a:cxn>
                  <a:cxn ang="0">
                    <a:pos x="201" y="202"/>
                  </a:cxn>
                  <a:cxn ang="0">
                    <a:pos x="189" y="86"/>
                  </a:cxn>
                  <a:cxn ang="0">
                    <a:pos x="191" y="30"/>
                  </a:cxn>
                  <a:cxn ang="0">
                    <a:pos x="204" y="7"/>
                  </a:cxn>
                  <a:cxn ang="0">
                    <a:pos x="228" y="1"/>
                  </a:cxn>
                  <a:cxn ang="0">
                    <a:pos x="249" y="14"/>
                  </a:cxn>
                  <a:cxn ang="0">
                    <a:pos x="268" y="44"/>
                  </a:cxn>
                  <a:cxn ang="0">
                    <a:pos x="277" y="64"/>
                  </a:cxn>
                  <a:cxn ang="0">
                    <a:pos x="232" y="80"/>
                  </a:cxn>
                  <a:cxn ang="0">
                    <a:pos x="225" y="67"/>
                  </a:cxn>
                  <a:cxn ang="0">
                    <a:pos x="210" y="43"/>
                  </a:cxn>
                  <a:cxn ang="0">
                    <a:pos x="222" y="49"/>
                  </a:cxn>
                  <a:cxn ang="0">
                    <a:pos x="231" y="46"/>
                  </a:cxn>
                  <a:cxn ang="0">
                    <a:pos x="239" y="38"/>
                  </a:cxn>
                  <a:cxn ang="0">
                    <a:pos x="236" y="83"/>
                  </a:cxn>
                  <a:cxn ang="0">
                    <a:pos x="248" y="194"/>
                  </a:cxn>
                  <a:cxn ang="0">
                    <a:pos x="278" y="377"/>
                  </a:cxn>
                  <a:cxn ang="0">
                    <a:pos x="337" y="750"/>
                  </a:cxn>
                  <a:cxn ang="0">
                    <a:pos x="360" y="959"/>
                  </a:cxn>
                  <a:cxn ang="0">
                    <a:pos x="360" y="1120"/>
                  </a:cxn>
                  <a:cxn ang="0">
                    <a:pos x="341" y="1189"/>
                  </a:cxn>
                  <a:cxn ang="0">
                    <a:pos x="322" y="1220"/>
                  </a:cxn>
                  <a:cxn ang="0">
                    <a:pos x="281" y="1261"/>
                  </a:cxn>
                  <a:cxn ang="0">
                    <a:pos x="209" y="1295"/>
                  </a:cxn>
                  <a:cxn ang="0">
                    <a:pos x="125" y="1322"/>
                  </a:cxn>
                  <a:cxn ang="0">
                    <a:pos x="79" y="1354"/>
                  </a:cxn>
                  <a:cxn ang="0">
                    <a:pos x="74" y="1363"/>
                  </a:cxn>
                  <a:cxn ang="0">
                    <a:pos x="52" y="1444"/>
                  </a:cxn>
                  <a:cxn ang="0">
                    <a:pos x="52" y="1590"/>
                  </a:cxn>
                  <a:cxn ang="0">
                    <a:pos x="28" y="1759"/>
                  </a:cxn>
                </a:cxnLst>
                <a:rect l="0" t="0" r="r" b="b"/>
                <a:pathLst>
                  <a:path w="363" h="1759">
                    <a:moveTo>
                      <a:pt x="28" y="1759"/>
                    </a:moveTo>
                    <a:lnTo>
                      <a:pt x="11" y="1650"/>
                    </a:lnTo>
                    <a:lnTo>
                      <a:pt x="5" y="1595"/>
                    </a:lnTo>
                    <a:lnTo>
                      <a:pt x="1" y="1542"/>
                    </a:lnTo>
                    <a:lnTo>
                      <a:pt x="0" y="1490"/>
                    </a:lnTo>
                    <a:lnTo>
                      <a:pt x="4" y="1440"/>
                    </a:lnTo>
                    <a:lnTo>
                      <a:pt x="13" y="1393"/>
                    </a:lnTo>
                    <a:cubicBezTo>
                      <a:pt x="13" y="1391"/>
                      <a:pt x="13" y="1390"/>
                      <a:pt x="14" y="1389"/>
                    </a:cubicBezTo>
                    <a:lnTo>
                      <a:pt x="29" y="1347"/>
                    </a:lnTo>
                    <a:cubicBezTo>
                      <a:pt x="29" y="1346"/>
                      <a:pt x="30" y="1344"/>
                      <a:pt x="31" y="1343"/>
                    </a:cubicBezTo>
                    <a:lnTo>
                      <a:pt x="41" y="1325"/>
                    </a:lnTo>
                    <a:cubicBezTo>
                      <a:pt x="42" y="1323"/>
                      <a:pt x="44" y="1321"/>
                      <a:pt x="45" y="1320"/>
                    </a:cubicBezTo>
                    <a:lnTo>
                      <a:pt x="59" y="1305"/>
                    </a:lnTo>
                    <a:cubicBezTo>
                      <a:pt x="61" y="1304"/>
                      <a:pt x="63" y="1303"/>
                      <a:pt x="64" y="1302"/>
                    </a:cubicBezTo>
                    <a:lnTo>
                      <a:pt x="100" y="1281"/>
                    </a:lnTo>
                    <a:cubicBezTo>
                      <a:pt x="102" y="1280"/>
                      <a:pt x="103" y="1279"/>
                      <a:pt x="105" y="1279"/>
                    </a:cubicBezTo>
                    <a:lnTo>
                      <a:pt x="148" y="1264"/>
                    </a:lnTo>
                    <a:lnTo>
                      <a:pt x="194" y="1250"/>
                    </a:lnTo>
                    <a:lnTo>
                      <a:pt x="238" y="1232"/>
                    </a:lnTo>
                    <a:lnTo>
                      <a:pt x="234" y="1234"/>
                    </a:lnTo>
                    <a:lnTo>
                      <a:pt x="255" y="1221"/>
                    </a:lnTo>
                    <a:lnTo>
                      <a:pt x="272" y="1206"/>
                    </a:lnTo>
                    <a:lnTo>
                      <a:pt x="269" y="1210"/>
                    </a:lnTo>
                    <a:lnTo>
                      <a:pt x="285" y="1190"/>
                    </a:lnTo>
                    <a:lnTo>
                      <a:pt x="283" y="1193"/>
                    </a:lnTo>
                    <a:lnTo>
                      <a:pt x="298" y="1168"/>
                    </a:lnTo>
                    <a:lnTo>
                      <a:pt x="296" y="1172"/>
                    </a:lnTo>
                    <a:lnTo>
                      <a:pt x="307" y="1142"/>
                    </a:lnTo>
                    <a:lnTo>
                      <a:pt x="306" y="1146"/>
                    </a:lnTo>
                    <a:lnTo>
                      <a:pt x="313" y="1110"/>
                    </a:lnTo>
                    <a:lnTo>
                      <a:pt x="316" y="1070"/>
                    </a:lnTo>
                    <a:lnTo>
                      <a:pt x="315" y="1019"/>
                    </a:lnTo>
                    <a:lnTo>
                      <a:pt x="312" y="962"/>
                    </a:lnTo>
                    <a:lnTo>
                      <a:pt x="307" y="898"/>
                    </a:lnTo>
                    <a:lnTo>
                      <a:pt x="299" y="829"/>
                    </a:lnTo>
                    <a:lnTo>
                      <a:pt x="290" y="756"/>
                    </a:lnTo>
                    <a:lnTo>
                      <a:pt x="267" y="605"/>
                    </a:lnTo>
                    <a:lnTo>
                      <a:pt x="242" y="456"/>
                    </a:lnTo>
                    <a:lnTo>
                      <a:pt x="230" y="385"/>
                    </a:lnTo>
                    <a:lnTo>
                      <a:pt x="219" y="318"/>
                    </a:lnTo>
                    <a:lnTo>
                      <a:pt x="209" y="256"/>
                    </a:lnTo>
                    <a:lnTo>
                      <a:pt x="201" y="202"/>
                    </a:lnTo>
                    <a:lnTo>
                      <a:pt x="195" y="154"/>
                    </a:lnTo>
                    <a:lnTo>
                      <a:pt x="191" y="116"/>
                    </a:lnTo>
                    <a:lnTo>
                      <a:pt x="189" y="86"/>
                    </a:lnTo>
                    <a:lnTo>
                      <a:pt x="188" y="62"/>
                    </a:lnTo>
                    <a:lnTo>
                      <a:pt x="189" y="44"/>
                    </a:lnTo>
                    <a:lnTo>
                      <a:pt x="191" y="30"/>
                    </a:lnTo>
                    <a:cubicBezTo>
                      <a:pt x="192" y="28"/>
                      <a:pt x="192" y="27"/>
                      <a:pt x="192" y="26"/>
                    </a:cubicBezTo>
                    <a:lnTo>
                      <a:pt x="195" y="19"/>
                    </a:lnTo>
                    <a:cubicBezTo>
                      <a:pt x="197" y="14"/>
                      <a:pt x="200" y="10"/>
                      <a:pt x="204" y="7"/>
                    </a:cubicBezTo>
                    <a:lnTo>
                      <a:pt x="207" y="5"/>
                    </a:lnTo>
                    <a:cubicBezTo>
                      <a:pt x="212" y="1"/>
                      <a:pt x="218" y="0"/>
                      <a:pt x="224" y="1"/>
                    </a:cubicBezTo>
                    <a:lnTo>
                      <a:pt x="228" y="1"/>
                    </a:lnTo>
                    <a:cubicBezTo>
                      <a:pt x="232" y="2"/>
                      <a:pt x="236" y="3"/>
                      <a:pt x="240" y="6"/>
                    </a:cubicBezTo>
                    <a:lnTo>
                      <a:pt x="244" y="10"/>
                    </a:lnTo>
                    <a:cubicBezTo>
                      <a:pt x="246" y="11"/>
                      <a:pt x="247" y="12"/>
                      <a:pt x="249" y="14"/>
                    </a:cubicBezTo>
                    <a:lnTo>
                      <a:pt x="258" y="26"/>
                    </a:lnTo>
                    <a:cubicBezTo>
                      <a:pt x="258" y="27"/>
                      <a:pt x="259" y="28"/>
                      <a:pt x="260" y="29"/>
                    </a:cubicBezTo>
                    <a:lnTo>
                      <a:pt x="268" y="44"/>
                    </a:lnTo>
                    <a:lnTo>
                      <a:pt x="274" y="58"/>
                    </a:lnTo>
                    <a:lnTo>
                      <a:pt x="276" y="61"/>
                    </a:lnTo>
                    <a:cubicBezTo>
                      <a:pt x="276" y="62"/>
                      <a:pt x="277" y="63"/>
                      <a:pt x="277" y="64"/>
                    </a:cubicBezTo>
                    <a:lnTo>
                      <a:pt x="278" y="66"/>
                    </a:lnTo>
                    <a:lnTo>
                      <a:pt x="232" y="81"/>
                    </a:lnTo>
                    <a:lnTo>
                      <a:pt x="232" y="80"/>
                    </a:lnTo>
                    <a:lnTo>
                      <a:pt x="233" y="83"/>
                    </a:lnTo>
                    <a:lnTo>
                      <a:pt x="231" y="78"/>
                    </a:lnTo>
                    <a:lnTo>
                      <a:pt x="225" y="67"/>
                    </a:lnTo>
                    <a:lnTo>
                      <a:pt x="217" y="52"/>
                    </a:lnTo>
                    <a:lnTo>
                      <a:pt x="219" y="55"/>
                    </a:lnTo>
                    <a:lnTo>
                      <a:pt x="210" y="43"/>
                    </a:lnTo>
                    <a:lnTo>
                      <a:pt x="215" y="47"/>
                    </a:lnTo>
                    <a:lnTo>
                      <a:pt x="210" y="44"/>
                    </a:lnTo>
                    <a:lnTo>
                      <a:pt x="222" y="49"/>
                    </a:lnTo>
                    <a:lnTo>
                      <a:pt x="218" y="48"/>
                    </a:lnTo>
                    <a:lnTo>
                      <a:pt x="235" y="44"/>
                    </a:lnTo>
                    <a:lnTo>
                      <a:pt x="231" y="46"/>
                    </a:lnTo>
                    <a:lnTo>
                      <a:pt x="240" y="35"/>
                    </a:lnTo>
                    <a:lnTo>
                      <a:pt x="238" y="42"/>
                    </a:lnTo>
                    <a:lnTo>
                      <a:pt x="239" y="38"/>
                    </a:lnTo>
                    <a:lnTo>
                      <a:pt x="237" y="46"/>
                    </a:lnTo>
                    <a:lnTo>
                      <a:pt x="236" y="61"/>
                    </a:lnTo>
                    <a:lnTo>
                      <a:pt x="236" y="83"/>
                    </a:lnTo>
                    <a:lnTo>
                      <a:pt x="238" y="111"/>
                    </a:lnTo>
                    <a:lnTo>
                      <a:pt x="242" y="148"/>
                    </a:lnTo>
                    <a:lnTo>
                      <a:pt x="248" y="194"/>
                    </a:lnTo>
                    <a:lnTo>
                      <a:pt x="257" y="249"/>
                    </a:lnTo>
                    <a:lnTo>
                      <a:pt x="267" y="310"/>
                    </a:lnTo>
                    <a:lnTo>
                      <a:pt x="278" y="377"/>
                    </a:lnTo>
                    <a:lnTo>
                      <a:pt x="290" y="448"/>
                    </a:lnTo>
                    <a:lnTo>
                      <a:pt x="314" y="598"/>
                    </a:lnTo>
                    <a:lnTo>
                      <a:pt x="337" y="750"/>
                    </a:lnTo>
                    <a:lnTo>
                      <a:pt x="347" y="823"/>
                    </a:lnTo>
                    <a:lnTo>
                      <a:pt x="354" y="893"/>
                    </a:lnTo>
                    <a:lnTo>
                      <a:pt x="360" y="959"/>
                    </a:lnTo>
                    <a:lnTo>
                      <a:pt x="363" y="1019"/>
                    </a:lnTo>
                    <a:lnTo>
                      <a:pt x="363" y="1073"/>
                    </a:lnTo>
                    <a:lnTo>
                      <a:pt x="360" y="1120"/>
                    </a:lnTo>
                    <a:lnTo>
                      <a:pt x="353" y="1155"/>
                    </a:lnTo>
                    <a:cubicBezTo>
                      <a:pt x="353" y="1156"/>
                      <a:pt x="352" y="1158"/>
                      <a:pt x="352" y="1159"/>
                    </a:cubicBezTo>
                    <a:lnTo>
                      <a:pt x="341" y="1189"/>
                    </a:lnTo>
                    <a:cubicBezTo>
                      <a:pt x="340" y="1190"/>
                      <a:pt x="340" y="1191"/>
                      <a:pt x="339" y="1193"/>
                    </a:cubicBezTo>
                    <a:lnTo>
                      <a:pt x="325" y="1217"/>
                    </a:lnTo>
                    <a:cubicBezTo>
                      <a:pt x="324" y="1218"/>
                      <a:pt x="323" y="1219"/>
                      <a:pt x="322" y="1220"/>
                    </a:cubicBezTo>
                    <a:lnTo>
                      <a:pt x="306" y="1240"/>
                    </a:lnTo>
                    <a:cubicBezTo>
                      <a:pt x="305" y="1241"/>
                      <a:pt x="304" y="1243"/>
                      <a:pt x="303" y="1244"/>
                    </a:cubicBezTo>
                    <a:lnTo>
                      <a:pt x="281" y="1261"/>
                    </a:lnTo>
                    <a:lnTo>
                      <a:pt x="260" y="1274"/>
                    </a:lnTo>
                    <a:cubicBezTo>
                      <a:pt x="258" y="1275"/>
                      <a:pt x="257" y="1276"/>
                      <a:pt x="256" y="1276"/>
                    </a:cubicBezTo>
                    <a:lnTo>
                      <a:pt x="209" y="1295"/>
                    </a:lnTo>
                    <a:lnTo>
                      <a:pt x="163" y="1310"/>
                    </a:lnTo>
                    <a:lnTo>
                      <a:pt x="120" y="1324"/>
                    </a:lnTo>
                    <a:lnTo>
                      <a:pt x="125" y="1322"/>
                    </a:lnTo>
                    <a:lnTo>
                      <a:pt x="89" y="1343"/>
                    </a:lnTo>
                    <a:lnTo>
                      <a:pt x="93" y="1339"/>
                    </a:lnTo>
                    <a:lnTo>
                      <a:pt x="79" y="1354"/>
                    </a:lnTo>
                    <a:lnTo>
                      <a:pt x="83" y="1349"/>
                    </a:lnTo>
                    <a:lnTo>
                      <a:pt x="72" y="1367"/>
                    </a:lnTo>
                    <a:lnTo>
                      <a:pt x="74" y="1363"/>
                    </a:lnTo>
                    <a:lnTo>
                      <a:pt x="59" y="1405"/>
                    </a:lnTo>
                    <a:lnTo>
                      <a:pt x="60" y="1401"/>
                    </a:lnTo>
                    <a:lnTo>
                      <a:pt x="52" y="1444"/>
                    </a:lnTo>
                    <a:lnTo>
                      <a:pt x="48" y="1490"/>
                    </a:lnTo>
                    <a:lnTo>
                      <a:pt x="48" y="1539"/>
                    </a:lnTo>
                    <a:lnTo>
                      <a:pt x="52" y="1590"/>
                    </a:lnTo>
                    <a:lnTo>
                      <a:pt x="58" y="1642"/>
                    </a:lnTo>
                    <a:lnTo>
                      <a:pt x="75" y="1752"/>
                    </a:lnTo>
                    <a:lnTo>
                      <a:pt x="28" y="175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1" name="Freeform 37">
                <a:extLst>
                  <a:ext uri="{FF2B5EF4-FFF2-40B4-BE49-F238E27FC236}">
                    <a16:creationId xmlns:a16="http://schemas.microsoft.com/office/drawing/2014/main" id="{E2B84B98-48B1-660C-C9C6-0A3D1F2E0E6E}"/>
                  </a:ext>
                </a:extLst>
              </p:cNvPr>
              <p:cNvSpPr>
                <a:spLocks/>
              </p:cNvSpPr>
              <p:nvPr/>
            </p:nvSpPr>
            <p:spPr bwMode="auto">
              <a:xfrm>
                <a:off x="10355710" y="206585"/>
                <a:ext cx="371254" cy="2774"/>
              </a:xfrm>
              <a:custGeom>
                <a:avLst/>
                <a:gdLst/>
                <a:ahLst/>
                <a:cxnLst>
                  <a:cxn ang="0">
                    <a:pos x="0" y="0"/>
                  </a:cxn>
                  <a:cxn ang="0">
                    <a:pos x="293" y="0"/>
                  </a:cxn>
                  <a:cxn ang="0">
                    <a:pos x="436" y="0"/>
                  </a:cxn>
                  <a:cxn ang="0">
                    <a:pos x="436" y="3"/>
                  </a:cxn>
                  <a:cxn ang="0">
                    <a:pos x="293" y="3"/>
                  </a:cxn>
                  <a:cxn ang="0">
                    <a:pos x="0" y="3"/>
                  </a:cxn>
                  <a:cxn ang="0">
                    <a:pos x="0" y="0"/>
                  </a:cxn>
                </a:cxnLst>
                <a:rect l="0" t="0" r="r" b="b"/>
                <a:pathLst>
                  <a:path w="436" h="3">
                    <a:moveTo>
                      <a:pt x="0" y="0"/>
                    </a:moveTo>
                    <a:lnTo>
                      <a:pt x="293" y="0"/>
                    </a:lnTo>
                    <a:lnTo>
                      <a:pt x="436" y="0"/>
                    </a:lnTo>
                    <a:lnTo>
                      <a:pt x="436" y="3"/>
                    </a:lnTo>
                    <a:lnTo>
                      <a:pt x="293" y="3"/>
                    </a:lnTo>
                    <a:lnTo>
                      <a:pt x="0" y="3"/>
                    </a:lnTo>
                    <a:lnTo>
                      <a:pt x="0"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2" name="Freeform 38">
                <a:extLst>
                  <a:ext uri="{FF2B5EF4-FFF2-40B4-BE49-F238E27FC236}">
                    <a16:creationId xmlns:a16="http://schemas.microsoft.com/office/drawing/2014/main" id="{BBD8A3C0-0E97-E4A5-17A2-5F34D1DB3225}"/>
                  </a:ext>
                </a:extLst>
              </p:cNvPr>
              <p:cNvSpPr>
                <a:spLocks/>
              </p:cNvSpPr>
              <p:nvPr/>
            </p:nvSpPr>
            <p:spPr bwMode="auto">
              <a:xfrm>
                <a:off x="10746549" y="180690"/>
                <a:ext cx="199251" cy="12948"/>
              </a:xfrm>
              <a:custGeom>
                <a:avLst/>
                <a:gdLst/>
                <a:ahLst/>
                <a:cxnLst>
                  <a:cxn ang="0">
                    <a:pos x="0" y="11"/>
                  </a:cxn>
                  <a:cxn ang="0">
                    <a:pos x="21" y="8"/>
                  </a:cxn>
                  <a:cxn ang="0">
                    <a:pos x="32" y="6"/>
                  </a:cxn>
                  <a:cxn ang="0">
                    <a:pos x="44" y="5"/>
                  </a:cxn>
                  <a:cxn ang="0">
                    <a:pos x="56" y="4"/>
                  </a:cxn>
                  <a:cxn ang="0">
                    <a:pos x="68" y="3"/>
                  </a:cxn>
                  <a:cxn ang="0">
                    <a:pos x="81" y="2"/>
                  </a:cxn>
                  <a:cxn ang="0">
                    <a:pos x="95" y="1"/>
                  </a:cxn>
                  <a:cxn ang="0">
                    <a:pos x="99" y="1"/>
                  </a:cxn>
                  <a:cxn ang="0">
                    <a:pos x="104" y="1"/>
                  </a:cxn>
                  <a:cxn ang="0">
                    <a:pos x="113" y="0"/>
                  </a:cxn>
                  <a:cxn ang="0">
                    <a:pos x="123" y="0"/>
                  </a:cxn>
                  <a:cxn ang="0">
                    <a:pos x="134" y="0"/>
                  </a:cxn>
                  <a:cxn ang="0">
                    <a:pos x="145" y="0"/>
                  </a:cxn>
                  <a:cxn ang="0">
                    <a:pos x="157" y="0"/>
                  </a:cxn>
                  <a:cxn ang="0">
                    <a:pos x="168" y="0"/>
                  </a:cxn>
                  <a:cxn ang="0">
                    <a:pos x="180" y="0"/>
                  </a:cxn>
                  <a:cxn ang="0">
                    <a:pos x="191" y="0"/>
                  </a:cxn>
                  <a:cxn ang="0">
                    <a:pos x="201" y="0"/>
                  </a:cxn>
                  <a:cxn ang="0">
                    <a:pos x="210" y="0"/>
                  </a:cxn>
                  <a:cxn ang="0">
                    <a:pos x="214" y="0"/>
                  </a:cxn>
                  <a:cxn ang="0">
                    <a:pos x="218" y="1"/>
                  </a:cxn>
                  <a:cxn ang="0">
                    <a:pos x="222" y="1"/>
                  </a:cxn>
                  <a:cxn ang="0">
                    <a:pos x="225" y="1"/>
                  </a:cxn>
                  <a:cxn ang="0">
                    <a:pos x="228" y="1"/>
                  </a:cxn>
                  <a:cxn ang="0">
                    <a:pos x="230" y="1"/>
                  </a:cxn>
                  <a:cxn ang="0">
                    <a:pos x="232" y="1"/>
                  </a:cxn>
                  <a:cxn ang="0">
                    <a:pos x="233" y="1"/>
                  </a:cxn>
                  <a:cxn ang="0">
                    <a:pos x="234" y="1"/>
                  </a:cxn>
                  <a:cxn ang="0">
                    <a:pos x="234" y="1"/>
                  </a:cxn>
                  <a:cxn ang="0">
                    <a:pos x="234" y="4"/>
                  </a:cxn>
                  <a:cxn ang="0">
                    <a:pos x="234" y="4"/>
                  </a:cxn>
                  <a:cxn ang="0">
                    <a:pos x="233" y="4"/>
                  </a:cxn>
                  <a:cxn ang="0">
                    <a:pos x="232" y="4"/>
                  </a:cxn>
                  <a:cxn ang="0">
                    <a:pos x="230" y="4"/>
                  </a:cxn>
                  <a:cxn ang="0">
                    <a:pos x="228" y="4"/>
                  </a:cxn>
                  <a:cxn ang="0">
                    <a:pos x="225" y="4"/>
                  </a:cxn>
                  <a:cxn ang="0">
                    <a:pos x="222" y="4"/>
                  </a:cxn>
                  <a:cxn ang="0">
                    <a:pos x="218" y="4"/>
                  </a:cxn>
                  <a:cxn ang="0">
                    <a:pos x="214" y="3"/>
                  </a:cxn>
                  <a:cxn ang="0">
                    <a:pos x="210" y="3"/>
                  </a:cxn>
                  <a:cxn ang="0">
                    <a:pos x="201" y="3"/>
                  </a:cxn>
                  <a:cxn ang="0">
                    <a:pos x="191" y="3"/>
                  </a:cxn>
                  <a:cxn ang="0">
                    <a:pos x="180" y="3"/>
                  </a:cxn>
                  <a:cxn ang="0">
                    <a:pos x="168" y="3"/>
                  </a:cxn>
                  <a:cxn ang="0">
                    <a:pos x="157" y="3"/>
                  </a:cxn>
                  <a:cxn ang="0">
                    <a:pos x="145" y="3"/>
                  </a:cxn>
                  <a:cxn ang="0">
                    <a:pos x="134" y="3"/>
                  </a:cxn>
                  <a:cxn ang="0">
                    <a:pos x="123" y="3"/>
                  </a:cxn>
                  <a:cxn ang="0">
                    <a:pos x="113" y="3"/>
                  </a:cxn>
                  <a:cxn ang="0">
                    <a:pos x="104" y="3"/>
                  </a:cxn>
                  <a:cxn ang="0">
                    <a:pos x="100" y="4"/>
                  </a:cxn>
                  <a:cxn ang="0">
                    <a:pos x="96" y="4"/>
                  </a:cxn>
                  <a:cxn ang="0">
                    <a:pos x="82" y="5"/>
                  </a:cxn>
                  <a:cxn ang="0">
                    <a:pos x="69" y="5"/>
                  </a:cxn>
                  <a:cxn ang="0">
                    <a:pos x="56" y="7"/>
                  </a:cxn>
                  <a:cxn ang="0">
                    <a:pos x="45" y="8"/>
                  </a:cxn>
                  <a:cxn ang="0">
                    <a:pos x="33" y="9"/>
                  </a:cxn>
                  <a:cxn ang="0">
                    <a:pos x="22" y="11"/>
                  </a:cxn>
                  <a:cxn ang="0">
                    <a:pos x="1" y="14"/>
                  </a:cxn>
                  <a:cxn ang="0">
                    <a:pos x="0" y="11"/>
                  </a:cxn>
                </a:cxnLst>
                <a:rect l="0" t="0" r="r" b="b"/>
                <a:pathLst>
                  <a:path w="234" h="14">
                    <a:moveTo>
                      <a:pt x="0" y="11"/>
                    </a:moveTo>
                    <a:lnTo>
                      <a:pt x="21" y="8"/>
                    </a:lnTo>
                    <a:lnTo>
                      <a:pt x="32" y="6"/>
                    </a:lnTo>
                    <a:lnTo>
                      <a:pt x="44" y="5"/>
                    </a:lnTo>
                    <a:lnTo>
                      <a:pt x="56" y="4"/>
                    </a:lnTo>
                    <a:lnTo>
                      <a:pt x="68" y="3"/>
                    </a:lnTo>
                    <a:lnTo>
                      <a:pt x="81" y="2"/>
                    </a:lnTo>
                    <a:lnTo>
                      <a:pt x="95" y="1"/>
                    </a:lnTo>
                    <a:lnTo>
                      <a:pt x="99" y="1"/>
                    </a:lnTo>
                    <a:lnTo>
                      <a:pt x="104" y="1"/>
                    </a:lnTo>
                    <a:lnTo>
                      <a:pt x="113" y="0"/>
                    </a:lnTo>
                    <a:lnTo>
                      <a:pt x="123" y="0"/>
                    </a:lnTo>
                    <a:lnTo>
                      <a:pt x="134" y="0"/>
                    </a:lnTo>
                    <a:lnTo>
                      <a:pt x="145" y="0"/>
                    </a:lnTo>
                    <a:lnTo>
                      <a:pt x="157" y="0"/>
                    </a:lnTo>
                    <a:lnTo>
                      <a:pt x="168" y="0"/>
                    </a:lnTo>
                    <a:lnTo>
                      <a:pt x="180" y="0"/>
                    </a:lnTo>
                    <a:lnTo>
                      <a:pt x="191" y="0"/>
                    </a:lnTo>
                    <a:lnTo>
                      <a:pt x="201" y="0"/>
                    </a:lnTo>
                    <a:lnTo>
                      <a:pt x="210" y="0"/>
                    </a:lnTo>
                    <a:lnTo>
                      <a:pt x="214" y="0"/>
                    </a:lnTo>
                    <a:lnTo>
                      <a:pt x="218" y="1"/>
                    </a:lnTo>
                    <a:lnTo>
                      <a:pt x="222" y="1"/>
                    </a:lnTo>
                    <a:lnTo>
                      <a:pt x="225" y="1"/>
                    </a:lnTo>
                    <a:lnTo>
                      <a:pt x="228" y="1"/>
                    </a:lnTo>
                    <a:lnTo>
                      <a:pt x="230" y="1"/>
                    </a:lnTo>
                    <a:lnTo>
                      <a:pt x="232" y="1"/>
                    </a:lnTo>
                    <a:lnTo>
                      <a:pt x="233" y="1"/>
                    </a:lnTo>
                    <a:lnTo>
                      <a:pt x="234" y="1"/>
                    </a:lnTo>
                    <a:lnTo>
                      <a:pt x="234" y="1"/>
                    </a:lnTo>
                    <a:lnTo>
                      <a:pt x="234" y="4"/>
                    </a:lnTo>
                    <a:lnTo>
                      <a:pt x="234" y="4"/>
                    </a:lnTo>
                    <a:lnTo>
                      <a:pt x="233" y="4"/>
                    </a:lnTo>
                    <a:lnTo>
                      <a:pt x="232" y="4"/>
                    </a:lnTo>
                    <a:lnTo>
                      <a:pt x="230" y="4"/>
                    </a:lnTo>
                    <a:lnTo>
                      <a:pt x="228" y="4"/>
                    </a:lnTo>
                    <a:lnTo>
                      <a:pt x="225" y="4"/>
                    </a:lnTo>
                    <a:lnTo>
                      <a:pt x="222" y="4"/>
                    </a:lnTo>
                    <a:lnTo>
                      <a:pt x="218" y="4"/>
                    </a:lnTo>
                    <a:lnTo>
                      <a:pt x="214" y="3"/>
                    </a:lnTo>
                    <a:lnTo>
                      <a:pt x="210" y="3"/>
                    </a:lnTo>
                    <a:lnTo>
                      <a:pt x="201" y="3"/>
                    </a:lnTo>
                    <a:lnTo>
                      <a:pt x="191" y="3"/>
                    </a:lnTo>
                    <a:lnTo>
                      <a:pt x="180" y="3"/>
                    </a:lnTo>
                    <a:lnTo>
                      <a:pt x="168" y="3"/>
                    </a:lnTo>
                    <a:lnTo>
                      <a:pt x="157" y="3"/>
                    </a:lnTo>
                    <a:lnTo>
                      <a:pt x="145" y="3"/>
                    </a:lnTo>
                    <a:lnTo>
                      <a:pt x="134" y="3"/>
                    </a:lnTo>
                    <a:lnTo>
                      <a:pt x="123" y="3"/>
                    </a:lnTo>
                    <a:lnTo>
                      <a:pt x="113" y="3"/>
                    </a:lnTo>
                    <a:lnTo>
                      <a:pt x="104" y="3"/>
                    </a:lnTo>
                    <a:lnTo>
                      <a:pt x="100" y="4"/>
                    </a:lnTo>
                    <a:lnTo>
                      <a:pt x="96" y="4"/>
                    </a:lnTo>
                    <a:lnTo>
                      <a:pt x="82" y="5"/>
                    </a:lnTo>
                    <a:lnTo>
                      <a:pt x="69" y="5"/>
                    </a:lnTo>
                    <a:lnTo>
                      <a:pt x="56" y="7"/>
                    </a:lnTo>
                    <a:lnTo>
                      <a:pt x="45" y="8"/>
                    </a:lnTo>
                    <a:lnTo>
                      <a:pt x="33" y="9"/>
                    </a:lnTo>
                    <a:lnTo>
                      <a:pt x="22" y="11"/>
                    </a:lnTo>
                    <a:lnTo>
                      <a:pt x="1" y="14"/>
                    </a:lnTo>
                    <a:lnTo>
                      <a:pt x="0" y="11"/>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3" name="Freeform 39">
                <a:extLst>
                  <a:ext uri="{FF2B5EF4-FFF2-40B4-BE49-F238E27FC236}">
                    <a16:creationId xmlns:a16="http://schemas.microsoft.com/office/drawing/2014/main" id="{3FB837AB-8C11-1D78-49AD-16C23ED58751}"/>
                  </a:ext>
                </a:extLst>
              </p:cNvPr>
              <p:cNvSpPr>
                <a:spLocks/>
              </p:cNvSpPr>
              <p:nvPr/>
            </p:nvSpPr>
            <p:spPr bwMode="auto">
              <a:xfrm>
                <a:off x="10750806" y="213984"/>
                <a:ext cx="161785" cy="2774"/>
              </a:xfrm>
              <a:custGeom>
                <a:avLst/>
                <a:gdLst/>
                <a:ahLst/>
                <a:cxnLst>
                  <a:cxn ang="0">
                    <a:pos x="0" y="0"/>
                  </a:cxn>
                  <a:cxn ang="0">
                    <a:pos x="110" y="0"/>
                  </a:cxn>
                  <a:cxn ang="0">
                    <a:pos x="190" y="0"/>
                  </a:cxn>
                  <a:cxn ang="0">
                    <a:pos x="190" y="3"/>
                  </a:cxn>
                  <a:cxn ang="0">
                    <a:pos x="110" y="3"/>
                  </a:cxn>
                  <a:cxn ang="0">
                    <a:pos x="0" y="3"/>
                  </a:cxn>
                  <a:cxn ang="0">
                    <a:pos x="0" y="0"/>
                  </a:cxn>
                </a:cxnLst>
                <a:rect l="0" t="0" r="r" b="b"/>
                <a:pathLst>
                  <a:path w="190" h="3">
                    <a:moveTo>
                      <a:pt x="0" y="0"/>
                    </a:moveTo>
                    <a:lnTo>
                      <a:pt x="110" y="0"/>
                    </a:lnTo>
                    <a:lnTo>
                      <a:pt x="190" y="0"/>
                    </a:lnTo>
                    <a:lnTo>
                      <a:pt x="190" y="3"/>
                    </a:lnTo>
                    <a:lnTo>
                      <a:pt x="110" y="3"/>
                    </a:lnTo>
                    <a:lnTo>
                      <a:pt x="0" y="3"/>
                    </a:lnTo>
                    <a:lnTo>
                      <a:pt x="0"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4" name="Freeform 40">
                <a:extLst>
                  <a:ext uri="{FF2B5EF4-FFF2-40B4-BE49-F238E27FC236}">
                    <a16:creationId xmlns:a16="http://schemas.microsoft.com/office/drawing/2014/main" id="{9F4133F8-84EF-0C3B-4AE0-C1DED75EFD54}"/>
                  </a:ext>
                </a:extLst>
              </p:cNvPr>
              <p:cNvSpPr>
                <a:spLocks/>
              </p:cNvSpPr>
              <p:nvPr/>
            </p:nvSpPr>
            <p:spPr bwMode="auto">
              <a:xfrm>
                <a:off x="10721004" y="190863"/>
                <a:ext cx="36614" cy="25895"/>
              </a:xfrm>
              <a:custGeom>
                <a:avLst/>
                <a:gdLst/>
                <a:ahLst/>
                <a:cxnLst>
                  <a:cxn ang="0">
                    <a:pos x="688" y="855"/>
                  </a:cxn>
                  <a:cxn ang="0">
                    <a:pos x="407" y="783"/>
                  </a:cxn>
                  <a:cxn ang="0">
                    <a:pos x="179" y="704"/>
                  </a:cxn>
                  <a:cxn ang="0">
                    <a:pos x="92" y="657"/>
                  </a:cxn>
                  <a:cxn ang="0">
                    <a:pos x="54" y="628"/>
                  </a:cxn>
                  <a:cxn ang="0">
                    <a:pos x="25" y="595"/>
                  </a:cxn>
                  <a:cxn ang="0">
                    <a:pos x="6" y="558"/>
                  </a:cxn>
                  <a:cxn ang="0">
                    <a:pos x="3" y="508"/>
                  </a:cxn>
                  <a:cxn ang="0">
                    <a:pos x="20" y="467"/>
                  </a:cxn>
                  <a:cxn ang="0">
                    <a:pos x="51" y="428"/>
                  </a:cxn>
                  <a:cxn ang="0">
                    <a:pos x="145" y="354"/>
                  </a:cxn>
                  <a:cxn ang="0">
                    <a:pos x="277" y="272"/>
                  </a:cxn>
                  <a:cxn ang="0">
                    <a:pos x="574" y="117"/>
                  </a:cxn>
                  <a:cxn ang="0">
                    <a:pos x="703" y="56"/>
                  </a:cxn>
                  <a:cxn ang="0">
                    <a:pos x="795" y="15"/>
                  </a:cxn>
                  <a:cxn ang="0">
                    <a:pos x="829" y="0"/>
                  </a:cxn>
                  <a:cxn ang="0">
                    <a:pos x="859" y="91"/>
                  </a:cxn>
                  <a:cxn ang="0">
                    <a:pos x="794" y="120"/>
                  </a:cxn>
                  <a:cxn ang="0">
                    <a:pos x="683" y="172"/>
                  </a:cxn>
                  <a:cxn ang="0">
                    <a:pos x="471" y="276"/>
                  </a:cxn>
                  <a:cxn ang="0">
                    <a:pos x="260" y="394"/>
                  </a:cxn>
                  <a:cxn ang="0">
                    <a:pos x="154" y="466"/>
                  </a:cxn>
                  <a:cxn ang="0">
                    <a:pos x="120" y="494"/>
                  </a:cxn>
                  <a:cxn ang="0">
                    <a:pos x="103" y="512"/>
                  </a:cxn>
                  <a:cxn ang="0">
                    <a:pos x="96" y="514"/>
                  </a:cxn>
                  <a:cxn ang="0">
                    <a:pos x="95" y="525"/>
                  </a:cxn>
                  <a:cxn ang="0">
                    <a:pos x="101" y="538"/>
                  </a:cxn>
                  <a:cxn ang="0">
                    <a:pos x="117" y="556"/>
                  </a:cxn>
                  <a:cxn ang="0">
                    <a:pos x="175" y="595"/>
                  </a:cxn>
                  <a:cxn ang="0">
                    <a:pos x="313" y="653"/>
                  </a:cxn>
                  <a:cxn ang="0">
                    <a:pos x="566" y="727"/>
                  </a:cxn>
                  <a:cxn ang="0">
                    <a:pos x="859" y="797"/>
                  </a:cxn>
                </a:cxnLst>
                <a:rect l="0" t="0" r="r" b="b"/>
                <a:pathLst>
                  <a:path w="868" h="890">
                    <a:moveTo>
                      <a:pt x="837" y="890"/>
                    </a:moveTo>
                    <a:lnTo>
                      <a:pt x="688" y="855"/>
                    </a:lnTo>
                    <a:lnTo>
                      <a:pt x="543" y="820"/>
                    </a:lnTo>
                    <a:lnTo>
                      <a:pt x="407" y="783"/>
                    </a:lnTo>
                    <a:lnTo>
                      <a:pt x="284" y="744"/>
                    </a:lnTo>
                    <a:lnTo>
                      <a:pt x="179" y="704"/>
                    </a:lnTo>
                    <a:lnTo>
                      <a:pt x="132" y="682"/>
                    </a:lnTo>
                    <a:lnTo>
                      <a:pt x="92" y="657"/>
                    </a:lnTo>
                    <a:lnTo>
                      <a:pt x="59" y="633"/>
                    </a:lnTo>
                    <a:cubicBezTo>
                      <a:pt x="57" y="631"/>
                      <a:pt x="56" y="629"/>
                      <a:pt x="54" y="628"/>
                    </a:cubicBezTo>
                    <a:lnTo>
                      <a:pt x="32" y="605"/>
                    </a:lnTo>
                    <a:cubicBezTo>
                      <a:pt x="29" y="602"/>
                      <a:pt x="27" y="599"/>
                      <a:pt x="25" y="595"/>
                    </a:cubicBezTo>
                    <a:lnTo>
                      <a:pt x="12" y="572"/>
                    </a:lnTo>
                    <a:cubicBezTo>
                      <a:pt x="9" y="568"/>
                      <a:pt x="7" y="563"/>
                      <a:pt x="6" y="558"/>
                    </a:cubicBezTo>
                    <a:lnTo>
                      <a:pt x="1" y="533"/>
                    </a:lnTo>
                    <a:cubicBezTo>
                      <a:pt x="0" y="525"/>
                      <a:pt x="0" y="516"/>
                      <a:pt x="3" y="508"/>
                    </a:cubicBezTo>
                    <a:lnTo>
                      <a:pt x="12" y="481"/>
                    </a:lnTo>
                    <a:cubicBezTo>
                      <a:pt x="14" y="476"/>
                      <a:pt x="16" y="471"/>
                      <a:pt x="20" y="467"/>
                    </a:cubicBezTo>
                    <a:lnTo>
                      <a:pt x="45" y="435"/>
                    </a:lnTo>
                    <a:cubicBezTo>
                      <a:pt x="46" y="433"/>
                      <a:pt x="49" y="430"/>
                      <a:pt x="51" y="428"/>
                    </a:cubicBezTo>
                    <a:lnTo>
                      <a:pt x="91" y="393"/>
                    </a:lnTo>
                    <a:lnTo>
                      <a:pt x="145" y="354"/>
                    </a:lnTo>
                    <a:lnTo>
                      <a:pt x="209" y="313"/>
                    </a:lnTo>
                    <a:lnTo>
                      <a:pt x="277" y="272"/>
                    </a:lnTo>
                    <a:lnTo>
                      <a:pt x="426" y="191"/>
                    </a:lnTo>
                    <a:lnTo>
                      <a:pt x="574" y="117"/>
                    </a:lnTo>
                    <a:lnTo>
                      <a:pt x="642" y="85"/>
                    </a:lnTo>
                    <a:lnTo>
                      <a:pt x="703" y="56"/>
                    </a:lnTo>
                    <a:lnTo>
                      <a:pt x="755" y="33"/>
                    </a:lnTo>
                    <a:lnTo>
                      <a:pt x="795" y="15"/>
                    </a:lnTo>
                    <a:lnTo>
                      <a:pt x="820" y="4"/>
                    </a:lnTo>
                    <a:lnTo>
                      <a:pt x="829" y="0"/>
                    </a:lnTo>
                    <a:lnTo>
                      <a:pt x="868" y="87"/>
                    </a:lnTo>
                    <a:lnTo>
                      <a:pt x="859" y="91"/>
                    </a:lnTo>
                    <a:lnTo>
                      <a:pt x="834" y="102"/>
                    </a:lnTo>
                    <a:lnTo>
                      <a:pt x="794" y="120"/>
                    </a:lnTo>
                    <a:lnTo>
                      <a:pt x="744" y="143"/>
                    </a:lnTo>
                    <a:lnTo>
                      <a:pt x="683" y="172"/>
                    </a:lnTo>
                    <a:lnTo>
                      <a:pt x="617" y="203"/>
                    </a:lnTo>
                    <a:lnTo>
                      <a:pt x="471" y="276"/>
                    </a:lnTo>
                    <a:lnTo>
                      <a:pt x="326" y="355"/>
                    </a:lnTo>
                    <a:lnTo>
                      <a:pt x="260" y="394"/>
                    </a:lnTo>
                    <a:lnTo>
                      <a:pt x="202" y="431"/>
                    </a:lnTo>
                    <a:lnTo>
                      <a:pt x="154" y="466"/>
                    </a:lnTo>
                    <a:lnTo>
                      <a:pt x="114" y="501"/>
                    </a:lnTo>
                    <a:lnTo>
                      <a:pt x="120" y="494"/>
                    </a:lnTo>
                    <a:lnTo>
                      <a:pt x="95" y="526"/>
                    </a:lnTo>
                    <a:lnTo>
                      <a:pt x="103" y="512"/>
                    </a:lnTo>
                    <a:lnTo>
                      <a:pt x="94" y="539"/>
                    </a:lnTo>
                    <a:lnTo>
                      <a:pt x="96" y="514"/>
                    </a:lnTo>
                    <a:lnTo>
                      <a:pt x="101" y="539"/>
                    </a:lnTo>
                    <a:lnTo>
                      <a:pt x="95" y="525"/>
                    </a:lnTo>
                    <a:lnTo>
                      <a:pt x="108" y="548"/>
                    </a:lnTo>
                    <a:lnTo>
                      <a:pt x="101" y="538"/>
                    </a:lnTo>
                    <a:lnTo>
                      <a:pt x="123" y="561"/>
                    </a:lnTo>
                    <a:lnTo>
                      <a:pt x="117" y="556"/>
                    </a:lnTo>
                    <a:lnTo>
                      <a:pt x="142" y="576"/>
                    </a:lnTo>
                    <a:lnTo>
                      <a:pt x="175" y="595"/>
                    </a:lnTo>
                    <a:lnTo>
                      <a:pt x="214" y="615"/>
                    </a:lnTo>
                    <a:lnTo>
                      <a:pt x="313" y="653"/>
                    </a:lnTo>
                    <a:lnTo>
                      <a:pt x="432" y="690"/>
                    </a:lnTo>
                    <a:lnTo>
                      <a:pt x="566" y="727"/>
                    </a:lnTo>
                    <a:lnTo>
                      <a:pt x="710" y="762"/>
                    </a:lnTo>
                    <a:lnTo>
                      <a:pt x="859" y="797"/>
                    </a:lnTo>
                    <a:lnTo>
                      <a:pt x="837" y="89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5" name="Freeform 41">
                <a:extLst>
                  <a:ext uri="{FF2B5EF4-FFF2-40B4-BE49-F238E27FC236}">
                    <a16:creationId xmlns:a16="http://schemas.microsoft.com/office/drawing/2014/main" id="{C940E411-4B3C-B9A2-DE8B-3E99A2A31D51}"/>
                  </a:ext>
                </a:extLst>
              </p:cNvPr>
              <p:cNvSpPr>
                <a:spLocks/>
              </p:cNvSpPr>
              <p:nvPr/>
            </p:nvSpPr>
            <p:spPr bwMode="auto">
              <a:xfrm>
                <a:off x="10881938" y="198261"/>
                <a:ext cx="172004" cy="6474"/>
              </a:xfrm>
              <a:custGeom>
                <a:avLst/>
                <a:gdLst/>
                <a:ahLst/>
                <a:cxnLst>
                  <a:cxn ang="0">
                    <a:pos x="0" y="81"/>
                  </a:cxn>
                  <a:cxn ang="0">
                    <a:pos x="247" y="51"/>
                  </a:cxn>
                  <a:cxn ang="0">
                    <a:pos x="497" y="26"/>
                  </a:cxn>
                  <a:cxn ang="0">
                    <a:pos x="747" y="8"/>
                  </a:cxn>
                  <a:cxn ang="0">
                    <a:pos x="875" y="2"/>
                  </a:cxn>
                  <a:cxn ang="0">
                    <a:pos x="1002" y="0"/>
                  </a:cxn>
                  <a:cxn ang="0">
                    <a:pos x="1070" y="1"/>
                  </a:cxn>
                  <a:cxn ang="0">
                    <a:pos x="1146" y="4"/>
                  </a:cxn>
                  <a:cxn ang="0">
                    <a:pos x="1226" y="8"/>
                  </a:cxn>
                  <a:cxn ang="0">
                    <a:pos x="1310" y="13"/>
                  </a:cxn>
                  <a:cxn ang="0">
                    <a:pos x="1483" y="26"/>
                  </a:cxn>
                  <a:cxn ang="0">
                    <a:pos x="1568" y="33"/>
                  </a:cxn>
                  <a:cxn ang="0">
                    <a:pos x="1652" y="41"/>
                  </a:cxn>
                  <a:cxn ang="0">
                    <a:pos x="1732" y="48"/>
                  </a:cxn>
                  <a:cxn ang="0">
                    <a:pos x="1805" y="55"/>
                  </a:cxn>
                  <a:cxn ang="0">
                    <a:pos x="1872" y="62"/>
                  </a:cxn>
                  <a:cxn ang="0">
                    <a:pos x="1930" y="68"/>
                  </a:cxn>
                  <a:cxn ang="0">
                    <a:pos x="1978" y="73"/>
                  </a:cxn>
                  <a:cxn ang="0">
                    <a:pos x="1998" y="76"/>
                  </a:cxn>
                  <a:cxn ang="0">
                    <a:pos x="2014" y="77"/>
                  </a:cxn>
                  <a:cxn ang="0">
                    <a:pos x="2028" y="79"/>
                  </a:cxn>
                  <a:cxn ang="0">
                    <a:pos x="2037" y="80"/>
                  </a:cxn>
                  <a:cxn ang="0">
                    <a:pos x="2044" y="81"/>
                  </a:cxn>
                  <a:cxn ang="0">
                    <a:pos x="2040" y="80"/>
                  </a:cxn>
                  <a:cxn ang="0">
                    <a:pos x="2042" y="80"/>
                  </a:cxn>
                  <a:cxn ang="0">
                    <a:pos x="2042" y="128"/>
                  </a:cxn>
                  <a:cxn ang="0">
                    <a:pos x="2040" y="128"/>
                  </a:cxn>
                  <a:cxn ang="0">
                    <a:pos x="2037" y="128"/>
                  </a:cxn>
                  <a:cxn ang="0">
                    <a:pos x="2032" y="127"/>
                  </a:cxn>
                  <a:cxn ang="0">
                    <a:pos x="2022" y="126"/>
                  </a:cxn>
                  <a:cxn ang="0">
                    <a:pos x="2010" y="125"/>
                  </a:cxn>
                  <a:cxn ang="0">
                    <a:pos x="1992" y="123"/>
                  </a:cxn>
                  <a:cxn ang="0">
                    <a:pos x="1973" y="121"/>
                  </a:cxn>
                  <a:cxn ang="0">
                    <a:pos x="1925" y="116"/>
                  </a:cxn>
                  <a:cxn ang="0">
                    <a:pos x="1867" y="110"/>
                  </a:cxn>
                  <a:cxn ang="0">
                    <a:pos x="1801" y="103"/>
                  </a:cxn>
                  <a:cxn ang="0">
                    <a:pos x="1727" y="96"/>
                  </a:cxn>
                  <a:cxn ang="0">
                    <a:pos x="1648" y="88"/>
                  </a:cxn>
                  <a:cxn ang="0">
                    <a:pos x="1565" y="81"/>
                  </a:cxn>
                  <a:cxn ang="0">
                    <a:pos x="1479" y="74"/>
                  </a:cxn>
                  <a:cxn ang="0">
                    <a:pos x="1307" y="61"/>
                  </a:cxn>
                  <a:cxn ang="0">
                    <a:pos x="1223" y="56"/>
                  </a:cxn>
                  <a:cxn ang="0">
                    <a:pos x="1144" y="52"/>
                  </a:cxn>
                  <a:cxn ang="0">
                    <a:pos x="1070" y="49"/>
                  </a:cxn>
                  <a:cxn ang="0">
                    <a:pos x="1003" y="48"/>
                  </a:cxn>
                  <a:cxn ang="0">
                    <a:pos x="876" y="50"/>
                  </a:cxn>
                  <a:cxn ang="0">
                    <a:pos x="751" y="55"/>
                  </a:cxn>
                  <a:cxn ang="0">
                    <a:pos x="501" y="73"/>
                  </a:cxn>
                  <a:cxn ang="0">
                    <a:pos x="253" y="99"/>
                  </a:cxn>
                  <a:cxn ang="0">
                    <a:pos x="5" y="128"/>
                  </a:cxn>
                  <a:cxn ang="0">
                    <a:pos x="0" y="81"/>
                  </a:cxn>
                </a:cxnLst>
                <a:rect l="0" t="0" r="r" b="b"/>
                <a:pathLst>
                  <a:path w="2044" h="128">
                    <a:moveTo>
                      <a:pt x="0" y="81"/>
                    </a:moveTo>
                    <a:lnTo>
                      <a:pt x="247" y="51"/>
                    </a:lnTo>
                    <a:lnTo>
                      <a:pt x="497" y="26"/>
                    </a:lnTo>
                    <a:lnTo>
                      <a:pt x="747" y="8"/>
                    </a:lnTo>
                    <a:lnTo>
                      <a:pt x="875" y="2"/>
                    </a:lnTo>
                    <a:lnTo>
                      <a:pt x="1002" y="0"/>
                    </a:lnTo>
                    <a:lnTo>
                      <a:pt x="1070" y="1"/>
                    </a:lnTo>
                    <a:lnTo>
                      <a:pt x="1146" y="4"/>
                    </a:lnTo>
                    <a:lnTo>
                      <a:pt x="1226" y="8"/>
                    </a:lnTo>
                    <a:lnTo>
                      <a:pt x="1310" y="13"/>
                    </a:lnTo>
                    <a:lnTo>
                      <a:pt x="1483" y="26"/>
                    </a:lnTo>
                    <a:lnTo>
                      <a:pt x="1568" y="33"/>
                    </a:lnTo>
                    <a:lnTo>
                      <a:pt x="1652" y="41"/>
                    </a:lnTo>
                    <a:lnTo>
                      <a:pt x="1732" y="48"/>
                    </a:lnTo>
                    <a:lnTo>
                      <a:pt x="1805" y="55"/>
                    </a:lnTo>
                    <a:lnTo>
                      <a:pt x="1872" y="62"/>
                    </a:lnTo>
                    <a:lnTo>
                      <a:pt x="1930" y="68"/>
                    </a:lnTo>
                    <a:lnTo>
                      <a:pt x="1978" y="73"/>
                    </a:lnTo>
                    <a:lnTo>
                      <a:pt x="1998" y="76"/>
                    </a:lnTo>
                    <a:lnTo>
                      <a:pt x="2014" y="77"/>
                    </a:lnTo>
                    <a:lnTo>
                      <a:pt x="2028" y="79"/>
                    </a:lnTo>
                    <a:lnTo>
                      <a:pt x="2037" y="80"/>
                    </a:lnTo>
                    <a:lnTo>
                      <a:pt x="2044" y="81"/>
                    </a:lnTo>
                    <a:lnTo>
                      <a:pt x="2040" y="80"/>
                    </a:lnTo>
                    <a:lnTo>
                      <a:pt x="2042" y="80"/>
                    </a:lnTo>
                    <a:lnTo>
                      <a:pt x="2042" y="128"/>
                    </a:lnTo>
                    <a:lnTo>
                      <a:pt x="2040" y="128"/>
                    </a:lnTo>
                    <a:cubicBezTo>
                      <a:pt x="2039" y="128"/>
                      <a:pt x="2038" y="128"/>
                      <a:pt x="2037" y="128"/>
                    </a:cubicBezTo>
                    <a:lnTo>
                      <a:pt x="2032" y="127"/>
                    </a:lnTo>
                    <a:lnTo>
                      <a:pt x="2022" y="126"/>
                    </a:lnTo>
                    <a:lnTo>
                      <a:pt x="2010" y="125"/>
                    </a:lnTo>
                    <a:lnTo>
                      <a:pt x="1992" y="123"/>
                    </a:lnTo>
                    <a:lnTo>
                      <a:pt x="1973" y="121"/>
                    </a:lnTo>
                    <a:lnTo>
                      <a:pt x="1925" y="116"/>
                    </a:lnTo>
                    <a:lnTo>
                      <a:pt x="1867" y="110"/>
                    </a:lnTo>
                    <a:lnTo>
                      <a:pt x="1801" y="103"/>
                    </a:lnTo>
                    <a:lnTo>
                      <a:pt x="1727" y="96"/>
                    </a:lnTo>
                    <a:lnTo>
                      <a:pt x="1648" y="88"/>
                    </a:lnTo>
                    <a:lnTo>
                      <a:pt x="1565" y="81"/>
                    </a:lnTo>
                    <a:lnTo>
                      <a:pt x="1479" y="74"/>
                    </a:lnTo>
                    <a:lnTo>
                      <a:pt x="1307" y="61"/>
                    </a:lnTo>
                    <a:lnTo>
                      <a:pt x="1223" y="56"/>
                    </a:lnTo>
                    <a:lnTo>
                      <a:pt x="1144" y="52"/>
                    </a:lnTo>
                    <a:lnTo>
                      <a:pt x="1070" y="49"/>
                    </a:lnTo>
                    <a:lnTo>
                      <a:pt x="1003" y="48"/>
                    </a:lnTo>
                    <a:lnTo>
                      <a:pt x="876" y="50"/>
                    </a:lnTo>
                    <a:lnTo>
                      <a:pt x="751" y="55"/>
                    </a:lnTo>
                    <a:lnTo>
                      <a:pt x="501" y="73"/>
                    </a:lnTo>
                    <a:lnTo>
                      <a:pt x="253" y="99"/>
                    </a:lnTo>
                    <a:lnTo>
                      <a:pt x="5" y="128"/>
                    </a:lnTo>
                    <a:lnTo>
                      <a:pt x="0" y="81"/>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6" name="Freeform 42">
                <a:extLst>
                  <a:ext uri="{FF2B5EF4-FFF2-40B4-BE49-F238E27FC236}">
                    <a16:creationId xmlns:a16="http://schemas.microsoft.com/office/drawing/2014/main" id="{2797F10E-32AD-E36B-F2FF-59B99E098AB1}"/>
                  </a:ext>
                </a:extLst>
              </p:cNvPr>
              <p:cNvSpPr>
                <a:spLocks/>
              </p:cNvSpPr>
              <p:nvPr/>
            </p:nvSpPr>
            <p:spPr bwMode="auto">
              <a:xfrm>
                <a:off x="10881086" y="204736"/>
                <a:ext cx="73229" cy="14797"/>
              </a:xfrm>
              <a:custGeom>
                <a:avLst/>
                <a:gdLst/>
                <a:ahLst/>
                <a:cxnLst>
                  <a:cxn ang="0">
                    <a:pos x="25" y="0"/>
                  </a:cxn>
                  <a:cxn ang="0">
                    <a:pos x="1550" y="398"/>
                  </a:cxn>
                  <a:cxn ang="0">
                    <a:pos x="1594" y="409"/>
                  </a:cxn>
                  <a:cxn ang="0">
                    <a:pos x="1628" y="417"/>
                  </a:cxn>
                  <a:cxn ang="0">
                    <a:pos x="1655" y="423"/>
                  </a:cxn>
                  <a:cxn ang="0">
                    <a:pos x="1670" y="425"/>
                  </a:cxn>
                  <a:cxn ang="0">
                    <a:pos x="1678" y="426"/>
                  </a:cxn>
                  <a:cxn ang="0">
                    <a:pos x="1680" y="425"/>
                  </a:cxn>
                  <a:cxn ang="0">
                    <a:pos x="1642" y="502"/>
                  </a:cxn>
                  <a:cxn ang="0">
                    <a:pos x="1639" y="498"/>
                  </a:cxn>
                  <a:cxn ang="0">
                    <a:pos x="1655" y="512"/>
                  </a:cxn>
                  <a:cxn ang="0">
                    <a:pos x="1640" y="504"/>
                  </a:cxn>
                  <a:cxn ang="0">
                    <a:pos x="1625" y="498"/>
                  </a:cxn>
                  <a:cxn ang="0">
                    <a:pos x="1609" y="493"/>
                  </a:cxn>
                  <a:cxn ang="0">
                    <a:pos x="1601" y="489"/>
                  </a:cxn>
                  <a:cxn ang="0">
                    <a:pos x="1634" y="400"/>
                  </a:cxn>
                  <a:cxn ang="0">
                    <a:pos x="1641" y="402"/>
                  </a:cxn>
                  <a:cxn ang="0">
                    <a:pos x="1660" y="409"/>
                  </a:cxn>
                  <a:cxn ang="0">
                    <a:pos x="1685" y="419"/>
                  </a:cxn>
                  <a:cxn ang="0">
                    <a:pos x="1700" y="427"/>
                  </a:cxn>
                  <a:cxn ang="0">
                    <a:pos x="1716" y="441"/>
                  </a:cxn>
                  <a:cxn ang="0">
                    <a:pos x="1719" y="445"/>
                  </a:cxn>
                  <a:cxn ang="0">
                    <a:pos x="1723" y="495"/>
                  </a:cxn>
                  <a:cxn ang="0">
                    <a:pos x="1680" y="521"/>
                  </a:cxn>
                  <a:cxn ang="0">
                    <a:pos x="1670" y="521"/>
                  </a:cxn>
                  <a:cxn ang="0">
                    <a:pos x="1655" y="520"/>
                  </a:cxn>
                  <a:cxn ang="0">
                    <a:pos x="1634" y="516"/>
                  </a:cxn>
                  <a:cxn ang="0">
                    <a:pos x="1607" y="510"/>
                  </a:cxn>
                  <a:cxn ang="0">
                    <a:pos x="1571" y="502"/>
                  </a:cxn>
                  <a:cxn ang="0">
                    <a:pos x="1525" y="491"/>
                  </a:cxn>
                  <a:cxn ang="0">
                    <a:pos x="0" y="93"/>
                  </a:cxn>
                  <a:cxn ang="0">
                    <a:pos x="25" y="0"/>
                  </a:cxn>
                </a:cxnLst>
                <a:rect l="0" t="0" r="r" b="b"/>
                <a:pathLst>
                  <a:path w="1732" h="521">
                    <a:moveTo>
                      <a:pt x="25" y="0"/>
                    </a:moveTo>
                    <a:lnTo>
                      <a:pt x="1550" y="398"/>
                    </a:lnTo>
                    <a:lnTo>
                      <a:pt x="1594" y="409"/>
                    </a:lnTo>
                    <a:lnTo>
                      <a:pt x="1628" y="417"/>
                    </a:lnTo>
                    <a:lnTo>
                      <a:pt x="1655" y="423"/>
                    </a:lnTo>
                    <a:lnTo>
                      <a:pt x="1670" y="425"/>
                    </a:lnTo>
                    <a:lnTo>
                      <a:pt x="1678" y="426"/>
                    </a:lnTo>
                    <a:lnTo>
                      <a:pt x="1680" y="425"/>
                    </a:lnTo>
                    <a:lnTo>
                      <a:pt x="1642" y="502"/>
                    </a:lnTo>
                    <a:lnTo>
                      <a:pt x="1639" y="498"/>
                    </a:lnTo>
                    <a:lnTo>
                      <a:pt x="1655" y="512"/>
                    </a:lnTo>
                    <a:lnTo>
                      <a:pt x="1640" y="504"/>
                    </a:lnTo>
                    <a:lnTo>
                      <a:pt x="1625" y="498"/>
                    </a:lnTo>
                    <a:lnTo>
                      <a:pt x="1609" y="493"/>
                    </a:lnTo>
                    <a:lnTo>
                      <a:pt x="1601" y="489"/>
                    </a:lnTo>
                    <a:lnTo>
                      <a:pt x="1634" y="400"/>
                    </a:lnTo>
                    <a:lnTo>
                      <a:pt x="1641" y="402"/>
                    </a:lnTo>
                    <a:lnTo>
                      <a:pt x="1660" y="409"/>
                    </a:lnTo>
                    <a:lnTo>
                      <a:pt x="1685" y="419"/>
                    </a:lnTo>
                    <a:lnTo>
                      <a:pt x="1700" y="427"/>
                    </a:lnTo>
                    <a:cubicBezTo>
                      <a:pt x="1706" y="430"/>
                      <a:pt x="1712" y="435"/>
                      <a:pt x="1716" y="441"/>
                    </a:cubicBezTo>
                    <a:lnTo>
                      <a:pt x="1719" y="445"/>
                    </a:lnTo>
                    <a:cubicBezTo>
                      <a:pt x="1730" y="459"/>
                      <a:pt x="1732" y="479"/>
                      <a:pt x="1723" y="495"/>
                    </a:cubicBezTo>
                    <a:cubicBezTo>
                      <a:pt x="1715" y="511"/>
                      <a:pt x="1699" y="521"/>
                      <a:pt x="1680" y="521"/>
                    </a:cubicBezTo>
                    <a:lnTo>
                      <a:pt x="1670" y="521"/>
                    </a:lnTo>
                    <a:lnTo>
                      <a:pt x="1655" y="520"/>
                    </a:lnTo>
                    <a:lnTo>
                      <a:pt x="1634" y="516"/>
                    </a:lnTo>
                    <a:lnTo>
                      <a:pt x="1607" y="510"/>
                    </a:lnTo>
                    <a:lnTo>
                      <a:pt x="1571" y="502"/>
                    </a:lnTo>
                    <a:lnTo>
                      <a:pt x="1525" y="491"/>
                    </a:lnTo>
                    <a:lnTo>
                      <a:pt x="0" y="93"/>
                    </a:lnTo>
                    <a:lnTo>
                      <a:pt x="25" y="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7" name="Freeform 43">
                <a:extLst>
                  <a:ext uri="{FF2B5EF4-FFF2-40B4-BE49-F238E27FC236}">
                    <a16:creationId xmlns:a16="http://schemas.microsoft.com/office/drawing/2014/main" id="{6DF4D4D0-EAF9-A97E-CB7F-BC0C67DC5771}"/>
                  </a:ext>
                </a:extLst>
              </p:cNvPr>
              <p:cNvSpPr>
                <a:spLocks/>
              </p:cNvSpPr>
              <p:nvPr/>
            </p:nvSpPr>
            <p:spPr bwMode="auto">
              <a:xfrm>
                <a:off x="10945801" y="213984"/>
                <a:ext cx="71526" cy="4624"/>
              </a:xfrm>
              <a:custGeom>
                <a:avLst/>
                <a:gdLst/>
                <a:ahLst/>
                <a:cxnLst>
                  <a:cxn ang="0">
                    <a:pos x="0" y="2"/>
                  </a:cxn>
                  <a:cxn ang="0">
                    <a:pos x="83" y="0"/>
                  </a:cxn>
                  <a:cxn ang="0">
                    <a:pos x="84" y="3"/>
                  </a:cxn>
                  <a:cxn ang="0">
                    <a:pos x="0" y="5"/>
                  </a:cxn>
                  <a:cxn ang="0">
                    <a:pos x="0" y="2"/>
                  </a:cxn>
                </a:cxnLst>
                <a:rect l="0" t="0" r="r" b="b"/>
                <a:pathLst>
                  <a:path w="84" h="5">
                    <a:moveTo>
                      <a:pt x="0" y="2"/>
                    </a:moveTo>
                    <a:lnTo>
                      <a:pt x="83" y="0"/>
                    </a:lnTo>
                    <a:lnTo>
                      <a:pt x="84" y="3"/>
                    </a:lnTo>
                    <a:lnTo>
                      <a:pt x="0" y="5"/>
                    </a:lnTo>
                    <a:lnTo>
                      <a:pt x="0" y="2"/>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8" name="Freeform 44">
                <a:extLst>
                  <a:ext uri="{FF2B5EF4-FFF2-40B4-BE49-F238E27FC236}">
                    <a16:creationId xmlns:a16="http://schemas.microsoft.com/office/drawing/2014/main" id="{F3F6B3B3-5E14-76FB-00B3-7A725409E648}"/>
                  </a:ext>
                </a:extLst>
              </p:cNvPr>
              <p:cNvSpPr>
                <a:spLocks/>
              </p:cNvSpPr>
              <p:nvPr/>
            </p:nvSpPr>
            <p:spPr bwMode="auto">
              <a:xfrm>
                <a:off x="11025841" y="200111"/>
                <a:ext cx="33209" cy="21271"/>
              </a:xfrm>
              <a:custGeom>
                <a:avLst/>
                <a:gdLst/>
                <a:ahLst/>
                <a:cxnLst>
                  <a:cxn ang="0">
                    <a:pos x="0" y="20"/>
                  </a:cxn>
                  <a:cxn ang="0">
                    <a:pos x="36" y="0"/>
                  </a:cxn>
                  <a:cxn ang="0">
                    <a:pos x="39" y="3"/>
                  </a:cxn>
                  <a:cxn ang="0">
                    <a:pos x="3" y="23"/>
                  </a:cxn>
                  <a:cxn ang="0">
                    <a:pos x="0" y="20"/>
                  </a:cxn>
                </a:cxnLst>
                <a:rect l="0" t="0" r="r" b="b"/>
                <a:pathLst>
                  <a:path w="39" h="23">
                    <a:moveTo>
                      <a:pt x="0" y="20"/>
                    </a:moveTo>
                    <a:lnTo>
                      <a:pt x="36" y="0"/>
                    </a:lnTo>
                    <a:lnTo>
                      <a:pt x="39" y="3"/>
                    </a:lnTo>
                    <a:lnTo>
                      <a:pt x="3" y="23"/>
                    </a:lnTo>
                    <a:lnTo>
                      <a:pt x="0" y="20"/>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29" name="Freeform 45">
                <a:extLst>
                  <a:ext uri="{FF2B5EF4-FFF2-40B4-BE49-F238E27FC236}">
                    <a16:creationId xmlns:a16="http://schemas.microsoft.com/office/drawing/2014/main" id="{FDD11BD3-6E7F-D4EB-2DE6-D3CC7ED9665A}"/>
                  </a:ext>
                </a:extLst>
              </p:cNvPr>
              <p:cNvSpPr>
                <a:spLocks/>
              </p:cNvSpPr>
              <p:nvPr/>
            </p:nvSpPr>
            <p:spPr bwMode="auto">
              <a:xfrm>
                <a:off x="10753361" y="193638"/>
                <a:ext cx="520268" cy="11098"/>
              </a:xfrm>
              <a:custGeom>
                <a:avLst/>
                <a:gdLst/>
                <a:ahLst/>
                <a:cxnLst>
                  <a:cxn ang="0">
                    <a:pos x="0" y="9"/>
                  </a:cxn>
                  <a:cxn ang="0">
                    <a:pos x="210" y="7"/>
                  </a:cxn>
                  <a:cxn ang="0">
                    <a:pos x="611" y="0"/>
                  </a:cxn>
                  <a:cxn ang="0">
                    <a:pos x="611" y="3"/>
                  </a:cxn>
                  <a:cxn ang="0">
                    <a:pos x="211" y="10"/>
                  </a:cxn>
                  <a:cxn ang="0">
                    <a:pos x="1" y="12"/>
                  </a:cxn>
                  <a:cxn ang="0">
                    <a:pos x="0" y="9"/>
                  </a:cxn>
                </a:cxnLst>
                <a:rect l="0" t="0" r="r" b="b"/>
                <a:pathLst>
                  <a:path w="611" h="12">
                    <a:moveTo>
                      <a:pt x="0" y="9"/>
                    </a:moveTo>
                    <a:lnTo>
                      <a:pt x="210" y="7"/>
                    </a:lnTo>
                    <a:lnTo>
                      <a:pt x="611" y="0"/>
                    </a:lnTo>
                    <a:lnTo>
                      <a:pt x="611" y="3"/>
                    </a:lnTo>
                    <a:lnTo>
                      <a:pt x="211" y="10"/>
                    </a:lnTo>
                    <a:lnTo>
                      <a:pt x="1" y="12"/>
                    </a:lnTo>
                    <a:lnTo>
                      <a:pt x="0" y="9"/>
                    </a:lnTo>
                    <a:close/>
                  </a:path>
                </a:pathLst>
              </a:cu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0" name="Rectangle 46">
                <a:extLst>
                  <a:ext uri="{FF2B5EF4-FFF2-40B4-BE49-F238E27FC236}">
                    <a16:creationId xmlns:a16="http://schemas.microsoft.com/office/drawing/2014/main" id="{DCE21BC0-DBD6-EF8B-B799-99BD46770D78}"/>
                  </a:ext>
                </a:extLst>
              </p:cNvPr>
              <p:cNvSpPr>
                <a:spLocks noChangeArrowheads="1"/>
              </p:cNvSpPr>
              <p:nvPr/>
            </p:nvSpPr>
            <p:spPr bwMode="auto">
              <a:xfrm>
                <a:off x="11260004" y="121501"/>
                <a:ext cx="27248" cy="277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1" name="Rectangle 47">
                <a:extLst>
                  <a:ext uri="{FF2B5EF4-FFF2-40B4-BE49-F238E27FC236}">
                    <a16:creationId xmlns:a16="http://schemas.microsoft.com/office/drawing/2014/main" id="{DF26733B-CE34-B3F3-AB6E-13EBB8C6D9E1}"/>
                  </a:ext>
                </a:extLst>
              </p:cNvPr>
              <p:cNvSpPr>
                <a:spLocks noChangeArrowheads="1"/>
              </p:cNvSpPr>
              <p:nvPr/>
            </p:nvSpPr>
            <p:spPr bwMode="auto">
              <a:xfrm>
                <a:off x="11260856" y="125200"/>
                <a:ext cx="4258" cy="3514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sp>
            <p:nvSpPr>
              <p:cNvPr id="32" name="Rectangle 48">
                <a:extLst>
                  <a:ext uri="{FF2B5EF4-FFF2-40B4-BE49-F238E27FC236}">
                    <a16:creationId xmlns:a16="http://schemas.microsoft.com/office/drawing/2014/main" id="{CEF89BDA-97DB-9335-C718-B5C66F9873D5}"/>
                  </a:ext>
                </a:extLst>
              </p:cNvPr>
              <p:cNvSpPr>
                <a:spLocks noChangeArrowheads="1"/>
              </p:cNvSpPr>
              <p:nvPr/>
            </p:nvSpPr>
            <p:spPr bwMode="auto">
              <a:xfrm>
                <a:off x="11260004" y="156644"/>
                <a:ext cx="33209" cy="2774"/>
              </a:xfrm>
              <a:prstGeom prst="rect">
                <a:avLst/>
              </a:prstGeom>
              <a:solidFill>
                <a:srgbClr val="000000"/>
              </a:solidFill>
              <a:ln w="635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zh-CN" altLang="en-US" sz="1600">
                  <a:solidFill>
                    <a:srgbClr val="000000"/>
                  </a:solidFill>
                  <a:latin typeface="Times New Roman" panose="02020603050405020304" pitchFamily="18" charset="0"/>
                  <a:ea typeface="等线"/>
                  <a:cs typeface="Times New Roman" panose="02020603050405020304" pitchFamily="18" charset="0"/>
                </a:endParaRPr>
              </a:p>
            </p:txBody>
          </p:sp>
        </p:grpSp>
        <p:cxnSp>
          <p:nvCxnSpPr>
            <p:cNvPr id="10" name="直接箭头连接符 9">
              <a:extLst>
                <a:ext uri="{FF2B5EF4-FFF2-40B4-BE49-F238E27FC236}">
                  <a16:creationId xmlns:a16="http://schemas.microsoft.com/office/drawing/2014/main" id="{1787D682-E7F1-2658-B3D3-A4195A19F1EE}"/>
                </a:ext>
              </a:extLst>
            </p:cNvPr>
            <p:cNvCxnSpPr>
              <a:cxnSpLocks/>
            </p:cNvCxnSpPr>
            <p:nvPr/>
          </p:nvCxnSpPr>
          <p:spPr>
            <a:xfrm>
              <a:off x="2564926" y="5432541"/>
              <a:ext cx="999945" cy="227592"/>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603B0B9-3A5A-3386-F35C-8F55D1FE8517}"/>
                </a:ext>
              </a:extLst>
            </p:cNvPr>
            <p:cNvCxnSpPr/>
            <p:nvPr/>
          </p:nvCxnSpPr>
          <p:spPr>
            <a:xfrm>
              <a:off x="407030" y="5838897"/>
              <a:ext cx="3185866" cy="0"/>
            </a:xfrm>
            <a:prstGeom prst="line">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166A1C9-F6A2-1EDF-42CA-BC0758A1C907}"/>
                </a:ext>
              </a:extLst>
            </p:cNvPr>
            <p:cNvCxnSpPr/>
            <p:nvPr/>
          </p:nvCxnSpPr>
          <p:spPr>
            <a:xfrm>
              <a:off x="407030" y="6192795"/>
              <a:ext cx="3185866" cy="0"/>
            </a:xfrm>
            <a:prstGeom prst="line">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229631C-6ECA-B003-5D25-1BD96AC9207C}"/>
                </a:ext>
              </a:extLst>
            </p:cNvPr>
            <p:cNvCxnSpPr/>
            <p:nvPr/>
          </p:nvCxnSpPr>
          <p:spPr>
            <a:xfrm>
              <a:off x="407030" y="6024651"/>
              <a:ext cx="3185866" cy="0"/>
            </a:xfrm>
            <a:prstGeom prst="line">
              <a:avLst/>
            </a:prstGeom>
            <a:ln w="31750">
              <a:solidFill>
                <a:srgbClr val="E67000"/>
              </a:solidFill>
              <a:prstDash val="lgDash"/>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123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2AA2-8A15-782F-D5D6-05A5C7472FA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528722-DDC2-1F38-3882-8E2F820901CC}"/>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pic>
        <p:nvPicPr>
          <p:cNvPr id="5" name="图片 4">
            <a:extLst>
              <a:ext uri="{FF2B5EF4-FFF2-40B4-BE49-F238E27FC236}">
                <a16:creationId xmlns:a16="http://schemas.microsoft.com/office/drawing/2014/main" id="{216DBDDE-33B8-D42C-96D5-C36694B53D8A}"/>
              </a:ext>
            </a:extLst>
          </p:cNvPr>
          <p:cNvPicPr>
            <a:picLocks noChangeAspect="1"/>
          </p:cNvPicPr>
          <p:nvPr/>
        </p:nvPicPr>
        <p:blipFill>
          <a:blip r:embed="rId2"/>
          <a:stretch>
            <a:fillRect/>
          </a:stretch>
        </p:blipFill>
        <p:spPr>
          <a:xfrm>
            <a:off x="0" y="1620000"/>
            <a:ext cx="3797993" cy="2309647"/>
          </a:xfrm>
          <a:prstGeom prst="rect">
            <a:avLst/>
          </a:prstGeom>
        </p:spPr>
      </p:pic>
      <p:sp>
        <p:nvSpPr>
          <p:cNvPr id="7" name="文本框 6">
            <a:extLst>
              <a:ext uri="{FF2B5EF4-FFF2-40B4-BE49-F238E27FC236}">
                <a16:creationId xmlns:a16="http://schemas.microsoft.com/office/drawing/2014/main" id="{4B5E2204-6F73-3181-7D51-535760B1818C}"/>
              </a:ext>
            </a:extLst>
          </p:cNvPr>
          <p:cNvSpPr txBox="1"/>
          <p:nvPr/>
        </p:nvSpPr>
        <p:spPr>
          <a:xfrm>
            <a:off x="3582609" y="794708"/>
            <a:ext cx="8699500" cy="5078313"/>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def vehicle_setup():</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vehicle = </a:t>
            </a:r>
            <a:r>
              <a:rPr lang="en-US" altLang="zh-CN" b="0" dirty="0" err="1">
                <a:solidFill>
                  <a:srgbClr val="002060"/>
                </a:solidFill>
                <a:effectLst/>
                <a:latin typeface="Consolas" panose="020B0609020204030204" pitchFamily="49" charset="0"/>
              </a:rPr>
              <a:t>SUAVE.Vehicle</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vehicle.tag</a:t>
            </a:r>
            <a:r>
              <a:rPr lang="en-US" altLang="zh-CN" b="0" dirty="0">
                <a:solidFill>
                  <a:srgbClr val="002060"/>
                </a:solidFill>
                <a:effectLst/>
                <a:latin typeface="Consolas" panose="020B0609020204030204" pitchFamily="49" charset="0"/>
              </a:rPr>
              <a:t> = 'Boeing_737-800'    </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vehicle.mass_properties.max_takeoff</a:t>
            </a:r>
            <a:r>
              <a:rPr lang="en-US" altLang="zh-CN" dirty="0">
                <a:solidFill>
                  <a:srgbClr val="002060"/>
                </a:solidFill>
                <a:latin typeface="Consolas" panose="020B0609020204030204" pitchFamily="49" charset="0"/>
              </a:rPr>
              <a:t>     </a:t>
            </a:r>
            <a:r>
              <a:rPr lang="en-US" altLang="zh-CN" b="0" dirty="0">
                <a:solidFill>
                  <a:srgbClr val="002060"/>
                </a:solidFill>
                <a:effectLst/>
                <a:latin typeface="Consolas" panose="020B0609020204030204" pitchFamily="49" charset="0"/>
              </a:rPr>
              <a:t>= 79015.8 * Units.</a:t>
            </a:r>
            <a:r>
              <a:rPr lang="en-US" altLang="zh-CN" dirty="0">
                <a:solidFill>
                  <a:srgbClr val="002060"/>
                </a:solidFill>
                <a:latin typeface="Consolas" panose="020B0609020204030204" pitchFamily="49" charset="0"/>
              </a:rPr>
              <a:t>kg</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vehicle.mass_properties.takeoff</a:t>
            </a:r>
            <a:r>
              <a:rPr lang="en-US" altLang="zh-CN" b="0" dirty="0">
                <a:solidFill>
                  <a:srgbClr val="002060"/>
                </a:solidFill>
                <a:effectLst/>
                <a:latin typeface="Consolas" panose="020B0609020204030204" pitchFamily="49" charset="0"/>
              </a:rPr>
              <a:t>         = 79015.8 * Units.kg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vehicle.mass_properties.operating_empty</a:t>
            </a:r>
            <a:r>
              <a:rPr lang="en-US" altLang="zh-CN" b="0" dirty="0">
                <a:solidFill>
                  <a:srgbClr val="002060"/>
                </a:solidFill>
                <a:effectLst/>
                <a:latin typeface="Consolas" panose="020B0609020204030204" pitchFamily="49" charset="0"/>
              </a:rPr>
              <a:t> = 62746.4 * Units.kg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vehicle.mass_properties.max_zero_fuel</a:t>
            </a:r>
            <a:r>
              <a:rPr lang="en-US" altLang="zh-CN" b="0" dirty="0">
                <a:solidFill>
                  <a:srgbClr val="002060"/>
                </a:solidFill>
                <a:effectLst/>
                <a:latin typeface="Consolas" panose="020B0609020204030204" pitchFamily="49" charset="0"/>
              </a:rPr>
              <a:t>   = 62732.0 * Units.kg</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vehicle.mass_properties.cargo</a:t>
            </a:r>
            <a:r>
              <a:rPr lang="en-US" altLang="zh-CN" b="0" dirty="0">
                <a:solidFill>
                  <a:srgbClr val="002060"/>
                </a:solidFill>
                <a:effectLst/>
                <a:latin typeface="Consolas" panose="020B0609020204030204" pitchFamily="49" charset="0"/>
              </a:rPr>
              <a:t>           = 10000.  * Units.kg   </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vehicle.envelope.ultimate_load</a:t>
            </a:r>
            <a:r>
              <a:rPr lang="en-US" altLang="zh-CN" b="0" dirty="0">
                <a:solidFill>
                  <a:srgbClr val="002060"/>
                </a:solidFill>
                <a:effectLst/>
                <a:latin typeface="Consolas" panose="020B0609020204030204" pitchFamily="49" charset="0"/>
              </a:rPr>
              <a:t> = 3.75</a:t>
            </a:r>
            <a:endParaRPr lang="zh-CN" altLang="en-US" b="0" dirty="0">
              <a:solidFill>
                <a:srgbClr val="002060"/>
              </a:solidFill>
              <a:effectLst/>
              <a:latin typeface="Consolas" panose="020B0609020204030204" pitchFamily="49" charset="0"/>
            </a:endParaRPr>
          </a:p>
          <a:p>
            <a:pPr>
              <a:buNone/>
            </a:pPr>
            <a:r>
              <a:rPr lang="zh-CN" altLang="en-US"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vehicle.envelope.limit_load</a:t>
            </a:r>
            <a:r>
              <a:rPr lang="en-US" altLang="zh-CN" b="0" dirty="0">
                <a:solidFill>
                  <a:srgbClr val="002060"/>
                </a:solidFill>
                <a:effectLst/>
                <a:latin typeface="Consolas" panose="020B0609020204030204" pitchFamily="49" charset="0"/>
              </a:rPr>
              <a:t>    = 2.5</a:t>
            </a:r>
            <a:endParaRPr lang="zh-CN" altLang="en-US" b="0" dirty="0">
              <a:solidFill>
                <a:srgbClr val="002060"/>
              </a:solidFill>
              <a:effectLst/>
              <a:latin typeface="Consolas" panose="020B0609020204030204" pitchFamily="49" charset="0"/>
            </a:endParaRPr>
          </a:p>
          <a:p>
            <a:pPr>
              <a:buNone/>
            </a:pPr>
            <a:br>
              <a:rPr lang="zh-CN" altLang="en-US" b="0" dirty="0">
                <a:solidFill>
                  <a:srgbClr val="002060"/>
                </a:solidFill>
                <a:effectLst/>
                <a:latin typeface="Consolas" panose="020B0609020204030204" pitchFamily="49" charset="0"/>
              </a:rPr>
            </a:b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vehicle.reference_area</a:t>
            </a:r>
            <a:r>
              <a:rPr lang="en-US" altLang="zh-CN" b="0" dirty="0">
                <a:solidFill>
                  <a:srgbClr val="002060"/>
                </a:solidFill>
                <a:effectLst/>
                <a:latin typeface="Consolas" panose="020B0609020204030204" pitchFamily="49" charset="0"/>
              </a:rPr>
              <a:t>         = 124.862 * Units['meters**2']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vehicle.passengers</a:t>
            </a:r>
            <a:r>
              <a:rPr lang="en-US" altLang="zh-CN" b="0" dirty="0">
                <a:solidFill>
                  <a:srgbClr val="002060"/>
                </a:solidFill>
                <a:effectLst/>
                <a:latin typeface="Consolas" panose="020B0609020204030204" pitchFamily="49" charset="0"/>
              </a:rPr>
              <a:t>             = 170</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vehicle.systems.control</a:t>
            </a:r>
            <a:r>
              <a:rPr lang="en-US" altLang="zh-CN" b="0" dirty="0">
                <a:solidFill>
                  <a:srgbClr val="002060"/>
                </a:solidFill>
                <a:effectLst/>
                <a:latin typeface="Consolas" panose="020B0609020204030204" pitchFamily="49" charset="0"/>
              </a:rPr>
              <a:t>        = "fully powered"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vehicle.systems.accessories</a:t>
            </a:r>
            <a:r>
              <a:rPr lang="en-US" altLang="zh-CN" b="0" dirty="0">
                <a:solidFill>
                  <a:srgbClr val="002060"/>
                </a:solidFill>
                <a:effectLst/>
                <a:latin typeface="Consolas" panose="020B0609020204030204" pitchFamily="49" charset="0"/>
              </a:rPr>
              <a:t>    = "medium range"</a:t>
            </a:r>
          </a:p>
        </p:txBody>
      </p:sp>
      <p:sp>
        <p:nvSpPr>
          <p:cNvPr id="4" name="文本框 3">
            <a:extLst>
              <a:ext uri="{FF2B5EF4-FFF2-40B4-BE49-F238E27FC236}">
                <a16:creationId xmlns:a16="http://schemas.microsoft.com/office/drawing/2014/main" id="{03FD96A1-29BA-F7EC-C015-9FA03209A596}"/>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Overall parameter</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4022931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7914F-E3AC-1DE2-FB2F-26A750D4187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E62AB74-0D50-00D5-63DD-922E97F2BD4A}"/>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Main Wing</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8" name="文本框 7">
            <a:extLst>
              <a:ext uri="{FF2B5EF4-FFF2-40B4-BE49-F238E27FC236}">
                <a16:creationId xmlns:a16="http://schemas.microsoft.com/office/drawing/2014/main" id="{5B84B3B1-7B75-37B0-A54A-3C6DFBEFFDCD}"/>
              </a:ext>
            </a:extLst>
          </p:cNvPr>
          <p:cNvSpPr txBox="1"/>
          <p:nvPr/>
        </p:nvSpPr>
        <p:spPr>
          <a:xfrm>
            <a:off x="3384000" y="1080000"/>
            <a:ext cx="8826500" cy="5355312"/>
          </a:xfrm>
          <a:prstGeom prst="rect">
            <a:avLst/>
          </a:prstGeom>
          <a:noFill/>
        </p:spPr>
        <p:txBody>
          <a:bodyPr wrap="square">
            <a:spAutoFit/>
          </a:bodyPr>
          <a:lstStyle/>
          <a:p>
            <a:pPr>
              <a:buNone/>
            </a:pPr>
            <a:r>
              <a:rPr lang="en-US" altLang="zh-CN" dirty="0">
                <a:solidFill>
                  <a:srgbClr val="002060"/>
                </a:solidFill>
                <a:latin typeface="Consolas" panose="020B0609020204030204" pitchFamily="49" charset="0"/>
              </a:rPr>
              <a:t>    </a:t>
            </a:r>
            <a:r>
              <a:rPr lang="en-US" altLang="zh-CN" b="0" dirty="0">
                <a:solidFill>
                  <a:srgbClr val="002060"/>
                </a:solidFill>
                <a:effectLst/>
                <a:latin typeface="Consolas" panose="020B0609020204030204" pitchFamily="49" charset="0"/>
              </a:rPr>
              <a:t>wing = </a:t>
            </a:r>
            <a:r>
              <a:rPr lang="en-US" altLang="zh-CN" b="0" dirty="0" err="1">
                <a:solidFill>
                  <a:srgbClr val="002060"/>
                </a:solidFill>
                <a:effectLst/>
                <a:latin typeface="Consolas" panose="020B0609020204030204" pitchFamily="49" charset="0"/>
              </a:rPr>
              <a:t>SUAVE.Components.Wings.Main_Wing</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wing.tag</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main_wing</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wing.aspect_ratio</a:t>
            </a:r>
            <a:r>
              <a:rPr lang="en-US" altLang="zh-CN" b="0" dirty="0">
                <a:solidFill>
                  <a:srgbClr val="002060"/>
                </a:solidFill>
                <a:effectLst/>
                <a:latin typeface="Consolas" panose="020B0609020204030204" pitchFamily="49" charset="0"/>
              </a:rPr>
              <a:t>            = 10.18</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wing.sweeps.quarter_chord</a:t>
            </a:r>
            <a:r>
              <a:rPr lang="en-US" altLang="zh-CN" b="0" dirty="0">
                <a:solidFill>
                  <a:srgbClr val="002060"/>
                </a:solidFill>
                <a:effectLst/>
                <a:latin typeface="Consolas" panose="020B0609020204030204" pitchFamily="49" charset="0"/>
              </a:rPr>
              <a:t>    = 25 * </a:t>
            </a:r>
            <a:r>
              <a:rPr lang="en-US" altLang="zh-CN" b="0" dirty="0" err="1">
                <a:solidFill>
                  <a:srgbClr val="002060"/>
                </a:solidFill>
                <a:effectLst/>
                <a:latin typeface="Consolas" panose="020B0609020204030204" pitchFamily="49" charset="0"/>
              </a:rPr>
              <a:t>Units.deg</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wing.thickness_to_chord</a:t>
            </a:r>
            <a:r>
              <a:rPr lang="en-US" altLang="zh-CN" b="0" dirty="0">
                <a:solidFill>
                  <a:srgbClr val="002060"/>
                </a:solidFill>
                <a:effectLst/>
                <a:latin typeface="Consolas" panose="020B0609020204030204" pitchFamily="49" charset="0"/>
              </a:rPr>
              <a:t>      = 0.1</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wing.taper</a:t>
            </a:r>
            <a:r>
              <a:rPr lang="en-US" altLang="zh-CN" b="0" dirty="0">
                <a:solidFill>
                  <a:srgbClr val="002060"/>
                </a:solidFill>
                <a:effectLst/>
                <a:latin typeface="Consolas" panose="020B0609020204030204" pitchFamily="49" charset="0"/>
              </a:rPr>
              <a:t>                   = 0.1</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wing.spans.projected</a:t>
            </a:r>
            <a:r>
              <a:rPr lang="en-US" altLang="zh-CN" b="0" dirty="0">
                <a:solidFill>
                  <a:srgbClr val="002060"/>
                </a:solidFill>
                <a:effectLst/>
                <a:latin typeface="Consolas" panose="020B0609020204030204" pitchFamily="49" charset="0"/>
              </a:rPr>
              <a:t>         = 34.32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wing.chords.root</a:t>
            </a:r>
            <a:r>
              <a:rPr lang="en-US" altLang="zh-CN" b="0" dirty="0">
                <a:solidFill>
                  <a:srgbClr val="002060"/>
                </a:solidFill>
                <a:effectLst/>
                <a:latin typeface="Consolas" panose="020B0609020204030204" pitchFamily="49" charset="0"/>
              </a:rPr>
              <a:t>             = 7.760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wing.chords.tip</a:t>
            </a:r>
            <a:r>
              <a:rPr lang="en-US" altLang="zh-CN" b="0" dirty="0">
                <a:solidFill>
                  <a:srgbClr val="002060"/>
                </a:solidFill>
                <a:effectLst/>
                <a:latin typeface="Consolas" panose="020B0609020204030204" pitchFamily="49" charset="0"/>
              </a:rPr>
              <a:t>              = 0.782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wing.chords.mean_aerodynamic</a:t>
            </a:r>
            <a:r>
              <a:rPr lang="en-US" altLang="zh-CN" b="0" dirty="0">
                <a:solidFill>
                  <a:srgbClr val="002060"/>
                </a:solidFill>
                <a:effectLst/>
                <a:latin typeface="Consolas" panose="020B0609020204030204" pitchFamily="49" charset="0"/>
              </a:rPr>
              <a:t> = 4.235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wing.areas.reference</a:t>
            </a:r>
            <a:r>
              <a:rPr lang="en-US" altLang="zh-CN" b="0" dirty="0">
                <a:solidFill>
                  <a:srgbClr val="002060"/>
                </a:solidFill>
                <a:effectLst/>
                <a:latin typeface="Consolas" panose="020B0609020204030204" pitchFamily="49" charset="0"/>
              </a:rPr>
              <a:t>         = 124.862 * Units['meters**2']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wing.twists.root</a:t>
            </a:r>
            <a:r>
              <a:rPr lang="en-US" altLang="zh-CN" b="0" dirty="0">
                <a:solidFill>
                  <a:srgbClr val="002060"/>
                </a:solidFill>
                <a:effectLst/>
                <a:latin typeface="Consolas" panose="020B0609020204030204" pitchFamily="49" charset="0"/>
              </a:rPr>
              <a:t>             = 4.0 * </a:t>
            </a:r>
            <a:r>
              <a:rPr lang="en-US" altLang="zh-CN" b="0" dirty="0" err="1">
                <a:solidFill>
                  <a:srgbClr val="002060"/>
                </a:solidFill>
                <a:effectLst/>
                <a:latin typeface="Consolas" panose="020B0609020204030204" pitchFamily="49" charset="0"/>
              </a:rPr>
              <a:t>Units.degrees</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wing.twists.tip</a:t>
            </a:r>
            <a:r>
              <a:rPr lang="en-US" altLang="zh-CN" b="0" dirty="0">
                <a:solidFill>
                  <a:srgbClr val="002060"/>
                </a:solidFill>
                <a:effectLst/>
                <a:latin typeface="Consolas" panose="020B0609020204030204" pitchFamily="49" charset="0"/>
              </a:rPr>
              <a:t>              = 0.0 * </a:t>
            </a:r>
            <a:r>
              <a:rPr lang="en-US" altLang="zh-CN" b="0" dirty="0" err="1">
                <a:solidFill>
                  <a:srgbClr val="002060"/>
                </a:solidFill>
                <a:effectLst/>
                <a:latin typeface="Consolas" panose="020B0609020204030204" pitchFamily="49" charset="0"/>
              </a:rPr>
              <a:t>Units.degrees</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wing.origin</a:t>
            </a:r>
            <a:r>
              <a:rPr lang="en-US" altLang="zh-CN" b="0" dirty="0">
                <a:solidFill>
                  <a:srgbClr val="002060"/>
                </a:solidFill>
                <a:effectLst/>
                <a:latin typeface="Consolas" panose="020B0609020204030204" pitchFamily="49" charset="0"/>
              </a:rPr>
              <a:t>                  = [[13.61, 0, -1.27]]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wing.vertical</a:t>
            </a:r>
            <a:r>
              <a:rPr lang="en-US" altLang="zh-CN" b="0" dirty="0">
                <a:solidFill>
                  <a:srgbClr val="002060"/>
                </a:solidFill>
                <a:effectLst/>
                <a:latin typeface="Consolas" panose="020B0609020204030204" pitchFamily="49" charset="0"/>
              </a:rPr>
              <a:t>                = False</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wing.symmetric</a:t>
            </a:r>
            <a:r>
              <a:rPr lang="en-US" altLang="zh-CN" b="0" dirty="0">
                <a:solidFill>
                  <a:srgbClr val="002060"/>
                </a:solidFill>
                <a:effectLst/>
                <a:latin typeface="Consolas" panose="020B0609020204030204" pitchFamily="49" charset="0"/>
              </a:rPr>
              <a:t>               = True</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vehicle.append_component</a:t>
            </a:r>
            <a:r>
              <a:rPr lang="en-US" altLang="zh-CN" b="0" dirty="0">
                <a:solidFill>
                  <a:srgbClr val="002060"/>
                </a:solidFill>
                <a:effectLst/>
                <a:latin typeface="Consolas" panose="020B0609020204030204" pitchFamily="49" charset="0"/>
              </a:rPr>
              <a:t>(wing) </a:t>
            </a:r>
          </a:p>
        </p:txBody>
      </p:sp>
      <p:pic>
        <p:nvPicPr>
          <p:cNvPr id="9" name="图片 8">
            <a:extLst>
              <a:ext uri="{FF2B5EF4-FFF2-40B4-BE49-F238E27FC236}">
                <a16:creationId xmlns:a16="http://schemas.microsoft.com/office/drawing/2014/main" id="{228F09A0-D66E-DDEF-9495-22B824BF075A}"/>
              </a:ext>
            </a:extLst>
          </p:cNvPr>
          <p:cNvPicPr>
            <a:picLocks noChangeAspect="1"/>
          </p:cNvPicPr>
          <p:nvPr/>
        </p:nvPicPr>
        <p:blipFill>
          <a:blip r:embed="rId2"/>
          <a:stretch>
            <a:fillRect/>
          </a:stretch>
        </p:blipFill>
        <p:spPr>
          <a:xfrm>
            <a:off x="0" y="1620000"/>
            <a:ext cx="3913520" cy="2578101"/>
          </a:xfrm>
          <a:prstGeom prst="rect">
            <a:avLst/>
          </a:prstGeom>
        </p:spPr>
      </p:pic>
      <p:sp>
        <p:nvSpPr>
          <p:cNvPr id="4" name="标题 1">
            <a:extLst>
              <a:ext uri="{FF2B5EF4-FFF2-40B4-BE49-F238E27FC236}">
                <a16:creationId xmlns:a16="http://schemas.microsoft.com/office/drawing/2014/main" id="{2E3343F4-338A-AE34-B6F7-4447E6442EC8}"/>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Tree>
    <p:extLst>
      <p:ext uri="{BB962C8B-B14F-4D97-AF65-F5344CB8AC3E}">
        <p14:creationId xmlns:p14="http://schemas.microsoft.com/office/powerpoint/2010/main" val="64630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1424-50AD-0D5F-C91C-035C6344BD2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9FF82B8-5535-74FA-AA23-7B512F2ACA55}"/>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Horizontal Tail</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5" name="文本框 4">
            <a:extLst>
              <a:ext uri="{FF2B5EF4-FFF2-40B4-BE49-F238E27FC236}">
                <a16:creationId xmlns:a16="http://schemas.microsoft.com/office/drawing/2014/main" id="{E8C5227D-25C7-9D6F-E198-9D8880268339}"/>
              </a:ext>
            </a:extLst>
          </p:cNvPr>
          <p:cNvSpPr txBox="1"/>
          <p:nvPr/>
        </p:nvSpPr>
        <p:spPr>
          <a:xfrm>
            <a:off x="3384000" y="1080000"/>
            <a:ext cx="8472212" cy="5632311"/>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    wing = </a:t>
            </a:r>
            <a:r>
              <a:rPr lang="en-US" altLang="zh-CN" b="0" dirty="0" err="1">
                <a:solidFill>
                  <a:srgbClr val="002060"/>
                </a:solidFill>
                <a:effectLst/>
                <a:latin typeface="Consolas" panose="020B0609020204030204" pitchFamily="49" charset="0"/>
              </a:rPr>
              <a:t>SUAVE.Components.Wings.Horizontal_Tail</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wing.tag</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horizontal_stabilizer</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wing.aspect_ratio</a:t>
            </a:r>
            <a:r>
              <a:rPr lang="en-US" altLang="zh-CN" b="0" dirty="0">
                <a:solidFill>
                  <a:srgbClr val="002060"/>
                </a:solidFill>
                <a:effectLst/>
                <a:latin typeface="Consolas" panose="020B0609020204030204" pitchFamily="49" charset="0"/>
              </a:rPr>
              <a:t>            = 6.16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wing.sweeps.quarter_chord</a:t>
            </a:r>
            <a:r>
              <a:rPr lang="en-US" altLang="zh-CN" b="0" dirty="0">
                <a:solidFill>
                  <a:srgbClr val="002060"/>
                </a:solidFill>
                <a:effectLst/>
                <a:latin typeface="Consolas" panose="020B0609020204030204" pitchFamily="49" charset="0"/>
              </a:rPr>
              <a:t>    = 40.0 * </a:t>
            </a:r>
            <a:r>
              <a:rPr lang="en-US" altLang="zh-CN" b="0" dirty="0" err="1">
                <a:solidFill>
                  <a:srgbClr val="002060"/>
                </a:solidFill>
                <a:effectLst/>
                <a:latin typeface="Consolas" panose="020B0609020204030204" pitchFamily="49" charset="0"/>
              </a:rPr>
              <a:t>Units.deg</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wing.thickness_to_chord</a:t>
            </a:r>
            <a:r>
              <a:rPr lang="en-US" altLang="zh-CN" b="0" dirty="0">
                <a:solidFill>
                  <a:srgbClr val="002060"/>
                </a:solidFill>
                <a:effectLst/>
                <a:latin typeface="Consolas" panose="020B0609020204030204" pitchFamily="49" charset="0"/>
              </a:rPr>
              <a:t>      = 0.08</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wing.taper</a:t>
            </a:r>
            <a:r>
              <a:rPr lang="en-US" altLang="zh-CN" b="0" dirty="0">
                <a:solidFill>
                  <a:srgbClr val="002060"/>
                </a:solidFill>
                <a:effectLst/>
                <a:latin typeface="Consolas" panose="020B0609020204030204" pitchFamily="49" charset="0"/>
              </a:rPr>
              <a:t>                   = 0.2</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wing.spans.projected</a:t>
            </a:r>
            <a:r>
              <a:rPr lang="en-US" altLang="zh-CN" b="0" dirty="0">
                <a:solidFill>
                  <a:srgbClr val="002060"/>
                </a:solidFill>
                <a:effectLst/>
                <a:latin typeface="Consolas" panose="020B0609020204030204" pitchFamily="49" charset="0"/>
              </a:rPr>
              <a:t>         = 14.2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wing.chords.root</a:t>
            </a:r>
            <a:r>
              <a:rPr lang="en-US" altLang="zh-CN" b="0" dirty="0">
                <a:solidFill>
                  <a:srgbClr val="002060"/>
                </a:solidFill>
                <a:effectLst/>
                <a:latin typeface="Consolas" panose="020B0609020204030204" pitchFamily="49" charset="0"/>
              </a:rPr>
              <a:t>             = 4.7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wing.chords.tip</a:t>
            </a:r>
            <a:r>
              <a:rPr lang="en-US" altLang="zh-CN" b="0" dirty="0">
                <a:solidFill>
                  <a:srgbClr val="002060"/>
                </a:solidFill>
                <a:effectLst/>
                <a:latin typeface="Consolas" panose="020B0609020204030204" pitchFamily="49" charset="0"/>
              </a:rPr>
              <a:t>              = 0.955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wing.chords.mean_aerodynamic</a:t>
            </a:r>
            <a:r>
              <a:rPr lang="en-US" altLang="zh-CN" b="0" dirty="0">
                <a:solidFill>
                  <a:srgbClr val="002060"/>
                </a:solidFill>
                <a:effectLst/>
                <a:latin typeface="Consolas" panose="020B0609020204030204" pitchFamily="49" charset="0"/>
              </a:rPr>
              <a:t> = 3.0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wing.areas.reference</a:t>
            </a:r>
            <a:r>
              <a:rPr lang="en-US" altLang="zh-CN" b="0" dirty="0">
                <a:solidFill>
                  <a:srgbClr val="002060"/>
                </a:solidFill>
                <a:effectLst/>
                <a:latin typeface="Consolas" panose="020B0609020204030204" pitchFamily="49" charset="0"/>
              </a:rPr>
              <a:t>         = 32.488   * Units['meters**2']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wing.twists.root</a:t>
            </a:r>
            <a:r>
              <a:rPr lang="en-US" altLang="zh-CN" b="0" dirty="0">
                <a:solidFill>
                  <a:srgbClr val="002060"/>
                </a:solidFill>
                <a:effectLst/>
                <a:latin typeface="Consolas" panose="020B0609020204030204" pitchFamily="49" charset="0"/>
              </a:rPr>
              <a:t>             = 3.0 * </a:t>
            </a:r>
            <a:r>
              <a:rPr lang="en-US" altLang="zh-CN" b="0" dirty="0" err="1">
                <a:solidFill>
                  <a:srgbClr val="002060"/>
                </a:solidFill>
                <a:effectLst/>
                <a:latin typeface="Consolas" panose="020B0609020204030204" pitchFamily="49" charset="0"/>
              </a:rPr>
              <a:t>Units.degrees</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wing.twists.tip</a:t>
            </a:r>
            <a:r>
              <a:rPr lang="en-US" altLang="zh-CN" b="0" dirty="0">
                <a:solidFill>
                  <a:srgbClr val="002060"/>
                </a:solidFill>
                <a:effectLst/>
                <a:latin typeface="Consolas" panose="020B0609020204030204" pitchFamily="49" charset="0"/>
              </a:rPr>
              <a:t>              = 3.0 * </a:t>
            </a:r>
            <a:r>
              <a:rPr lang="en-US" altLang="zh-CN" b="0" dirty="0" err="1">
                <a:solidFill>
                  <a:srgbClr val="002060"/>
                </a:solidFill>
                <a:effectLst/>
                <a:latin typeface="Consolas" panose="020B0609020204030204" pitchFamily="49" charset="0"/>
              </a:rPr>
              <a:t>Units.degrees</a:t>
            </a: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wing.origin</a:t>
            </a:r>
            <a:r>
              <a:rPr lang="en-US" altLang="zh-CN" b="0" dirty="0">
                <a:solidFill>
                  <a:srgbClr val="002060"/>
                </a:solidFill>
                <a:effectLst/>
                <a:latin typeface="Consolas" panose="020B0609020204030204" pitchFamily="49" charset="0"/>
              </a:rPr>
              <a:t>                  = [[32.83 * </a:t>
            </a:r>
            <a:r>
              <a:rPr lang="en-US" altLang="zh-CN" b="0" dirty="0" err="1">
                <a:solidFill>
                  <a:srgbClr val="002060"/>
                </a:solidFill>
                <a:effectLst/>
                <a:latin typeface="Consolas" panose="020B0609020204030204" pitchFamily="49" charset="0"/>
              </a:rPr>
              <a:t>Units.meter</a:t>
            </a:r>
            <a:r>
              <a:rPr lang="en-US" altLang="zh-CN" b="0" dirty="0">
                <a:solidFill>
                  <a:srgbClr val="002060"/>
                </a:solidFill>
                <a:effectLst/>
                <a:latin typeface="Consolas" panose="020B0609020204030204" pitchFamily="49" charset="0"/>
              </a:rPr>
              <a:t>,</a:t>
            </a:r>
          </a:p>
          <a:p>
            <a:pPr>
              <a:buNone/>
            </a:pPr>
            <a:r>
              <a:rPr lang="en-US" altLang="zh-CN" dirty="0">
                <a:solidFill>
                  <a:srgbClr val="002060"/>
                </a:solidFill>
                <a:latin typeface="Consolas" panose="020B0609020204030204" pitchFamily="49" charset="0"/>
              </a:rPr>
              <a:t>					</a:t>
            </a:r>
            <a:r>
              <a:rPr lang="en-US" altLang="zh-CN" b="0" dirty="0">
                <a:solidFill>
                  <a:srgbClr val="002060"/>
                </a:solidFill>
                <a:effectLst/>
                <a:latin typeface="Consolas" panose="020B0609020204030204" pitchFamily="49" charset="0"/>
              </a:rPr>
              <a:t> 0 , 1.14 * </a:t>
            </a:r>
            <a:r>
              <a:rPr lang="en-US" altLang="zh-CN" b="0" dirty="0" err="1">
                <a:solidFill>
                  <a:srgbClr val="002060"/>
                </a:solidFill>
                <a:effectLst/>
                <a:latin typeface="Consolas" panose="020B0609020204030204" pitchFamily="49" charset="0"/>
              </a:rPr>
              <a:t>Units.meter</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wing.vertical</a:t>
            </a:r>
            <a:r>
              <a:rPr lang="en-US" altLang="zh-CN" b="0" dirty="0">
                <a:solidFill>
                  <a:srgbClr val="002060"/>
                </a:solidFill>
                <a:effectLst/>
                <a:latin typeface="Consolas" panose="020B0609020204030204" pitchFamily="49" charset="0"/>
              </a:rPr>
              <a:t>                = False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wing.symmetric</a:t>
            </a:r>
            <a:r>
              <a:rPr lang="en-US" altLang="zh-CN" b="0" dirty="0">
                <a:solidFill>
                  <a:srgbClr val="002060"/>
                </a:solidFill>
                <a:effectLst/>
                <a:latin typeface="Consolas" panose="020B0609020204030204" pitchFamily="49" charset="0"/>
              </a:rPr>
              <a:t>               = True  </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vehicle.append_component</a:t>
            </a:r>
            <a:r>
              <a:rPr lang="en-US" altLang="zh-CN" b="0" dirty="0">
                <a:solidFill>
                  <a:srgbClr val="002060"/>
                </a:solidFill>
                <a:effectLst/>
                <a:latin typeface="Consolas" panose="020B0609020204030204" pitchFamily="49" charset="0"/>
              </a:rPr>
              <a:t>(wing)</a:t>
            </a:r>
          </a:p>
        </p:txBody>
      </p:sp>
      <p:pic>
        <p:nvPicPr>
          <p:cNvPr id="7" name="图片 6">
            <a:extLst>
              <a:ext uri="{FF2B5EF4-FFF2-40B4-BE49-F238E27FC236}">
                <a16:creationId xmlns:a16="http://schemas.microsoft.com/office/drawing/2014/main" id="{B43AFEF7-5A4F-CCC9-6359-07C53EAAC8C4}"/>
              </a:ext>
            </a:extLst>
          </p:cNvPr>
          <p:cNvPicPr>
            <a:picLocks noChangeAspect="1"/>
          </p:cNvPicPr>
          <p:nvPr/>
        </p:nvPicPr>
        <p:blipFill>
          <a:blip r:embed="rId2"/>
          <a:stretch>
            <a:fillRect/>
          </a:stretch>
        </p:blipFill>
        <p:spPr>
          <a:xfrm>
            <a:off x="1" y="1620000"/>
            <a:ext cx="3888622" cy="2564738"/>
          </a:xfrm>
          <a:prstGeom prst="rect">
            <a:avLst/>
          </a:prstGeom>
        </p:spPr>
      </p:pic>
      <p:sp>
        <p:nvSpPr>
          <p:cNvPr id="4" name="标题 1">
            <a:extLst>
              <a:ext uri="{FF2B5EF4-FFF2-40B4-BE49-F238E27FC236}">
                <a16:creationId xmlns:a16="http://schemas.microsoft.com/office/drawing/2014/main" id="{32B5A293-7B66-3F51-A6CA-084AC2FEDC01}"/>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Tree>
    <p:extLst>
      <p:ext uri="{BB962C8B-B14F-4D97-AF65-F5344CB8AC3E}">
        <p14:creationId xmlns:p14="http://schemas.microsoft.com/office/powerpoint/2010/main" val="2333945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E5EA4-DE76-F584-C58B-B6B0649A874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F24C571-778E-5F43-15B7-5F5B5A257420}"/>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Vertical Tail</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6" name="文本框 5">
            <a:extLst>
              <a:ext uri="{FF2B5EF4-FFF2-40B4-BE49-F238E27FC236}">
                <a16:creationId xmlns:a16="http://schemas.microsoft.com/office/drawing/2014/main" id="{390738E0-C456-2D04-6D42-AA8C3177EDE7}"/>
              </a:ext>
            </a:extLst>
          </p:cNvPr>
          <p:cNvSpPr txBox="1"/>
          <p:nvPr/>
        </p:nvSpPr>
        <p:spPr>
          <a:xfrm>
            <a:off x="3384000" y="1080000"/>
            <a:ext cx="8696140" cy="5355312"/>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    wing = </a:t>
            </a:r>
            <a:r>
              <a:rPr lang="en-US" altLang="zh-CN" b="0" dirty="0" err="1">
                <a:solidFill>
                  <a:srgbClr val="002060"/>
                </a:solidFill>
                <a:effectLst/>
                <a:latin typeface="Consolas" panose="020B0609020204030204" pitchFamily="49" charset="0"/>
              </a:rPr>
              <a:t>SUAVE.Components.Wings.Vertical_Tail</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wing.tag</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vertical_stabilizer</a:t>
            </a:r>
            <a:r>
              <a:rPr lang="en-US" altLang="zh-CN" b="0" dirty="0">
                <a:solidFill>
                  <a:srgbClr val="002060"/>
                </a:solidFill>
                <a:effectLst/>
                <a:latin typeface="Consolas" panose="020B0609020204030204" pitchFamily="49" charset="0"/>
              </a:rPr>
              <a:t>'    </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wing.aspect_ratio</a:t>
            </a:r>
            <a:r>
              <a:rPr lang="en-US" altLang="zh-CN" b="0" dirty="0">
                <a:solidFill>
                  <a:srgbClr val="002060"/>
                </a:solidFill>
                <a:effectLst/>
                <a:latin typeface="Consolas" panose="020B0609020204030204" pitchFamily="49" charset="0"/>
              </a:rPr>
              <a:t>            = 1.91</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wing.sweeps.quarter_chord</a:t>
            </a:r>
            <a:r>
              <a:rPr lang="en-US" altLang="zh-CN" b="0" dirty="0">
                <a:solidFill>
                  <a:srgbClr val="002060"/>
                </a:solidFill>
                <a:effectLst/>
                <a:latin typeface="Consolas" panose="020B0609020204030204" pitchFamily="49" charset="0"/>
              </a:rPr>
              <a:t>    = 25. * </a:t>
            </a:r>
            <a:r>
              <a:rPr lang="en-US" altLang="zh-CN" b="0" dirty="0" err="1">
                <a:solidFill>
                  <a:srgbClr val="002060"/>
                </a:solidFill>
                <a:effectLst/>
                <a:latin typeface="Consolas" panose="020B0609020204030204" pitchFamily="49" charset="0"/>
              </a:rPr>
              <a:t>Units.deg</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wing.thickness_to_chord</a:t>
            </a:r>
            <a:r>
              <a:rPr lang="en-US" altLang="zh-CN" b="0" dirty="0">
                <a:solidFill>
                  <a:srgbClr val="002060"/>
                </a:solidFill>
                <a:effectLst/>
                <a:latin typeface="Consolas" panose="020B0609020204030204" pitchFamily="49" charset="0"/>
              </a:rPr>
              <a:t>      = 0.08</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wing.taper</a:t>
            </a:r>
            <a:r>
              <a:rPr lang="en-US" altLang="zh-CN" b="0" dirty="0">
                <a:solidFill>
                  <a:srgbClr val="002060"/>
                </a:solidFill>
                <a:effectLst/>
                <a:latin typeface="Consolas" panose="020B0609020204030204" pitchFamily="49" charset="0"/>
              </a:rPr>
              <a:t>                   = 0.25</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wing.spans.projected</a:t>
            </a:r>
            <a:r>
              <a:rPr lang="en-US" altLang="zh-CN" b="0" dirty="0">
                <a:solidFill>
                  <a:srgbClr val="002060"/>
                </a:solidFill>
                <a:effectLst/>
                <a:latin typeface="Consolas" panose="020B0609020204030204" pitchFamily="49" charset="0"/>
              </a:rPr>
              <a:t>         = 7.777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wing.chords.root</a:t>
            </a:r>
            <a:r>
              <a:rPr lang="en-US" altLang="zh-CN" b="0" dirty="0">
                <a:solidFill>
                  <a:srgbClr val="002060"/>
                </a:solidFill>
                <a:effectLst/>
                <a:latin typeface="Consolas" panose="020B0609020204030204" pitchFamily="49" charset="0"/>
              </a:rPr>
              <a:t>             = 8.19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wing.chords.tip</a:t>
            </a:r>
            <a:r>
              <a:rPr lang="en-US" altLang="zh-CN" b="0" dirty="0">
                <a:solidFill>
                  <a:srgbClr val="002060"/>
                </a:solidFill>
                <a:effectLst/>
                <a:latin typeface="Consolas" panose="020B0609020204030204" pitchFamily="49" charset="0"/>
              </a:rPr>
              <a:t>              = 0.95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wing.chords.mean_aerodynamic</a:t>
            </a:r>
            <a:r>
              <a:rPr lang="en-US" altLang="zh-CN" b="0" dirty="0">
                <a:solidFill>
                  <a:srgbClr val="002060"/>
                </a:solidFill>
                <a:effectLst/>
                <a:latin typeface="Consolas" panose="020B0609020204030204" pitchFamily="49" charset="0"/>
              </a:rPr>
              <a:t> = 4.0   * </a:t>
            </a:r>
            <a:r>
              <a:rPr lang="en-US" altLang="zh-CN" b="0" dirty="0" err="1">
                <a:solidFill>
                  <a:srgbClr val="002060"/>
                </a:solidFill>
                <a:effectLst/>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wing.areas.reference</a:t>
            </a:r>
            <a:r>
              <a:rPr lang="en-US" altLang="zh-CN" b="0" dirty="0">
                <a:solidFill>
                  <a:srgbClr val="002060"/>
                </a:solidFill>
                <a:effectLst/>
                <a:latin typeface="Consolas" panose="020B0609020204030204" pitchFamily="49" charset="0"/>
              </a:rPr>
              <a:t>         = 27.316 * Units['meters**2']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wing.twists.root</a:t>
            </a:r>
            <a:r>
              <a:rPr lang="en-US" altLang="zh-CN" b="0" dirty="0">
                <a:solidFill>
                  <a:srgbClr val="002060"/>
                </a:solidFill>
                <a:effectLst/>
                <a:latin typeface="Consolas" panose="020B0609020204030204" pitchFamily="49" charset="0"/>
              </a:rPr>
              <a:t>             = 0.0 * </a:t>
            </a:r>
            <a:r>
              <a:rPr lang="en-US" altLang="zh-CN" b="0" dirty="0" err="1">
                <a:solidFill>
                  <a:srgbClr val="002060"/>
                </a:solidFill>
                <a:effectLst/>
                <a:latin typeface="Consolas" panose="020B0609020204030204" pitchFamily="49" charset="0"/>
              </a:rPr>
              <a:t>Units.degrees</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wing.twists.tip</a:t>
            </a:r>
            <a:r>
              <a:rPr lang="en-US" altLang="zh-CN" b="0" dirty="0">
                <a:solidFill>
                  <a:srgbClr val="002060"/>
                </a:solidFill>
                <a:effectLst/>
                <a:latin typeface="Consolas" panose="020B0609020204030204" pitchFamily="49" charset="0"/>
              </a:rPr>
              <a:t>              = 0.0 * </a:t>
            </a:r>
            <a:r>
              <a:rPr lang="en-US" altLang="zh-CN" b="0" dirty="0" err="1">
                <a:solidFill>
                  <a:srgbClr val="002060"/>
                </a:solidFill>
                <a:effectLst/>
                <a:latin typeface="Consolas" panose="020B0609020204030204" pitchFamily="49" charset="0"/>
              </a:rPr>
              <a:t>Units.degrees</a:t>
            </a: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wing.origin</a:t>
            </a:r>
            <a:r>
              <a:rPr lang="en-US" altLang="zh-CN" b="0" dirty="0">
                <a:solidFill>
                  <a:srgbClr val="002060"/>
                </a:solidFill>
                <a:effectLst/>
                <a:latin typeface="Consolas" panose="020B0609020204030204" pitchFamily="49" charset="0"/>
              </a:rPr>
              <a:t>                  = [[28.79, 0, 1.54]] </a:t>
            </a:r>
            <a:r>
              <a:rPr lang="en-US" altLang="zh-CN" dirty="0">
                <a:solidFill>
                  <a:srgbClr val="002060"/>
                </a:solidFill>
                <a:latin typeface="Consolas" panose="020B0609020204030204" pitchFamily="49" charset="0"/>
              </a:rPr>
              <a:t>* </a:t>
            </a:r>
            <a:r>
              <a:rPr lang="en-US" altLang="zh-CN" dirty="0" err="1">
                <a:solidFill>
                  <a:srgbClr val="002060"/>
                </a:solidFill>
                <a:latin typeface="Consolas" panose="020B0609020204030204" pitchFamily="49" charset="0"/>
              </a:rPr>
              <a:t>Units.meter</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wing.vertical</a:t>
            </a:r>
            <a:r>
              <a:rPr lang="en-US" altLang="zh-CN" b="0" dirty="0">
                <a:solidFill>
                  <a:srgbClr val="002060"/>
                </a:solidFill>
                <a:effectLst/>
                <a:latin typeface="Consolas" panose="020B0609020204030204" pitchFamily="49" charset="0"/>
              </a:rPr>
              <a:t>                = True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wing.symmetric</a:t>
            </a:r>
            <a:r>
              <a:rPr lang="en-US" altLang="zh-CN" b="0" dirty="0">
                <a:solidFill>
                  <a:srgbClr val="002060"/>
                </a:solidFill>
                <a:effectLst/>
                <a:latin typeface="Consolas" panose="020B0609020204030204" pitchFamily="49" charset="0"/>
              </a:rPr>
              <a:t>               = False</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vehicle.append_component</a:t>
            </a:r>
            <a:r>
              <a:rPr lang="en-US" altLang="zh-CN" b="0" dirty="0">
                <a:solidFill>
                  <a:srgbClr val="002060"/>
                </a:solidFill>
                <a:effectLst/>
                <a:latin typeface="Consolas" panose="020B0609020204030204" pitchFamily="49" charset="0"/>
              </a:rPr>
              <a:t>(wing)</a:t>
            </a:r>
          </a:p>
        </p:txBody>
      </p:sp>
      <p:pic>
        <p:nvPicPr>
          <p:cNvPr id="8" name="图片 7">
            <a:extLst>
              <a:ext uri="{FF2B5EF4-FFF2-40B4-BE49-F238E27FC236}">
                <a16:creationId xmlns:a16="http://schemas.microsoft.com/office/drawing/2014/main" id="{807DDA5A-1384-32D4-7F3E-39221E3CB823}"/>
              </a:ext>
            </a:extLst>
          </p:cNvPr>
          <p:cNvPicPr>
            <a:picLocks noChangeAspect="1"/>
          </p:cNvPicPr>
          <p:nvPr/>
        </p:nvPicPr>
        <p:blipFill>
          <a:blip r:embed="rId2"/>
          <a:stretch>
            <a:fillRect/>
          </a:stretch>
        </p:blipFill>
        <p:spPr>
          <a:xfrm>
            <a:off x="1" y="1620000"/>
            <a:ext cx="3797300" cy="2524035"/>
          </a:xfrm>
          <a:prstGeom prst="rect">
            <a:avLst/>
          </a:prstGeom>
        </p:spPr>
      </p:pic>
      <p:sp>
        <p:nvSpPr>
          <p:cNvPr id="4" name="标题 1">
            <a:extLst>
              <a:ext uri="{FF2B5EF4-FFF2-40B4-BE49-F238E27FC236}">
                <a16:creationId xmlns:a16="http://schemas.microsoft.com/office/drawing/2014/main" id="{55566A3D-080E-802F-F70A-0A8B68196DCC}"/>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Tree>
    <p:extLst>
      <p:ext uri="{BB962C8B-B14F-4D97-AF65-F5344CB8AC3E}">
        <p14:creationId xmlns:p14="http://schemas.microsoft.com/office/powerpoint/2010/main" val="440112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E6683-9025-4FCB-6956-07F2BC82F87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9B2B803-58D7-95F0-0E31-721CE2ADD488}"/>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Fuselage</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DB96CA57-5B78-C7EF-8BBF-0007B7DD8DB5}"/>
              </a:ext>
            </a:extLst>
          </p:cNvPr>
          <p:cNvPicPr>
            <a:picLocks noChangeAspect="1"/>
          </p:cNvPicPr>
          <p:nvPr/>
        </p:nvPicPr>
        <p:blipFill>
          <a:blip r:embed="rId2"/>
          <a:stretch>
            <a:fillRect/>
          </a:stretch>
        </p:blipFill>
        <p:spPr>
          <a:xfrm>
            <a:off x="0" y="1620000"/>
            <a:ext cx="3837756" cy="2564610"/>
          </a:xfrm>
          <a:prstGeom prst="rect">
            <a:avLst/>
          </a:prstGeom>
        </p:spPr>
      </p:pic>
      <p:sp>
        <p:nvSpPr>
          <p:cNvPr id="6" name="文本框 5">
            <a:extLst>
              <a:ext uri="{FF2B5EF4-FFF2-40B4-BE49-F238E27FC236}">
                <a16:creationId xmlns:a16="http://schemas.microsoft.com/office/drawing/2014/main" id="{7822B842-406B-555E-CAE3-BEAB3BD61779}"/>
              </a:ext>
            </a:extLst>
          </p:cNvPr>
          <p:cNvSpPr txBox="1"/>
          <p:nvPr/>
        </p:nvSpPr>
        <p:spPr>
          <a:xfrm>
            <a:off x="3383999" y="1080000"/>
            <a:ext cx="8474625" cy="5632311"/>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    fuselage = </a:t>
            </a:r>
            <a:r>
              <a:rPr lang="en-US" altLang="zh-CN" dirty="0" err="1"/>
              <a:t>SUAVE.Components.Fuselages.Fuselage</a:t>
            </a:r>
            <a:r>
              <a:rPr lang="en-US" altLang="zh-CN" dirty="0"/>
              <a:t>()</a:t>
            </a:r>
          </a:p>
          <a:p>
            <a:r>
              <a:rPr lang="en-US" altLang="zh-CN" dirty="0"/>
              <a:t>    </a:t>
            </a:r>
            <a:r>
              <a:rPr lang="en-US" altLang="zh-CN" dirty="0" err="1"/>
              <a:t>fuselage.tag</a:t>
            </a:r>
            <a:r>
              <a:rPr lang="en-US" altLang="zh-CN" dirty="0"/>
              <a:t> = 'fuselage'</a:t>
            </a:r>
          </a:p>
          <a:p>
            <a:endParaRPr lang="en-US" altLang="zh-CN" dirty="0"/>
          </a:p>
          <a:p>
            <a:r>
              <a:rPr lang="en-US" altLang="zh-CN" dirty="0"/>
              <a:t>    </a:t>
            </a:r>
            <a:r>
              <a:rPr lang="en-US" altLang="zh-CN" dirty="0" err="1"/>
              <a:t>fuselage.fineness.nose</a:t>
            </a:r>
            <a:r>
              <a:rPr lang="en-US" altLang="zh-CN" dirty="0"/>
              <a:t>         = 1.6</a:t>
            </a:r>
          </a:p>
          <a:p>
            <a:r>
              <a:rPr lang="en-US" altLang="zh-CN" dirty="0"/>
              <a:t>    </a:t>
            </a:r>
            <a:r>
              <a:rPr lang="en-US" altLang="zh-CN" dirty="0" err="1"/>
              <a:t>fuselage.fineness.tail</a:t>
            </a:r>
            <a:r>
              <a:rPr lang="en-US" altLang="zh-CN" dirty="0"/>
              <a:t>         = 2.</a:t>
            </a:r>
          </a:p>
          <a:p>
            <a:r>
              <a:rPr lang="en-US" altLang="zh-CN" dirty="0"/>
              <a:t>    </a:t>
            </a:r>
            <a:r>
              <a:rPr lang="en-US" altLang="zh-CN" dirty="0" err="1"/>
              <a:t>fuselage.lengths.nose</a:t>
            </a:r>
            <a:r>
              <a:rPr lang="en-US" altLang="zh-CN" dirty="0"/>
              <a:t>          = 6.4   * </a:t>
            </a:r>
            <a:r>
              <a:rPr lang="en-US" altLang="zh-CN" dirty="0" err="1"/>
              <a:t>Units.meter</a:t>
            </a:r>
            <a:endParaRPr lang="en-US" altLang="zh-CN" dirty="0"/>
          </a:p>
          <a:p>
            <a:r>
              <a:rPr lang="en-US" altLang="zh-CN" dirty="0"/>
              <a:t>    </a:t>
            </a:r>
            <a:r>
              <a:rPr lang="en-US" altLang="zh-CN" dirty="0" err="1"/>
              <a:t>fuselage.lengths.tail</a:t>
            </a:r>
            <a:r>
              <a:rPr lang="en-US" altLang="zh-CN" dirty="0"/>
              <a:t>          = 8.0   * </a:t>
            </a:r>
            <a:r>
              <a:rPr lang="en-US" altLang="zh-CN" dirty="0" err="1"/>
              <a:t>Units.meter</a:t>
            </a:r>
            <a:endParaRPr lang="en-US" altLang="zh-CN" dirty="0"/>
          </a:p>
          <a:p>
            <a:r>
              <a:rPr lang="en-US" altLang="zh-CN" dirty="0"/>
              <a:t>    </a:t>
            </a:r>
            <a:r>
              <a:rPr lang="en-US" altLang="zh-CN" dirty="0" err="1"/>
              <a:t>fuselage.lengths.total</a:t>
            </a:r>
            <a:r>
              <a:rPr lang="en-US" altLang="zh-CN" dirty="0"/>
              <a:t>         = 38.02 * </a:t>
            </a:r>
            <a:r>
              <a:rPr lang="en-US" altLang="zh-CN" dirty="0" err="1"/>
              <a:t>Units.meter</a:t>
            </a:r>
            <a:endParaRPr lang="en-US" altLang="zh-CN" dirty="0"/>
          </a:p>
          <a:p>
            <a:r>
              <a:rPr lang="en-US" altLang="zh-CN" dirty="0"/>
              <a:t>    </a:t>
            </a:r>
            <a:r>
              <a:rPr lang="en-US" altLang="zh-CN" dirty="0" err="1"/>
              <a:t>fuselage.lengths.fore_space</a:t>
            </a:r>
            <a:r>
              <a:rPr lang="en-US" altLang="zh-CN" dirty="0"/>
              <a:t>    = 6.    * </a:t>
            </a:r>
            <a:r>
              <a:rPr lang="en-US" altLang="zh-CN" dirty="0" err="1"/>
              <a:t>Units.meter</a:t>
            </a:r>
            <a:endParaRPr lang="en-US" altLang="zh-CN" dirty="0"/>
          </a:p>
          <a:p>
            <a:r>
              <a:rPr lang="en-US" altLang="zh-CN" dirty="0"/>
              <a:t>    </a:t>
            </a:r>
            <a:r>
              <a:rPr lang="en-US" altLang="zh-CN" dirty="0" err="1"/>
              <a:t>fuselage.lengths.aft_space</a:t>
            </a:r>
            <a:r>
              <a:rPr lang="en-US" altLang="zh-CN" dirty="0"/>
              <a:t>     = 5.    * </a:t>
            </a:r>
            <a:r>
              <a:rPr lang="en-US" altLang="zh-CN" dirty="0" err="1"/>
              <a:t>Units.meter</a:t>
            </a:r>
            <a:endParaRPr lang="en-US" altLang="zh-CN" dirty="0"/>
          </a:p>
          <a:p>
            <a:r>
              <a:rPr lang="en-US" altLang="zh-CN" dirty="0"/>
              <a:t>    </a:t>
            </a:r>
            <a:r>
              <a:rPr lang="en-US" altLang="zh-CN" dirty="0" err="1"/>
              <a:t>fuselage.width</a:t>
            </a:r>
            <a:r>
              <a:rPr lang="en-US" altLang="zh-CN" dirty="0"/>
              <a:t>                 = 3.74  * </a:t>
            </a:r>
            <a:r>
              <a:rPr lang="en-US" altLang="zh-CN" dirty="0" err="1"/>
              <a:t>Units.meter</a:t>
            </a:r>
            <a:endParaRPr lang="en-US" altLang="zh-CN" dirty="0"/>
          </a:p>
          <a:p>
            <a:r>
              <a:rPr lang="en-US" altLang="zh-CN" dirty="0"/>
              <a:t>    </a:t>
            </a:r>
            <a:r>
              <a:rPr lang="en-US" altLang="zh-CN" dirty="0" err="1"/>
              <a:t>fuselage.heights.maximum</a:t>
            </a:r>
            <a:r>
              <a:rPr lang="en-US" altLang="zh-CN" dirty="0"/>
              <a:t>       = 3.74  * </a:t>
            </a:r>
            <a:r>
              <a:rPr lang="en-US" altLang="zh-CN" dirty="0" err="1"/>
              <a:t>Units.meter</a:t>
            </a:r>
            <a:endParaRPr lang="en-US" altLang="zh-CN" dirty="0"/>
          </a:p>
          <a:p>
            <a:r>
              <a:rPr lang="en-US" altLang="zh-CN" dirty="0"/>
              <a:t>    </a:t>
            </a:r>
            <a:r>
              <a:rPr lang="en-US" altLang="zh-CN" dirty="0" err="1"/>
              <a:t>fuselage.effective_diameter</a:t>
            </a:r>
            <a:r>
              <a:rPr lang="en-US" altLang="zh-CN" dirty="0"/>
              <a:t>    = 3.74     * </a:t>
            </a:r>
            <a:r>
              <a:rPr lang="en-US" altLang="zh-CN" dirty="0" err="1"/>
              <a:t>Units.meter</a:t>
            </a:r>
            <a:endParaRPr lang="en-US" altLang="zh-CN" dirty="0"/>
          </a:p>
          <a:p>
            <a:r>
              <a:rPr lang="en-US" altLang="zh-CN" dirty="0"/>
              <a:t>    </a:t>
            </a:r>
            <a:r>
              <a:rPr lang="en-US" altLang="zh-CN" dirty="0" err="1"/>
              <a:t>fuselage.areas.side_projected</a:t>
            </a:r>
            <a:r>
              <a:rPr lang="en-US" altLang="zh-CN" dirty="0"/>
              <a:t>  = 142.1948 * Units['meters**2'] </a:t>
            </a:r>
          </a:p>
          <a:p>
            <a:r>
              <a:rPr lang="en-US" altLang="zh-CN" dirty="0"/>
              <a:t>    </a:t>
            </a:r>
            <a:r>
              <a:rPr lang="en-US" altLang="zh-CN" dirty="0" err="1"/>
              <a:t>fuselage.areas.wetted</a:t>
            </a:r>
            <a:r>
              <a:rPr lang="en-US" altLang="zh-CN" dirty="0"/>
              <a:t>          = 446.718  * Units['meters**2'] </a:t>
            </a:r>
          </a:p>
          <a:p>
            <a:r>
              <a:rPr lang="en-US" altLang="zh-CN" dirty="0"/>
              <a:t>    </a:t>
            </a:r>
            <a:r>
              <a:rPr lang="en-US" altLang="zh-CN" dirty="0" err="1"/>
              <a:t>fuselage.areas.front_projected</a:t>
            </a:r>
            <a:r>
              <a:rPr lang="en-US" altLang="zh-CN" dirty="0"/>
              <a:t> = 12.57    * Units['meters**2'] </a:t>
            </a:r>
            <a:br>
              <a:rPr lang="en-US" altLang="zh-CN" dirty="0"/>
            </a:br>
            <a:endParaRPr lang="en-US" altLang="zh-CN" dirty="0"/>
          </a:p>
          <a:p>
            <a:r>
              <a:rPr lang="en-US" altLang="zh-CN" dirty="0"/>
              <a:t>    </a:t>
            </a:r>
            <a:r>
              <a:rPr lang="en-US" altLang="zh-CN" dirty="0" err="1"/>
              <a:t>fuselage.differential_pressure</a:t>
            </a:r>
            <a:r>
              <a:rPr lang="en-US" altLang="zh-CN" dirty="0"/>
              <a:t> = 5.0e4 * </a:t>
            </a:r>
            <a:r>
              <a:rPr lang="en-US" altLang="zh-CN" dirty="0" err="1"/>
              <a:t>Units.pascal</a:t>
            </a:r>
            <a:endParaRPr lang="en-US" altLang="zh-CN" dirty="0"/>
          </a:p>
          <a:p>
            <a:r>
              <a:rPr lang="en-US" altLang="zh-CN" dirty="0"/>
              <a:t>    </a:t>
            </a:r>
          </a:p>
          <a:p>
            <a:r>
              <a:rPr lang="en-US" altLang="zh-CN" dirty="0"/>
              <a:t>    </a:t>
            </a:r>
            <a:r>
              <a:rPr lang="en-US" altLang="zh-CN" dirty="0" err="1"/>
              <a:t>vehicle.append_component</a:t>
            </a:r>
            <a:r>
              <a:rPr lang="en-US" altLang="zh-CN" dirty="0"/>
              <a:t>(fuselage)</a:t>
            </a:r>
          </a:p>
        </p:txBody>
      </p:sp>
      <p:sp>
        <p:nvSpPr>
          <p:cNvPr id="5" name="标题 1">
            <a:extLst>
              <a:ext uri="{FF2B5EF4-FFF2-40B4-BE49-F238E27FC236}">
                <a16:creationId xmlns:a16="http://schemas.microsoft.com/office/drawing/2014/main" id="{A2D14E50-5B0F-4895-8CB5-442814C0A477}"/>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Tree>
    <p:extLst>
      <p:ext uri="{BB962C8B-B14F-4D97-AF65-F5344CB8AC3E}">
        <p14:creationId xmlns:p14="http://schemas.microsoft.com/office/powerpoint/2010/main" val="3433379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4A34-5AAF-606E-A05F-03AAD1535D6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35DBD64-8C84-AAFE-0702-3FBF22C7ED60}"/>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Nacelle</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5" name="文本框 4">
            <a:extLst>
              <a:ext uri="{FF2B5EF4-FFF2-40B4-BE49-F238E27FC236}">
                <a16:creationId xmlns:a16="http://schemas.microsoft.com/office/drawing/2014/main" id="{30569CAD-691F-C8F6-4351-22FD5403D288}"/>
              </a:ext>
            </a:extLst>
          </p:cNvPr>
          <p:cNvSpPr txBox="1"/>
          <p:nvPr/>
        </p:nvSpPr>
        <p:spPr>
          <a:xfrm>
            <a:off x="3398274" y="960840"/>
            <a:ext cx="8793726" cy="5078313"/>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    nacelle  = </a:t>
            </a:r>
            <a:r>
              <a:rPr lang="en-US" altLang="zh-CN" b="0" dirty="0" err="1">
                <a:solidFill>
                  <a:srgbClr val="002060"/>
                </a:solidFill>
                <a:effectLst/>
                <a:latin typeface="Consolas" panose="020B0609020204030204" pitchFamily="49" charset="0"/>
              </a:rPr>
              <a:t>SUAVE.Components.Nacelles.Nacelle</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nacelle.tag</a:t>
            </a:r>
            <a:r>
              <a:rPr lang="en-US" altLang="zh-CN" b="0" dirty="0">
                <a:solidFill>
                  <a:srgbClr val="002060"/>
                </a:solidFill>
                <a:effectLst/>
                <a:latin typeface="Consolas" panose="020B0609020204030204" pitchFamily="49" charset="0"/>
              </a:rPr>
              <a:t>                   = 'nacelle_1'</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nacelle.length</a:t>
            </a:r>
            <a:r>
              <a:rPr lang="en-US" altLang="zh-CN" b="0" dirty="0">
                <a:solidFill>
                  <a:srgbClr val="002060"/>
                </a:solidFill>
                <a:effectLst/>
                <a:latin typeface="Consolas" panose="020B0609020204030204" pitchFamily="49" charset="0"/>
              </a:rPr>
              <a:t>                = 2.71</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nacelle.inlet_diameter</a:t>
            </a:r>
            <a:r>
              <a:rPr lang="en-US" altLang="zh-CN" b="0" dirty="0">
                <a:solidFill>
                  <a:srgbClr val="002060"/>
                </a:solidFill>
                <a:effectLst/>
                <a:latin typeface="Consolas" panose="020B0609020204030204" pitchFamily="49" charset="0"/>
              </a:rPr>
              <a:t>        = 1.90</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nacelle.diameter</a:t>
            </a:r>
            <a:r>
              <a:rPr lang="en-US" altLang="zh-CN" b="0" dirty="0">
                <a:solidFill>
                  <a:srgbClr val="002060"/>
                </a:solidFill>
                <a:effectLst/>
                <a:latin typeface="Consolas" panose="020B0609020204030204" pitchFamily="49" charset="0"/>
              </a:rPr>
              <a:t>              = 2.05</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nacelle.areas.wetted</a:t>
            </a:r>
            <a:r>
              <a:rPr lang="en-US" altLang="zh-CN" b="0" dirty="0">
                <a:solidFill>
                  <a:srgbClr val="002060"/>
                </a:solidFill>
                <a:effectLst/>
                <a:latin typeface="Consolas" panose="020B0609020204030204" pitchFamily="49" charset="0"/>
              </a:rPr>
              <a:t> = 1.1*</a:t>
            </a:r>
            <a:r>
              <a:rPr lang="en-US" altLang="zh-CN" b="0" dirty="0" err="1">
                <a:solidFill>
                  <a:srgbClr val="002060"/>
                </a:solidFill>
                <a:effectLst/>
                <a:latin typeface="Consolas" panose="020B0609020204030204" pitchFamily="49" charset="0"/>
              </a:rPr>
              <a:t>np.pi</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nacelle.diameter</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nacelle.length</a:t>
            </a: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nacelle.origin</a:t>
            </a:r>
            <a:r>
              <a:rPr lang="en-US" altLang="zh-CN" b="0" dirty="0">
                <a:solidFill>
                  <a:srgbClr val="002060"/>
                </a:solidFill>
                <a:effectLst/>
                <a:latin typeface="Consolas" panose="020B0609020204030204" pitchFamily="49" charset="0"/>
              </a:rPr>
              <a:t>                = [[13.72, -4.86,-1.9]]</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nacelle.flow_through</a:t>
            </a:r>
            <a:r>
              <a:rPr lang="en-US" altLang="zh-CN" b="0" dirty="0">
                <a:solidFill>
                  <a:srgbClr val="002060"/>
                </a:solidFill>
                <a:effectLst/>
                <a:latin typeface="Consolas" panose="020B0609020204030204" pitchFamily="49" charset="0"/>
              </a:rPr>
              <a:t>          = True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nacelle_airfoil</a:t>
            </a:r>
            <a:r>
              <a:rPr lang="en-US" altLang="zh-CN" b="0" dirty="0">
                <a:solidFill>
                  <a:srgbClr val="002060"/>
                </a:solidFill>
                <a:effectLst/>
                <a:latin typeface="Consolas" panose="020B0609020204030204" pitchFamily="49" charset="0"/>
              </a:rPr>
              <a:t> = </a:t>
            </a:r>
            <a:r>
              <a:rPr lang="en-US" altLang="zh-CN" b="0" dirty="0" err="1">
                <a:solidFill>
                  <a:srgbClr val="002060"/>
                </a:solidFill>
                <a:effectLst/>
                <a:latin typeface="Consolas" panose="020B0609020204030204" pitchFamily="49" charset="0"/>
              </a:rPr>
              <a:t>SUAVE.Components.Airfoils.Airfoil</a:t>
            </a: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nacelle_airfoil.naca_4_series_airfoil = '2410'</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nacelle.append_airfoil</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nacelle_airfoil</a:t>
            </a:r>
            <a:r>
              <a:rPr lang="en-US" altLang="zh-CN" b="0" dirty="0">
                <a:solidFill>
                  <a:srgbClr val="002060"/>
                </a:solidFill>
                <a:effectLst/>
                <a:latin typeface="Consolas" panose="020B0609020204030204" pitchFamily="49" charset="0"/>
              </a:rPr>
              <a:t>)</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nacelle_2                     = </a:t>
            </a:r>
            <a:r>
              <a:rPr lang="en-US" altLang="zh-CN" b="0" dirty="0" err="1">
                <a:solidFill>
                  <a:srgbClr val="002060"/>
                </a:solidFill>
                <a:effectLst/>
                <a:latin typeface="Consolas" panose="020B0609020204030204" pitchFamily="49" charset="0"/>
              </a:rPr>
              <a:t>deepcopy</a:t>
            </a:r>
            <a:r>
              <a:rPr lang="en-US" altLang="zh-CN" b="0" dirty="0">
                <a:solidFill>
                  <a:srgbClr val="002060"/>
                </a:solidFill>
                <a:effectLst/>
                <a:latin typeface="Consolas" panose="020B0609020204030204" pitchFamily="49" charset="0"/>
              </a:rPr>
              <a:t>(nacelle)</a:t>
            </a:r>
          </a:p>
          <a:p>
            <a:pPr>
              <a:buNone/>
            </a:pPr>
            <a:r>
              <a:rPr lang="en-US" altLang="zh-CN" b="0" dirty="0">
                <a:solidFill>
                  <a:srgbClr val="002060"/>
                </a:solidFill>
                <a:effectLst/>
                <a:latin typeface="Consolas" panose="020B0609020204030204" pitchFamily="49" charset="0"/>
              </a:rPr>
              <a:t>    nacelle_2.tag                 = 'nacelle_2'</a:t>
            </a:r>
          </a:p>
          <a:p>
            <a:pPr>
              <a:buNone/>
            </a:pPr>
            <a:r>
              <a:rPr lang="en-US" altLang="zh-CN" b="0" dirty="0">
                <a:solidFill>
                  <a:srgbClr val="002060"/>
                </a:solidFill>
                <a:effectLst/>
                <a:latin typeface="Consolas" panose="020B0609020204030204" pitchFamily="49" charset="0"/>
              </a:rPr>
              <a:t>    nacelle_2.origin              = [[13.72, 4.86,-1.9]]</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vehicle.append_component</a:t>
            </a:r>
            <a:r>
              <a:rPr lang="en-US" altLang="zh-CN" b="0" dirty="0">
                <a:solidFill>
                  <a:srgbClr val="002060"/>
                </a:solidFill>
                <a:effectLst/>
                <a:latin typeface="Consolas" panose="020B0609020204030204" pitchFamily="49" charset="0"/>
              </a:rPr>
              <a:t>(nacelle)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vehicle.append_component</a:t>
            </a:r>
            <a:r>
              <a:rPr lang="en-US" altLang="zh-CN" b="0" dirty="0">
                <a:solidFill>
                  <a:srgbClr val="002060"/>
                </a:solidFill>
                <a:effectLst/>
                <a:latin typeface="Consolas" panose="020B0609020204030204" pitchFamily="49" charset="0"/>
              </a:rPr>
              <a:t>(nacelle_2)     </a:t>
            </a:r>
          </a:p>
        </p:txBody>
      </p:sp>
      <p:pic>
        <p:nvPicPr>
          <p:cNvPr id="6" name="图片 5">
            <a:extLst>
              <a:ext uri="{FF2B5EF4-FFF2-40B4-BE49-F238E27FC236}">
                <a16:creationId xmlns:a16="http://schemas.microsoft.com/office/drawing/2014/main" id="{E217C5E0-F2FD-63F2-1F46-5D1851DFD4EC}"/>
              </a:ext>
            </a:extLst>
          </p:cNvPr>
          <p:cNvPicPr>
            <a:picLocks noChangeAspect="1"/>
          </p:cNvPicPr>
          <p:nvPr/>
        </p:nvPicPr>
        <p:blipFill>
          <a:blip r:embed="rId2"/>
          <a:stretch>
            <a:fillRect/>
          </a:stretch>
        </p:blipFill>
        <p:spPr>
          <a:xfrm>
            <a:off x="0" y="1620000"/>
            <a:ext cx="3901288" cy="2590009"/>
          </a:xfrm>
          <a:prstGeom prst="rect">
            <a:avLst/>
          </a:prstGeom>
        </p:spPr>
      </p:pic>
      <p:sp>
        <p:nvSpPr>
          <p:cNvPr id="4" name="标题 1">
            <a:extLst>
              <a:ext uri="{FF2B5EF4-FFF2-40B4-BE49-F238E27FC236}">
                <a16:creationId xmlns:a16="http://schemas.microsoft.com/office/drawing/2014/main" id="{C7483B07-3882-0E15-7241-E5340207514F}"/>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Tree>
    <p:extLst>
      <p:ext uri="{BB962C8B-B14F-4D97-AF65-F5344CB8AC3E}">
        <p14:creationId xmlns:p14="http://schemas.microsoft.com/office/powerpoint/2010/main" val="3162887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8499A-766C-3CF7-4C25-99484B8B85CB}"/>
            </a:ext>
          </a:extLst>
        </p:cNvPr>
        <p:cNvGrpSpPr/>
        <p:nvPr/>
      </p:nvGrpSpPr>
      <p:grpSpPr>
        <a:xfrm>
          <a:off x="0" y="0"/>
          <a:ext cx="0" cy="0"/>
          <a:chOff x="0" y="0"/>
          <a:chExt cx="0" cy="0"/>
        </a:xfrm>
      </p:grpSpPr>
      <p:sp>
        <p:nvSpPr>
          <p:cNvPr id="16" name="矩形: 圆角 15">
            <a:extLst>
              <a:ext uri="{FF2B5EF4-FFF2-40B4-BE49-F238E27FC236}">
                <a16:creationId xmlns:a16="http://schemas.microsoft.com/office/drawing/2014/main" id="{0BF163F0-43AE-4D5A-B5F8-9846C8A55AAD}"/>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3F1E08B2-4436-7DBB-5AD8-511B606C9DF2}"/>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F382DEE1-5821-4BD7-499E-F9DCA2AD50E5}"/>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23D82785-7D12-196E-5C80-81F4123F0EEF}"/>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35FD8F9A-4EFA-B43E-0F53-6E71409E2C7C}"/>
              </a:ext>
            </a:extLst>
          </p:cNvPr>
          <p:cNvSpPr txBox="1"/>
          <p:nvPr/>
        </p:nvSpPr>
        <p:spPr>
          <a:xfrm>
            <a:off x="4320000" y="1201359"/>
            <a:ext cx="7787857" cy="2585323"/>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turbofan = </a:t>
            </a:r>
            <a:r>
              <a:rPr lang="en-US" altLang="zh-CN" dirty="0" err="1"/>
              <a:t>SUAVE.Components.Energy.Networks.Turbofan</a:t>
            </a:r>
            <a:r>
              <a:rPr lang="en-US" altLang="zh-CN" dirty="0"/>
              <a:t>()</a:t>
            </a:r>
          </a:p>
          <a:p>
            <a:r>
              <a:rPr lang="en-US" altLang="zh-CN" dirty="0" err="1"/>
              <a:t>turbofan.tag</a:t>
            </a:r>
            <a:r>
              <a:rPr lang="en-US" altLang="zh-CN" dirty="0"/>
              <a:t> = 'turbofan'</a:t>
            </a:r>
          </a:p>
          <a:p>
            <a:r>
              <a:rPr lang="en-US" altLang="zh-CN" dirty="0"/>
              <a:t>    </a:t>
            </a:r>
          </a:p>
          <a:p>
            <a:r>
              <a:rPr lang="en-US" altLang="zh-CN" dirty="0" err="1"/>
              <a:t>turbofan.number_of_engines</a:t>
            </a:r>
            <a:r>
              <a:rPr lang="en-US" altLang="zh-CN" dirty="0"/>
              <a:t> = 2</a:t>
            </a:r>
          </a:p>
          <a:p>
            <a:r>
              <a:rPr lang="en-US" altLang="zh-CN" dirty="0" err="1"/>
              <a:t>turbofan.bypass_ratio</a:t>
            </a:r>
            <a:r>
              <a:rPr lang="en-US" altLang="zh-CN" dirty="0"/>
              <a:t>      = 5.4</a:t>
            </a:r>
          </a:p>
          <a:p>
            <a:r>
              <a:rPr lang="en-US" altLang="zh-CN" dirty="0" err="1"/>
              <a:t>turbofan.origin</a:t>
            </a:r>
            <a:r>
              <a:rPr lang="en-US" altLang="zh-CN" dirty="0"/>
              <a:t>            = </a:t>
            </a:r>
          </a:p>
          <a:p>
            <a:r>
              <a:rPr lang="en-US" altLang="zh-CN" dirty="0"/>
              <a:t>      [[13.72, 4.86,-1.9],[13.72, -4.86,-1.9]] * </a:t>
            </a:r>
            <a:r>
              <a:rPr lang="en-US" altLang="zh-CN" dirty="0" err="1"/>
              <a:t>Units.meter</a:t>
            </a:r>
            <a:br>
              <a:rPr lang="en-US" altLang="zh-CN" dirty="0"/>
            </a:br>
            <a:endParaRPr lang="en-US" altLang="zh-CN" dirty="0"/>
          </a:p>
          <a:p>
            <a:r>
              <a:rPr lang="en-US" altLang="zh-CN" dirty="0" err="1"/>
              <a:t>turbofan.working_fluid</a:t>
            </a:r>
            <a:r>
              <a:rPr lang="en-US" altLang="zh-CN" dirty="0"/>
              <a:t> = </a:t>
            </a:r>
            <a:r>
              <a:rPr lang="en-US" altLang="zh-CN" dirty="0" err="1"/>
              <a:t>SUAVE.Attributes.Gases.Air</a:t>
            </a:r>
            <a:r>
              <a:rPr lang="en-US" altLang="zh-CN" dirty="0"/>
              <a:t>()</a:t>
            </a:r>
          </a:p>
        </p:txBody>
      </p:sp>
      <p:sp>
        <p:nvSpPr>
          <p:cNvPr id="15" name="文本框 14">
            <a:extLst>
              <a:ext uri="{FF2B5EF4-FFF2-40B4-BE49-F238E27FC236}">
                <a16:creationId xmlns:a16="http://schemas.microsoft.com/office/drawing/2014/main" id="{45C0D591-E25C-04F7-1093-A7091A2C00C7}"/>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5456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2CB46-B4F6-8294-918F-7A22F2E3F70D}"/>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88FDFAC5-AA1E-8B57-0925-3C7AD449C72D}"/>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D7C9664D-2AAB-04E9-A847-199946E0BA53}"/>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AEB47EB4-7CA2-41E9-233A-82DCA3BD317B}"/>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E3A06A42-46CF-8F92-F18D-2BB5468B8510}"/>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B6F75028-EF82-3567-8F7E-16E10C316A34}"/>
              </a:ext>
            </a:extLst>
          </p:cNvPr>
          <p:cNvSpPr txBox="1"/>
          <p:nvPr/>
        </p:nvSpPr>
        <p:spPr>
          <a:xfrm>
            <a:off x="4320000" y="794708"/>
            <a:ext cx="7656842" cy="3970318"/>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ram = </a:t>
            </a:r>
            <a:r>
              <a:rPr lang="en-US" altLang="zh-CN" dirty="0" err="1"/>
              <a:t>SUAVE.Components.Energy.Converters.Ram</a:t>
            </a:r>
            <a:r>
              <a:rPr lang="en-US" altLang="zh-CN" dirty="0"/>
              <a:t>()</a:t>
            </a:r>
          </a:p>
          <a:p>
            <a:r>
              <a:rPr lang="en-US" altLang="zh-CN" dirty="0" err="1"/>
              <a:t>ram.tag</a:t>
            </a:r>
            <a:r>
              <a:rPr lang="en-US" altLang="zh-CN" dirty="0"/>
              <a:t> = 'ram'</a:t>
            </a:r>
          </a:p>
          <a:p>
            <a:endParaRPr lang="en-US" altLang="zh-CN" dirty="0"/>
          </a:p>
          <a:p>
            <a:r>
              <a:rPr lang="en-US" altLang="zh-CN" dirty="0" err="1"/>
              <a:t>turbofan.append</a:t>
            </a:r>
            <a:r>
              <a:rPr lang="en-US" altLang="zh-CN" dirty="0"/>
              <a:t>(ram)</a:t>
            </a:r>
          </a:p>
          <a:p>
            <a:endParaRPr lang="en-US" altLang="zh-CN" dirty="0"/>
          </a:p>
          <a:p>
            <a:endParaRPr lang="en-US" altLang="zh-CN" dirty="0"/>
          </a:p>
          <a:p>
            <a:r>
              <a:rPr lang="en-US" altLang="zh-CN" dirty="0" err="1"/>
              <a:t>inlet_nozzle</a:t>
            </a:r>
            <a:r>
              <a:rPr lang="en-US" altLang="zh-CN" dirty="0"/>
              <a:t> =           </a:t>
            </a:r>
          </a:p>
          <a:p>
            <a:r>
              <a:rPr lang="en-US" altLang="zh-CN" dirty="0"/>
              <a:t>    </a:t>
            </a:r>
            <a:r>
              <a:rPr lang="en-US" altLang="zh-CN" dirty="0" err="1"/>
              <a:t>SUAVE.Components.Energy.Converters.Compression_Nozzle</a:t>
            </a:r>
            <a:r>
              <a:rPr lang="en-US" altLang="zh-CN" dirty="0"/>
              <a:t>()</a:t>
            </a:r>
          </a:p>
          <a:p>
            <a:r>
              <a:rPr lang="en-US" altLang="zh-CN" dirty="0" err="1"/>
              <a:t>inlet_nozzle.tag</a:t>
            </a:r>
            <a:r>
              <a:rPr lang="en-US" altLang="zh-CN" dirty="0"/>
              <a:t> = '</a:t>
            </a:r>
            <a:r>
              <a:rPr lang="en-US" altLang="zh-CN" dirty="0" err="1"/>
              <a:t>inlet_nozzle</a:t>
            </a:r>
            <a:r>
              <a:rPr lang="en-US" altLang="zh-CN" dirty="0"/>
              <a:t>'</a:t>
            </a:r>
          </a:p>
          <a:p>
            <a:endParaRPr lang="en-US" altLang="zh-CN" dirty="0"/>
          </a:p>
          <a:p>
            <a:r>
              <a:rPr lang="en-US" altLang="zh-CN" dirty="0" err="1"/>
              <a:t>inlet_nozzle.polytropic_efficiency</a:t>
            </a:r>
            <a:r>
              <a:rPr lang="en-US" altLang="zh-CN" dirty="0"/>
              <a:t> = 0.98</a:t>
            </a:r>
          </a:p>
          <a:p>
            <a:r>
              <a:rPr lang="en-US" altLang="zh-CN" dirty="0" err="1"/>
              <a:t>inlet_nozzle.pressure_ratio</a:t>
            </a:r>
            <a:r>
              <a:rPr lang="en-US" altLang="zh-CN" dirty="0"/>
              <a:t>        = 0.98</a:t>
            </a:r>
          </a:p>
          <a:p>
            <a:endParaRPr lang="en-US" altLang="zh-CN" dirty="0"/>
          </a:p>
          <a:p>
            <a:r>
              <a:rPr lang="en-US" altLang="zh-CN" dirty="0" err="1"/>
              <a:t>turbofan.append</a:t>
            </a:r>
            <a:r>
              <a:rPr lang="en-US" altLang="zh-CN" dirty="0"/>
              <a:t>(</a:t>
            </a:r>
            <a:r>
              <a:rPr lang="en-US" altLang="zh-CN" dirty="0" err="1"/>
              <a:t>inlet_nozzle</a:t>
            </a:r>
            <a:r>
              <a:rPr lang="en-US" altLang="zh-CN" dirty="0"/>
              <a:t>)</a:t>
            </a:r>
          </a:p>
        </p:txBody>
      </p:sp>
      <p:sp>
        <p:nvSpPr>
          <p:cNvPr id="8" name="文本框 7">
            <a:extLst>
              <a:ext uri="{FF2B5EF4-FFF2-40B4-BE49-F238E27FC236}">
                <a16:creationId xmlns:a16="http://schemas.microsoft.com/office/drawing/2014/main" id="{719458CC-5C60-3401-2D96-FDD16BE2323E}"/>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Ram  </a:t>
            </a:r>
            <a:r>
              <a:rPr lang="zh-CN" altLang="en-US" sz="2000" dirty="0">
                <a:solidFill>
                  <a:srgbClr val="C00000"/>
                </a:solidFill>
              </a:rPr>
              <a:t>➡️</a:t>
            </a:r>
            <a:r>
              <a:rPr lang="en-US" altLang="zh-CN" sz="2000" b="1" dirty="0">
                <a:solidFill>
                  <a:srgbClr val="C0000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0752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08F55-1754-C3B3-034C-5B8BD43C14B9}"/>
            </a:ext>
          </a:extLst>
        </p:cNvPr>
        <p:cNvGrpSpPr/>
        <p:nvPr/>
      </p:nvGrpSpPr>
      <p:grpSpPr>
        <a:xfrm>
          <a:off x="0" y="0"/>
          <a:ext cx="0" cy="0"/>
          <a:chOff x="0" y="0"/>
          <a:chExt cx="0" cy="0"/>
        </a:xfrm>
      </p:grpSpPr>
      <p:sp>
        <p:nvSpPr>
          <p:cNvPr id="7" name="矩形: 圆角 6">
            <a:extLst>
              <a:ext uri="{FF2B5EF4-FFF2-40B4-BE49-F238E27FC236}">
                <a16:creationId xmlns:a16="http://schemas.microsoft.com/office/drawing/2014/main" id="{99D911B5-570A-4DC1-5527-B3920C28EE5A}"/>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C9400B18-7923-E8D8-3B50-26FCFCCB79BC}"/>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AEB8C0AB-7375-562A-9881-94FEAEA5ADC9}"/>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6B26E973-2AF4-E0F4-63C8-56290DAEE019}"/>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14541B00-EF21-EBA8-9317-8D9C316A4152}"/>
              </a:ext>
            </a:extLst>
          </p:cNvPr>
          <p:cNvSpPr txBox="1"/>
          <p:nvPr/>
        </p:nvSpPr>
        <p:spPr>
          <a:xfrm>
            <a:off x="4320000" y="794708"/>
            <a:ext cx="7376700" cy="3416320"/>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fan = </a:t>
            </a:r>
            <a:r>
              <a:rPr lang="en-US" altLang="zh-CN" dirty="0" err="1"/>
              <a:t>SUAVE.Components.Energy.Converters.Fan</a:t>
            </a:r>
            <a:r>
              <a:rPr lang="en-US" altLang="zh-CN" dirty="0"/>
              <a:t>()   </a:t>
            </a:r>
          </a:p>
          <a:p>
            <a:r>
              <a:rPr lang="en-US" altLang="zh-CN" dirty="0" err="1"/>
              <a:t>fan.tag</a:t>
            </a:r>
            <a:r>
              <a:rPr lang="en-US" altLang="zh-CN" dirty="0"/>
              <a:t> = 'fan'</a:t>
            </a:r>
          </a:p>
          <a:p>
            <a:r>
              <a:rPr lang="en-US" altLang="zh-CN" dirty="0" err="1"/>
              <a:t>fan.polytropic_efficiency</a:t>
            </a:r>
            <a:r>
              <a:rPr lang="en-US" altLang="zh-CN" dirty="0"/>
              <a:t> = 0.93</a:t>
            </a:r>
          </a:p>
          <a:p>
            <a:r>
              <a:rPr lang="en-US" altLang="zh-CN" dirty="0" err="1"/>
              <a:t>fan.pressure_ratio</a:t>
            </a:r>
            <a:r>
              <a:rPr lang="en-US" altLang="zh-CN" dirty="0"/>
              <a:t>        = 1.7    </a:t>
            </a:r>
          </a:p>
          <a:p>
            <a:r>
              <a:rPr lang="en-US" altLang="zh-CN" dirty="0" err="1"/>
              <a:t>turbofan.append</a:t>
            </a:r>
            <a:r>
              <a:rPr lang="en-US" altLang="zh-CN" dirty="0"/>
              <a:t>(fan)</a:t>
            </a:r>
          </a:p>
          <a:p>
            <a:endParaRPr lang="en-US" altLang="zh-CN" dirty="0"/>
          </a:p>
          <a:p>
            <a:r>
              <a:rPr lang="en-US" altLang="zh-CN" dirty="0"/>
              <a:t>compressor =</a:t>
            </a:r>
          </a:p>
          <a:p>
            <a:r>
              <a:rPr lang="en-US" altLang="zh-CN" dirty="0"/>
              <a:t>      </a:t>
            </a:r>
            <a:r>
              <a:rPr lang="en-US" altLang="zh-CN" dirty="0" err="1"/>
              <a:t>SUAVE.Components.Energy.Converters.Compressor</a:t>
            </a:r>
            <a:r>
              <a:rPr lang="en-US" altLang="zh-CN" dirty="0"/>
              <a:t>()    </a:t>
            </a:r>
          </a:p>
          <a:p>
            <a:r>
              <a:rPr lang="en-US" altLang="zh-CN" dirty="0" err="1"/>
              <a:t>compressor.tag</a:t>
            </a:r>
            <a:r>
              <a:rPr lang="en-US" altLang="zh-CN" dirty="0"/>
              <a:t> = '</a:t>
            </a:r>
            <a:r>
              <a:rPr lang="en-US" altLang="zh-CN" dirty="0" err="1"/>
              <a:t>low_pressure_compressor</a:t>
            </a:r>
            <a:r>
              <a:rPr lang="en-US" altLang="zh-CN" dirty="0"/>
              <a:t>'</a:t>
            </a:r>
          </a:p>
          <a:p>
            <a:r>
              <a:rPr lang="en-US" altLang="zh-CN" dirty="0" err="1"/>
              <a:t>compressor.polytropic_efficiency</a:t>
            </a:r>
            <a:r>
              <a:rPr lang="en-US" altLang="zh-CN" dirty="0"/>
              <a:t> = 0.91</a:t>
            </a:r>
          </a:p>
          <a:p>
            <a:r>
              <a:rPr lang="en-US" altLang="zh-CN" dirty="0" err="1"/>
              <a:t>compressor.pressure_ratio</a:t>
            </a:r>
            <a:r>
              <a:rPr lang="en-US" altLang="zh-CN" dirty="0"/>
              <a:t>        = 1.14   </a:t>
            </a:r>
          </a:p>
          <a:p>
            <a:r>
              <a:rPr lang="en-US" altLang="zh-CN" dirty="0" err="1"/>
              <a:t>turbofan.append</a:t>
            </a:r>
            <a:r>
              <a:rPr lang="en-US" altLang="zh-CN" dirty="0"/>
              <a:t>(compressor)</a:t>
            </a:r>
          </a:p>
        </p:txBody>
      </p:sp>
      <p:sp>
        <p:nvSpPr>
          <p:cNvPr id="6" name="文本框 5">
            <a:extLst>
              <a:ext uri="{FF2B5EF4-FFF2-40B4-BE49-F238E27FC236}">
                <a16:creationId xmlns:a16="http://schemas.microsoft.com/office/drawing/2014/main" id="{48E5A833-7643-8F3C-DEEE-2F8F56FF9343}"/>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6937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99EAE-7EB1-7453-4B6D-58D12E2D483D}"/>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F1549FC8-41B8-A459-17A2-C5AC82340462}"/>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B06B9AF4-278D-A0D8-05ED-C33A31AC61DD}"/>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795C6D6E-EDF7-89F8-DC24-3C3F688B795D}"/>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A756F0E3-90E1-9F0F-5344-3F3397A4166D}"/>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C0E00D0E-E0FA-2C75-3054-27E41305BF9B}"/>
              </a:ext>
            </a:extLst>
          </p:cNvPr>
          <p:cNvSpPr txBox="1"/>
          <p:nvPr/>
        </p:nvSpPr>
        <p:spPr>
          <a:xfrm>
            <a:off x="4320000" y="794708"/>
            <a:ext cx="7376700" cy="2308324"/>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compressor =</a:t>
            </a:r>
          </a:p>
          <a:p>
            <a:r>
              <a:rPr lang="en-US" altLang="zh-CN" dirty="0"/>
              <a:t>      </a:t>
            </a:r>
            <a:r>
              <a:rPr lang="en-US" altLang="zh-CN" dirty="0" err="1"/>
              <a:t>SUAVE.Components.Energy.Converters.Compressor</a:t>
            </a:r>
            <a:r>
              <a:rPr lang="en-US" altLang="zh-CN" dirty="0"/>
              <a:t>()</a:t>
            </a:r>
          </a:p>
          <a:p>
            <a:r>
              <a:rPr lang="en-US" altLang="zh-CN" dirty="0" err="1"/>
              <a:t>compressor.tag</a:t>
            </a:r>
            <a:r>
              <a:rPr lang="en-US" altLang="zh-CN" dirty="0"/>
              <a:t> = '</a:t>
            </a:r>
            <a:r>
              <a:rPr lang="en-US" altLang="zh-CN" dirty="0" err="1"/>
              <a:t>high_pressure_compressor</a:t>
            </a:r>
            <a:r>
              <a:rPr lang="en-US" altLang="zh-CN" dirty="0"/>
              <a:t>'</a:t>
            </a:r>
          </a:p>
          <a:p>
            <a:endParaRPr lang="en-US" altLang="zh-CN" dirty="0"/>
          </a:p>
          <a:p>
            <a:r>
              <a:rPr lang="en-US" altLang="zh-CN" dirty="0" err="1"/>
              <a:t>compressor.polytropic_efficiency</a:t>
            </a:r>
            <a:r>
              <a:rPr lang="en-US" altLang="zh-CN" dirty="0"/>
              <a:t> = 0.91</a:t>
            </a:r>
          </a:p>
          <a:p>
            <a:r>
              <a:rPr lang="en-US" altLang="zh-CN" dirty="0" err="1"/>
              <a:t>compressor.pressure_ratio</a:t>
            </a:r>
            <a:r>
              <a:rPr lang="en-US" altLang="zh-CN" dirty="0"/>
              <a:t>        = 13.415 </a:t>
            </a:r>
          </a:p>
          <a:p>
            <a:endParaRPr lang="en-US" altLang="zh-CN" dirty="0"/>
          </a:p>
          <a:p>
            <a:r>
              <a:rPr lang="en-US" altLang="zh-CN" dirty="0" err="1"/>
              <a:t>turbofan.append</a:t>
            </a:r>
            <a:r>
              <a:rPr lang="en-US" altLang="zh-CN" dirty="0"/>
              <a:t>(compressor)</a:t>
            </a:r>
          </a:p>
        </p:txBody>
      </p:sp>
      <p:sp>
        <p:nvSpPr>
          <p:cNvPr id="2" name="文本框 1">
            <a:extLst>
              <a:ext uri="{FF2B5EF4-FFF2-40B4-BE49-F238E27FC236}">
                <a16:creationId xmlns:a16="http://schemas.microsoft.com/office/drawing/2014/main" id="{5BB1DB4D-10CB-8394-929E-3A55EB4B4791}"/>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C0000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5531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1942-5096-D62B-E04E-A5FEE5B01AFF}"/>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A9E445E2-A0D3-04CF-3180-FAADF351F7DC}"/>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65BE4B32-A7A7-65AC-A25A-052AD303A606}"/>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8A49B92D-D104-B802-4C2C-87A872A6D829}"/>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CA7357B4-6CC2-1EF0-8C4D-373A28AB1A23}"/>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F6C6D0EF-EE17-256C-3C01-B5D8D11B6EBB}"/>
              </a:ext>
            </a:extLst>
          </p:cNvPr>
          <p:cNvSpPr txBox="1"/>
          <p:nvPr/>
        </p:nvSpPr>
        <p:spPr>
          <a:xfrm>
            <a:off x="4320000" y="794708"/>
            <a:ext cx="7660114" cy="3416320"/>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combustor =</a:t>
            </a:r>
          </a:p>
          <a:p>
            <a:r>
              <a:rPr lang="en-US" altLang="zh-CN" dirty="0"/>
              <a:t>    </a:t>
            </a:r>
            <a:r>
              <a:rPr lang="en-US" altLang="zh-CN" dirty="0" err="1"/>
              <a:t>SUAVE.Components.Energy.Converters.Combustor</a:t>
            </a:r>
            <a:r>
              <a:rPr lang="en-US" altLang="zh-CN" dirty="0"/>
              <a:t>()   </a:t>
            </a:r>
          </a:p>
          <a:p>
            <a:r>
              <a:rPr lang="en-US" altLang="zh-CN" dirty="0" err="1"/>
              <a:t>combustor.tag</a:t>
            </a:r>
            <a:r>
              <a:rPr lang="en-US" altLang="zh-CN" dirty="0"/>
              <a:t> = 'combustor'</a:t>
            </a:r>
          </a:p>
          <a:p>
            <a:endParaRPr lang="en-US" altLang="zh-CN" dirty="0"/>
          </a:p>
          <a:p>
            <a:r>
              <a:rPr lang="en-US" altLang="zh-CN" dirty="0" err="1"/>
              <a:t>combustor.efficiency</a:t>
            </a:r>
            <a:r>
              <a:rPr lang="en-US" altLang="zh-CN" dirty="0"/>
              <a:t>                = 0.99 </a:t>
            </a:r>
          </a:p>
          <a:p>
            <a:r>
              <a:rPr lang="en-US" altLang="zh-CN" dirty="0" err="1"/>
              <a:t>combustor.alphac</a:t>
            </a:r>
            <a:r>
              <a:rPr lang="en-US" altLang="zh-CN" dirty="0"/>
              <a:t>                    = 1.0   </a:t>
            </a:r>
          </a:p>
          <a:p>
            <a:r>
              <a:rPr lang="en-US" altLang="zh-CN" dirty="0" err="1"/>
              <a:t>combustor.turbine_inlet_temperature</a:t>
            </a:r>
            <a:r>
              <a:rPr lang="en-US" altLang="zh-CN" dirty="0"/>
              <a:t> = 1450 # K</a:t>
            </a:r>
          </a:p>
          <a:p>
            <a:r>
              <a:rPr lang="en-US" altLang="zh-CN" dirty="0" err="1"/>
              <a:t>combustor.pressure_ratio</a:t>
            </a:r>
            <a:r>
              <a:rPr lang="en-US" altLang="zh-CN" dirty="0"/>
              <a:t>            = 0.95</a:t>
            </a:r>
          </a:p>
          <a:p>
            <a:r>
              <a:rPr lang="en-US" altLang="zh-CN" dirty="0" err="1"/>
              <a:t>combustor.fuel_data</a:t>
            </a:r>
            <a:r>
              <a:rPr lang="en-US" altLang="zh-CN" dirty="0"/>
              <a:t>                 =</a:t>
            </a:r>
          </a:p>
          <a:p>
            <a:r>
              <a:rPr lang="en-US" altLang="zh-CN" dirty="0"/>
              <a:t>              </a:t>
            </a:r>
            <a:r>
              <a:rPr lang="en-US" altLang="zh-CN" dirty="0" err="1">
                <a:solidFill>
                  <a:srgbClr val="C00000"/>
                </a:solidFill>
              </a:rPr>
              <a:t>SUAVE.Attributes.Propellants.Jet_A</a:t>
            </a:r>
            <a:r>
              <a:rPr lang="en-US" altLang="zh-CN" dirty="0">
                <a:solidFill>
                  <a:srgbClr val="C00000"/>
                </a:solidFill>
              </a:rPr>
              <a:t>()</a:t>
            </a:r>
          </a:p>
          <a:p>
            <a:r>
              <a:rPr lang="en-US" altLang="zh-CN" dirty="0"/>
              <a:t>    </a:t>
            </a:r>
          </a:p>
          <a:p>
            <a:r>
              <a:rPr lang="en-US" altLang="zh-CN" dirty="0" err="1"/>
              <a:t>turbofan.append</a:t>
            </a:r>
            <a:r>
              <a:rPr lang="en-US" altLang="zh-CN" dirty="0"/>
              <a:t>(combustor)</a:t>
            </a:r>
          </a:p>
        </p:txBody>
      </p:sp>
      <p:sp>
        <p:nvSpPr>
          <p:cNvPr id="2" name="文本框 1">
            <a:extLst>
              <a:ext uri="{FF2B5EF4-FFF2-40B4-BE49-F238E27FC236}">
                <a16:creationId xmlns:a16="http://schemas.microsoft.com/office/drawing/2014/main" id="{74628B40-FADD-D545-7AC7-0D313277AA32}"/>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3827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BFC47-3CED-154D-E3E3-7D93B6024E73}"/>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F1344B24-556C-913D-071E-6382A84A2FA7}"/>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2219C350-C0C5-57B1-A9DC-E04B46A73F9B}"/>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5070746B-A20B-A780-B153-EFB2311CAE61}"/>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083DD1F7-5D19-375A-4239-C9C0C607CDE8}"/>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4493DBEE-F8F8-528B-6494-2DF37887DB1C}"/>
              </a:ext>
            </a:extLst>
          </p:cNvPr>
          <p:cNvSpPr txBox="1"/>
          <p:nvPr/>
        </p:nvSpPr>
        <p:spPr>
          <a:xfrm>
            <a:off x="4320000" y="794708"/>
            <a:ext cx="7660114" cy="3693319"/>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turbine = </a:t>
            </a:r>
            <a:r>
              <a:rPr lang="en-US" altLang="zh-CN" dirty="0" err="1"/>
              <a:t>SUAVE.Components.Energy.Converters.Turbine</a:t>
            </a:r>
            <a:r>
              <a:rPr lang="en-US" altLang="zh-CN" dirty="0"/>
              <a:t>()   </a:t>
            </a:r>
          </a:p>
          <a:p>
            <a:r>
              <a:rPr lang="en-US" altLang="zh-CN" dirty="0" err="1"/>
              <a:t>turbine.tag</a:t>
            </a:r>
            <a:r>
              <a:rPr lang="en-US" altLang="zh-CN" dirty="0"/>
              <a:t>='</a:t>
            </a:r>
            <a:r>
              <a:rPr lang="en-US" altLang="zh-CN" dirty="0" err="1"/>
              <a:t>high_pressure_turbine</a:t>
            </a:r>
            <a:r>
              <a:rPr lang="en-US" altLang="zh-CN" dirty="0"/>
              <a:t>'</a:t>
            </a:r>
          </a:p>
          <a:p>
            <a:r>
              <a:rPr lang="en-US" altLang="zh-CN" dirty="0" err="1"/>
              <a:t>turbine.mechanical_efficiency</a:t>
            </a:r>
            <a:r>
              <a:rPr lang="en-US" altLang="zh-CN" dirty="0"/>
              <a:t> = 0.99</a:t>
            </a:r>
          </a:p>
          <a:p>
            <a:r>
              <a:rPr lang="en-US" altLang="zh-CN" dirty="0" err="1"/>
              <a:t>turbine.polytropic_efficiency</a:t>
            </a:r>
            <a:r>
              <a:rPr lang="en-US" altLang="zh-CN" dirty="0"/>
              <a:t> = 0.93</a:t>
            </a:r>
          </a:p>
          <a:p>
            <a:endParaRPr lang="en-US" altLang="zh-CN" dirty="0"/>
          </a:p>
          <a:p>
            <a:r>
              <a:rPr lang="en-US" altLang="zh-CN" dirty="0" err="1"/>
              <a:t>turbofan.append</a:t>
            </a:r>
            <a:r>
              <a:rPr lang="en-US" altLang="zh-CN" dirty="0"/>
              <a:t>(turbine)  </a:t>
            </a:r>
          </a:p>
          <a:p>
            <a:endParaRPr lang="en-US" altLang="zh-CN" dirty="0"/>
          </a:p>
          <a:p>
            <a:r>
              <a:rPr lang="en-US" altLang="zh-CN" dirty="0"/>
              <a:t>turbine = </a:t>
            </a:r>
            <a:r>
              <a:rPr lang="en-US" altLang="zh-CN" dirty="0" err="1"/>
              <a:t>SUAVE.Components.Energy.Converters.Turbine</a:t>
            </a:r>
            <a:r>
              <a:rPr lang="en-US" altLang="zh-CN" dirty="0"/>
              <a:t>()   </a:t>
            </a:r>
          </a:p>
          <a:p>
            <a:r>
              <a:rPr lang="en-US" altLang="zh-CN" dirty="0" err="1"/>
              <a:t>turbine.tag</a:t>
            </a:r>
            <a:r>
              <a:rPr lang="en-US" altLang="zh-CN" dirty="0"/>
              <a:t>='</a:t>
            </a:r>
            <a:r>
              <a:rPr lang="en-US" altLang="zh-CN" dirty="0" err="1"/>
              <a:t>low_pressure_turbine</a:t>
            </a:r>
            <a:r>
              <a:rPr lang="en-US" altLang="zh-CN" dirty="0"/>
              <a:t>'</a:t>
            </a:r>
          </a:p>
          <a:p>
            <a:r>
              <a:rPr lang="en-US" altLang="zh-CN" dirty="0" err="1"/>
              <a:t>turbine.mechanical_efficiency</a:t>
            </a:r>
            <a:r>
              <a:rPr lang="en-US" altLang="zh-CN" dirty="0"/>
              <a:t> = 0.99</a:t>
            </a:r>
          </a:p>
          <a:p>
            <a:r>
              <a:rPr lang="en-US" altLang="zh-CN" dirty="0" err="1"/>
              <a:t>turbine.polytropic_efficiency</a:t>
            </a:r>
            <a:r>
              <a:rPr lang="en-US" altLang="zh-CN" dirty="0"/>
              <a:t> = 0.93     </a:t>
            </a:r>
          </a:p>
          <a:p>
            <a:endParaRPr lang="en-US" altLang="zh-CN" dirty="0"/>
          </a:p>
          <a:p>
            <a:r>
              <a:rPr lang="en-US" altLang="zh-CN" dirty="0" err="1"/>
              <a:t>turbofan.append</a:t>
            </a:r>
            <a:r>
              <a:rPr lang="en-US" altLang="zh-CN" dirty="0"/>
              <a:t>(turbine)</a:t>
            </a:r>
          </a:p>
        </p:txBody>
      </p:sp>
      <p:sp>
        <p:nvSpPr>
          <p:cNvPr id="2" name="文本框 1">
            <a:extLst>
              <a:ext uri="{FF2B5EF4-FFF2-40B4-BE49-F238E27FC236}">
                <a16:creationId xmlns:a16="http://schemas.microsoft.com/office/drawing/2014/main" id="{8E32F51B-7F67-A9CC-2D0E-E05AC992C34F}"/>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C0000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9675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E7E49-05FA-D506-D2FC-DE2496B5ED94}"/>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258E426F-3268-0D83-2F42-62D4BBA76F1B}"/>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7093579D-2FFA-AD78-45D6-E9AA3A443FE6}"/>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7BAF01FE-6447-0CDA-F8E8-584C6DF3F0B3}"/>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0292CD6F-1614-5FB9-28B7-515E98FA1B15}"/>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B4509236-1B77-EFE9-5F25-3C369BD42FEF}"/>
              </a:ext>
            </a:extLst>
          </p:cNvPr>
          <p:cNvSpPr txBox="1"/>
          <p:nvPr/>
        </p:nvSpPr>
        <p:spPr>
          <a:xfrm>
            <a:off x="4320000" y="794708"/>
            <a:ext cx="7660114" cy="3831818"/>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nozzle = </a:t>
            </a:r>
          </a:p>
          <a:p>
            <a:r>
              <a:rPr lang="en-US" altLang="zh-CN" dirty="0"/>
              <a:t>    </a:t>
            </a:r>
            <a:r>
              <a:rPr lang="en-US" altLang="zh-CN" dirty="0" err="1"/>
              <a:t>SUAVE.Components.Energy.Converters.Expansion_Nozzle</a:t>
            </a:r>
            <a:r>
              <a:rPr lang="en-US" altLang="zh-CN" dirty="0"/>
              <a:t>()   </a:t>
            </a:r>
          </a:p>
          <a:p>
            <a:r>
              <a:rPr lang="en-US" altLang="zh-CN" dirty="0" err="1"/>
              <a:t>nozzle.tag</a:t>
            </a:r>
            <a:r>
              <a:rPr lang="en-US" altLang="zh-CN" dirty="0"/>
              <a:t> = '</a:t>
            </a:r>
            <a:r>
              <a:rPr lang="en-US" altLang="zh-CN" dirty="0" err="1"/>
              <a:t>core_nozzle</a:t>
            </a:r>
            <a:r>
              <a:rPr lang="en-US" altLang="zh-CN" dirty="0"/>
              <a:t>'</a:t>
            </a:r>
          </a:p>
          <a:p>
            <a:r>
              <a:rPr lang="en-US" altLang="zh-CN" dirty="0" err="1"/>
              <a:t>nozzle.polytropic_efficiency</a:t>
            </a:r>
            <a:r>
              <a:rPr lang="en-US" altLang="zh-CN" dirty="0"/>
              <a:t> = 0.95</a:t>
            </a:r>
          </a:p>
          <a:p>
            <a:r>
              <a:rPr lang="en-US" altLang="zh-CN" dirty="0" err="1"/>
              <a:t>nozzle.pressure_ratio</a:t>
            </a:r>
            <a:r>
              <a:rPr lang="en-US" altLang="zh-CN" dirty="0"/>
              <a:t>        = 0.99    </a:t>
            </a:r>
          </a:p>
          <a:p>
            <a:r>
              <a:rPr lang="en-US" altLang="zh-CN" dirty="0" err="1"/>
              <a:t>turbofan.append</a:t>
            </a:r>
            <a:r>
              <a:rPr lang="en-US" altLang="zh-CN" dirty="0"/>
              <a:t>(nozzle)</a:t>
            </a:r>
          </a:p>
          <a:p>
            <a:pPr>
              <a:lnSpc>
                <a:spcPct val="150000"/>
              </a:lnSpc>
            </a:pPr>
            <a:r>
              <a:rPr lang="en-US" altLang="zh-CN" dirty="0">
                <a:solidFill>
                  <a:srgbClr val="00B050"/>
                </a:solidFill>
              </a:rPr>
              <a:t>===========================================================</a:t>
            </a:r>
          </a:p>
          <a:p>
            <a:r>
              <a:rPr lang="en-US" altLang="zh-CN" dirty="0"/>
              <a:t>nozzle =</a:t>
            </a:r>
          </a:p>
          <a:p>
            <a:r>
              <a:rPr lang="en-US" altLang="zh-CN" dirty="0"/>
              <a:t>    </a:t>
            </a:r>
            <a:r>
              <a:rPr lang="en-US" altLang="zh-CN" dirty="0" err="1"/>
              <a:t>SUAVE.Components.Energy.Converters.Expansion_Nozzle</a:t>
            </a:r>
            <a:r>
              <a:rPr lang="en-US" altLang="zh-CN" dirty="0"/>
              <a:t>()   </a:t>
            </a:r>
          </a:p>
          <a:p>
            <a:r>
              <a:rPr lang="en-US" altLang="zh-CN" dirty="0" err="1"/>
              <a:t>nozzle.tag</a:t>
            </a:r>
            <a:r>
              <a:rPr lang="en-US" altLang="zh-CN" dirty="0"/>
              <a:t> = '</a:t>
            </a:r>
            <a:r>
              <a:rPr lang="en-US" altLang="zh-CN" dirty="0" err="1"/>
              <a:t>fan_nozzle</a:t>
            </a:r>
            <a:r>
              <a:rPr lang="en-US" altLang="zh-CN" dirty="0"/>
              <a:t>'</a:t>
            </a:r>
          </a:p>
          <a:p>
            <a:r>
              <a:rPr lang="en-US" altLang="zh-CN" dirty="0" err="1"/>
              <a:t>nozzle.polytropic_efficiency</a:t>
            </a:r>
            <a:r>
              <a:rPr lang="en-US" altLang="zh-CN" dirty="0"/>
              <a:t> = 0.95</a:t>
            </a:r>
          </a:p>
          <a:p>
            <a:r>
              <a:rPr lang="en-US" altLang="zh-CN" dirty="0" err="1"/>
              <a:t>nozzle.pressure_ratio</a:t>
            </a:r>
            <a:r>
              <a:rPr lang="en-US" altLang="zh-CN" dirty="0"/>
              <a:t>        = 0.99</a:t>
            </a:r>
          </a:p>
          <a:p>
            <a:r>
              <a:rPr lang="en-US" altLang="zh-CN" dirty="0" err="1"/>
              <a:t>turbofan.append</a:t>
            </a:r>
            <a:r>
              <a:rPr lang="en-US" altLang="zh-CN" dirty="0"/>
              <a:t>(nozzle)</a:t>
            </a:r>
          </a:p>
        </p:txBody>
      </p:sp>
      <p:sp>
        <p:nvSpPr>
          <p:cNvPr id="2" name="文本框 1">
            <a:extLst>
              <a:ext uri="{FF2B5EF4-FFF2-40B4-BE49-F238E27FC236}">
                <a16:creationId xmlns:a16="http://schemas.microsoft.com/office/drawing/2014/main" id="{4463D983-EE26-F5E5-64A3-F413CEAB4EBE}"/>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Thrust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9045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8510-885B-A43D-2B5F-6205B99260E0}"/>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A3A025B3-33A7-0BAA-1176-1891D267EC2F}"/>
              </a:ext>
            </a:extLst>
          </p:cNvPr>
          <p:cNvSpPr/>
          <p:nvPr/>
        </p:nvSpPr>
        <p:spPr>
          <a:xfrm>
            <a:off x="619125" y="4765026"/>
            <a:ext cx="10772775" cy="1846146"/>
          </a:xfrm>
          <a:prstGeom prst="roundRect">
            <a:avLst/>
          </a:prstGeom>
          <a:solidFill>
            <a:schemeClr val="bg1"/>
          </a:solidFill>
          <a:ln w="1905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6DC3E688-D20A-A931-73FC-72C269AFFCF2}"/>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Turbofan Network</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pic>
        <p:nvPicPr>
          <p:cNvPr id="4" name="图片 3">
            <a:extLst>
              <a:ext uri="{FF2B5EF4-FFF2-40B4-BE49-F238E27FC236}">
                <a16:creationId xmlns:a16="http://schemas.microsoft.com/office/drawing/2014/main" id="{E40C643C-2EA8-A973-072C-B9EE746C9A91}"/>
              </a:ext>
            </a:extLst>
          </p:cNvPr>
          <p:cNvPicPr>
            <a:picLocks noChangeAspect="1"/>
          </p:cNvPicPr>
          <p:nvPr/>
        </p:nvPicPr>
        <p:blipFill>
          <a:blip r:embed="rId2"/>
          <a:stretch>
            <a:fillRect/>
          </a:stretch>
        </p:blipFill>
        <p:spPr>
          <a:xfrm>
            <a:off x="0" y="1620000"/>
            <a:ext cx="3901288" cy="2590009"/>
          </a:xfrm>
          <a:prstGeom prst="rect">
            <a:avLst/>
          </a:prstGeom>
        </p:spPr>
      </p:pic>
      <p:sp>
        <p:nvSpPr>
          <p:cNvPr id="5" name="标题 1">
            <a:extLst>
              <a:ext uri="{FF2B5EF4-FFF2-40B4-BE49-F238E27FC236}">
                <a16:creationId xmlns:a16="http://schemas.microsoft.com/office/drawing/2014/main" id="{29891614-4328-EA3E-1493-6EADD5BE0DB0}"/>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783B069D-7E7B-A0CA-736A-D76E9EE7437E}"/>
              </a:ext>
            </a:extLst>
          </p:cNvPr>
          <p:cNvSpPr txBox="1"/>
          <p:nvPr/>
        </p:nvSpPr>
        <p:spPr>
          <a:xfrm>
            <a:off x="4320000" y="794708"/>
            <a:ext cx="7660114" cy="3693319"/>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thrust = </a:t>
            </a:r>
            <a:r>
              <a:rPr lang="en-US" altLang="zh-CN" dirty="0" err="1"/>
              <a:t>SUAVE.Components.Energy.Processes.Thrust</a:t>
            </a:r>
            <a:r>
              <a:rPr lang="en-US" altLang="zh-CN" dirty="0"/>
              <a:t>()       </a:t>
            </a:r>
          </a:p>
          <a:p>
            <a:r>
              <a:rPr lang="en-US" altLang="zh-CN" dirty="0" err="1"/>
              <a:t>thrust.tag</a:t>
            </a:r>
            <a:r>
              <a:rPr lang="en-US" altLang="zh-CN" dirty="0"/>
              <a:t> ='</a:t>
            </a:r>
            <a:r>
              <a:rPr lang="en-US" altLang="zh-CN" dirty="0" err="1"/>
              <a:t>compute_thrust</a:t>
            </a:r>
            <a:r>
              <a:rPr lang="en-US" altLang="zh-CN" dirty="0"/>
              <a:t>'</a:t>
            </a:r>
          </a:p>
          <a:p>
            <a:endParaRPr lang="en-US" altLang="zh-CN" dirty="0"/>
          </a:p>
          <a:p>
            <a:r>
              <a:rPr lang="en-US" altLang="zh-CN" dirty="0" err="1"/>
              <a:t>thrust.total_design</a:t>
            </a:r>
            <a:r>
              <a:rPr lang="en-US" altLang="zh-CN" dirty="0"/>
              <a:t>             = 2*24000. * </a:t>
            </a:r>
            <a:r>
              <a:rPr lang="en-US" altLang="zh-CN" dirty="0" err="1"/>
              <a:t>Units.N</a:t>
            </a:r>
            <a:endParaRPr lang="en-US" altLang="zh-CN" dirty="0"/>
          </a:p>
          <a:p>
            <a:r>
              <a:rPr lang="en-US" altLang="zh-CN" dirty="0" err="1"/>
              <a:t>turbofan.thrust</a:t>
            </a:r>
            <a:r>
              <a:rPr lang="en-US" altLang="zh-CN" dirty="0"/>
              <a:t> = thrust</a:t>
            </a:r>
          </a:p>
          <a:p>
            <a:r>
              <a:rPr lang="en-US" altLang="zh-CN" dirty="0"/>
              <a:t>altitude      = 35000.0*</a:t>
            </a:r>
            <a:r>
              <a:rPr lang="en-US" altLang="zh-CN" dirty="0" err="1"/>
              <a:t>Units.ft</a:t>
            </a:r>
            <a:endParaRPr lang="en-US" altLang="zh-CN" dirty="0"/>
          </a:p>
          <a:p>
            <a:r>
              <a:rPr lang="en-US" altLang="zh-CN" dirty="0" err="1"/>
              <a:t>mach_number</a:t>
            </a:r>
            <a:r>
              <a:rPr lang="en-US" altLang="zh-CN" dirty="0"/>
              <a:t>   = 0.78     </a:t>
            </a:r>
          </a:p>
          <a:p>
            <a:r>
              <a:rPr lang="en-US" altLang="zh-CN" dirty="0"/>
              <a:t>Determine turbofan behavior at the design condition</a:t>
            </a:r>
          </a:p>
          <a:p>
            <a:r>
              <a:rPr lang="en-US" altLang="zh-CN" dirty="0" err="1"/>
              <a:t>turbofan_sizing</a:t>
            </a:r>
            <a:r>
              <a:rPr lang="en-US" altLang="zh-CN" dirty="0"/>
              <a:t>(</a:t>
            </a:r>
            <a:r>
              <a:rPr lang="en-US" altLang="zh-CN" dirty="0" err="1"/>
              <a:t>turbofan,mach_number,altitude</a:t>
            </a:r>
            <a:r>
              <a:rPr lang="en-US" altLang="zh-CN" dirty="0"/>
              <a:t>)</a:t>
            </a:r>
          </a:p>
          <a:p>
            <a:endParaRPr lang="en-US" altLang="zh-CN" dirty="0"/>
          </a:p>
          <a:p>
            <a:r>
              <a:rPr lang="en-US" altLang="zh-CN" dirty="0" err="1"/>
              <a:t>vehicle.append_component</a:t>
            </a:r>
            <a:r>
              <a:rPr lang="en-US" altLang="zh-CN" dirty="0"/>
              <a:t>(turbofan)</a:t>
            </a:r>
          </a:p>
          <a:p>
            <a:endParaRPr lang="en-US" altLang="zh-CN" dirty="0"/>
          </a:p>
          <a:p>
            <a:r>
              <a:rPr lang="en-US" altLang="zh-CN" dirty="0"/>
              <a:t>return vehicle</a:t>
            </a:r>
          </a:p>
        </p:txBody>
      </p:sp>
      <p:sp>
        <p:nvSpPr>
          <p:cNvPr id="2" name="文本框 1">
            <a:extLst>
              <a:ext uri="{FF2B5EF4-FFF2-40B4-BE49-F238E27FC236}">
                <a16:creationId xmlns:a16="http://schemas.microsoft.com/office/drawing/2014/main" id="{AAD5A7A5-2467-04C9-A525-060153BE18B3}"/>
              </a:ext>
            </a:extLst>
          </p:cNvPr>
          <p:cNvSpPr txBox="1"/>
          <p:nvPr/>
        </p:nvSpPr>
        <p:spPr>
          <a:xfrm>
            <a:off x="1117042" y="4665969"/>
            <a:ext cx="9776245" cy="1846146"/>
          </a:xfrm>
          <a:prstGeom prst="rect">
            <a:avLst/>
          </a:prstGeom>
          <a:noFill/>
        </p:spPr>
        <p:txBody>
          <a:bodyPr wrap="square">
            <a:spAutoFit/>
          </a:bodyPr>
          <a:lstStyle/>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Air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Ram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Inlet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Fan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Low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High Pressure Compressor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Combustor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High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p>
          <a:p>
            <a:pPr algn="just">
              <a:lnSpc>
                <a:spcPct val="200000"/>
              </a:lnSpc>
            </a:pPr>
            <a:r>
              <a:rPr lang="en-US" altLang="zh-CN" sz="2000" b="1" dirty="0">
                <a:solidFill>
                  <a:srgbClr val="002060"/>
                </a:solidFill>
                <a:latin typeface="微软雅黑" panose="020B0503020204020204" pitchFamily="34" charset="-122"/>
                <a:ea typeface="微软雅黑" panose="020B0503020204020204" pitchFamily="34" charset="-122"/>
              </a:rPr>
              <a:t>Low Pressure Turbine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Core Nozzle / Fan Nozzle  </a:t>
            </a:r>
            <a:r>
              <a:rPr lang="zh-CN" altLang="en-US" sz="2000" dirty="0">
                <a:solidFill>
                  <a:srgbClr val="002060"/>
                </a:solidFill>
              </a:rPr>
              <a:t>➡️</a:t>
            </a:r>
            <a:r>
              <a:rPr lang="en-US" altLang="zh-CN" sz="2000" b="1" dirty="0">
                <a:solidFill>
                  <a:srgbClr val="002060"/>
                </a:solidFill>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Thrust</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4759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C19C-7CE0-3E85-F85D-FE4D364D276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CF849EA-6A27-567C-28D1-BFE9D4D9F00E}"/>
              </a:ext>
            </a:extLst>
          </p:cNvPr>
          <p:cNvSpPr txBox="1"/>
          <p:nvPr/>
        </p:nvSpPr>
        <p:spPr>
          <a:xfrm>
            <a:off x="211886" y="794708"/>
            <a:ext cx="3072088" cy="369332"/>
          </a:xfrm>
          <a:prstGeom prst="rect">
            <a:avLst/>
          </a:prstGeom>
          <a:noFill/>
        </p:spPr>
        <p:txBody>
          <a:bodyPr wrap="square" lIns="0" tIns="0" rIns="0" bIns="0"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Arial" pitchFamily="34" charset="0"/>
              </a:rPr>
              <a:t>Simple sizing</a:t>
            </a:r>
            <a:endParaRPr lang="zh-CN" altLang="en-US" sz="2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5" name="标题 1">
            <a:extLst>
              <a:ext uri="{FF2B5EF4-FFF2-40B4-BE49-F238E27FC236}">
                <a16:creationId xmlns:a16="http://schemas.microsoft.com/office/drawing/2014/main" id="{E96E2D55-B32F-9953-039A-0BC2C0E2BC08}"/>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Create the Vehicle</a:t>
            </a:r>
          </a:p>
        </p:txBody>
      </p:sp>
      <p:sp>
        <p:nvSpPr>
          <p:cNvPr id="14" name="文本框 13">
            <a:extLst>
              <a:ext uri="{FF2B5EF4-FFF2-40B4-BE49-F238E27FC236}">
                <a16:creationId xmlns:a16="http://schemas.microsoft.com/office/drawing/2014/main" id="{821AEDF5-1F30-153F-E312-74287452AA63}"/>
              </a:ext>
            </a:extLst>
          </p:cNvPr>
          <p:cNvSpPr txBox="1"/>
          <p:nvPr/>
        </p:nvSpPr>
        <p:spPr>
          <a:xfrm>
            <a:off x="4370801" y="794708"/>
            <a:ext cx="7609313" cy="4524315"/>
          </a:xfrm>
          <a:prstGeom prst="rect">
            <a:avLst/>
          </a:prstGeom>
          <a:noFill/>
        </p:spPr>
        <p:txBody>
          <a:bodyPr wrap="square">
            <a:spAutoFit/>
          </a:bodyPr>
          <a:lstStyle>
            <a:defPPr>
              <a:defRPr lang="de-DE"/>
            </a:defPPr>
            <a:lvl1pPr>
              <a:buNone/>
              <a:defRPr b="0">
                <a:solidFill>
                  <a:srgbClr val="002060"/>
                </a:solidFill>
                <a:effectLst/>
                <a:latin typeface="Consolas" panose="020B0609020204030204" pitchFamily="49" charset="0"/>
              </a:defRPr>
            </a:lvl1pPr>
          </a:lstStyle>
          <a:p>
            <a:r>
              <a:rPr lang="en-US" altLang="zh-CN" dirty="0"/>
              <a:t>def </a:t>
            </a:r>
            <a:r>
              <a:rPr lang="en-US" altLang="zh-CN" dirty="0" err="1"/>
              <a:t>simple_sizing</a:t>
            </a:r>
            <a:r>
              <a:rPr lang="en-US" altLang="zh-CN" dirty="0"/>
              <a:t>(configs):</a:t>
            </a:r>
            <a:br>
              <a:rPr lang="en-US" altLang="zh-CN" dirty="0"/>
            </a:br>
            <a:endParaRPr lang="en-US" altLang="zh-CN" dirty="0"/>
          </a:p>
          <a:p>
            <a:r>
              <a:rPr lang="en-US" altLang="zh-CN" dirty="0"/>
              <a:t>    base = </a:t>
            </a:r>
            <a:r>
              <a:rPr lang="en-US" altLang="zh-CN" dirty="0" err="1"/>
              <a:t>configs.base</a:t>
            </a:r>
            <a:endParaRPr lang="en-US" altLang="zh-CN" dirty="0"/>
          </a:p>
          <a:p>
            <a:r>
              <a:rPr lang="en-US" altLang="zh-CN" dirty="0"/>
              <a:t>    </a:t>
            </a:r>
            <a:r>
              <a:rPr lang="en-US" altLang="zh-CN" dirty="0" err="1"/>
              <a:t>base.pull_base</a:t>
            </a:r>
            <a:r>
              <a:rPr lang="en-US" altLang="zh-CN" dirty="0"/>
              <a:t>()</a:t>
            </a:r>
          </a:p>
          <a:p>
            <a:br>
              <a:rPr lang="en-US" altLang="zh-CN" dirty="0"/>
            </a:br>
            <a:r>
              <a:rPr lang="en-US" altLang="zh-CN" dirty="0"/>
              <a:t>    </a:t>
            </a:r>
            <a:r>
              <a:rPr lang="en-US" altLang="zh-CN" dirty="0" err="1"/>
              <a:t>base.mass_properties.max_zero_fuel</a:t>
            </a:r>
            <a:r>
              <a:rPr lang="en-US" altLang="zh-CN" dirty="0"/>
              <a:t> = </a:t>
            </a:r>
          </a:p>
          <a:p>
            <a:r>
              <a:rPr lang="en-US" altLang="zh-CN" dirty="0"/>
              <a:t>                   0.9 * </a:t>
            </a:r>
            <a:r>
              <a:rPr lang="en-US" altLang="zh-CN" dirty="0" err="1"/>
              <a:t>base.mass_properties.max_takeoff</a:t>
            </a:r>
            <a:r>
              <a:rPr lang="en-US" altLang="zh-CN" dirty="0"/>
              <a:t> </a:t>
            </a:r>
          </a:p>
          <a:p>
            <a:br>
              <a:rPr lang="en-US" altLang="zh-CN" dirty="0"/>
            </a:br>
            <a:r>
              <a:rPr lang="en-US" altLang="zh-CN" dirty="0"/>
              <a:t>    for wing in </a:t>
            </a:r>
            <a:r>
              <a:rPr lang="en-US" altLang="zh-CN" dirty="0" err="1"/>
              <a:t>base.wings</a:t>
            </a:r>
            <a:r>
              <a:rPr lang="en-US" altLang="zh-CN" dirty="0"/>
              <a:t>:</a:t>
            </a:r>
          </a:p>
          <a:p>
            <a:r>
              <a:rPr lang="en-US" altLang="zh-CN" dirty="0"/>
              <a:t>        </a:t>
            </a:r>
            <a:r>
              <a:rPr lang="en-US" altLang="zh-CN" dirty="0" err="1"/>
              <a:t>wing.areas.wetted</a:t>
            </a:r>
            <a:r>
              <a:rPr lang="en-US" altLang="zh-CN" dirty="0"/>
              <a:t>   = 2.0 * </a:t>
            </a:r>
            <a:r>
              <a:rPr lang="en-US" altLang="zh-CN" dirty="0" err="1"/>
              <a:t>wing.areas.reference</a:t>
            </a:r>
            <a:endParaRPr lang="en-US" altLang="zh-CN" dirty="0"/>
          </a:p>
          <a:p>
            <a:r>
              <a:rPr lang="en-US" altLang="zh-CN" dirty="0"/>
              <a:t>        </a:t>
            </a:r>
            <a:r>
              <a:rPr lang="en-US" altLang="zh-CN" dirty="0" err="1"/>
              <a:t>wing.areas.exposed</a:t>
            </a:r>
            <a:r>
              <a:rPr lang="en-US" altLang="zh-CN" dirty="0"/>
              <a:t>  = 0.8 * </a:t>
            </a:r>
            <a:r>
              <a:rPr lang="en-US" altLang="zh-CN" dirty="0" err="1"/>
              <a:t>wing.areas.wetted</a:t>
            </a:r>
            <a:endParaRPr lang="en-US" altLang="zh-CN" dirty="0"/>
          </a:p>
          <a:p>
            <a:r>
              <a:rPr lang="en-US" altLang="zh-CN" dirty="0"/>
              <a:t>        </a:t>
            </a:r>
            <a:r>
              <a:rPr lang="en-US" altLang="zh-CN" dirty="0" err="1"/>
              <a:t>wing.areas.affected</a:t>
            </a:r>
            <a:r>
              <a:rPr lang="en-US" altLang="zh-CN" dirty="0"/>
              <a:t> = 0.6 * </a:t>
            </a:r>
            <a:r>
              <a:rPr lang="en-US" altLang="zh-CN" dirty="0" err="1"/>
              <a:t>wing.areas.wetted</a:t>
            </a:r>
            <a:br>
              <a:rPr lang="en-US" altLang="zh-CN" dirty="0"/>
            </a:br>
            <a:endParaRPr lang="en-US" altLang="zh-CN" dirty="0"/>
          </a:p>
          <a:p>
            <a:r>
              <a:rPr lang="en-US" altLang="zh-CN" dirty="0"/>
              <a:t>    </a:t>
            </a:r>
            <a:r>
              <a:rPr lang="en-US" altLang="zh-CN" dirty="0" err="1"/>
              <a:t>base.store_diff</a:t>
            </a:r>
            <a:r>
              <a:rPr lang="en-US" altLang="zh-CN" dirty="0"/>
              <a:t>()</a:t>
            </a:r>
          </a:p>
          <a:p>
            <a:endParaRPr lang="en-US" altLang="zh-CN" dirty="0"/>
          </a:p>
          <a:p>
            <a:r>
              <a:rPr lang="en-US" altLang="zh-CN" dirty="0"/>
              <a:t>    return</a:t>
            </a:r>
          </a:p>
        </p:txBody>
      </p:sp>
      <p:pic>
        <p:nvPicPr>
          <p:cNvPr id="7" name="图片 6">
            <a:extLst>
              <a:ext uri="{FF2B5EF4-FFF2-40B4-BE49-F238E27FC236}">
                <a16:creationId xmlns:a16="http://schemas.microsoft.com/office/drawing/2014/main" id="{0A216A59-2045-E16B-EAEA-1985CD56421E}"/>
              </a:ext>
            </a:extLst>
          </p:cNvPr>
          <p:cNvPicPr>
            <a:picLocks noChangeAspect="1"/>
          </p:cNvPicPr>
          <p:nvPr/>
        </p:nvPicPr>
        <p:blipFill>
          <a:blip r:embed="rId3"/>
          <a:stretch>
            <a:fillRect/>
          </a:stretch>
        </p:blipFill>
        <p:spPr>
          <a:xfrm>
            <a:off x="0" y="1620000"/>
            <a:ext cx="3797993" cy="2309647"/>
          </a:xfrm>
          <a:prstGeom prst="rect">
            <a:avLst/>
          </a:prstGeom>
        </p:spPr>
      </p:pic>
      <p:sp>
        <p:nvSpPr>
          <p:cNvPr id="8" name="文本框 7">
            <a:extLst>
              <a:ext uri="{FF2B5EF4-FFF2-40B4-BE49-F238E27FC236}">
                <a16:creationId xmlns:a16="http://schemas.microsoft.com/office/drawing/2014/main" id="{AAE978D9-6591-F46D-F871-215E7359BB9A}"/>
              </a:ext>
            </a:extLst>
          </p:cNvPr>
          <p:cNvSpPr txBox="1"/>
          <p:nvPr/>
        </p:nvSpPr>
        <p:spPr>
          <a:xfrm>
            <a:off x="563143" y="5340505"/>
            <a:ext cx="11065714" cy="868956"/>
          </a:xfrm>
          <a:prstGeom prst="rect">
            <a:avLst/>
          </a:prstGeom>
          <a:noFill/>
        </p:spPr>
        <p:txBody>
          <a:bodyPr wrap="square" lIns="0" tIns="0" rIns="0" bIns="0"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Simple sizing: This function automatically computes unspecified critical parameters for the vehicle using overall design inputs, finalizing the aircraft model for subsequent analysis.</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1555997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A1ABF-FFA3-5CEE-D2E3-A74176AF22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F5E236-A313-CC9B-CD13-3B3FF53927E7}"/>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Overall Design Process - </a:t>
            </a:r>
            <a:r>
              <a:rPr lang="en-US" altLang="zh-CN" dirty="0">
                <a:solidFill>
                  <a:srgbClr val="C00000"/>
                </a:solidFill>
                <a:latin typeface="微软雅黑" panose="020B0503020204020204" pitchFamily="34" charset="-122"/>
                <a:ea typeface="微软雅黑" panose="020B0503020204020204" pitchFamily="34" charset="-122"/>
                <a:cs typeface="Arial" pitchFamily="34" charset="0"/>
              </a:rPr>
              <a:t>Plot the result</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7" name="文本框 6">
            <a:extLst>
              <a:ext uri="{FF2B5EF4-FFF2-40B4-BE49-F238E27FC236}">
                <a16:creationId xmlns:a16="http://schemas.microsoft.com/office/drawing/2014/main" id="{7F3EB31F-3AD0-9807-B09E-43595771BC20}"/>
              </a:ext>
            </a:extLst>
          </p:cNvPr>
          <p:cNvSpPr txBox="1"/>
          <p:nvPr/>
        </p:nvSpPr>
        <p:spPr>
          <a:xfrm>
            <a:off x="4679950" y="1164040"/>
            <a:ext cx="7102337" cy="4247317"/>
          </a:xfrm>
          <a:prstGeom prst="rect">
            <a:avLst/>
          </a:prstGeom>
          <a:noFill/>
        </p:spPr>
        <p:txBody>
          <a:bodyPr wrap="square">
            <a:spAutoFit/>
          </a:bodyPr>
          <a:lstStyle/>
          <a:p>
            <a:pPr>
              <a:buNone/>
            </a:pPr>
            <a:r>
              <a:rPr lang="en-US" altLang="zh-CN" b="0" dirty="0">
                <a:solidFill>
                  <a:srgbClr val="002060"/>
                </a:solidFill>
                <a:effectLst/>
                <a:latin typeface="Consolas" panose="020B0609020204030204" pitchFamily="49" charset="0"/>
              </a:rPr>
              <a:t>def </a:t>
            </a:r>
            <a:r>
              <a:rPr lang="en-US" altLang="zh-CN" b="0" dirty="0" err="1">
                <a:solidFill>
                  <a:srgbClr val="002060"/>
                </a:solidFill>
                <a:effectLst/>
                <a:latin typeface="Consolas" panose="020B0609020204030204" pitchFamily="49" charset="0"/>
              </a:rPr>
              <a:t>plot_mission</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results,line_style</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bo</a:t>
            </a:r>
            <a:r>
              <a:rPr lang="en-US" altLang="zh-CN" b="0" dirty="0">
                <a:solidFill>
                  <a:srgbClr val="002060"/>
                </a:solidFill>
                <a:effectLst/>
                <a:latin typeface="Consolas" panose="020B0609020204030204" pitchFamily="49" charset="0"/>
              </a:rPr>
              <a:t>-'):</a:t>
            </a:r>
            <a:br>
              <a:rPr lang="en-US" altLang="zh-CN" b="0" dirty="0">
                <a:solidFill>
                  <a:srgbClr val="002060"/>
                </a:solidFill>
                <a:effectLst/>
                <a:latin typeface="Consolas" panose="020B0609020204030204" pitchFamily="49" charset="0"/>
              </a:rPr>
            </a:b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plot_flight_conditions</a:t>
            </a:r>
            <a:r>
              <a:rPr lang="en-US" altLang="zh-CN" b="0" dirty="0">
                <a:solidFill>
                  <a:srgbClr val="002060"/>
                </a:solidFill>
                <a:effectLst/>
                <a:latin typeface="Consolas" panose="020B0609020204030204" pitchFamily="49" charset="0"/>
              </a:rPr>
              <a:t>(results, </a:t>
            </a:r>
            <a:r>
              <a:rPr lang="en-US" altLang="zh-CN" b="0" dirty="0" err="1">
                <a:solidFill>
                  <a:srgbClr val="002060"/>
                </a:solidFill>
                <a:effectLst/>
                <a:latin typeface="Consolas" panose="020B0609020204030204" pitchFamily="49" charset="0"/>
              </a:rPr>
              <a:t>line_style</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plot_aerodynamic_forces</a:t>
            </a:r>
            <a:r>
              <a:rPr lang="en-US" altLang="zh-CN" b="0" dirty="0">
                <a:solidFill>
                  <a:srgbClr val="002060"/>
                </a:solidFill>
                <a:effectLst/>
                <a:latin typeface="Consolas" panose="020B0609020204030204" pitchFamily="49" charset="0"/>
              </a:rPr>
              <a:t>(results, </a:t>
            </a:r>
            <a:r>
              <a:rPr lang="en-US" altLang="zh-CN" b="0" dirty="0" err="1">
                <a:solidFill>
                  <a:srgbClr val="002060"/>
                </a:solidFill>
                <a:effectLst/>
                <a:latin typeface="Consolas" panose="020B0609020204030204" pitchFamily="49" charset="0"/>
              </a:rPr>
              <a:t>line_style</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plot_aerodynamic_coefficients</a:t>
            </a:r>
            <a:r>
              <a:rPr lang="en-US" altLang="zh-CN" b="0" dirty="0">
                <a:solidFill>
                  <a:srgbClr val="002060"/>
                </a:solidFill>
                <a:effectLst/>
                <a:latin typeface="Consolas" panose="020B0609020204030204" pitchFamily="49" charset="0"/>
              </a:rPr>
              <a:t>(results, </a:t>
            </a:r>
            <a:r>
              <a:rPr lang="en-US" altLang="zh-CN" b="0" dirty="0" err="1">
                <a:solidFill>
                  <a:srgbClr val="002060"/>
                </a:solidFill>
                <a:effectLst/>
                <a:latin typeface="Consolas" panose="020B0609020204030204" pitchFamily="49" charset="0"/>
              </a:rPr>
              <a:t>line_style</a:t>
            </a:r>
            <a:r>
              <a:rPr lang="en-US" altLang="zh-CN" b="0" dirty="0">
                <a:solidFill>
                  <a:srgbClr val="002060"/>
                </a:solidFill>
                <a:effectLst/>
                <a:latin typeface="Consolas" panose="020B0609020204030204" pitchFamily="49" charset="0"/>
              </a:rPr>
              <a:t>)</a:t>
            </a:r>
          </a:p>
          <a:p>
            <a:pPr>
              <a:buNone/>
            </a:pPr>
            <a:endParaRPr lang="en-US" altLang="zh-CN" b="0" dirty="0">
              <a:solidFill>
                <a:srgbClr val="002060"/>
              </a:solidFill>
              <a:effectLst/>
              <a:latin typeface="Consolas" panose="020B0609020204030204" pitchFamily="49" charset="0"/>
            </a:endParaRP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plot_drag_components</a:t>
            </a:r>
            <a:r>
              <a:rPr lang="en-US" altLang="zh-CN" b="0" dirty="0">
                <a:solidFill>
                  <a:srgbClr val="002060"/>
                </a:solidFill>
                <a:effectLst/>
                <a:latin typeface="Consolas" panose="020B0609020204030204" pitchFamily="49" charset="0"/>
              </a:rPr>
              <a:t>(results, </a:t>
            </a:r>
            <a:r>
              <a:rPr lang="en-US" altLang="zh-CN" b="0" dirty="0" err="1">
                <a:solidFill>
                  <a:srgbClr val="002060"/>
                </a:solidFill>
                <a:effectLst/>
                <a:latin typeface="Consolas" panose="020B0609020204030204" pitchFamily="49" charset="0"/>
              </a:rPr>
              <a:t>line_style</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plot_altitude_sfc_weight</a:t>
            </a:r>
            <a:r>
              <a:rPr lang="en-US" altLang="zh-CN" b="0" dirty="0">
                <a:solidFill>
                  <a:srgbClr val="002060"/>
                </a:solidFill>
                <a:effectLst/>
                <a:latin typeface="Consolas" panose="020B0609020204030204" pitchFamily="49" charset="0"/>
              </a:rPr>
              <a:t>(results, </a:t>
            </a:r>
            <a:r>
              <a:rPr lang="en-US" altLang="zh-CN" b="0" dirty="0" err="1">
                <a:solidFill>
                  <a:srgbClr val="002060"/>
                </a:solidFill>
                <a:effectLst/>
                <a:latin typeface="Consolas" panose="020B0609020204030204" pitchFamily="49" charset="0"/>
              </a:rPr>
              <a:t>line_style</a:t>
            </a:r>
            <a:r>
              <a:rPr lang="en-US" altLang="zh-CN" b="0" dirty="0">
                <a:solidFill>
                  <a:srgbClr val="002060"/>
                </a:solidFill>
                <a:effectLst/>
                <a:latin typeface="Consolas" panose="020B0609020204030204" pitchFamily="49" charset="0"/>
              </a:rPr>
              <a:t>)</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r>
              <a:rPr lang="en-US" altLang="zh-CN" b="0" dirty="0" err="1">
                <a:solidFill>
                  <a:srgbClr val="002060"/>
                </a:solidFill>
                <a:effectLst/>
                <a:latin typeface="Consolas" panose="020B0609020204030204" pitchFamily="49" charset="0"/>
              </a:rPr>
              <a:t>plot_aircraft_velocities</a:t>
            </a:r>
            <a:r>
              <a:rPr lang="en-US" altLang="zh-CN" b="0" dirty="0">
                <a:solidFill>
                  <a:srgbClr val="002060"/>
                </a:solidFill>
                <a:effectLst/>
                <a:latin typeface="Consolas" panose="020B0609020204030204" pitchFamily="49" charset="0"/>
              </a:rPr>
              <a:t>(results, </a:t>
            </a:r>
            <a:r>
              <a:rPr lang="en-US" altLang="zh-CN" b="0" dirty="0" err="1">
                <a:solidFill>
                  <a:srgbClr val="002060"/>
                </a:solidFill>
                <a:effectLst/>
                <a:latin typeface="Consolas" panose="020B0609020204030204" pitchFamily="49" charset="0"/>
              </a:rPr>
              <a:t>line_style</a:t>
            </a: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a:t>
            </a:r>
          </a:p>
          <a:p>
            <a:pPr>
              <a:buNone/>
            </a:pPr>
            <a:r>
              <a:rPr lang="en-US" altLang="zh-CN" b="0" dirty="0">
                <a:solidFill>
                  <a:srgbClr val="002060"/>
                </a:solidFill>
                <a:effectLst/>
                <a:latin typeface="Consolas" panose="020B0609020204030204" pitchFamily="49" charset="0"/>
              </a:rPr>
              <a:t>    return</a:t>
            </a:r>
          </a:p>
        </p:txBody>
      </p:sp>
      <p:pic>
        <p:nvPicPr>
          <p:cNvPr id="4" name="图片 3">
            <a:extLst>
              <a:ext uri="{FF2B5EF4-FFF2-40B4-BE49-F238E27FC236}">
                <a16:creationId xmlns:a16="http://schemas.microsoft.com/office/drawing/2014/main" id="{C19B230C-05DA-78E3-553C-947DF5FD242A}"/>
              </a:ext>
            </a:extLst>
          </p:cNvPr>
          <p:cNvPicPr>
            <a:picLocks noChangeAspect="1"/>
          </p:cNvPicPr>
          <p:nvPr/>
        </p:nvPicPr>
        <p:blipFill>
          <a:blip r:embed="rId2"/>
          <a:stretch>
            <a:fillRect/>
          </a:stretch>
        </p:blipFill>
        <p:spPr>
          <a:xfrm>
            <a:off x="114300" y="2362200"/>
            <a:ext cx="4502378" cy="3331760"/>
          </a:xfrm>
          <a:prstGeom prst="rect">
            <a:avLst/>
          </a:prstGeom>
        </p:spPr>
      </p:pic>
      <p:sp>
        <p:nvSpPr>
          <p:cNvPr id="5" name="文本框 4">
            <a:extLst>
              <a:ext uri="{FF2B5EF4-FFF2-40B4-BE49-F238E27FC236}">
                <a16:creationId xmlns:a16="http://schemas.microsoft.com/office/drawing/2014/main" id="{CC1D51D7-5868-A036-0CE4-A60E9910CC32}"/>
              </a:ext>
            </a:extLst>
          </p:cNvPr>
          <p:cNvSpPr txBox="1"/>
          <p:nvPr/>
        </p:nvSpPr>
        <p:spPr>
          <a:xfrm>
            <a:off x="211886" y="979374"/>
            <a:ext cx="3902914" cy="782074"/>
          </a:xfrm>
          <a:prstGeom prst="rect">
            <a:avLst/>
          </a:prstGeom>
          <a:noFill/>
        </p:spPr>
        <p:txBody>
          <a:bodyPr wrap="square" lIns="0" tIns="0" rIns="0" bIns="0" rtlCol="0">
            <a:spAutoFit/>
          </a:bodyPr>
          <a:lstStyle/>
          <a:p>
            <a:pPr algn="just">
              <a:lnSpc>
                <a:spcPct val="150000"/>
              </a:lnSpc>
            </a:pPr>
            <a:r>
              <a:rPr lang="en-US" altLang="zh-CN" dirty="0" err="1">
                <a:solidFill>
                  <a:srgbClr val="002060"/>
                </a:solidFill>
                <a:latin typeface="微软雅黑" panose="020B0503020204020204" pitchFamily="34" charset="-122"/>
                <a:ea typeface="微软雅黑" panose="020B0503020204020204" pitchFamily="34" charset="-122"/>
                <a:cs typeface="Arial" pitchFamily="34" charset="0"/>
              </a:rPr>
              <a:t>plot_mission</a:t>
            </a: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a:t>
            </a:r>
          </a:p>
          <a:p>
            <a:pPr algn="just">
              <a:lnSpc>
                <a:spcPct val="150000"/>
              </a:lnSpc>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Plot mission result by matplotlib</a:t>
            </a:r>
          </a:p>
        </p:txBody>
      </p:sp>
      <p:sp>
        <p:nvSpPr>
          <p:cNvPr id="6" name="箭头: 上 5">
            <a:extLst>
              <a:ext uri="{FF2B5EF4-FFF2-40B4-BE49-F238E27FC236}">
                <a16:creationId xmlns:a16="http://schemas.microsoft.com/office/drawing/2014/main" id="{89300B11-B07F-61BB-0955-DEB84E75EF7B}"/>
              </a:ext>
            </a:extLst>
          </p:cNvPr>
          <p:cNvSpPr/>
          <p:nvPr/>
        </p:nvSpPr>
        <p:spPr>
          <a:xfrm rot="14518351">
            <a:off x="4732225" y="1793230"/>
            <a:ext cx="334057" cy="752475"/>
          </a:xfrm>
          <a:prstGeom prst="upArrow">
            <a:avLst>
              <a:gd name="adj1" fmla="val 50000"/>
              <a:gd name="adj2" fmla="val 98635"/>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525038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62E98-3C95-61D3-43F8-D424C072359A}"/>
            </a:ext>
          </a:extLst>
        </p:cNvPr>
        <p:cNvGrpSpPr/>
        <p:nvPr/>
      </p:nvGrpSpPr>
      <p:grpSpPr>
        <a:xfrm>
          <a:off x="0" y="0"/>
          <a:ext cx="0" cy="0"/>
          <a:chOff x="0" y="0"/>
          <a:chExt cx="0" cy="0"/>
        </a:xfrm>
      </p:grpSpPr>
      <p:sp>
        <p:nvSpPr>
          <p:cNvPr id="10" name="矩形: 圆角 9">
            <a:extLst>
              <a:ext uri="{FF2B5EF4-FFF2-40B4-BE49-F238E27FC236}">
                <a16:creationId xmlns:a16="http://schemas.microsoft.com/office/drawing/2014/main" id="{6AF7E4D6-F952-7128-CEEB-5D1D7325EB1E}"/>
              </a:ext>
            </a:extLst>
          </p:cNvPr>
          <p:cNvSpPr/>
          <p:nvPr/>
        </p:nvSpPr>
        <p:spPr>
          <a:xfrm>
            <a:off x="682205" y="5332147"/>
            <a:ext cx="10827589" cy="523220"/>
          </a:xfrm>
          <a:prstGeom prst="roundRect">
            <a:avLst/>
          </a:prstGeom>
          <a:solidFill>
            <a:schemeClr val="bg1"/>
          </a:solidFill>
          <a:ln w="15875">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2" name="标题 1">
            <a:extLst>
              <a:ext uri="{FF2B5EF4-FFF2-40B4-BE49-F238E27FC236}">
                <a16:creationId xmlns:a16="http://schemas.microsoft.com/office/drawing/2014/main" id="{5015A0DE-5F5D-B7CC-A3EC-8C336B044C0A}"/>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Main Modules - </a:t>
            </a:r>
            <a:r>
              <a:rPr kumimoji="0" lang="en-US" altLang="zh-CN" b="1" i="0" u="none" strike="noStrike" kern="1200" cap="none" spc="1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Vehicle</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BD369C98-00D0-DFD1-6D3E-B2EB7926E001}"/>
              </a:ext>
            </a:extLst>
          </p:cNvPr>
          <p:cNvSpPr txBox="1"/>
          <p:nvPr/>
        </p:nvSpPr>
        <p:spPr>
          <a:xfrm>
            <a:off x="211886" y="870401"/>
            <a:ext cx="4845890" cy="369332"/>
          </a:xfrm>
          <a:prstGeom prst="rect">
            <a:avLst/>
          </a:prstGeom>
          <a:noFill/>
        </p:spPr>
        <p:txBody>
          <a:bodyPr wrap="square" lIns="0" tIns="0" rIns="0" bIns="0" rtlCol="0">
            <a:spAutoFit/>
          </a:bodyPr>
          <a:lstStyle/>
          <a:p>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1</a:t>
            </a:r>
            <a:r>
              <a:rPr lang="zh-CN" altLang="en-US" sz="2400" dirty="0">
                <a:solidFill>
                  <a:srgbClr val="002060"/>
                </a:solidFill>
                <a:latin typeface="微软雅黑" panose="020B0503020204020204" pitchFamily="34" charset="-122"/>
                <a:ea typeface="微软雅黑" panose="020B0503020204020204" pitchFamily="34" charset="-122"/>
                <a:cs typeface="Arial" pitchFamily="34" charset="0"/>
              </a:rPr>
              <a:t>、</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Download </a:t>
            </a:r>
            <a:r>
              <a:rPr lang="en-US" altLang="zh-CN" sz="2400" dirty="0" err="1">
                <a:solidFill>
                  <a:srgbClr val="002060"/>
                </a:solidFill>
                <a:latin typeface="微软雅黑" panose="020B0503020204020204" pitchFamily="34" charset="-122"/>
                <a:ea typeface="微软雅黑" panose="020B0503020204020204" pitchFamily="34" charset="-122"/>
                <a:cs typeface="Arial" pitchFamily="34" charset="0"/>
              </a:rPr>
              <a:t>openvsp</a:t>
            </a:r>
            <a:r>
              <a:rPr lang="en-US" altLang="zh-CN" sz="2400" dirty="0">
                <a:solidFill>
                  <a:srgbClr val="002060"/>
                </a:solidFill>
                <a:latin typeface="微软雅黑" panose="020B0503020204020204" pitchFamily="34" charset="-122"/>
                <a:ea typeface="微软雅黑" panose="020B0503020204020204" pitchFamily="34" charset="-122"/>
                <a:cs typeface="Arial" pitchFamily="34" charset="0"/>
              </a:rPr>
              <a:t>==3.29.1</a:t>
            </a:r>
            <a:endParaRPr lang="zh-CN" altLang="en-US" sz="2400"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7" name="文本框 6">
            <a:extLst>
              <a:ext uri="{FF2B5EF4-FFF2-40B4-BE49-F238E27FC236}">
                <a16:creationId xmlns:a16="http://schemas.microsoft.com/office/drawing/2014/main" id="{ACC6327E-8173-1E15-5F71-6AD75EE1D835}"/>
              </a:ext>
            </a:extLst>
          </p:cNvPr>
          <p:cNvSpPr txBox="1"/>
          <p:nvPr/>
        </p:nvSpPr>
        <p:spPr>
          <a:xfrm>
            <a:off x="211886" y="1522744"/>
            <a:ext cx="8360614" cy="1021556"/>
          </a:xfrm>
          <a:prstGeom prst="roundRect">
            <a:avLst/>
          </a:prstGeom>
          <a:solidFill>
            <a:srgbClr val="2D2D30"/>
          </a:solidFill>
        </p:spPr>
        <p:txBody>
          <a:bodyPr wrap="square" lIns="0" tIns="0" rIns="0" bIns="0" rtlCol="0">
            <a:spAutoFit/>
          </a:bodyPr>
          <a:lstStyle/>
          <a:p>
            <a:pPr marL="108000"/>
            <a:r>
              <a:rPr lang="en-US" altLang="zh-CN" sz="2000" dirty="0" err="1">
                <a:solidFill>
                  <a:schemeClr val="bg1"/>
                </a:solidFill>
                <a:latin typeface="Consolas" panose="020B0609020204030204" pitchFamily="49" charset="0"/>
                <a:ea typeface="微软雅黑" panose="020B0503020204020204" pitchFamily="34" charset="-122"/>
                <a:cs typeface="Arial" pitchFamily="34" charset="0"/>
              </a:rPr>
              <a:t>cmd</a:t>
            </a:r>
            <a:endParaRPr lang="en-US" altLang="zh-CN" sz="2000" dirty="0">
              <a:solidFill>
                <a:schemeClr val="bg1"/>
              </a:solidFill>
              <a:latin typeface="Consolas" panose="020B0609020204030204" pitchFamily="49" charset="0"/>
              <a:ea typeface="微软雅黑" panose="020B0503020204020204" pitchFamily="34" charset="-122"/>
              <a:cs typeface="Arial" pitchFamily="34" charset="0"/>
            </a:endParaRP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cd D:\OpenVSP-3.29.1-win64\python        </a:t>
            </a:r>
            <a:r>
              <a:rPr lang="en-US" altLang="zh-CN" sz="2000" dirty="0">
                <a:solidFill>
                  <a:schemeClr val="accent6">
                    <a:lumMod val="20000"/>
                    <a:lumOff val="80000"/>
                  </a:schemeClr>
                </a:solidFill>
                <a:latin typeface="Consolas" panose="020B0609020204030204" pitchFamily="49" charset="0"/>
                <a:ea typeface="微软雅黑" panose="020B0503020204020204" pitchFamily="34" charset="-122"/>
                <a:cs typeface="Arial" pitchFamily="34" charset="0"/>
              </a:rPr>
              <a:t>##change the path</a:t>
            </a:r>
          </a:p>
          <a:p>
            <a:pPr marL="108000"/>
            <a:r>
              <a:rPr lang="en-US" altLang="zh-CN" sz="2000" dirty="0">
                <a:solidFill>
                  <a:schemeClr val="bg1"/>
                </a:solidFill>
                <a:latin typeface="Consolas" panose="020B0609020204030204" pitchFamily="49" charset="0"/>
                <a:ea typeface="微软雅黑" panose="020B0503020204020204" pitchFamily="34" charset="-122"/>
                <a:cs typeface="Arial" pitchFamily="34" charset="0"/>
              </a:rPr>
              <a:t>pip install -r requirements.txt</a:t>
            </a:r>
          </a:p>
        </p:txBody>
      </p:sp>
      <p:sp>
        <p:nvSpPr>
          <p:cNvPr id="8" name="文本框 7">
            <a:extLst>
              <a:ext uri="{FF2B5EF4-FFF2-40B4-BE49-F238E27FC236}">
                <a16:creationId xmlns:a16="http://schemas.microsoft.com/office/drawing/2014/main" id="{497A1B9F-92DD-EA57-6F06-CCDD672C0F95}"/>
              </a:ext>
            </a:extLst>
          </p:cNvPr>
          <p:cNvSpPr txBox="1"/>
          <p:nvPr/>
        </p:nvSpPr>
        <p:spPr>
          <a:xfrm>
            <a:off x="211886" y="2922561"/>
            <a:ext cx="7102337" cy="2031325"/>
          </a:xfrm>
          <a:prstGeom prst="rect">
            <a:avLst/>
          </a:prstGeom>
          <a:noFill/>
        </p:spPr>
        <p:txBody>
          <a:bodyPr wrap="square">
            <a:spAutoFit/>
          </a:bodyPr>
          <a:lstStyle/>
          <a:p>
            <a:pPr>
              <a:buNone/>
            </a:pPr>
            <a:r>
              <a:rPr lang="en-US" altLang="zh-CN" b="0" dirty="0">
                <a:solidFill>
                  <a:srgbClr val="002060"/>
                </a:solidFill>
                <a:effectLst/>
                <a:latin typeface="微软雅黑" panose="020B0503020204020204" pitchFamily="34" charset="-122"/>
                <a:ea typeface="微软雅黑" panose="020B0503020204020204" pitchFamily="34" charset="-122"/>
              </a:rPr>
              <a:t>add</a:t>
            </a:r>
          </a:p>
          <a:p>
            <a:pPr>
              <a:buNone/>
            </a:pPr>
            <a:r>
              <a:rPr lang="en-US" altLang="zh-CN" b="0" dirty="0">
                <a:solidFill>
                  <a:srgbClr val="C00000"/>
                </a:solidFill>
                <a:effectLst/>
                <a:latin typeface="Consolas" panose="020B0609020204030204" pitchFamily="49" charset="0"/>
              </a:rPr>
              <a:t>from </a:t>
            </a:r>
            <a:r>
              <a:rPr lang="en-US" altLang="zh-CN" b="0" dirty="0" err="1">
                <a:solidFill>
                  <a:srgbClr val="C00000"/>
                </a:solidFill>
                <a:effectLst/>
                <a:latin typeface="Consolas" panose="020B0609020204030204" pitchFamily="49" charset="0"/>
              </a:rPr>
              <a:t>SUAVE.Input_Output.OpenVSP</a:t>
            </a:r>
            <a:r>
              <a:rPr lang="en-US" altLang="zh-CN" b="0" dirty="0">
                <a:solidFill>
                  <a:srgbClr val="C00000"/>
                </a:solidFill>
                <a:effectLst/>
                <a:latin typeface="Consolas" panose="020B0609020204030204" pitchFamily="49" charset="0"/>
              </a:rPr>
              <a:t> import write</a:t>
            </a:r>
          </a:p>
          <a:p>
            <a:pPr>
              <a:buNone/>
            </a:pPr>
            <a:r>
              <a:rPr lang="en-US" altLang="zh-CN" dirty="0">
                <a:solidFill>
                  <a:srgbClr val="002060"/>
                </a:solidFill>
                <a:latin typeface="Consolas" panose="020B0609020204030204" pitchFamily="49" charset="0"/>
              </a:rPr>
              <a:t>to the import section</a:t>
            </a:r>
          </a:p>
          <a:p>
            <a:pPr>
              <a:buNone/>
            </a:pPr>
            <a:endParaRPr lang="en-US" altLang="zh-CN" b="0" dirty="0">
              <a:solidFill>
                <a:srgbClr val="002060"/>
              </a:solidFill>
              <a:effectLst/>
              <a:latin typeface="Consolas" panose="020B0609020204030204" pitchFamily="49" charset="0"/>
            </a:endParaRPr>
          </a:p>
          <a:p>
            <a:pPr>
              <a:buNone/>
            </a:pPr>
            <a:r>
              <a:rPr lang="en-US" altLang="zh-CN" dirty="0">
                <a:solidFill>
                  <a:srgbClr val="002060"/>
                </a:solidFill>
                <a:latin typeface="微软雅黑" panose="020B0503020204020204" pitchFamily="34" charset="-122"/>
                <a:ea typeface="微软雅黑" panose="020B0503020204020204" pitchFamily="34" charset="-122"/>
              </a:rPr>
              <a:t>a</a:t>
            </a:r>
            <a:r>
              <a:rPr lang="en-US" altLang="zh-CN" b="0" dirty="0">
                <a:solidFill>
                  <a:srgbClr val="002060"/>
                </a:solidFill>
                <a:effectLst/>
                <a:latin typeface="微软雅黑" panose="020B0503020204020204" pitchFamily="34" charset="-122"/>
                <a:ea typeface="微软雅黑" panose="020B0503020204020204" pitchFamily="34" charset="-122"/>
              </a:rPr>
              <a:t>dd</a:t>
            </a:r>
          </a:p>
          <a:p>
            <a:pPr>
              <a:buNone/>
            </a:pPr>
            <a:r>
              <a:rPr lang="en-US" altLang="zh-CN" b="0" dirty="0">
                <a:solidFill>
                  <a:srgbClr val="C00000"/>
                </a:solidFill>
                <a:effectLst/>
                <a:latin typeface="Consolas" panose="020B0609020204030204" pitchFamily="49" charset="0"/>
              </a:rPr>
              <a:t>write(vehicle, </a:t>
            </a:r>
            <a:r>
              <a:rPr lang="en-US" altLang="zh-CN" dirty="0">
                <a:solidFill>
                  <a:srgbClr val="C00000"/>
                </a:solidFill>
                <a:latin typeface="Consolas" panose="020B0609020204030204" pitchFamily="49" charset="0"/>
              </a:rPr>
              <a:t>'</a:t>
            </a:r>
            <a:r>
              <a:rPr lang="en-US" altLang="zh-CN" b="0" dirty="0">
                <a:solidFill>
                  <a:srgbClr val="C00000"/>
                </a:solidFill>
                <a:effectLst/>
                <a:latin typeface="Consolas" panose="020B0609020204030204" pitchFamily="49" charset="0"/>
              </a:rPr>
              <a:t>base</a:t>
            </a:r>
            <a:r>
              <a:rPr lang="en-US" altLang="zh-CN" dirty="0">
                <a:solidFill>
                  <a:srgbClr val="C00000"/>
                </a:solidFill>
                <a:latin typeface="Consolas" panose="020B0609020204030204" pitchFamily="49" charset="0"/>
              </a:rPr>
              <a:t>')</a:t>
            </a:r>
            <a:endParaRPr lang="en-US" altLang="zh-CN" b="0" dirty="0">
              <a:solidFill>
                <a:srgbClr val="C00000"/>
              </a:solidFill>
              <a:effectLst/>
              <a:latin typeface="Consolas" panose="020B0609020204030204" pitchFamily="49" charset="0"/>
            </a:endParaRPr>
          </a:p>
          <a:p>
            <a:pPr>
              <a:buNone/>
            </a:pPr>
            <a:r>
              <a:rPr lang="en-US" altLang="zh-CN" dirty="0">
                <a:solidFill>
                  <a:srgbClr val="002060"/>
                </a:solidFill>
                <a:latin typeface="Consolas" panose="020B0609020204030204" pitchFamily="49" charset="0"/>
              </a:rPr>
              <a:t>a</a:t>
            </a:r>
            <a:r>
              <a:rPr lang="en-US" altLang="zh-CN" b="0" dirty="0">
                <a:solidFill>
                  <a:srgbClr val="002060"/>
                </a:solidFill>
                <a:effectLst/>
                <a:latin typeface="Consolas" panose="020B0609020204030204" pitchFamily="49" charset="0"/>
              </a:rPr>
              <a:t>fter </a:t>
            </a:r>
            <a:r>
              <a:rPr lang="en-US" altLang="zh-CN" b="0" dirty="0" err="1">
                <a:solidFill>
                  <a:srgbClr val="002060"/>
                </a:solidFill>
                <a:effectLst/>
                <a:latin typeface="Consolas" panose="020B0609020204030204" pitchFamily="49" charset="0"/>
              </a:rPr>
              <a:t>vehicle_setup</a:t>
            </a:r>
            <a:r>
              <a:rPr lang="en-US" altLang="zh-CN" b="0" dirty="0">
                <a:solidFill>
                  <a:srgbClr val="002060"/>
                </a:solidFill>
                <a:effectLst/>
                <a:latin typeface="Consolas" panose="020B0609020204030204" pitchFamily="49" charset="0"/>
              </a:rPr>
              <a:t>() in main()</a:t>
            </a:r>
          </a:p>
        </p:txBody>
      </p:sp>
      <p:sp>
        <p:nvSpPr>
          <p:cNvPr id="9" name="文本框 8">
            <a:extLst>
              <a:ext uri="{FF2B5EF4-FFF2-40B4-BE49-F238E27FC236}">
                <a16:creationId xmlns:a16="http://schemas.microsoft.com/office/drawing/2014/main" id="{8BC6EC09-30DC-BA6A-6A27-71E48AB2F4DD}"/>
              </a:ext>
            </a:extLst>
          </p:cNvPr>
          <p:cNvSpPr txBox="1"/>
          <p:nvPr/>
        </p:nvSpPr>
        <p:spPr>
          <a:xfrm>
            <a:off x="995361" y="5439868"/>
            <a:ext cx="10201275" cy="307777"/>
          </a:xfrm>
          <a:prstGeom prst="rect">
            <a:avLst/>
          </a:prstGeom>
          <a:noFill/>
          <a:ln>
            <a:noFill/>
          </a:ln>
        </p:spPr>
        <p:txBody>
          <a:bodyPr wrap="square" lIns="0" tIns="0" rIns="0" bIns="0" rtlCol="0" anchor="t">
            <a:spAutoFit/>
          </a:bodyPr>
          <a:lstStyle/>
          <a:p>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 Run your code again, “base.vsp3”will be generated under your code directory</a:t>
            </a:r>
          </a:p>
        </p:txBody>
      </p:sp>
      <p:pic>
        <p:nvPicPr>
          <p:cNvPr id="11" name="图片 10">
            <a:extLst>
              <a:ext uri="{FF2B5EF4-FFF2-40B4-BE49-F238E27FC236}">
                <a16:creationId xmlns:a16="http://schemas.microsoft.com/office/drawing/2014/main" id="{C7670BC0-4624-4EBD-DAC2-ECC777D3214B}"/>
              </a:ext>
            </a:extLst>
          </p:cNvPr>
          <p:cNvPicPr>
            <a:picLocks noChangeAspect="1"/>
          </p:cNvPicPr>
          <p:nvPr/>
        </p:nvPicPr>
        <p:blipFill>
          <a:blip r:embed="rId2"/>
          <a:stretch>
            <a:fillRect/>
          </a:stretch>
        </p:blipFill>
        <p:spPr>
          <a:xfrm>
            <a:off x="7711801" y="2783400"/>
            <a:ext cx="3797993" cy="2309647"/>
          </a:xfrm>
          <a:prstGeom prst="rect">
            <a:avLst/>
          </a:prstGeom>
        </p:spPr>
      </p:pic>
    </p:spTree>
    <p:extLst>
      <p:ext uri="{BB962C8B-B14F-4D97-AF65-F5344CB8AC3E}">
        <p14:creationId xmlns:p14="http://schemas.microsoft.com/office/powerpoint/2010/main" val="1487602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F5150-19AC-A2CD-F443-5B48FE98B6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A788F9-4463-543E-3E5F-7CFEDD5F8603}"/>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Main Modules - </a:t>
            </a:r>
            <a:r>
              <a:rPr kumimoji="0" lang="en-US" altLang="zh-CN" b="1" i="0" u="none" strike="noStrike" kern="1200" cap="none" spc="1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Vehicle</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E345E22-DF37-6B6C-5060-1AE7AF8DE0B7}"/>
              </a:ext>
            </a:extLst>
          </p:cNvPr>
          <p:cNvSpPr txBox="1"/>
          <p:nvPr/>
        </p:nvSpPr>
        <p:spPr>
          <a:xfrm>
            <a:off x="272630" y="1477858"/>
            <a:ext cx="11646739" cy="4978237"/>
          </a:xfrm>
          <a:prstGeom prst="roundRect">
            <a:avLst>
              <a:gd name="adj" fmla="val 3743"/>
            </a:avLst>
          </a:prstGeom>
          <a:solidFill>
            <a:srgbClr val="2D2D30"/>
          </a:solidFill>
        </p:spPr>
        <p:txBody>
          <a:bodyPr wrap="square" lIns="0" tIns="0" rIns="0" bIns="0" rtlCol="0">
            <a:spAutoFit/>
          </a:bodyPr>
          <a:lstStyle>
            <a:defPPr>
              <a:defRPr lang="de-DE"/>
            </a:defPPr>
            <a:lvl1pPr marL="108000">
              <a:defRPr sz="2000">
                <a:solidFill>
                  <a:schemeClr val="bg1"/>
                </a:solidFill>
                <a:latin typeface="Consolas" panose="020B0609020204030204" pitchFamily="49" charset="0"/>
                <a:ea typeface="微软雅黑" panose="020B0503020204020204" pitchFamily="34" charset="-122"/>
                <a:cs typeface="Arial" pitchFamily="34" charset="0"/>
              </a:defRPr>
            </a:lvl1pPr>
          </a:lstStyle>
          <a:p>
            <a:r>
              <a:rPr lang="en-US" altLang="zh-CN" sz="1800" dirty="0"/>
              <a:t>    </a:t>
            </a:r>
          </a:p>
          <a:p>
            <a:endParaRPr lang="en-US" altLang="zh-CN" sz="1800" dirty="0"/>
          </a:p>
          <a:p>
            <a:r>
              <a:rPr lang="en-US" altLang="zh-CN" sz="1800" dirty="0"/>
              <a:t>    # Create the wing</a:t>
            </a:r>
          </a:p>
          <a:p>
            <a:r>
              <a:rPr lang="en-US" altLang="zh-CN" sz="1800" dirty="0"/>
              <a:t>    </a:t>
            </a:r>
            <a:r>
              <a:rPr lang="en-US" altLang="zh-CN" sz="1800" dirty="0" err="1"/>
              <a:t>wing_id</a:t>
            </a:r>
            <a:r>
              <a:rPr lang="en-US" altLang="zh-CN" sz="1800" dirty="0"/>
              <a:t> = </a:t>
            </a:r>
            <a:r>
              <a:rPr lang="en-US" altLang="zh-CN" sz="1800" dirty="0" err="1"/>
              <a:t>vsp.AddGeom</a:t>
            </a:r>
            <a:r>
              <a:rPr lang="en-US" altLang="zh-CN" sz="1800" dirty="0"/>
              <a:t>( "WING" )</a:t>
            </a:r>
          </a:p>
          <a:p>
            <a:r>
              <a:rPr lang="en-US" altLang="zh-CN" sz="1800" dirty="0"/>
              <a:t>    </a:t>
            </a:r>
            <a:r>
              <a:rPr lang="en-US" altLang="zh-CN" sz="1800" dirty="0" err="1"/>
              <a:t>vsp.SetGeomName</a:t>
            </a:r>
            <a:r>
              <a:rPr lang="en-US" altLang="zh-CN" sz="1800" dirty="0"/>
              <a:t>(</a:t>
            </a:r>
            <a:r>
              <a:rPr lang="en-US" altLang="zh-CN" sz="1800" dirty="0" err="1"/>
              <a:t>wing_id</a:t>
            </a:r>
            <a:r>
              <a:rPr lang="en-US" altLang="zh-CN" sz="1800" dirty="0"/>
              <a:t>, </a:t>
            </a:r>
            <a:r>
              <a:rPr lang="en-US" altLang="zh-CN" sz="1800" dirty="0" err="1"/>
              <a:t>wing.tag</a:t>
            </a:r>
            <a:r>
              <a:rPr lang="en-US" altLang="zh-CN" sz="1800" dirty="0"/>
              <a:t>)</a:t>
            </a:r>
          </a:p>
          <a:p>
            <a:r>
              <a:rPr lang="en-US" altLang="zh-CN" sz="1800" dirty="0"/>
              <a:t>    </a:t>
            </a:r>
            <a:r>
              <a:rPr lang="en-US" altLang="zh-CN" sz="1800" dirty="0" err="1"/>
              <a:t>area_tags</a:t>
            </a:r>
            <a:r>
              <a:rPr lang="en-US" altLang="zh-CN" sz="1800" dirty="0"/>
              <a:t>[</a:t>
            </a:r>
            <a:r>
              <a:rPr lang="en-US" altLang="zh-CN" sz="1800" dirty="0" err="1"/>
              <a:t>wing.tag</a:t>
            </a:r>
            <a:r>
              <a:rPr lang="en-US" altLang="zh-CN" sz="1800" dirty="0"/>
              <a:t>] = ['wings',</a:t>
            </a:r>
            <a:r>
              <a:rPr lang="en-US" altLang="zh-CN" sz="1800" dirty="0" err="1"/>
              <a:t>wing.tag</a:t>
            </a:r>
            <a:r>
              <a:rPr lang="en-US" altLang="zh-CN" sz="1800" dirty="0"/>
              <a:t>]</a:t>
            </a:r>
          </a:p>
          <a:p>
            <a:br>
              <a:rPr lang="en-US" altLang="zh-CN" sz="1800" dirty="0"/>
            </a:br>
            <a:r>
              <a:rPr lang="en-US" altLang="zh-CN" sz="1800" dirty="0"/>
              <a:t>    </a:t>
            </a:r>
            <a:r>
              <a:rPr lang="en-US" altLang="zh-CN" sz="1800" dirty="0" err="1"/>
              <a:t>x_secs</a:t>
            </a:r>
            <a:r>
              <a:rPr lang="en-US" altLang="zh-CN" sz="1800" dirty="0"/>
              <a:t>       = []</a:t>
            </a:r>
          </a:p>
          <a:p>
            <a:r>
              <a:rPr lang="en-US" altLang="zh-CN" sz="1800" dirty="0"/>
              <a:t>    </a:t>
            </a:r>
            <a:r>
              <a:rPr lang="en-US" altLang="zh-CN" sz="1800" dirty="0" err="1"/>
              <a:t>x_sec_curves</a:t>
            </a:r>
            <a:r>
              <a:rPr lang="en-US" altLang="zh-CN" sz="1800" dirty="0"/>
              <a:t> = []</a:t>
            </a:r>
          </a:p>
          <a:p>
            <a:endParaRPr lang="en-US" altLang="zh-CN" sz="1800" dirty="0"/>
          </a:p>
          <a:p>
            <a:r>
              <a:rPr lang="en-US" altLang="zh-CN" sz="1800" dirty="0"/>
              <a:t>    for </a:t>
            </a:r>
            <a:r>
              <a:rPr lang="en-US" altLang="zh-CN" sz="1800" dirty="0" err="1"/>
              <a:t>i_segs</a:t>
            </a:r>
            <a:r>
              <a:rPr lang="en-US" altLang="zh-CN" sz="1800" dirty="0"/>
              <a:t> in range(0,n_segments+2):</a:t>
            </a:r>
          </a:p>
          <a:p>
            <a:r>
              <a:rPr lang="en-US" altLang="zh-CN" sz="1800" dirty="0"/>
              <a:t>        </a:t>
            </a:r>
            <a:r>
              <a:rPr lang="en-US" altLang="zh-CN" sz="1800" dirty="0" err="1"/>
              <a:t>x_secs.append</a:t>
            </a:r>
            <a:r>
              <a:rPr lang="en-US" altLang="zh-CN" sz="1800" dirty="0"/>
              <a:t>('</a:t>
            </a:r>
            <a:r>
              <a:rPr lang="en-US" altLang="zh-CN" sz="1800" dirty="0" err="1"/>
              <a:t>XSec</a:t>
            </a:r>
            <a:r>
              <a:rPr lang="en-US" altLang="zh-CN" sz="1800" dirty="0"/>
              <a:t>_' + str(</a:t>
            </a:r>
            <a:r>
              <a:rPr lang="en-US" altLang="zh-CN" sz="1800" dirty="0" err="1"/>
              <a:t>i_segs</a:t>
            </a:r>
            <a:r>
              <a:rPr lang="en-US" altLang="zh-CN" sz="1800" dirty="0"/>
              <a:t>))</a:t>
            </a:r>
          </a:p>
          <a:p>
            <a:r>
              <a:rPr lang="en-US" altLang="zh-CN" sz="1800" dirty="0"/>
              <a:t>        </a:t>
            </a:r>
            <a:r>
              <a:rPr lang="en-US" altLang="zh-CN" sz="1800" dirty="0" err="1"/>
              <a:t>x_sec_curves.append</a:t>
            </a:r>
            <a:r>
              <a:rPr lang="en-US" altLang="zh-CN" sz="1800" dirty="0"/>
              <a:t>('XSecCurve_' + str(</a:t>
            </a:r>
            <a:r>
              <a:rPr lang="en-US" altLang="zh-CN" sz="1800" dirty="0" err="1"/>
              <a:t>i_segs</a:t>
            </a:r>
            <a:r>
              <a:rPr lang="en-US" altLang="zh-CN" sz="1800" dirty="0"/>
              <a:t>))</a:t>
            </a:r>
            <a:br>
              <a:rPr lang="en-US" altLang="zh-CN" sz="1800" dirty="0"/>
            </a:br>
            <a:endParaRPr lang="en-US" altLang="zh-CN" sz="1800" dirty="0"/>
          </a:p>
          <a:p>
            <a:r>
              <a:rPr lang="en-US" altLang="zh-CN" sz="1800" dirty="0"/>
              <a:t>    </a:t>
            </a:r>
            <a:r>
              <a:rPr lang="en-US" altLang="zh-CN" sz="1800" dirty="0" err="1"/>
              <a:t>vsp.SetParmVal</a:t>
            </a:r>
            <a:r>
              <a:rPr lang="en-US" altLang="zh-CN" sz="1800" dirty="0"/>
              <a:t>( wing_id,'X_Rel_Location','</a:t>
            </a:r>
            <a:r>
              <a:rPr lang="en-US" altLang="zh-CN" sz="1800" dirty="0" err="1"/>
              <a:t>XForm</a:t>
            </a:r>
            <a:r>
              <a:rPr lang="en-US" altLang="zh-CN" sz="1800" dirty="0"/>
              <a:t>',</a:t>
            </a:r>
            <a:r>
              <a:rPr lang="en-US" altLang="zh-CN" sz="1800" dirty="0" err="1"/>
              <a:t>wing_x</a:t>
            </a:r>
            <a:r>
              <a:rPr lang="en-US" altLang="zh-CN" sz="1800" dirty="0"/>
              <a:t>)</a:t>
            </a:r>
          </a:p>
          <a:p>
            <a:r>
              <a:rPr lang="en-US" altLang="zh-CN" sz="1800" dirty="0"/>
              <a:t>    </a:t>
            </a:r>
            <a:r>
              <a:rPr lang="en-US" altLang="zh-CN" sz="1800" dirty="0" err="1"/>
              <a:t>vsp.SetParmVal</a:t>
            </a:r>
            <a:r>
              <a:rPr lang="en-US" altLang="zh-CN" sz="1800" dirty="0"/>
              <a:t>( wing_id,'Y_Rel_Location','</a:t>
            </a:r>
            <a:r>
              <a:rPr lang="en-US" altLang="zh-CN" sz="1800" dirty="0" err="1"/>
              <a:t>XForm</a:t>
            </a:r>
            <a:r>
              <a:rPr lang="en-US" altLang="zh-CN" sz="1800" dirty="0"/>
              <a:t>',</a:t>
            </a:r>
            <a:r>
              <a:rPr lang="en-US" altLang="zh-CN" sz="1800" dirty="0" err="1"/>
              <a:t>wing_y</a:t>
            </a:r>
            <a:r>
              <a:rPr lang="en-US" altLang="zh-CN" sz="1800" dirty="0"/>
              <a:t>)</a:t>
            </a:r>
          </a:p>
          <a:p>
            <a:r>
              <a:rPr lang="en-US" altLang="zh-CN" sz="1800" dirty="0"/>
              <a:t>    </a:t>
            </a:r>
            <a:r>
              <a:rPr lang="en-US" altLang="zh-CN" sz="1800" dirty="0" err="1"/>
              <a:t>vsp.SetParmVal</a:t>
            </a:r>
            <a:r>
              <a:rPr lang="en-US" altLang="zh-CN" sz="1800" dirty="0"/>
              <a:t>( wing_id,'Z_Rel_Location','</a:t>
            </a:r>
            <a:r>
              <a:rPr lang="en-US" altLang="zh-CN" sz="1800" dirty="0" err="1"/>
              <a:t>XForm</a:t>
            </a:r>
            <a:r>
              <a:rPr lang="en-US" altLang="zh-CN" sz="1800" dirty="0"/>
              <a:t>',</a:t>
            </a:r>
            <a:r>
              <a:rPr lang="en-US" altLang="zh-CN" sz="1800" dirty="0" err="1"/>
              <a:t>wing_z</a:t>
            </a:r>
            <a:r>
              <a:rPr lang="en-US" altLang="zh-CN" sz="1800" dirty="0"/>
              <a:t>)</a:t>
            </a:r>
          </a:p>
          <a:p>
            <a:pPr>
              <a:lnSpc>
                <a:spcPts val="1200"/>
              </a:lnSpc>
            </a:pPr>
            <a:endParaRPr lang="en-US" altLang="zh-CN" sz="1800" dirty="0"/>
          </a:p>
        </p:txBody>
      </p:sp>
      <p:sp>
        <p:nvSpPr>
          <p:cNvPr id="12" name="文本框 11">
            <a:extLst>
              <a:ext uri="{FF2B5EF4-FFF2-40B4-BE49-F238E27FC236}">
                <a16:creationId xmlns:a16="http://schemas.microsoft.com/office/drawing/2014/main" id="{BB32E569-2D54-A69C-840A-B2303FCE5EC8}"/>
              </a:ext>
            </a:extLst>
          </p:cNvPr>
          <p:cNvSpPr txBox="1"/>
          <p:nvPr/>
        </p:nvSpPr>
        <p:spPr>
          <a:xfrm>
            <a:off x="3047999" y="1477858"/>
            <a:ext cx="6096000" cy="430887"/>
          </a:xfrm>
          <a:prstGeom prst="rect">
            <a:avLst/>
          </a:prstGeom>
          <a:noFill/>
        </p:spPr>
        <p:txBody>
          <a:bodyPr wrap="square">
            <a:spAutoFit/>
          </a:bodyPr>
          <a:lstStyle/>
          <a:p>
            <a:pPr algn="ctr"/>
            <a:r>
              <a:rPr lang="en-US" altLang="zh-CN" sz="2200" b="1" i="0" dirty="0">
                <a:solidFill>
                  <a:srgbClr val="E67000"/>
                </a:solidFill>
                <a:effectLst/>
                <a:latin typeface="微软雅黑" panose="020B0503020204020204" pitchFamily="34" charset="-122"/>
                <a:ea typeface="微软雅黑" panose="020B0503020204020204" pitchFamily="34" charset="-122"/>
              </a:rPr>
              <a:t>Partial source code of </a:t>
            </a:r>
            <a:r>
              <a:rPr lang="en-US" altLang="zh-CN" sz="2200" b="1" i="0" dirty="0" err="1">
                <a:solidFill>
                  <a:srgbClr val="E67000"/>
                </a:solidFill>
                <a:effectLst/>
                <a:latin typeface="微软雅黑" panose="020B0503020204020204" pitchFamily="34" charset="-122"/>
                <a:ea typeface="微软雅黑" panose="020B0503020204020204" pitchFamily="34" charset="-122"/>
              </a:rPr>
              <a:t>vsp_write</a:t>
            </a:r>
            <a:endParaRPr lang="zh-CN" altLang="en-US" sz="2200" b="1" dirty="0">
              <a:solidFill>
                <a:srgbClr val="E67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69FA3DB7-3EBD-8190-FD9D-19FBC608ECEE}"/>
              </a:ext>
            </a:extLst>
          </p:cNvPr>
          <p:cNvSpPr txBox="1"/>
          <p:nvPr/>
        </p:nvSpPr>
        <p:spPr>
          <a:xfrm>
            <a:off x="211886" y="870401"/>
            <a:ext cx="7103314" cy="369332"/>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cs typeface="Arial" pitchFamily="34" charset="0"/>
              </a:rPr>
              <a:t>How SUAVE create the aircraft geometry</a:t>
            </a:r>
            <a:endParaRPr lang="zh-CN" altLang="en-US" sz="2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cxnSp>
        <p:nvCxnSpPr>
          <p:cNvPr id="15" name="直接连接符 14">
            <a:extLst>
              <a:ext uri="{FF2B5EF4-FFF2-40B4-BE49-F238E27FC236}">
                <a16:creationId xmlns:a16="http://schemas.microsoft.com/office/drawing/2014/main" id="{5E1F1F84-D444-D2B6-2C2C-7BDDF24CE37D}"/>
              </a:ext>
            </a:extLst>
          </p:cNvPr>
          <p:cNvCxnSpPr>
            <a:cxnSpLocks/>
          </p:cNvCxnSpPr>
          <p:nvPr/>
        </p:nvCxnSpPr>
        <p:spPr>
          <a:xfrm>
            <a:off x="263105" y="1908745"/>
            <a:ext cx="11646739" cy="0"/>
          </a:xfrm>
          <a:prstGeom prst="line">
            <a:avLst/>
          </a:prstGeom>
          <a:ln w="25400">
            <a:solidFill>
              <a:schemeClr val="bg1">
                <a:alpha val="60000"/>
              </a:scheme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925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63CB6D9D-6A1E-068A-7E53-9AB50F1A989D}"/>
              </a:ext>
            </a:extLst>
          </p:cNvPr>
          <p:cNvPicPr>
            <a:picLocks noChangeAspect="1"/>
          </p:cNvPicPr>
          <p:nvPr/>
        </p:nvPicPr>
        <p:blipFill>
          <a:blip r:embed="rId2"/>
          <a:stretch>
            <a:fillRect/>
          </a:stretch>
        </p:blipFill>
        <p:spPr>
          <a:xfrm>
            <a:off x="4273893" y="1405987"/>
            <a:ext cx="7819048" cy="4819048"/>
          </a:xfrm>
          <a:prstGeom prst="rect">
            <a:avLst/>
          </a:prstGeom>
          <a:ln>
            <a:noFill/>
          </a:ln>
        </p:spPr>
      </p:pic>
      <p:sp>
        <p:nvSpPr>
          <p:cNvPr id="3" name="标题 1">
            <a:extLst>
              <a:ext uri="{FF2B5EF4-FFF2-40B4-BE49-F238E27FC236}">
                <a16:creationId xmlns:a16="http://schemas.microsoft.com/office/drawing/2014/main" id="{B31474C8-FE06-72E8-CE90-1430DBC46D66}"/>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Main Modules - </a:t>
            </a:r>
            <a:r>
              <a:rPr kumimoji="0" lang="en-US" altLang="zh-CN" b="1" i="0" u="none" strike="noStrike" kern="1200" cap="none" spc="1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Vehicle</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63673A65-2847-B6EF-D296-44808DF147B0}"/>
              </a:ext>
            </a:extLst>
          </p:cNvPr>
          <p:cNvSpPr txBox="1"/>
          <p:nvPr/>
        </p:nvSpPr>
        <p:spPr>
          <a:xfrm>
            <a:off x="211886" y="870401"/>
            <a:ext cx="7103314" cy="369332"/>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cs typeface="Arial" pitchFamily="34" charset="0"/>
              </a:rPr>
              <a:t>How </a:t>
            </a:r>
            <a:r>
              <a:rPr lang="en-US" altLang="zh-CN" sz="2400" b="1" dirty="0" err="1">
                <a:solidFill>
                  <a:srgbClr val="002060"/>
                </a:solidFill>
                <a:latin typeface="微软雅黑" panose="020B0503020204020204" pitchFamily="34" charset="-122"/>
                <a:ea typeface="微软雅黑" panose="020B0503020204020204" pitchFamily="34" charset="-122"/>
                <a:cs typeface="Arial" pitchFamily="34" charset="0"/>
              </a:rPr>
              <a:t>OpenVSP</a:t>
            </a:r>
            <a:r>
              <a:rPr lang="en-US" altLang="zh-CN" sz="2400" b="1" dirty="0">
                <a:solidFill>
                  <a:srgbClr val="002060"/>
                </a:solidFill>
                <a:latin typeface="微软雅黑" panose="020B0503020204020204" pitchFamily="34" charset="-122"/>
                <a:ea typeface="微软雅黑" panose="020B0503020204020204" pitchFamily="34" charset="-122"/>
                <a:cs typeface="Arial" pitchFamily="34" charset="0"/>
              </a:rPr>
              <a:t> create the aircraft geometry</a:t>
            </a:r>
            <a:endParaRPr lang="zh-CN" altLang="en-US" sz="2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
        <p:nvSpPr>
          <p:cNvPr id="5" name="文本框 4">
            <a:extLst>
              <a:ext uri="{FF2B5EF4-FFF2-40B4-BE49-F238E27FC236}">
                <a16:creationId xmlns:a16="http://schemas.microsoft.com/office/drawing/2014/main" id="{AB5055E6-3323-1BA4-7E5C-6BCF3C60A1C9}"/>
              </a:ext>
            </a:extLst>
          </p:cNvPr>
          <p:cNvSpPr txBox="1"/>
          <p:nvPr/>
        </p:nvSpPr>
        <p:spPr>
          <a:xfrm>
            <a:off x="7015017" y="6252789"/>
            <a:ext cx="2336800" cy="276999"/>
          </a:xfrm>
          <a:prstGeom prst="rect">
            <a:avLst/>
          </a:prstGeom>
          <a:noFill/>
        </p:spPr>
        <p:txBody>
          <a:bodyPr wrap="square" lIns="0" tIns="0" rIns="0" bIns="0" rtlCol="0">
            <a:spAutoFit/>
          </a:bodyPr>
          <a:lstStyle/>
          <a:p>
            <a:pPr algn="ctr"/>
            <a:r>
              <a:rPr lang="en-US" altLang="zh-CN" dirty="0">
                <a:solidFill>
                  <a:srgbClr val="002060"/>
                </a:solidFill>
                <a:latin typeface="微软雅黑" panose="020B0503020204020204" pitchFamily="34" charset="-122"/>
                <a:ea typeface="微软雅黑" panose="020B0503020204020204" pitchFamily="34" charset="-122"/>
              </a:rPr>
              <a:t>Partial text of </a:t>
            </a:r>
            <a:r>
              <a:rPr lang="en-US" altLang="zh-CN" dirty="0" err="1">
                <a:solidFill>
                  <a:srgbClr val="002060"/>
                </a:solidFill>
                <a:latin typeface="微软雅黑" panose="020B0503020204020204" pitchFamily="34" charset="-122"/>
                <a:ea typeface="微软雅黑" panose="020B0503020204020204" pitchFamily="34" charset="-122"/>
              </a:rPr>
              <a:t>vsp</a:t>
            </a:r>
            <a:r>
              <a:rPr lang="en-US" altLang="zh-CN" dirty="0">
                <a:solidFill>
                  <a:srgbClr val="002060"/>
                </a:solidFill>
                <a:latin typeface="微软雅黑" panose="020B0503020204020204" pitchFamily="34" charset="-122"/>
                <a:ea typeface="微软雅黑" panose="020B0503020204020204" pitchFamily="34" charset="-122"/>
              </a:rPr>
              <a:t> file</a:t>
            </a:r>
            <a:endPar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8" name="文本框 7">
            <a:extLst>
              <a:ext uri="{FF2B5EF4-FFF2-40B4-BE49-F238E27FC236}">
                <a16:creationId xmlns:a16="http://schemas.microsoft.com/office/drawing/2014/main" id="{F1C0F48B-7573-ECA4-76B9-0862188AEC95}"/>
              </a:ext>
            </a:extLst>
          </p:cNvPr>
          <p:cNvSpPr txBox="1"/>
          <p:nvPr/>
        </p:nvSpPr>
        <p:spPr>
          <a:xfrm>
            <a:off x="479157" y="3252337"/>
            <a:ext cx="3352526" cy="1477328"/>
          </a:xfrm>
          <a:prstGeom prst="rect">
            <a:avLst/>
          </a:prstGeom>
          <a:solidFill>
            <a:srgbClr val="2D2D30"/>
          </a:solidFill>
        </p:spPr>
        <p:txBody>
          <a:bodyPr wrap="square" lIns="0" tIns="0" rIns="0" bIns="0" rtlCol="0">
            <a:spAutoFit/>
          </a:bodyPr>
          <a:lstStyle>
            <a:defPPr>
              <a:defRPr lang="de-DE"/>
            </a:defPPr>
            <a:lvl1pPr marL="108000">
              <a:defRPr>
                <a:solidFill>
                  <a:schemeClr val="bg1"/>
                </a:solidFill>
                <a:latin typeface="Consolas" panose="020B0609020204030204" pitchFamily="49" charset="0"/>
                <a:ea typeface="微软雅黑" panose="020B0503020204020204" pitchFamily="34" charset="-122"/>
                <a:cs typeface="Arial" pitchFamily="34" charset="0"/>
              </a:defRPr>
            </a:lvl1pPr>
          </a:lstStyle>
          <a:p>
            <a:r>
              <a:rPr lang="en-US" altLang="zh-CN" sz="1600" dirty="0" err="1"/>
              <a:t>wing.sweeps.quarter_chord</a:t>
            </a:r>
            <a:r>
              <a:rPr lang="en-US" altLang="zh-CN" sz="1600" dirty="0"/>
              <a:t>=25</a:t>
            </a:r>
          </a:p>
          <a:p>
            <a:r>
              <a:rPr lang="en-US" altLang="zh-CN" sz="1600" dirty="0" err="1"/>
              <a:t>wing.thickness_to_chord</a:t>
            </a:r>
            <a:r>
              <a:rPr lang="en-US" altLang="zh-CN" sz="1600" dirty="0"/>
              <a:t>  =0.1</a:t>
            </a:r>
          </a:p>
          <a:p>
            <a:r>
              <a:rPr lang="en-US" altLang="zh-CN" sz="1600" dirty="0" err="1"/>
              <a:t>wing.taper</a:t>
            </a:r>
            <a:r>
              <a:rPr lang="en-US" altLang="zh-CN" sz="1600" dirty="0"/>
              <a:t>               =0.1</a:t>
            </a:r>
          </a:p>
          <a:p>
            <a:r>
              <a:rPr lang="en-US" altLang="zh-CN" sz="1600" dirty="0" err="1"/>
              <a:t>wing.spans.projected</a:t>
            </a:r>
            <a:r>
              <a:rPr lang="en-US" altLang="zh-CN" sz="1600" dirty="0"/>
              <a:t>   =34.32</a:t>
            </a:r>
          </a:p>
          <a:p>
            <a:r>
              <a:rPr lang="en-US" altLang="zh-CN" sz="1600" dirty="0" err="1"/>
              <a:t>wing.chords.root</a:t>
            </a:r>
            <a:r>
              <a:rPr lang="en-US" altLang="zh-CN" sz="1600" dirty="0"/>
              <a:t>       =7.760</a:t>
            </a:r>
          </a:p>
          <a:p>
            <a:r>
              <a:rPr lang="en-US" altLang="zh-CN" sz="1600" dirty="0" err="1"/>
              <a:t>wing.chords.tip</a:t>
            </a:r>
            <a:r>
              <a:rPr lang="en-US" altLang="zh-CN" sz="1600" dirty="0"/>
              <a:t>        =0.782</a:t>
            </a:r>
          </a:p>
        </p:txBody>
      </p:sp>
      <p:cxnSp>
        <p:nvCxnSpPr>
          <p:cNvPr id="14" name="连接符: 肘形 13">
            <a:extLst>
              <a:ext uri="{FF2B5EF4-FFF2-40B4-BE49-F238E27FC236}">
                <a16:creationId xmlns:a16="http://schemas.microsoft.com/office/drawing/2014/main" id="{14A63F45-853F-8533-E596-F2704BA25CAD}"/>
              </a:ext>
            </a:extLst>
          </p:cNvPr>
          <p:cNvCxnSpPr>
            <a:cxnSpLocks/>
          </p:cNvCxnSpPr>
          <p:nvPr/>
        </p:nvCxnSpPr>
        <p:spPr>
          <a:xfrm rot="10800000">
            <a:off x="3592946" y="4729666"/>
            <a:ext cx="997527" cy="784443"/>
          </a:xfrm>
          <a:prstGeom prst="bentConnector3">
            <a:avLst>
              <a:gd name="adj1" fmla="val 1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EDBF7BB9-E51A-45CB-8994-950412704BD7}"/>
              </a:ext>
            </a:extLst>
          </p:cNvPr>
          <p:cNvCxnSpPr>
            <a:cxnSpLocks/>
          </p:cNvCxnSpPr>
          <p:nvPr/>
        </p:nvCxnSpPr>
        <p:spPr>
          <a:xfrm rot="10800000" flipV="1">
            <a:off x="3831684" y="3740724"/>
            <a:ext cx="758791" cy="618839"/>
          </a:xfrm>
          <a:prstGeom prst="bentConnector3">
            <a:avLst>
              <a:gd name="adj1" fmla="val 2443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7CE22A8F-0D9C-89D4-2AA8-724035C5D22A}"/>
              </a:ext>
            </a:extLst>
          </p:cNvPr>
          <p:cNvCxnSpPr>
            <a:cxnSpLocks/>
          </p:cNvCxnSpPr>
          <p:nvPr/>
        </p:nvCxnSpPr>
        <p:spPr>
          <a:xfrm rot="10800000" flipV="1">
            <a:off x="3831682" y="3509816"/>
            <a:ext cx="758793" cy="61884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F287129-B93E-814A-F94B-CDEFC7AC5AFE}"/>
              </a:ext>
            </a:extLst>
          </p:cNvPr>
          <p:cNvSpPr txBox="1"/>
          <p:nvPr/>
        </p:nvSpPr>
        <p:spPr>
          <a:xfrm>
            <a:off x="211886" y="1522744"/>
            <a:ext cx="3510369" cy="1200329"/>
          </a:xfrm>
          <a:prstGeom prst="rect">
            <a:avLst/>
          </a:prstGeom>
          <a:noFill/>
        </p:spPr>
        <p:txBody>
          <a:bodyPr wrap="square">
            <a:spAutoFit/>
          </a:bodyPr>
          <a:lstStyle/>
          <a:p>
            <a:pPr algn="just"/>
            <a:r>
              <a:rPr lang="en-US" altLang="zh-CN" dirty="0" err="1">
                <a:solidFill>
                  <a:srgbClr val="002060"/>
                </a:solidFill>
                <a:latin typeface="微软雅黑" panose="020B0503020204020204" pitchFamily="34" charset="-122"/>
                <a:ea typeface="微软雅黑" panose="020B0503020204020204" pitchFamily="34" charset="-122"/>
              </a:rPr>
              <a:t>OpenVSP</a:t>
            </a:r>
            <a:r>
              <a:rPr lang="en-US" altLang="zh-CN" dirty="0">
                <a:solidFill>
                  <a:srgbClr val="002060"/>
                </a:solidFill>
                <a:latin typeface="微软雅黑" panose="020B0503020204020204" pitchFamily="34" charset="-122"/>
                <a:ea typeface="微软雅黑" panose="020B0503020204020204" pitchFamily="34" charset="-122"/>
              </a:rPr>
              <a:t> uses XML format to record geometric parameters of each component with structured tags.</a:t>
            </a:r>
            <a:endParaRPr lang="zh-CN" altLang="en-US"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87245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E429-3D68-E9A7-0EF3-207EB1E8246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BD54424-583F-C00C-C69C-5165EF109EEB}"/>
              </a:ext>
            </a:extLst>
          </p:cNvPr>
          <p:cNvPicPr>
            <a:picLocks noChangeAspect="1"/>
          </p:cNvPicPr>
          <p:nvPr/>
        </p:nvPicPr>
        <p:blipFill>
          <a:blip r:embed="rId2">
            <a:clrChange>
              <a:clrFrom>
                <a:srgbClr val="FFFFFF"/>
              </a:clrFrom>
              <a:clrTo>
                <a:srgbClr val="FFFFFF">
                  <a:alpha val="0"/>
                </a:srgbClr>
              </a:clrTo>
            </a:clrChange>
          </a:blip>
          <a:srcRect l="7046" t="57404" r="7752" b="6947"/>
          <a:stretch>
            <a:fillRect/>
          </a:stretch>
        </p:blipFill>
        <p:spPr>
          <a:xfrm>
            <a:off x="860955" y="2453162"/>
            <a:ext cx="10465467" cy="3435041"/>
          </a:xfrm>
          <a:prstGeom prst="rect">
            <a:avLst/>
          </a:prstGeom>
        </p:spPr>
      </p:pic>
      <p:cxnSp>
        <p:nvCxnSpPr>
          <p:cNvPr id="9" name="直接连接符 8">
            <a:extLst>
              <a:ext uri="{FF2B5EF4-FFF2-40B4-BE49-F238E27FC236}">
                <a16:creationId xmlns:a16="http://schemas.microsoft.com/office/drawing/2014/main" id="{6DE5F2C4-9CED-D167-5D00-ADA28AE0B05B}"/>
              </a:ext>
            </a:extLst>
          </p:cNvPr>
          <p:cNvCxnSpPr>
            <a:cxnSpLocks/>
          </p:cNvCxnSpPr>
          <p:nvPr/>
        </p:nvCxnSpPr>
        <p:spPr>
          <a:xfrm>
            <a:off x="2877951" y="2647950"/>
            <a:ext cx="0" cy="2802355"/>
          </a:xfrm>
          <a:prstGeom prst="line">
            <a:avLst/>
          </a:prstGeom>
          <a:ln w="1524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4323FF4-1703-4624-DFC9-65183B640BF9}"/>
              </a:ext>
            </a:extLst>
          </p:cNvPr>
          <p:cNvCxnSpPr>
            <a:cxnSpLocks/>
          </p:cNvCxnSpPr>
          <p:nvPr/>
        </p:nvCxnSpPr>
        <p:spPr>
          <a:xfrm>
            <a:off x="9344523" y="2647950"/>
            <a:ext cx="0" cy="2802354"/>
          </a:xfrm>
          <a:prstGeom prst="line">
            <a:avLst/>
          </a:prstGeom>
          <a:ln w="1524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DAE9853-6CF5-69BB-EF18-60D1A886CDCC}"/>
              </a:ext>
            </a:extLst>
          </p:cNvPr>
          <p:cNvSpPr txBox="1"/>
          <p:nvPr/>
        </p:nvSpPr>
        <p:spPr>
          <a:xfrm>
            <a:off x="4673960" y="2032534"/>
            <a:ext cx="2839453" cy="307777"/>
          </a:xfrm>
          <a:prstGeom prst="rect">
            <a:avLst/>
          </a:prstGeom>
          <a:noFill/>
        </p:spPr>
        <p:txBody>
          <a:bodyPr wrap="square" lIns="0" tIns="0" rIns="0" bIns="0" rtlCol="0">
            <a:spAutoFit/>
          </a:bodyPr>
          <a:lstStyle/>
          <a:p>
            <a:pPr algn="ctr"/>
            <a:r>
              <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rPr>
              <a:t>Flight Mission</a:t>
            </a:r>
            <a:endPar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 name="标题 1">
            <a:extLst>
              <a:ext uri="{FF2B5EF4-FFF2-40B4-BE49-F238E27FC236}">
                <a16:creationId xmlns:a16="http://schemas.microsoft.com/office/drawing/2014/main" id="{94471E41-3F09-C894-543D-01491508E844}"/>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Main Modules - </a:t>
            </a:r>
            <a:r>
              <a:rPr kumimoji="0" lang="en-US" altLang="zh-CN" b="1" i="0" u="none" strike="noStrike" kern="1200" cap="none" spc="1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Mission</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8760A0CD-8BF4-2E1E-FFB8-CB41A5F71E2C}"/>
              </a:ext>
            </a:extLst>
          </p:cNvPr>
          <p:cNvSpPr txBox="1"/>
          <p:nvPr/>
        </p:nvSpPr>
        <p:spPr>
          <a:xfrm>
            <a:off x="860955" y="5953265"/>
            <a:ext cx="2403114" cy="307777"/>
          </a:xfrm>
          <a:prstGeom prst="rect">
            <a:avLst/>
          </a:prstGeom>
          <a:noFill/>
        </p:spPr>
        <p:txBody>
          <a:bodyPr wrap="square" lIns="0" tIns="0" rIns="0" bIns="0" rtlCol="0">
            <a:spAutoFit/>
          </a:bodyPr>
          <a:lstStyle/>
          <a:p>
            <a:pPr algn="ctr"/>
            <a:r>
              <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rPr>
              <a:t>Takeoff &amp; Climb</a:t>
            </a:r>
            <a:endPar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1" name="文本框 20">
            <a:extLst>
              <a:ext uri="{FF2B5EF4-FFF2-40B4-BE49-F238E27FC236}">
                <a16:creationId xmlns:a16="http://schemas.microsoft.com/office/drawing/2014/main" id="{04EC8B8A-7B2C-4D39-4010-0D625CC5AD62}"/>
              </a:ext>
            </a:extLst>
          </p:cNvPr>
          <p:cNvSpPr txBox="1"/>
          <p:nvPr/>
        </p:nvSpPr>
        <p:spPr>
          <a:xfrm>
            <a:off x="4892130" y="5953265"/>
            <a:ext cx="2403114" cy="307777"/>
          </a:xfrm>
          <a:prstGeom prst="rect">
            <a:avLst/>
          </a:prstGeom>
          <a:noFill/>
        </p:spPr>
        <p:txBody>
          <a:bodyPr wrap="square" lIns="0" tIns="0" rIns="0" bIns="0" rtlCol="0">
            <a:spAutoFit/>
          </a:bodyPr>
          <a:lstStyle/>
          <a:p>
            <a:pPr algn="ctr"/>
            <a:r>
              <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rPr>
              <a:t>Cruise</a:t>
            </a:r>
            <a:endPar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2" name="文本框 21">
            <a:extLst>
              <a:ext uri="{FF2B5EF4-FFF2-40B4-BE49-F238E27FC236}">
                <a16:creationId xmlns:a16="http://schemas.microsoft.com/office/drawing/2014/main" id="{0AB16D7E-5B18-BE73-A738-0FF3EF97C2F0}"/>
              </a:ext>
            </a:extLst>
          </p:cNvPr>
          <p:cNvSpPr txBox="1"/>
          <p:nvPr/>
        </p:nvSpPr>
        <p:spPr>
          <a:xfrm>
            <a:off x="8923305" y="5953264"/>
            <a:ext cx="2403114" cy="307777"/>
          </a:xfrm>
          <a:prstGeom prst="rect">
            <a:avLst/>
          </a:prstGeom>
          <a:noFill/>
        </p:spPr>
        <p:txBody>
          <a:bodyPr wrap="square" lIns="0" tIns="0" rIns="0" bIns="0" rtlCol="0">
            <a:spAutoFit/>
          </a:bodyPr>
          <a:lstStyle/>
          <a:p>
            <a:pPr algn="ctr"/>
            <a:r>
              <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rPr>
              <a:t>Descent &amp; landing</a:t>
            </a:r>
            <a:endPar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25" name="图片 24">
            <a:extLst>
              <a:ext uri="{FF2B5EF4-FFF2-40B4-BE49-F238E27FC236}">
                <a16:creationId xmlns:a16="http://schemas.microsoft.com/office/drawing/2014/main" id="{9FAFBDB6-3783-045A-1249-D52779332076}"/>
              </a:ext>
            </a:extLst>
          </p:cNvPr>
          <p:cNvPicPr>
            <a:picLocks noChangeAspect="1"/>
          </p:cNvPicPr>
          <p:nvPr/>
        </p:nvPicPr>
        <p:blipFill>
          <a:blip r:embed="rId3">
            <a:clrChange>
              <a:clrFrom>
                <a:srgbClr val="F2F2F2"/>
              </a:clrFrom>
              <a:clrTo>
                <a:srgbClr val="F2F2F2">
                  <a:alpha val="0"/>
                </a:srgbClr>
              </a:clrTo>
            </a:clrChange>
          </a:blip>
          <a:stretch>
            <a:fillRect/>
          </a:stretch>
        </p:blipFill>
        <p:spPr>
          <a:xfrm rot="20886059">
            <a:off x="1248547" y="3478615"/>
            <a:ext cx="1627930" cy="1128541"/>
          </a:xfrm>
          <a:prstGeom prst="rect">
            <a:avLst/>
          </a:prstGeom>
        </p:spPr>
      </p:pic>
      <p:pic>
        <p:nvPicPr>
          <p:cNvPr id="26" name="图片 25">
            <a:extLst>
              <a:ext uri="{FF2B5EF4-FFF2-40B4-BE49-F238E27FC236}">
                <a16:creationId xmlns:a16="http://schemas.microsoft.com/office/drawing/2014/main" id="{30BA03BE-533D-25C7-B19C-9E49EA522ADE}"/>
              </a:ext>
            </a:extLst>
          </p:cNvPr>
          <p:cNvPicPr>
            <a:picLocks noChangeAspect="1"/>
          </p:cNvPicPr>
          <p:nvPr/>
        </p:nvPicPr>
        <p:blipFill>
          <a:blip r:embed="rId3">
            <a:clrChange>
              <a:clrFrom>
                <a:srgbClr val="F2F2F2"/>
              </a:clrFrom>
              <a:clrTo>
                <a:srgbClr val="F2F2F2">
                  <a:alpha val="0"/>
                </a:srgbClr>
              </a:clrTo>
            </a:clrChange>
          </a:blip>
          <a:stretch>
            <a:fillRect/>
          </a:stretch>
        </p:blipFill>
        <p:spPr>
          <a:xfrm rot="2027862">
            <a:off x="5297929" y="2277104"/>
            <a:ext cx="1627930" cy="1128541"/>
          </a:xfrm>
          <a:prstGeom prst="rect">
            <a:avLst/>
          </a:prstGeom>
        </p:spPr>
      </p:pic>
      <p:pic>
        <p:nvPicPr>
          <p:cNvPr id="27" name="图片 26">
            <a:extLst>
              <a:ext uri="{FF2B5EF4-FFF2-40B4-BE49-F238E27FC236}">
                <a16:creationId xmlns:a16="http://schemas.microsoft.com/office/drawing/2014/main" id="{A69B2F3D-01AC-0B8B-2C73-510C15EC9F2A}"/>
              </a:ext>
            </a:extLst>
          </p:cNvPr>
          <p:cNvPicPr>
            <a:picLocks noChangeAspect="1"/>
          </p:cNvPicPr>
          <p:nvPr/>
        </p:nvPicPr>
        <p:blipFill>
          <a:blip r:embed="rId3">
            <a:clrChange>
              <a:clrFrom>
                <a:srgbClr val="F2F2F2"/>
              </a:clrFrom>
              <a:clrTo>
                <a:srgbClr val="F2F2F2">
                  <a:alpha val="0"/>
                </a:srgbClr>
              </a:clrTo>
            </a:clrChange>
          </a:blip>
          <a:stretch>
            <a:fillRect/>
          </a:stretch>
        </p:blipFill>
        <p:spPr>
          <a:xfrm rot="3993189">
            <a:off x="9386789" y="3478614"/>
            <a:ext cx="1627930" cy="1128541"/>
          </a:xfrm>
          <a:prstGeom prst="rect">
            <a:avLst/>
          </a:prstGeom>
        </p:spPr>
      </p:pic>
      <p:sp>
        <p:nvSpPr>
          <p:cNvPr id="29" name="文本框 28">
            <a:extLst>
              <a:ext uri="{FF2B5EF4-FFF2-40B4-BE49-F238E27FC236}">
                <a16:creationId xmlns:a16="http://schemas.microsoft.com/office/drawing/2014/main" id="{D314809F-362F-2E48-59C2-FAF72BAD600E}"/>
              </a:ext>
            </a:extLst>
          </p:cNvPr>
          <p:cNvSpPr txBox="1"/>
          <p:nvPr/>
        </p:nvSpPr>
        <p:spPr>
          <a:xfrm>
            <a:off x="222691" y="872758"/>
            <a:ext cx="11741989" cy="874407"/>
          </a:xfrm>
          <a:prstGeom prst="rect">
            <a:avLst/>
          </a:prstGeom>
          <a:noFill/>
        </p:spPr>
        <p:txBody>
          <a:bodyPr wrap="square">
            <a:spAutoFit/>
          </a:bodyPr>
          <a:lstStyle/>
          <a:p>
            <a:pPr>
              <a:lnSpc>
                <a:spcPct val="150000"/>
              </a:lnSpc>
            </a:pPr>
            <a:r>
              <a:rPr lang="en-US" altLang="zh-CN" dirty="0">
                <a:solidFill>
                  <a:srgbClr val="002060"/>
                </a:solidFill>
                <a:latin typeface="微软雅黑" panose="020B0503020204020204" pitchFamily="34" charset="-122"/>
                <a:ea typeface="微软雅黑" panose="020B0503020204020204" pitchFamily="34" charset="-122"/>
              </a:rPr>
              <a:t>If you want your flight mission to be more realistic, you should adopt a multi-segment climb and descent mode to achieve smoother speed transitions and configure distinct aircraft states for takeoff and landing.</a:t>
            </a:r>
            <a:endParaRPr lang="zh-CN" altLang="en-US"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7999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9A5F4-DEF4-6525-1FC4-689A66CD70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AB3C91-AE58-A2BF-E9A1-9582DA9B197B}"/>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Main Modules – </a:t>
            </a:r>
            <a:r>
              <a:rPr kumimoji="0" lang="en-US" altLang="zh-CN" b="1" i="0" u="none" strike="noStrike" kern="1200" cap="none" spc="1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Aerodynamic Analysis</a:t>
            </a:r>
            <a:endParaRPr lang="en-US" altLang="zh-CN" dirty="0">
              <a:solidFill>
                <a:srgbClr val="C00000"/>
              </a:solidFill>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65C088CB-7BD1-2ED0-3B42-566066B70967}"/>
              </a:ext>
            </a:extLst>
          </p:cNvPr>
          <p:cNvGraphicFramePr>
            <a:graphicFrameLocks noGrp="1"/>
          </p:cNvGraphicFramePr>
          <p:nvPr>
            <p:extLst>
              <p:ext uri="{D42A27DB-BD31-4B8C-83A1-F6EECF244321}">
                <p14:modId xmlns:p14="http://schemas.microsoft.com/office/powerpoint/2010/main" val="3721058468"/>
              </p:ext>
            </p:extLst>
          </p:nvPr>
        </p:nvGraphicFramePr>
        <p:xfrm>
          <a:off x="628072" y="986837"/>
          <a:ext cx="10935856" cy="5286124"/>
        </p:xfrm>
        <a:graphic>
          <a:graphicData uri="http://schemas.openxmlformats.org/drawingml/2006/table">
            <a:tbl>
              <a:tblPr firstRow="1" bandRow="1">
                <a:tableStyleId>{5C22544A-7EE6-4342-B048-85BDC9FD1C3A}</a:tableStyleId>
              </a:tblPr>
              <a:tblGrid>
                <a:gridCol w="4202547">
                  <a:extLst>
                    <a:ext uri="{9D8B030D-6E8A-4147-A177-3AD203B41FA5}">
                      <a16:colId xmlns:a16="http://schemas.microsoft.com/office/drawing/2014/main" val="494558665"/>
                    </a:ext>
                  </a:extLst>
                </a:gridCol>
                <a:gridCol w="6733309">
                  <a:extLst>
                    <a:ext uri="{9D8B030D-6E8A-4147-A177-3AD203B41FA5}">
                      <a16:colId xmlns:a16="http://schemas.microsoft.com/office/drawing/2014/main" val="274078210"/>
                    </a:ext>
                  </a:extLst>
                </a:gridCol>
              </a:tblGrid>
              <a:tr h="370840">
                <a:tc>
                  <a:txBody>
                    <a:bodyPr/>
                    <a:lstStyle/>
                    <a:p>
                      <a:pPr algn="ctr">
                        <a:lnSpc>
                          <a:spcPct val="150000"/>
                        </a:lnSpc>
                      </a:pPr>
                      <a:r>
                        <a:rPr lang="en-US" altLang="zh-CN" sz="2000" b="1" dirty="0" err="1">
                          <a:solidFill>
                            <a:srgbClr val="002060"/>
                          </a:solidFill>
                          <a:latin typeface="Consolas" panose="020B0609020204030204" pitchFamily="49" charset="0"/>
                        </a:rPr>
                        <a:t>Fidelity_Zero</a:t>
                      </a:r>
                      <a:endParaRPr lang="en-US" altLang="zh-CN" sz="2000" b="1" dirty="0">
                        <a:solidFill>
                          <a:srgbClr val="002060"/>
                        </a:solidFill>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altLang="zh-CN" sz="1800" b="0" dirty="0">
                          <a:solidFill>
                            <a:srgbClr val="002060"/>
                          </a:solidFill>
                          <a:latin typeface="微软雅黑" panose="020B0503020204020204" pitchFamily="34" charset="-122"/>
                          <a:ea typeface="微软雅黑" panose="020B0503020204020204" pitchFamily="34" charset="-122"/>
                        </a:rPr>
                        <a:t>Based on VLM method, it is suitable for aerodynamic force calculation of low-speed aircraft.</a:t>
                      </a:r>
                      <a:endParaRPr lang="zh-CN" altLang="en-US" sz="1800" b="0" dirty="0">
                        <a:solidFill>
                          <a:srgbClr val="00206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6942181"/>
                  </a:ext>
                </a:extLst>
              </a:tr>
              <a:tr h="370840">
                <a:tc>
                  <a:txBody>
                    <a:bodyPr/>
                    <a:lstStyle/>
                    <a:p>
                      <a:pPr algn="ctr">
                        <a:lnSpc>
                          <a:spcPct val="150000"/>
                        </a:lnSpc>
                      </a:pPr>
                      <a:r>
                        <a:rPr lang="en-US" altLang="zh-CN" sz="2000" b="1" dirty="0" err="1">
                          <a:solidFill>
                            <a:srgbClr val="002060"/>
                          </a:solidFill>
                          <a:latin typeface="Consolas" panose="020B0609020204030204" pitchFamily="49" charset="0"/>
                        </a:rPr>
                        <a:t>Supersonic_Zero</a:t>
                      </a:r>
                      <a:endParaRPr lang="zh-CN" altLang="en-US" sz="2000" b="1" dirty="0">
                        <a:solidFill>
                          <a:srgbClr val="002060"/>
                        </a:solidFill>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altLang="zh-CN" sz="1800" b="0" dirty="0">
                          <a:solidFill>
                            <a:srgbClr val="002060"/>
                          </a:solidFill>
                          <a:latin typeface="微软雅黑" panose="020B0503020204020204" pitchFamily="34" charset="-122"/>
                          <a:ea typeface="微软雅黑" panose="020B0503020204020204" pitchFamily="34" charset="-122"/>
                        </a:rPr>
                        <a:t>Also based on VLM method, but modified with empirical formulas for supersonic conditions. </a:t>
                      </a:r>
                      <a:endParaRPr lang="zh-CN" altLang="en-US" sz="1800" b="0" dirty="0">
                        <a:solidFill>
                          <a:srgbClr val="00206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963844"/>
                  </a:ext>
                </a:extLst>
              </a:tr>
              <a:tr h="370840">
                <a:tc>
                  <a:txBody>
                    <a:bodyPr/>
                    <a:lstStyle/>
                    <a:p>
                      <a:pPr algn="ctr">
                        <a:lnSpc>
                          <a:spcPct val="150000"/>
                        </a:lnSpc>
                      </a:pPr>
                      <a:r>
                        <a:rPr lang="en-US" altLang="zh-CN" sz="2000" b="1" dirty="0">
                          <a:solidFill>
                            <a:srgbClr val="002060"/>
                          </a:solidFill>
                          <a:latin typeface="Consolas" panose="020B0609020204030204" pitchFamily="49" charset="0"/>
                        </a:rPr>
                        <a:t>AERODAS</a:t>
                      </a:r>
                      <a:endParaRPr lang="zh-CN" altLang="en-US" sz="2000" b="1" dirty="0">
                        <a:solidFill>
                          <a:srgbClr val="002060"/>
                        </a:solidFill>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altLang="zh-CN" sz="1800" b="0" dirty="0">
                          <a:solidFill>
                            <a:srgbClr val="002060"/>
                          </a:solidFill>
                          <a:latin typeface="微软雅黑" panose="020B0503020204020204" pitchFamily="34" charset="-122"/>
                          <a:ea typeface="微软雅黑" panose="020B0503020204020204" pitchFamily="34" charset="-122"/>
                        </a:rPr>
                        <a:t>An airfoil aerodynamic prediction method developed by NASA. Its core function is to calculate the CL and CD of airfoils over the entire angle of attack range through empirical formulas and curve fitting.</a:t>
                      </a:r>
                      <a:endParaRPr lang="zh-CN" altLang="en-US" sz="1800" b="0" dirty="0">
                        <a:solidFill>
                          <a:srgbClr val="00206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1602300"/>
                  </a:ext>
                </a:extLst>
              </a:tr>
              <a:tr h="370840">
                <a:tc>
                  <a:txBody>
                    <a:bodyPr/>
                    <a:lstStyle/>
                    <a:p>
                      <a:pPr algn="ctr">
                        <a:lnSpc>
                          <a:spcPct val="150000"/>
                        </a:lnSpc>
                      </a:pPr>
                      <a:r>
                        <a:rPr lang="en-US" altLang="zh-CN" sz="2000" b="1" dirty="0">
                          <a:solidFill>
                            <a:srgbClr val="002060"/>
                          </a:solidFill>
                          <a:latin typeface="Consolas" panose="020B0609020204030204" pitchFamily="49" charset="0"/>
                        </a:rPr>
                        <a:t>SU2_Euler</a:t>
                      </a:r>
                      <a:endParaRPr lang="zh-CN" altLang="en-US" sz="2000" b="1" dirty="0">
                        <a:solidFill>
                          <a:srgbClr val="002060"/>
                        </a:solidFill>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altLang="zh-CN" sz="1800" b="0" dirty="0">
                          <a:solidFill>
                            <a:srgbClr val="002060"/>
                          </a:solidFill>
                          <a:latin typeface="微软雅黑" panose="020B0503020204020204" pitchFamily="34" charset="-122"/>
                          <a:ea typeface="微软雅黑" panose="020B0503020204020204" pitchFamily="34" charset="-122"/>
                        </a:rPr>
                        <a:t>Generate volume meshes via </a:t>
                      </a:r>
                      <a:r>
                        <a:rPr lang="en-US" altLang="zh-CN" sz="1800" b="0" dirty="0" err="1">
                          <a:solidFill>
                            <a:srgbClr val="002060"/>
                          </a:solidFill>
                          <a:latin typeface="微软雅黑" panose="020B0503020204020204" pitchFamily="34" charset="-122"/>
                          <a:ea typeface="微软雅黑" panose="020B0503020204020204" pitchFamily="34" charset="-122"/>
                        </a:rPr>
                        <a:t>Gmsh</a:t>
                      </a:r>
                      <a:r>
                        <a:rPr lang="en-US" altLang="zh-CN" sz="1800" b="0" dirty="0">
                          <a:solidFill>
                            <a:srgbClr val="002060"/>
                          </a:solidFill>
                          <a:latin typeface="微软雅黑" panose="020B0503020204020204" pitchFamily="34" charset="-122"/>
                          <a:ea typeface="微软雅黑" panose="020B0503020204020204" pitchFamily="34" charset="-122"/>
                        </a:rPr>
                        <a:t>, run CFD simulations in SU2.</a:t>
                      </a:r>
                      <a:endParaRPr lang="zh-CN" altLang="en-US" sz="1800" b="0" dirty="0">
                        <a:solidFill>
                          <a:srgbClr val="00206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6366159"/>
                  </a:ext>
                </a:extLst>
              </a:tr>
              <a:tr h="3708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sz="2000" b="1" kern="1200" dirty="0" err="1">
                          <a:solidFill>
                            <a:srgbClr val="002060"/>
                          </a:solidFill>
                          <a:effectLst/>
                          <a:latin typeface="Consolas" panose="020B0609020204030204" pitchFamily="49" charset="0"/>
                          <a:ea typeface="+mn-ea"/>
                          <a:cs typeface="+mn-cs"/>
                        </a:rPr>
                        <a:t>Supersonic_OpenVSP_Wave_Drag</a:t>
                      </a:r>
                      <a:endParaRPr lang="en-US" altLang="zh-CN" sz="2000" b="1" kern="1200" dirty="0">
                        <a:solidFill>
                          <a:srgbClr val="002060"/>
                        </a:solidFill>
                        <a:effectLst/>
                        <a:latin typeface="Consolas" panose="020B0609020204030204" pitchFamily="49"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altLang="zh-CN" sz="1800" b="0" dirty="0">
                          <a:solidFill>
                            <a:srgbClr val="002060"/>
                          </a:solidFill>
                          <a:latin typeface="微软雅黑" panose="020B0503020204020204" pitchFamily="34" charset="-122"/>
                          <a:ea typeface="微软雅黑" panose="020B0503020204020204" pitchFamily="34" charset="-122"/>
                        </a:rPr>
                        <a:t>Call the </a:t>
                      </a:r>
                      <a:r>
                        <a:rPr lang="en-US" altLang="zh-CN" sz="1800" b="0" dirty="0" err="1">
                          <a:solidFill>
                            <a:srgbClr val="002060"/>
                          </a:solidFill>
                          <a:latin typeface="微软雅黑" panose="020B0503020204020204" pitchFamily="34" charset="-122"/>
                          <a:ea typeface="微软雅黑" panose="020B0503020204020204" pitchFamily="34" charset="-122"/>
                        </a:rPr>
                        <a:t>wave_drag</a:t>
                      </a:r>
                      <a:r>
                        <a:rPr lang="en-US" altLang="zh-CN" sz="1800" b="0" dirty="0">
                          <a:solidFill>
                            <a:srgbClr val="002060"/>
                          </a:solidFill>
                          <a:latin typeface="微软雅黑" panose="020B0503020204020204" pitchFamily="34" charset="-122"/>
                          <a:ea typeface="微软雅黑" panose="020B0503020204020204" pitchFamily="34" charset="-122"/>
                        </a:rPr>
                        <a:t> method in </a:t>
                      </a:r>
                      <a:r>
                        <a:rPr lang="en-US" altLang="zh-CN" sz="1800" b="0" dirty="0" err="1">
                          <a:solidFill>
                            <a:srgbClr val="002060"/>
                          </a:solidFill>
                          <a:latin typeface="微软雅黑" panose="020B0503020204020204" pitchFamily="34" charset="-122"/>
                          <a:ea typeface="微软雅黑" panose="020B0503020204020204" pitchFamily="34" charset="-122"/>
                        </a:rPr>
                        <a:t>openvsp</a:t>
                      </a:r>
                      <a:endParaRPr lang="zh-CN" altLang="en-US" sz="1800" b="0" dirty="0">
                        <a:solidFill>
                          <a:srgbClr val="00206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1693549"/>
                  </a:ext>
                </a:extLst>
              </a:tr>
              <a:tr h="3708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sz="2000" b="1" kern="1200" dirty="0" err="1">
                          <a:solidFill>
                            <a:srgbClr val="002060"/>
                          </a:solidFill>
                          <a:effectLst/>
                          <a:latin typeface="Consolas" panose="020B0609020204030204" pitchFamily="49" charset="0"/>
                          <a:ea typeface="+mn-ea"/>
                          <a:cs typeface="+mn-cs"/>
                        </a:rPr>
                        <a:t>Lifting_Line</a:t>
                      </a:r>
                      <a:endParaRPr lang="en-US" altLang="zh-CN" sz="2000" b="1" kern="1200" dirty="0">
                        <a:solidFill>
                          <a:srgbClr val="002060"/>
                        </a:solidFill>
                        <a:effectLst/>
                        <a:latin typeface="Consolas" panose="020B0609020204030204" pitchFamily="49"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altLang="zh-CN" sz="1800" b="0" dirty="0">
                          <a:solidFill>
                            <a:srgbClr val="002060"/>
                          </a:solidFill>
                          <a:latin typeface="微软雅黑" panose="020B0503020204020204" pitchFamily="34" charset="-122"/>
                          <a:ea typeface="微软雅黑" panose="020B0503020204020204" pitchFamily="34" charset="-122"/>
                        </a:rPr>
                        <a:t>Lift line theory</a:t>
                      </a:r>
                      <a:endParaRPr lang="zh-CN" altLang="en-US" sz="1800" b="0" dirty="0">
                        <a:solidFill>
                          <a:srgbClr val="00206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1755221"/>
                  </a:ext>
                </a:extLst>
              </a:tr>
            </a:tbl>
          </a:graphicData>
        </a:graphic>
      </p:graphicFrame>
    </p:spTree>
    <p:extLst>
      <p:ext uri="{BB962C8B-B14F-4D97-AF65-F5344CB8AC3E}">
        <p14:creationId xmlns:p14="http://schemas.microsoft.com/office/powerpoint/2010/main" val="2196896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1CDCB-E60E-0D33-D529-A18FFD280A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54334B-2956-C503-F0EC-8BE10966FF21}"/>
              </a:ext>
            </a:extLst>
          </p:cNvPr>
          <p:cNvSpPr txBox="1">
            <a:spLocks/>
          </p:cNvSpPr>
          <p:nvPr/>
        </p:nvSpPr>
        <p:spPr>
          <a:xfrm>
            <a:off x="211886" y="64170"/>
            <a:ext cx="10681401"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a:lnSpc>
                <a:spcPct val="100000"/>
              </a:lnSpc>
              <a:defRPr/>
            </a:pPr>
            <a:r>
              <a:rPr kumimoji="0" lang="en-US" altLang="zh-CN"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5</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en-US" altLang="zh-CN" b="1" i="0" u="none" strike="noStrike" kern="1200" cap="none" spc="10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Customization &amp; Extension</a:t>
            </a:r>
            <a:endParaRPr lang="en-US" altLang="zh-CN" dirty="0">
              <a:solidFill>
                <a:srgbClr val="00206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2DCECF81-3FB8-F1B9-895C-72823BDF87A7}"/>
              </a:ext>
            </a:extLst>
          </p:cNvPr>
          <p:cNvSpPr txBox="1"/>
          <p:nvPr/>
        </p:nvSpPr>
        <p:spPr>
          <a:xfrm>
            <a:off x="211886" y="870401"/>
            <a:ext cx="7103314" cy="369332"/>
          </a:xfrm>
          <a:prstGeom prst="rect">
            <a:avLst/>
          </a:prstGeom>
          <a:noFill/>
        </p:spPr>
        <p:txBody>
          <a:bodyPr wrap="square" lIns="0" tIns="0" rIns="0" bIns="0" rtlCol="0">
            <a:spAutoFit/>
          </a:bodyPr>
          <a:lstStyle/>
          <a:p>
            <a:r>
              <a:rPr lang="en-US" altLang="zh-CN" sz="2400" b="1" dirty="0">
                <a:solidFill>
                  <a:srgbClr val="002060"/>
                </a:solidFill>
                <a:latin typeface="微软雅黑" panose="020B0503020204020204" pitchFamily="34" charset="-122"/>
                <a:ea typeface="微软雅黑" panose="020B0503020204020204" pitchFamily="34" charset="-122"/>
                <a:cs typeface="Arial" pitchFamily="34" charset="0"/>
              </a:rPr>
              <a:t>How to optimize your aircraft via SUAVE</a:t>
            </a:r>
            <a:endParaRPr lang="zh-CN" altLang="en-US" sz="2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336447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FCCC-824C-66D2-4817-5763AFF48629}"/>
            </a:ext>
          </a:extLst>
        </p:cNvPr>
        <p:cNvGrpSpPr/>
        <p:nvPr/>
      </p:nvGrpSpPr>
      <p:grpSpPr>
        <a:xfrm>
          <a:off x="0" y="0"/>
          <a:ext cx="0" cy="0"/>
          <a:chOff x="0" y="0"/>
          <a:chExt cx="0" cy="0"/>
        </a:xfrm>
      </p:grpSpPr>
      <p:sp>
        <p:nvSpPr>
          <p:cNvPr id="12" name="标题 1">
            <a:extLst>
              <a:ext uri="{FF2B5EF4-FFF2-40B4-BE49-F238E27FC236}">
                <a16:creationId xmlns:a16="http://schemas.microsoft.com/office/drawing/2014/main" id="{38C0D59A-D3B2-3D84-1CAA-AB2D0AE27105}"/>
              </a:ext>
            </a:extLst>
          </p:cNvPr>
          <p:cNvSpPr txBox="1">
            <a:spLocks/>
          </p:cNvSpPr>
          <p:nvPr/>
        </p:nvSpPr>
        <p:spPr bwMode="auto">
          <a:xfrm>
            <a:off x="1883532" y="3021495"/>
            <a:ext cx="8424936" cy="815010"/>
          </a:xfrm>
          <a:prstGeom prst="rect">
            <a:avLst/>
          </a:prstGeom>
          <a:noFill/>
          <a:ln>
            <a:miter lim="800000"/>
            <a:headEnd/>
            <a:tailEnd/>
          </a:ln>
          <a:effectLst/>
        </p:spPr>
        <p:txBody>
          <a:bodyPr/>
          <a:lstStyle>
            <a:defPPr>
              <a:defRPr lang="zh-CN"/>
            </a:defPPr>
            <a:lvl1pPr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9pPr>
          </a:lstStyle>
          <a:p>
            <a:pPr algn="ctr" eaLnBrk="1" hangingPunct="1">
              <a:lnSpc>
                <a:spcPct val="120000"/>
              </a:lnSpc>
            </a:pPr>
            <a:r>
              <a:rPr lang="en-US" altLang="zh-CN" dirty="0">
                <a:solidFill>
                  <a:srgbClr val="002060"/>
                </a:solidFill>
                <a:latin typeface="微软雅黑" pitchFamily="34" charset="-122"/>
                <a:ea typeface="微软雅黑" pitchFamily="34" charset="-122"/>
              </a:rPr>
              <a:t>Thank You</a:t>
            </a:r>
            <a:r>
              <a:rPr lang="zh-CN" altLang="en-US" dirty="0">
                <a:solidFill>
                  <a:srgbClr val="002060"/>
                </a:solidFill>
                <a:latin typeface="微软雅黑" pitchFamily="34" charset="-122"/>
                <a:ea typeface="微软雅黑" pitchFamily="34" charset="-122"/>
              </a:rPr>
              <a:t>！</a:t>
            </a:r>
            <a:endParaRPr lang="en-US" altLang="zh-CN" dirty="0">
              <a:solidFill>
                <a:srgbClr val="002060"/>
              </a:solidFill>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9851C3E8-149E-614D-313E-955834BB7384}"/>
              </a:ext>
            </a:extLst>
          </p:cNvPr>
          <p:cNvSpPr>
            <a:spLocks noChangeArrowheads="1"/>
          </p:cNvSpPr>
          <p:nvPr/>
        </p:nvSpPr>
        <p:spPr bwMode="auto">
          <a:xfrm>
            <a:off x="3314990" y="5127877"/>
            <a:ext cx="5562020" cy="1369799"/>
          </a:xfrm>
          <a:prstGeom prst="rect">
            <a:avLst/>
          </a:prstGeom>
          <a:noFill/>
          <a:ln w="9525">
            <a:noFill/>
            <a:miter lim="800000"/>
            <a:headEnd/>
            <a:tailEnd/>
          </a:ln>
          <a:effectLst>
            <a:outerShdw blurRad="50800" dist="12700" dir="6900000" sx="83000" sy="83000" algn="tl" rotWithShape="0">
              <a:prstClr val="black">
                <a:alpha val="54000"/>
              </a:prstClr>
            </a:outerShdw>
          </a:effectLst>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Student Lecturer: Lin Yi</a:t>
            </a:r>
          </a:p>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Date</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a:solidFill>
                  <a:srgbClr val="002060"/>
                </a:solidFill>
                <a:latin typeface="微软雅黑" panose="020B0503020204020204" pitchFamily="34" charset="-122"/>
                <a:ea typeface="微软雅黑" panose="020B0503020204020204" pitchFamily="34" charset="-122"/>
                <a:cs typeface="Arial" panose="020B0604020202020204" pitchFamily="34" charset="0"/>
              </a:rPr>
              <a:t>March 17, </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2026</a:t>
            </a:r>
          </a:p>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Email</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linyi@mail.nwpu.edu.cn</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787142402"/>
      </p:ext>
    </p:extLst>
  </p:cSld>
  <p:clrMapOvr>
    <a:masterClrMapping/>
  </p:clrMapOvr>
</p:sld>
</file>

<file path=ppt/theme/theme1.xml><?xml version="1.0" encoding="utf-8"?>
<a:theme xmlns:a="http://schemas.openxmlformats.org/drawingml/2006/main" name="DLR-Präsentation 4:3 Englis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20000"/>
            <a:lumOff val="80000"/>
          </a:schemeClr>
        </a:solidFill>
        <a:ln w="9525">
          <a:noFill/>
        </a:ln>
      </a:spPr>
      <a:bodyPr rtlCol="0" anchor="ctr">
        <a:noAutofit/>
      </a:bodyPr>
      <a:lstStyle>
        <a:defPPr algn="ctr">
          <a:defRPr dirty="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ctr">
          <a:defRPr sz="2000" dirty="0">
            <a:solidFill>
              <a:srgbClr val="002060"/>
            </a:solidFill>
            <a:latin typeface="微软雅黑" panose="020B0503020204020204" pitchFamily="34" charset="-122"/>
            <a:ea typeface="微软雅黑" panose="020B0503020204020204" pitchFamily="34" charset="-122"/>
            <a:cs typeface="Arial" pitchFamily="34" charset="0"/>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ns:customPropertyEditors xmlns:tns="http://schemas.microsoft.com/office/2006/customDocumentInformationPanel">
  <tns:showOnOpen>false</tns:showOnOpen>
  <tns:defaultPropertyEditorNamespace>Standardeigenschaften</tns:defaultPropertyEditorNamespace>
</tns:customPropertyEditors>
</file>

<file path=customXml/itemProps1.xml><?xml version="1.0" encoding="utf-8"?>
<ds:datastoreItem xmlns:ds="http://schemas.openxmlformats.org/officeDocument/2006/customXml" ds:itemID="{84F15573-F1C9-4F86-B645-9414221BA1F2}">
  <ds:schemaRefs>
    <ds:schemaRef ds:uri="http://schemas.microsoft.com/office/2006/customDocumentInformationPanel"/>
  </ds:schemaRefs>
</ds:datastoreItem>
</file>

<file path=docProps/app.xml><?xml version="1.0" encoding="utf-8"?>
<Properties xmlns="http://schemas.openxmlformats.org/officeDocument/2006/extended-properties" xmlns:vt="http://schemas.openxmlformats.org/officeDocument/2006/docPropsVTypes">
  <Template/>
  <TotalTime>201348</TotalTime>
  <Words>5295</Words>
  <Application>Microsoft Office PowerPoint</Application>
  <PresentationFormat>宽屏</PresentationFormat>
  <Paragraphs>574</Paragraphs>
  <Slides>37</Slides>
  <Notes>11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37</vt:i4>
      </vt:variant>
    </vt:vector>
  </HeadingPairs>
  <TitlesOfParts>
    <vt:vector size="49" baseType="lpstr">
      <vt:lpstr>PingFang SC</vt:lpstr>
      <vt:lpstr>ui-sans-serif</vt:lpstr>
      <vt:lpstr>华文行楷</vt:lpstr>
      <vt:lpstr>宋体</vt:lpstr>
      <vt:lpstr>微软雅黑</vt:lpstr>
      <vt:lpstr>黑体</vt:lpstr>
      <vt:lpstr>Arial</vt:lpstr>
      <vt:lpstr>Calibri</vt:lpstr>
      <vt:lpstr>Consolas</vt:lpstr>
      <vt:lpstr>Times New Roman</vt:lpstr>
      <vt:lpstr>Wingdings</vt:lpstr>
      <vt:lpstr>DLR-Präsentation 4:3 Englisch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MDAO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 4:3</dc:title>
  <dc:creator>Administrator</dc:creator>
  <cp:lastModifiedBy>毅 林</cp:lastModifiedBy>
  <cp:revision>6187</cp:revision>
  <cp:lastPrinted>2022-06-11T09:17:01Z</cp:lastPrinted>
  <dcterms:created xsi:type="dcterms:W3CDTF">2012-06-19T06:51:55Z</dcterms:created>
  <dcterms:modified xsi:type="dcterms:W3CDTF">2026-04-25T07:39:06Z</dcterms:modified>
</cp:coreProperties>
</file>