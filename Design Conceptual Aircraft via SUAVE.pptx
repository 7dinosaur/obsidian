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0"/>
  </p:notesMasterIdLst>
  <p:handoutMasterIdLst>
    <p:handoutMasterId r:id="rId41"/>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995" r:id="rId39"/>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71704" autoAdjust="0"/>
  </p:normalViewPr>
  <p:slideViewPr>
    <p:cSldViewPr snapToGrid="0">
      <p:cViewPr varScale="1">
        <p:scale>
          <a:sx n="63" d="100"/>
          <a:sy n="63" d="100"/>
        </p:scale>
        <p:origin x="1212" y="24"/>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0" d="100"/>
          <a:sy n="80" d="100"/>
        </p:scale>
        <p:origin x="2946" y="102"/>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19/04/2026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19.04.2026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dirty="0"/>
              <a:t>Hello every one</a:t>
            </a:r>
            <a:r>
              <a:rPr lang="zh-CN" altLang="en-US" dirty="0"/>
              <a:t>，</a:t>
            </a:r>
            <a:r>
              <a:rPr lang="en-US" altLang="zh-CN" dirty="0"/>
              <a:t>I’m Lin Yi.</a:t>
            </a:r>
            <a:r>
              <a:rPr lang="zh-CN" altLang="en-US" dirty="0"/>
              <a:t> </a:t>
            </a:r>
            <a:r>
              <a:rPr lang="en-US" altLang="zh-CN" dirty="0"/>
              <a:t>Today</a:t>
            </a:r>
            <a:r>
              <a:rPr lang="zh-CN" altLang="en-US" dirty="0"/>
              <a:t> </a:t>
            </a:r>
            <a:r>
              <a:rPr lang="en-US" altLang="zh-CN" dirty="0"/>
              <a:t>we will talk about how to design conceptual aircraft using SUAVE.</a:t>
            </a:r>
          </a:p>
          <a:p>
            <a:r>
              <a:rPr lang="en-US" altLang="zh-CN" dirty="0"/>
              <a:t>Aircraft design and SUAVE are both really complex. I can’t make you a SUAVE expert or an aircraft design expert just with this one class. It’s just not possible. So like I said, today we are just having a discussion. If you have any questions, or if you think I’ve said something wrong during class, just interrupt me any time.</a:t>
            </a:r>
            <a:endParaRPr lang="zh-CN" altLang="en-US" dirty="0"/>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r>
              <a:rPr lang="en-US" altLang="zh-CN" dirty="0"/>
              <a:t>Here is what we’ll do today. We’ll start with a background of SUAVE, then I will help you install the suave, run a test case, and build your first case yourself. After that, I will introduce some main modules of SUAVE so that you can have a deeper insight into this code. If we have extra time, I will show some examples of how to create custom modules.</a:t>
            </a:r>
            <a:endParaRPr lang="zh-CN" altLang="en-US" dirty="0"/>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let’s start with SUAVE’s background first. SUAVE is a conceptual level aircraft design environment built with the ability to analyze and optimize both conventional and unconventional designs, Blah blah blah. You have probably noticed this is the official intro from its website, so I’m not </a:t>
            </a:r>
            <a:r>
              <a:rPr lang="en-US" altLang="zh-CN" dirty="0" err="1"/>
              <a:t>gonna</a:t>
            </a:r>
            <a:r>
              <a:rPr lang="en-US" altLang="zh-CN" dirty="0"/>
              <a:t> read it word by word, just focus on this line, “SUAVE provides a framework”. To me, I’d rather call it a code style, a style to make code highly encapsulated and modularized. You can assemble these modules however you want, </a:t>
            </a:r>
            <a:r>
              <a:rPr lang="en-US" altLang="zh-CN" dirty="0" err="1"/>
              <a:t>modify’em</a:t>
            </a:r>
            <a:r>
              <a:rPr lang="en-US" altLang="zh-CN" dirty="0"/>
              <a:t>, </a:t>
            </a:r>
            <a:r>
              <a:rPr lang="en-US" altLang="zh-CN" dirty="0" err="1"/>
              <a:t>rewrite’em</a:t>
            </a:r>
            <a:r>
              <a:rPr lang="en-US" altLang="zh-CN" dirty="0"/>
              <a:t> or even create your own with your idea. Alright, sorry I went off track a bit. Anyway it’s a super customizable program. Let’s dive in.</a:t>
            </a:r>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the first thing we should do is to install the python environment for SUAVE. I believe  you have downloaded the Anaconda before this class ok? That will make things more easy.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set up a working environment for SUAVE, we can download the code from the </a:t>
            </a:r>
            <a:r>
              <a:rPr lang="en-US" altLang="zh-CN" dirty="0" err="1"/>
              <a:t>github</a:t>
            </a:r>
            <a:r>
              <a:rPr lang="en-US" altLang="zh-CN" dirty="0"/>
              <a:t>. Maybe you can not use the git clone, just download the zip file. Then run a command</a:t>
            </a:r>
            <a:r>
              <a:rPr lang="zh-CN" altLang="en-US" dirty="0"/>
              <a:t> </a:t>
            </a:r>
            <a:r>
              <a:rPr lang="en-US" altLang="zh-CN" dirty="0"/>
              <a:t>to install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Open the Tutorial folder, find the tut_mission_B737.py script, run it</a:t>
            </a:r>
          </a:p>
          <a:p>
            <a:r>
              <a:rPr lang="en-US" altLang="zh-CN" dirty="0"/>
              <a:t>Just wait a minute — I think it’ll take about one minute.</a:t>
            </a:r>
          </a:p>
          <a:p>
            <a:r>
              <a:rPr lang="en-US" altLang="zh-CN" dirty="0"/>
              <a:t>Then you’ll see </a:t>
            </a:r>
            <a:r>
              <a:rPr lang="en-US" altLang="zh-CN" sz="1200" b="1" kern="1200" dirty="0">
                <a:solidFill>
                  <a:schemeClr val="tx1"/>
                </a:solidFill>
                <a:effectLst/>
                <a:latin typeface="Arial" pitchFamily="34" charset="0"/>
                <a:ea typeface="+mn-ea"/>
                <a:cs typeface="+mn-cs"/>
              </a:rPr>
              <a:t>lots of plots fill your whole screen</a:t>
            </a:r>
            <a:r>
              <a:rPr lang="en-US" altLang="zh-CN" dirty="0"/>
              <a:t>! Like this</a:t>
            </a:r>
          </a:p>
          <a:p>
            <a:r>
              <a:rPr lang="en-US" altLang="zh-CN" dirty="0"/>
              <a:t>Altitude, weight, lift, drag… all kinds of information will pop up right in front of you.</a:t>
            </a:r>
          </a:p>
          <a:p>
            <a:r>
              <a:rPr lang="en-US" altLang="zh-CN" dirty="0"/>
              <a:t>Don’t worry. We’ll go through these plots together later.</a:t>
            </a:r>
          </a:p>
          <a:p>
            <a:r>
              <a:rPr lang="en-US" altLang="zh-CN" dirty="0"/>
              <a:t>This is just to check / if you’ve installed SUAVE correctly.</a:t>
            </a:r>
          </a:p>
          <a:p>
            <a:r>
              <a:rPr lang="en-US" altLang="zh-CN" dirty="0"/>
              <a:t>If you don’t see those plots, / just let me know.</a:t>
            </a:r>
          </a:p>
          <a:p>
            <a:r>
              <a:rPr lang="en-US" altLang="zh-CN" dirty="0"/>
              <a:t>Alright?</a:t>
            </a:r>
          </a:p>
          <a:p>
            <a:r>
              <a:rPr lang="en-US" altLang="zh-CN" sz="1200" b="0" kern="1200" dirty="0">
                <a:solidFill>
                  <a:schemeClr val="tx1"/>
                </a:solidFill>
                <a:effectLst/>
                <a:latin typeface="Arial" pitchFamily="34" charset="0"/>
                <a:ea typeface="+mn-ea"/>
                <a:cs typeface="+mn-cs"/>
              </a:rPr>
              <a:t>Alright, we’ve got SUAVE installed.</a:t>
            </a:r>
          </a:p>
          <a:p>
            <a:r>
              <a:rPr lang="en-US" altLang="zh-CN" sz="1200" b="0" kern="1200" dirty="0">
                <a:solidFill>
                  <a:schemeClr val="tx1"/>
                </a:solidFill>
                <a:effectLst/>
                <a:latin typeface="Arial" pitchFamily="34" charset="0"/>
                <a:ea typeface="+mn-ea"/>
                <a:cs typeface="+mn-cs"/>
              </a:rPr>
              <a:t>Now it’s time to learn how to use it.</a:t>
            </a: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kern="1200" dirty="0">
                <a:solidFill>
                  <a:schemeClr val="tx1"/>
                </a:solidFill>
                <a:effectLst/>
                <a:latin typeface="Arial" pitchFamily="34" charset="0"/>
                <a:ea typeface="+mn-ea"/>
                <a:cs typeface="+mn-cs"/>
              </a:rPr>
              <a:t>Wait, no—before we start coding,</a:t>
            </a:r>
          </a:p>
          <a:p>
            <a:r>
              <a:rPr lang="en-US" altLang="zh-CN" sz="1200" b="0" kern="1200" dirty="0">
                <a:solidFill>
                  <a:schemeClr val="tx1"/>
                </a:solidFill>
                <a:effectLst/>
                <a:latin typeface="Arial" pitchFamily="34" charset="0"/>
                <a:ea typeface="+mn-ea"/>
                <a:cs typeface="+mn-cs"/>
              </a:rPr>
              <a:t>we need to figure out what we actually need to design an aircraft.</a:t>
            </a:r>
          </a:p>
          <a:p>
            <a:r>
              <a:rPr lang="en-US" altLang="zh-CN" sz="1200" b="0" kern="1200" dirty="0">
                <a:solidFill>
                  <a:schemeClr val="tx1"/>
                </a:solidFill>
                <a:effectLst/>
                <a:latin typeface="Arial" pitchFamily="34" charset="0"/>
                <a:ea typeface="+mn-ea"/>
                <a:cs typeface="+mn-cs"/>
              </a:rPr>
              <a:t>First is why we need this aircraft</a:t>
            </a:r>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we will firstly build the main function. And we can create several component functions to handle specific operation of the aircraft, like aerodynamic, like vehicle,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412570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have finished the main function, the basic framework for aircraft design, the first module will be developed first is the </a:t>
            </a:r>
            <a:r>
              <a:rPr lang="en-US" altLang="zh-CN" dirty="0" err="1"/>
              <a:t>base_analysis</a:t>
            </a:r>
            <a:r>
              <a:rPr lang="en-US" altLang="zh-CN" dirty="0"/>
              <a:t> function. To start we need to define the output of this function, we want this function can return a analyses </a:t>
            </a:r>
            <a:r>
              <a:rPr lang="en-US" altLang="zh-CN" dirty="0" err="1"/>
              <a:t>modoule</a:t>
            </a:r>
            <a:r>
              <a:rPr lang="en-US" altLang="zh-CN" dirty="0"/>
              <a:t> so that we can use it in other steps of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1830046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wmf"/><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817240631"/>
              </p:ext>
            </p:extLst>
          </p:nvPr>
        </p:nvGraphicFramePr>
        <p:xfrm>
          <a:off x="7427138" y="1684813"/>
          <a:ext cx="4552978" cy="32004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openvsp</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3.29.1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6976210"/>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0" name="文本框 9">
            <a:extLst>
              <a:ext uri="{FF2B5EF4-FFF2-40B4-BE49-F238E27FC236}">
                <a16:creationId xmlns:a16="http://schemas.microsoft.com/office/drawing/2014/main" id="{152359A8-A809-50F6-5A11-D460B9320C1C}"/>
              </a:ext>
            </a:extLst>
          </p:cNvPr>
          <p:cNvSpPr txBox="1"/>
          <p:nvPr/>
        </p:nvSpPr>
        <p:spPr>
          <a:xfrm>
            <a:off x="2973556" y="4059555"/>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1" name="文本框 10">
            <a:extLst>
              <a:ext uri="{FF2B5EF4-FFF2-40B4-BE49-F238E27FC236}">
                <a16:creationId xmlns:a16="http://schemas.microsoft.com/office/drawing/2014/main" id="{1CCE30A1-5730-D4FB-05B3-2E362135043E}"/>
              </a:ext>
            </a:extLst>
          </p:cNvPr>
          <p:cNvSpPr txBox="1"/>
          <p:nvPr/>
        </p:nvSpPr>
        <p:spPr>
          <a:xfrm>
            <a:off x="710648" y="4390992"/>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a:t>
            </a:r>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numpy</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==1.16.6</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555697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592630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analyses.mission</a:t>
            </a:r>
            <a:endParaRPr lang="en-US" altLang="zh-CN" sz="1800" dirty="0">
              <a:solidFill>
                <a:srgbClr val="002060"/>
              </a:solidFill>
            </a:endParaRP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2"/>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vehicle.envelope.ultimate_load</a:t>
            </a:r>
            <a:r>
              <a:rPr lang="en-US" altLang="zh-CN" b="0" dirty="0">
                <a:solidFill>
                  <a:srgbClr val="002060"/>
                </a:solidFill>
                <a:effectLst/>
                <a:latin typeface="Consolas" panose="020B0609020204030204" pitchFamily="49" charset="0"/>
              </a:rPr>
              <a:t> = 3.75</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vehicle.envelope.limit_load</a:t>
            </a:r>
            <a:r>
              <a:rPr lang="en-US" altLang="zh-CN" b="0" dirty="0">
                <a:solidFill>
                  <a:srgbClr val="002060"/>
                </a:solidFill>
                <a:effectLst/>
                <a:latin typeface="Consolas" panose="020B0609020204030204" pitchFamily="49" charset="0"/>
              </a:rPr>
              <a:t>    = 2.5</a:t>
            </a:r>
            <a:endParaRPr lang="zh-CN" altLang="en-US" b="0" dirty="0">
              <a:solidFill>
                <a:srgbClr val="002060"/>
              </a:solidFill>
              <a:effectLst/>
              <a:latin typeface="Consolas" panose="020B0609020204030204" pitchFamily="49" charset="0"/>
            </a:endParaRPr>
          </a:p>
          <a:p>
            <a:pPr>
              <a:buNone/>
            </a:pP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vehicle.passengers</a:t>
            </a:r>
            <a:r>
              <a:rPr lang="en-US" altLang="zh-CN" b="0" dirty="0">
                <a:solidFill>
                  <a:srgbClr val="002060"/>
                </a:solidFill>
                <a:effectLst/>
                <a:latin typeface="Consolas" panose="020B0609020204030204" pitchFamily="49" charset="0"/>
              </a:rPr>
              <a:t>             = 170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vehicle.systems.control</a:t>
            </a:r>
            <a:r>
              <a:rPr lang="en-US" altLang="zh-CN" b="0" dirty="0">
                <a:solidFill>
                  <a:srgbClr val="002060"/>
                </a:solidFill>
                <a:effectLst/>
                <a:latin typeface="Consolas" panose="020B0609020204030204" pitchFamily="49" charset="0"/>
              </a:rPr>
              <a:t>        = "fully powered"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vehicle.systems.accessories</a:t>
            </a:r>
            <a:r>
              <a:rPr lang="en-US" altLang="zh-CN" b="0" dirty="0">
                <a:solidFill>
                  <a:srgbClr val="002060"/>
                </a:solidFill>
                <a:effectLst/>
                <a:latin typeface="Consolas" panose="020B0609020204030204" pitchFamily="49" charset="0"/>
              </a:rPr>
              <a:t>    = "medium range"</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265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2"/>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2"/>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2"/>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2"/>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1080000"/>
            <a:ext cx="8474625"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fuselage.lengths.fore_space</a:t>
            </a:r>
            <a:r>
              <a:rPr lang="en-US" altLang="zh-CN" dirty="0"/>
              <a:t>    = 6.    * </a:t>
            </a:r>
            <a:r>
              <a:rPr lang="en-US" altLang="zh-CN" dirty="0" err="1"/>
              <a:t>Units.meter</a:t>
            </a:r>
            <a:endParaRPr lang="en-US" altLang="zh-CN" dirty="0"/>
          </a:p>
          <a:p>
            <a:r>
              <a:rPr lang="en-US" altLang="zh-CN" dirty="0"/>
              <a:t>    </a:t>
            </a:r>
            <a:r>
              <a:rPr lang="en-US" altLang="zh-CN" dirty="0" err="1"/>
              <a:t>fuselage.lengths.aft_space</a:t>
            </a:r>
            <a:r>
              <a:rPr lang="en-US" altLang="zh-CN" dirty="0"/>
              <a:t>     = 5.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 </a:t>
            </a:r>
            <a:br>
              <a:rPr lang="en-US" altLang="zh-CN" dirty="0"/>
            </a:br>
            <a:endParaRPr lang="en-US" altLang="zh-CN" dirty="0"/>
          </a:p>
          <a:p>
            <a:r>
              <a:rPr lang="en-US" altLang="zh-CN" dirty="0"/>
              <a:t>    </a:t>
            </a:r>
            <a:r>
              <a:rPr lang="en-US" altLang="zh-CN" dirty="0" err="1"/>
              <a:t>fuselage.differential_pressure</a:t>
            </a:r>
            <a:r>
              <a:rPr lang="en-US" altLang="zh-CN" dirty="0"/>
              <a:t> = 5.0e4 * </a:t>
            </a:r>
            <a:r>
              <a:rPr lang="en-US" altLang="zh-CN" dirty="0" err="1"/>
              <a:t>Units.pascal</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2"/>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r>
              <a:rPr lang="en-US" altLang="zh-CN" dirty="0"/>
              <a:t>Determine turbofan behavior at the design condition</a:t>
            </a:r>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2"/>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requirements-dev.txt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2"/>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2"/>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2">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3721058468"/>
              </p:ext>
            </p:extLst>
          </p:nvPr>
        </p:nvGraphicFramePr>
        <p:xfrm>
          <a:off x="628072" y="986837"/>
          <a:ext cx="10935856" cy="5286124"/>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Supersonic_OpenVSP_Wave_Drag</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Call the </a:t>
                      </a:r>
                      <a:r>
                        <a:rPr lang="en-US" altLang="zh-CN" sz="1800" b="0" dirty="0" err="1">
                          <a:solidFill>
                            <a:srgbClr val="002060"/>
                          </a:solidFill>
                          <a:latin typeface="微软雅黑" panose="020B0503020204020204" pitchFamily="34" charset="-122"/>
                          <a:ea typeface="微软雅黑" panose="020B0503020204020204" pitchFamily="34" charset="-122"/>
                        </a:rPr>
                        <a:t>wave_drag</a:t>
                      </a:r>
                      <a:r>
                        <a:rPr lang="en-US" altLang="zh-CN" sz="1800" b="0" dirty="0">
                          <a:solidFill>
                            <a:srgbClr val="002060"/>
                          </a:solidFill>
                          <a:latin typeface="微软雅黑" panose="020B0503020204020204" pitchFamily="34" charset="-122"/>
                          <a:ea typeface="微软雅黑" panose="020B0503020204020204" pitchFamily="34" charset="-122"/>
                        </a:rPr>
                        <a:t> method in </a:t>
                      </a:r>
                      <a:r>
                        <a:rPr lang="en-US" altLang="zh-CN" sz="1800" b="0" dirty="0" err="1">
                          <a:solidFill>
                            <a:srgbClr val="002060"/>
                          </a:solidFill>
                          <a:latin typeface="微软雅黑" panose="020B0503020204020204" pitchFamily="34" charset="-122"/>
                          <a:ea typeface="微软雅黑" panose="020B0503020204020204" pitchFamily="34" charset="-122"/>
                        </a:rPr>
                        <a:t>openvsp</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169354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Lifting_Line</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Lift line theory</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1755221"/>
                  </a:ext>
                </a:extLst>
              </a:tr>
            </a:tbl>
          </a:graphicData>
        </a:graphic>
      </p:graphicFrame>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200401</TotalTime>
  <Words>4869</Words>
  <Application>Microsoft Office PowerPoint</Application>
  <PresentationFormat>宽屏</PresentationFormat>
  <Paragraphs>585</Paragraphs>
  <Slides>37</Slides>
  <Notes>11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37</vt:i4>
      </vt:variant>
    </vt:vector>
  </HeadingPairs>
  <TitlesOfParts>
    <vt:vector size="49" baseType="lpstr">
      <vt:lpstr>PingFang SC</vt:lpstr>
      <vt:lpstr>ui-sans-serif</vt:lpstr>
      <vt:lpstr>华文行楷</vt:lpstr>
      <vt:lpstr>宋体</vt:lpstr>
      <vt:lpstr>微软雅黑</vt:lpstr>
      <vt:lpstr>黑体</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毅 林</cp:lastModifiedBy>
  <cp:revision>6176</cp:revision>
  <cp:lastPrinted>2022-06-11T09:17:01Z</cp:lastPrinted>
  <dcterms:created xsi:type="dcterms:W3CDTF">2012-06-19T06:51:55Z</dcterms:created>
  <dcterms:modified xsi:type="dcterms:W3CDTF">2026-04-19T16:06:26Z</dcterms:modified>
</cp:coreProperties>
</file>